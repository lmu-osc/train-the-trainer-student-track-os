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notesMaster" Target="notesMasters/notesMaster1.xml" /><Relationship Id="rId109" Type="http://schemas.openxmlformats.org/officeDocument/2006/relationships/viewProps" Target="viewProps.xml" /><Relationship Id="rId108" Type="http://schemas.openxmlformats.org/officeDocument/2006/relationships/presProps" Target="presProps.xml" /><Relationship Id="rId1" Type="http://schemas.openxmlformats.org/officeDocument/2006/relationships/slideMaster" Target="slideMasters/slideMaster1.xml" /><Relationship Id="rId111" Type="http://schemas.openxmlformats.org/officeDocument/2006/relationships/tableStyles" Target="tableStyles.xml" /><Relationship Id="rId1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brief reminder of where we are currently at, so far we have tried to build a little community around this course and this class, to understand what brings people into this course and also to foster an understanding of shared interests and visions. We have then looked at a brief introduction to this module and what awaits us in broad terms. Today, however, we will look at some of the challenges that research is facing today, and what it means for research and trust in research more broadly. At the end we will touch upon a proposed solution, which we will look at in much more depth in the following session. Today’s main aim is therefore to foster your understanding and knowledge of the problems, and analyze together with you how it could affect you as potential future researchers.</a:t>
            </a:r>
          </a:p>
          <a:p>
            <a:pPr lvl="0" indent="0" marL="0">
              <a:buNone/>
            </a:pPr>
          </a:p>
          <a:p>
            <a:pPr lvl="0" indent="0" marL="0">
              <a:buNone/>
            </a:pPr>
            <a:r>
              <a:rPr b="1"/>
              <a:t>Instructor Notes</a:t>
            </a:r>
            <a:r>
              <a:rPr/>
              <a:t>:</a:t>
            </a:r>
          </a:p>
          <a:p>
            <a:pPr lvl="0" indent="0" marL="0">
              <a:buNone/>
            </a:pPr>
          </a:p>
          <a:p>
            <a:pPr lvl="0"/>
            <a:r>
              <a:rPr b="1"/>
              <a:t>Aim</a:t>
            </a:r>
            <a:r>
              <a:rPr/>
              <a:t>: Place the topic of the current submodule within a broader context.</a:t>
            </a:r>
          </a:p>
          <a:p>
            <a:pPr lvl="0" indent="0" marL="0">
              <a:buNone/>
            </a:pPr>
          </a:p>
          <a:p>
            <a:pPr lvl="0"/>
            <a:r>
              <a:rPr/>
              <a:t>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from the beginning! What does research mean to you? What concepts to you connect with it? How would you describe it? Think about this for yourself for a few minutes, write down some notes. Then form pairs and discuss with your partner what they linked to this term. We will then share our ideas in the group.</a:t>
            </a:r>
          </a:p>
          <a:p>
            <a:pPr lvl="0" indent="0" marL="0">
              <a:buNone/>
            </a:pPr>
          </a:p>
          <a:p>
            <a:pPr lvl="0" indent="0" marL="0">
              <a:buNone/>
            </a:pPr>
            <a:r>
              <a:rPr b="1"/>
              <a:t>Instructor Notes</a:t>
            </a:r>
            <a:r>
              <a:rPr/>
              <a:t>: Use the think-pair-share method: Students write down for themselves for a minute what a definition of research could be, then pair with a neighbor to compare answers. Final answers are then discussed in the plenum.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was also evident from our discussions from the previous exercise, research can take many forms, therefore finding an all-encompassing description can be tricky. The work by Deb and colleauges (2018) describes research in the following way: Research is a careful, well-defined, objective, and systematic process rather than a random or unstructured activity. It involves a deliberate search for knowledge or the formulation of theories that aim to explain aspects of reality that are not yet fully understood. This process is driven by inquisitiveness and a desire to explore what is unknown, unresolved, or potentially useful, with the ultimate goal of making an original contribution that expands the existing body of knowledge. Research does not simply repeat what is already known; instead, it seeks to refine, extend, or generate new understanding.</a:t>
            </a:r>
          </a:p>
          <a:p>
            <a:pPr lvl="0" indent="0" marL="0">
              <a:buNone/>
            </a:pPr>
          </a:p>
          <a:p>
            <a:pPr lvl="0" indent="0" marL="0">
              <a:buNone/>
            </a:pPr>
            <a:r>
              <a:rPr/>
              <a:t>Central to the research process is the formulation of hypotheses or the proposition of possible solutions to identified problems. These guide the direction of inquiry and determine the type of data that must be collected. Through systematic data analysis and logical deduction, researchers evaluate evidence to determine whether their conclusions support or contradict the initial hypotheses. This evaluative step is essential, as it ensures that findings are grounded in evidence and coherent reasoning. Ultimately, research is a creative and constructive endeavor that results in the creation or formulation of knowledge that did not previously exist, thereby contributing meaningfully to scholarly and scientific advancement.</a:t>
            </a:r>
          </a:p>
          <a:p>
            <a:pPr lvl="0" indent="0" marL="0">
              <a:buNone/>
            </a:pPr>
          </a:p>
          <a:p>
            <a:pPr lvl="0" indent="0" marL="0">
              <a:buNone/>
            </a:pPr>
            <a:r>
              <a:rPr b="1"/>
              <a:t>Instructor Notes</a:t>
            </a:r>
            <a:r>
              <a:rPr/>
              <a:t>: Since this is a long block of text, take your time to integrate previous knowledge and ideas of learners with the defintion they are presented with. Acknowledge there is no “universal definition” of research, but rather an approach to generating new knowledge that can take many different shapes and forms.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walk through this diagram of the scientific process. This is basically a visual representation of what research can mean. As you can see, the stages are arranged in a clockwise cycle, emphasizing that science is continuous and iterative. We begin with Observation or the question. This is where something in the world prompts us to ask why or how it works, or we made an observation and wonder about a particular feature or consequence. Next, we move into researching the topic area. Here we gather existing knowledge, review what others have discovered, and refine our understanding of the problem.</a:t>
            </a:r>
          </a:p>
          <a:p>
            <a:pPr lvl="0" indent="0" marL="0">
              <a:buNone/>
            </a:pPr>
          </a:p>
          <a:p>
            <a:pPr lvl="0" indent="0" marL="0">
              <a:buNone/>
            </a:pPr>
            <a:r>
              <a:rPr/>
              <a:t>Based on what we learn, we develop a hypothesis. This is a testable explanation or prediction that we can investigate. Importantly, a testable hypothesis is a precise statement, derived from your original question.</a:t>
            </a:r>
          </a:p>
          <a:p>
            <a:pPr lvl="0" indent="0" marL="0">
              <a:buNone/>
            </a:pPr>
          </a:p>
          <a:p>
            <a:pPr lvl="0" indent="0" marL="0">
              <a:buNone/>
            </a:pPr>
            <a:r>
              <a:rPr/>
              <a:t>Then comes testing with an experiment. This is where we design procedures to measure, observe, and collect data in a controlled, systematic way.</a:t>
            </a:r>
          </a:p>
          <a:p>
            <a:pPr lvl="0" indent="0" marL="0">
              <a:buNone/>
            </a:pPr>
          </a:p>
          <a:p>
            <a:pPr lvl="0" indent="0" marL="0">
              <a:buNone/>
            </a:pPr>
            <a:r>
              <a:rPr/>
              <a:t>After the experiment, we analyze the data. We look for patterns, compare results to our predictions, and determine whether the hypothesis holds up.</a:t>
            </a:r>
          </a:p>
          <a:p>
            <a:pPr lvl="0" indent="0" marL="0">
              <a:buNone/>
            </a:pPr>
          </a:p>
          <a:p>
            <a:pPr lvl="0" indent="0" marL="0">
              <a:buNone/>
            </a:pPr>
            <a:r>
              <a:rPr/>
              <a:t>Finally, we report our fundings and conclusions, together with our approach. This could be through a written paper, a presentation, or sharing findings with a research team. Importantly, these conclusions often lead to new questions, sending us back to the first stage and continuing the cycle of discovery.</a:t>
            </a:r>
          </a:p>
          <a:p>
            <a:pPr lvl="0" indent="0" marL="0">
              <a:buNone/>
            </a:pPr>
          </a:p>
          <a:p>
            <a:pPr lvl="0" indent="0" marL="0">
              <a:buNone/>
            </a:pPr>
            <a:r>
              <a:rPr b="1"/>
              <a:t>Instructor Notes</a:t>
            </a:r>
            <a:r>
              <a:rPr/>
              <a:t>: Beware that this diagram does not yet highlight the cyclical nature of research. If asked about this, acknowledge the contribution and refer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similar diagram to the previous slide, but captures the cyclical nature of research much better. When we have written up our conclusions, we are likely left with more questions and additional observations we made in the process, leading to the start of a whole new research cycle.</a:t>
            </a:r>
          </a:p>
          <a:p>
            <a:pPr lvl="0" indent="0" marL="0">
              <a:buNone/>
            </a:pPr>
          </a:p>
          <a:p>
            <a:pPr lvl="0" indent="0" marL="0">
              <a:buNone/>
            </a:pPr>
            <a:r>
              <a:rPr b="1"/>
              <a:t>Instructor Notes</a:t>
            </a:r>
            <a:r>
              <a:rPr/>
              <a:t>: The diagram may imply that the stages are inherently following one another. When asked, add that the stages can overlap and that a research project can exist in multiple stages at once. For example, one can already start with writing up the methods in the final research report or publication, but the data analysis is not get concluded (this is acutally advised, but a topic for a later discussion).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you to think about these different stages and steps of the research cycle with reference to a concrete example. Let us imagine that you had the impression that on some days, your pasta cooks much faster compared to other days. You wonder why this is. You believe that the most likely explanation for this observation could be the quantity of salt. You formulate your observation in the following way: I wonder what happens to my pasta when I cook it in unsalted water? Your task is to map out the individual steps of a hypothetical approach where you try to answer this question in a systematic way. Use the research cycle as your framework of reference.</a:t>
            </a:r>
          </a:p>
          <a:p>
            <a:pPr lvl="0" indent="0" marL="0">
              <a:buNone/>
            </a:pPr>
          </a:p>
          <a:p>
            <a:pPr lvl="0" indent="0" marL="0">
              <a:buNone/>
            </a:pPr>
            <a:r>
              <a:rPr b="1"/>
              <a:t>Instructor Notes</a:t>
            </a:r>
            <a:r>
              <a:rPr/>
              <a:t>: Allow 7-10 minutes for this task. A plausible working example: - Observation: I notice that pasta seems to cook faster when the water is salted.</a:t>
            </a:r>
          </a:p>
          <a:p>
            <a:pPr lvl="0" indent="0" marL="0">
              <a:buNone/>
            </a:pPr>
          </a:p>
          <a:p>
            <a:pPr lvl="0"/>
            <a:r>
              <a:rPr/>
              <a:t>Define the question: Does pasta cook faster in salted water?</a:t>
            </a:r>
          </a:p>
          <a:p>
            <a:pPr lvl="0" indent="0" marL="0">
              <a:buNone/>
            </a:pPr>
          </a:p>
          <a:p>
            <a:pPr lvl="0"/>
            <a:r>
              <a:rPr/>
              <a:t>Research the topic area: What has been done before?</a:t>
            </a:r>
          </a:p>
          <a:p>
            <a:pPr lvl="0" indent="0" marL="0">
              <a:buNone/>
            </a:pPr>
          </a:p>
          <a:p>
            <a:pPr lvl="0"/>
            <a:r>
              <a:rPr/>
              <a:t>Define hypothesis: Pasta will cook faster in salted water than in unsalted water. My outcome variable is cooking time in seconds.</a:t>
            </a:r>
          </a:p>
          <a:p>
            <a:pPr lvl="0" indent="0" marL="0">
              <a:buNone/>
            </a:pPr>
          </a:p>
          <a:p>
            <a:pPr lvl="0"/>
            <a:r>
              <a:rPr/>
              <a:t>Test with experiment: Define the amount of pasta, amount of water, amount of salt, average heat and the pot to cook the pasta in. Measure cooking time with a watch. Repeat the experiment many times.</a:t>
            </a:r>
          </a:p>
          <a:p>
            <a:pPr lvl="0" indent="0" marL="0">
              <a:buNone/>
            </a:pPr>
          </a:p>
          <a:p>
            <a:pPr lvl="0"/>
            <a:r>
              <a:rPr/>
              <a:t>Analyze data: Examine the data you collected and compare the cooking times between pasta cooked in salted vs. unsalted water. Define potential confounding factors.</a:t>
            </a:r>
          </a:p>
          <a:p>
            <a:pPr lvl="0" indent="0" marL="0">
              <a:buNone/>
            </a:pPr>
          </a:p>
          <a:p>
            <a:pPr lvl="0"/>
            <a:r>
              <a:rPr/>
              <a:t>Write up your statistical conclusion and answer your original question.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discussions we just had about trust. Then connect it to the experiment that you just planned in the previous excercise. What steps do you think you can already take to make your own experiment more trustworthy?</a:t>
            </a:r>
          </a:p>
          <a:p>
            <a:pPr lvl="0" indent="0" marL="0">
              <a:buNone/>
            </a:pPr>
          </a:p>
          <a:p>
            <a:pPr lvl="0" indent="0" marL="0">
              <a:buNone/>
            </a:pPr>
            <a:r>
              <a:rPr b="1"/>
              <a:t>Instructor Notes</a:t>
            </a:r>
            <a:r>
              <a:rPr/>
              <a:t>: There are several possible answers, depending on the exact approach. Since Open Research practices are new to many at this stage, broader answers are completely acceptable for the purpose of this exercise. Some example answers could be:</a:t>
            </a:r>
          </a:p>
          <a:p>
            <a:pPr lvl="0" indent="0" marL="0">
              <a:buNone/>
            </a:pPr>
          </a:p>
          <a:p>
            <a:pPr lvl="0"/>
            <a:r>
              <a:rPr/>
              <a:t>Plan the experiment well before starting</a:t>
            </a:r>
          </a:p>
          <a:p>
            <a:pPr lvl="0" indent="0" marL="0">
              <a:buNone/>
            </a:pPr>
          </a:p>
          <a:p>
            <a:pPr lvl="0"/>
            <a:r>
              <a:rPr/>
              <a:t>Read the literature</a:t>
            </a:r>
          </a:p>
          <a:p>
            <a:pPr lvl="0" indent="0" marL="0">
              <a:buNone/>
            </a:pPr>
          </a:p>
          <a:p>
            <a:pPr lvl="0"/>
            <a:r>
              <a:rPr/>
              <a:t>Document the steps carefully</a:t>
            </a:r>
          </a:p>
          <a:p>
            <a:pPr lvl="0" indent="0" marL="0">
              <a:buNone/>
            </a:pPr>
          </a:p>
          <a:p>
            <a:pPr lvl="0"/>
            <a:r>
              <a:rPr/>
              <a:t>Carefully consider your methods</a:t>
            </a:r>
          </a:p>
          <a:p>
            <a:pPr lvl="0" indent="0" marL="0">
              <a:buNone/>
            </a:pPr>
          </a:p>
          <a:p>
            <a:pPr lvl="0"/>
            <a:r>
              <a:rPr/>
              <a:t>Be transparent about your approach</a:t>
            </a:r>
          </a:p>
          <a:p>
            <a:pPr lvl="0" indent="0" marL="0">
              <a:buNone/>
            </a:pPr>
          </a:p>
          <a:p>
            <a:pPr lvl="0"/>
            <a:r>
              <a:rPr/>
              <a:t>Check your work at different moments</a:t>
            </a:r>
          </a:p>
          <a:p>
            <a:pPr lvl="0" indent="0" marL="0">
              <a:buNone/>
            </a:pPr>
          </a:p>
          <a:p>
            <a:pPr lvl="0"/>
            <a:r>
              <a:rPr/>
              <a:t>Get help and support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 In some communities this was termed a rat race culture, which refers to the intense and competitive environment in universities and research institutions where researchers feel constant pressure to produce output such as papers and outperform peers in order to “survive” or advance in their careers.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look at an example to understand null-hypothesis significance testing.</a:t>
            </a:r>
          </a:p>
          <a:p>
            <a:pPr lvl="0" indent="0" marL="0">
              <a:buNone/>
            </a:pPr>
          </a:p>
          <a:p>
            <a:pPr lvl="0" indent="0" marL="0">
              <a:buNone/>
            </a:pPr>
            <a:r>
              <a:rPr/>
              <a:t>Imagine that we have developed a new drug called SniffStop. We want to know whether it reduces flu symptoms better than an existing drug called CoughAway. This is quite a classic scenario in research: we are comparing a new treatment to the current standard.</a:t>
            </a:r>
          </a:p>
          <a:p>
            <a:pPr lvl="0" indent="0" marL="0">
              <a:buNone/>
            </a:pPr>
          </a:p>
          <a:p>
            <a:pPr lvl="0" indent="0" marL="0">
              <a:buNone/>
            </a:pPr>
            <a:r>
              <a:rPr/>
              <a:t>In null-hypothesis significance testing, we always begin with what is called the null hypothesis, abbreviated as H₀. The null hypothesis represents the assumption of no effect or no difference. In our example, H₀ states that the new drug is not better than the existing one. In other words, there is no difference in the effect of SniffStop and CoughAway and they both work equally well in reducing flu symptoms.</a:t>
            </a:r>
          </a:p>
          <a:p>
            <a:pPr lvl="0" indent="0" marL="0">
              <a:buNone/>
            </a:pPr>
          </a:p>
          <a:p>
            <a:pPr lvl="0" indent="0" marL="0">
              <a:buNone/>
            </a:pPr>
            <a:r>
              <a:rPr/>
              <a:t>It is important to notice that we do not start by assuming the new drug works better. Instead, we start from a skeptical position. The burden of proof is on us to gather evidence strong enough to reject the null hypothesis.</a:t>
            </a:r>
          </a:p>
          <a:p>
            <a:pPr lvl="0" indent="0" marL="0">
              <a:buNone/>
            </a:pPr>
          </a:p>
          <a:p>
            <a:pPr lvl="0" indent="0" marL="0">
              <a:buNone/>
            </a:pPr>
            <a:r>
              <a:rPr/>
              <a:t>To test H0, we collect data. For example, we might randomly assign patients to receive either SniffStop or CoughAway and then measure their flu symptoms over a certain period of time. After collecting the data, we perform a statistical analysis to determine whether the observed difference between the two groups is large enough that it would be unlikely to occur purely by chance.</a:t>
            </a:r>
          </a:p>
          <a:p>
            <a:pPr lvl="0" indent="0" marL="0">
              <a:buNone/>
            </a:pPr>
          </a:p>
          <a:p>
            <a:pPr lvl="0" indent="0" marL="0">
              <a:buNone/>
            </a:pPr>
            <a:r>
              <a:rPr/>
              <a:t>This is where the p-value comes in. The p-value tells us how likely it would be to observe results like the ones we obtained if the null hypothesis were </a:t>
            </a:r>
            <a:r>
              <a:rPr b="1"/>
              <a:t>true</a:t>
            </a:r>
            <a:r>
              <a:rPr/>
              <a:t>. So in our case, it answers the question: if SniffStop is actually not better than CoughAway, how surprising are the results we observed?</a:t>
            </a:r>
          </a:p>
          <a:p>
            <a:pPr lvl="0" indent="0" marL="0">
              <a:buNone/>
            </a:pPr>
          </a:p>
          <a:p>
            <a:pPr lvl="0" indent="0" marL="0">
              <a:buNone/>
            </a:pPr>
            <a:r>
              <a:rPr/>
              <a:t>For example, if we calculate a p-value of 0.05, this means there is a 5% chance of observing results this extreme (or more extreme) if the null hypothesis is true. In practical terms, if the two drugs were actually equally effective, we would see a difference this large only about 5 out of 100 times due to random variation alone.</a:t>
            </a:r>
          </a:p>
          <a:p>
            <a:pPr lvl="0" indent="0" marL="0">
              <a:buNone/>
            </a:pPr>
          </a:p>
          <a:p>
            <a:pPr lvl="0" indent="0" marL="0">
              <a:buNone/>
            </a:pPr>
            <a:r>
              <a:rPr/>
              <a:t>Traditionally, if the p-value is below 0.05, we call the result statistically significant and reject the null hypothesis. However, it is crucial to understand what this does not mean. A p-value of 0.05 does not mean there is a 95% probability that the new drug works. It also does not prove that the null hypothesis is false. It simply indicates that the observed data would be relatively unlikely if the null hypothesis were true.</a:t>
            </a:r>
          </a:p>
          <a:p>
            <a:pPr lvl="0" indent="0" marL="0">
              <a:buNone/>
            </a:pPr>
          </a:p>
          <a:p>
            <a:pPr lvl="0" indent="0" marL="0">
              <a:buNone/>
            </a:pPr>
            <a:r>
              <a:rPr b="1"/>
              <a:t>Instructor Notes</a:t>
            </a:r>
            <a:r>
              <a:rPr/>
              <a:t>: Highlight for your learners that the basic logic of null-hypothesis significance testing is that we assume no effect, test how compatible our data are with that assumption, and decide whether the evidence is strong enough to reject it. </a:t>
            </a:r>
            <a:r>
              <a:rPr b="1"/>
              <a:t>Skip this part</a:t>
            </a:r>
            <a:r>
              <a:rPr/>
              <a:t> if your learners are familiar with null-hypothesis significance testing.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Accidental p-hacking can happen without much effort or without any intentions. What we will discuss on the following slides are different ways that p-hacking might happen.</a:t>
            </a:r>
          </a:p>
          <a:p>
            <a:pPr lvl="0" indent="0" marL="0">
              <a:buNone/>
            </a:pPr>
          </a:p>
          <a:p>
            <a:pPr lvl="0" indent="0" marL="0">
              <a:buNone/>
            </a:pPr>
            <a:r>
              <a:rPr b="1"/>
              <a:t>Instructor Notes</a:t>
            </a:r>
            <a:r>
              <a:rPr/>
              <a:t>: Stress that the following slides are not good scientific practice but are meant to illustrate how easy it can be to accidentally influence the p-value and therefore the interpretation of your analysis. Stress that you will present </a:t>
            </a:r>
            <a:r>
              <a:rPr b="1"/>
              <a:t>bad</a:t>
            </a:r>
            <a:r>
              <a:rPr/>
              <a:t> scientific practices.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gp-hacking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d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all the information and insights together, what are we left with? Remember the research process diagram I showed you at the beginning. What if research in reality was more like what is shown at the bottom of this figure? This part of the diagram humorously depicts a cynical view of how research can sometimes be done in reality.</a:t>
            </a:r>
          </a:p>
          <a:p>
            <a:pPr lvl="0" indent="0" marL="0">
              <a:buNone/>
            </a:pPr>
          </a:p>
          <a:p>
            <a:pPr lvl="0" indent="0" marL="0">
              <a:buNone/>
            </a:pPr>
            <a:r>
              <a:rPr/>
              <a:t>It starts with making up a theory based on what the funding agency or manager wants to be true. This means that instead of following where the evidence leads, the researcher might tailor their ideas to fit what others want to hear.</a:t>
            </a:r>
          </a:p>
          <a:p>
            <a:pPr lvl="0" indent="0" marL="0">
              <a:buNone/>
            </a:pPr>
          </a:p>
          <a:p>
            <a:pPr lvl="0" indent="0" marL="0">
              <a:buNone/>
            </a:pPr>
            <a:r>
              <a:rPr/>
              <a:t>Next, they design the minimum experiments necessary to show or suggest that their theory is true. This step is about doing just enough to get results that support the theory, rather than rigorously testing it.</a:t>
            </a:r>
          </a:p>
          <a:p>
            <a:pPr lvl="0" indent="0" marL="0">
              <a:buNone/>
            </a:pPr>
          </a:p>
          <a:p>
            <a:pPr lvl="0" indent="0" marL="0">
              <a:buNone/>
            </a:pPr>
            <a:r>
              <a:rPr/>
              <a:t>Then comes publishing the paper, but with a twist: the researcher renames their theory as a “hypothesis” to give the appearance that they followed the scientific method properly, when in fact they did not.</a:t>
            </a:r>
          </a:p>
          <a:p>
            <a:pPr lvl="0" indent="0" marL="0">
              <a:buNone/>
            </a:pPr>
          </a:p>
          <a:p>
            <a:pPr lvl="0" indent="0" marL="0">
              <a:buNone/>
            </a:pPr>
            <a:r>
              <a:rPr/>
              <a:t>Finally, the researcher defends the theory despite all evidence to the contrary. This means they might ignore or dismiss results that contradict their idea, holding on to the theory because of personal or professional investment.</a:t>
            </a:r>
          </a:p>
          <a:p>
            <a:pPr lvl="0" indent="0" marL="0">
              <a:buNone/>
            </a:pPr>
          </a:p>
          <a:p>
            <a:pPr lvl="0" indent="0" marL="0">
              <a:buNone/>
            </a:pPr>
            <a:r>
              <a:rPr/>
              <a:t>What are your thoughts on this?</a:t>
            </a:r>
          </a:p>
          <a:p>
            <a:pPr lvl="0" indent="0" marL="0">
              <a:buNone/>
            </a:pPr>
          </a:p>
          <a:p>
            <a:pPr lvl="0" indent="0" marL="0">
              <a:buNone/>
            </a:pPr>
            <a:r>
              <a:rPr b="1"/>
              <a:t>Instructor Notes</a:t>
            </a:r>
            <a:r>
              <a:rPr/>
              <a:t>: Use the previous research scenario example to highlight how the analyses can deviate from an original hypothesis and how different biases can be at play.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www.phdcomics.com"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www.sciencebarometer.com"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doi.org/10.1038/s41586-025-10078-y"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osf.io/u3znx"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doi.org/10.1371/journal.pone.0010068"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2147/OAJCT.S34419"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1056/NEJMsa06577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17/S0033291718001873"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6.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177/0149206314527133"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doi.org/10.1098/rsos.220346"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9.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s://doi.org/10.1371/journal.pone.0263023"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https://doi.org/10.1371/journal.pone.0263023"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bulliedintobadscience.org/"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17/S1049096516000196"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doi.org/10.3758/s13428-015-0664-2"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hyperlink" Target="https://www.geograph.org.uk/"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442296" TargetMode="External" /><Relationship Id="rId3" Type="http://schemas.openxmlformats.org/officeDocument/2006/relationships/hyperlink" Target="https://doi.org/10.1016/j.respol.2020.103930" TargetMode="External" /><Relationship Id="rId4" Type="http://schemas.openxmlformats.org/officeDocument/2006/relationships/hyperlink" Target="https://doi.org/10.31234/osf.io/729qt" TargetMode="External" /><Relationship Id="rId5" Type="http://schemas.openxmlformats.org/officeDocument/2006/relationships/hyperlink" Target="https://doi.org/10.7554/eLife.70929"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29/04/2026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Schoenbrodt</a:t>
            </a:r>
            <a:r>
              <a:rPr/>
              <a:t> under a CC-BY 4.0 </a:t>
            </a:r>
            <a:r>
              <a:rPr>
                <a:hlinkClick r:id="rId4"/>
              </a:rPr>
              <a:t>Creative Commons Attribution 4.0 International License</a:t>
            </a:r>
            <a:r>
              <a:rPr/>
              <a:t>. This current work by Sarah von Grebmer zu Wolfsthurn, Malika Ihle and Felix Schoenbrodt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do you currently see any challenges in research?</a:t>
            </a:r>
          </a:p>
          <a:p>
            <a:pPr lvl="0" indent="0" marL="0">
              <a:buNone/>
            </a:pPr>
            <a:r>
              <a:rPr/>
              <a:t>Display Wordcloud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which concepts to you connect to research more broadly?</a:t>
            </a:r>
          </a:p>
          <a:p>
            <a:pPr lvl="0" indent="0" marL="0">
              <a:buNone/>
            </a:pPr>
            <a:r>
              <a:rPr/>
              <a:t>Display Wordcloud answer.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Introduction to this module</a:t>
            </a:r>
          </a:p>
          <a:p>
            <a:pPr lvl="0" indent="0" marL="0">
              <a:buNone/>
            </a:pPr>
            <a:r>
              <a:rPr b="1"/>
              <a:t>Up next</a:t>
            </a:r>
            <a:r>
              <a:rPr/>
              <a:t>:</a:t>
            </a:r>
          </a:p>
          <a:p>
            <a:pPr lvl="0"/>
            <a:r>
              <a:rPr/>
              <a:t>Getting started: Current threats to credible research</a:t>
            </a:r>
          </a:p>
          <a:p>
            <a:pPr lvl="0"/>
            <a:r>
              <a:rPr/>
              <a:t>Diving into the solution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Research and the </a:t>
            </a:r>
            <a:r>
              <a:rPr b="1"/>
              <a:t>research cycle</a:t>
            </a:r>
          </a:p>
          <a:p>
            <a:pPr lvl="0"/>
            <a:r>
              <a:rPr b="1"/>
              <a:t>“Trust”</a:t>
            </a:r>
            <a:r>
              <a:rPr/>
              <a:t> in research and what it means</a:t>
            </a:r>
          </a:p>
          <a:p>
            <a:pPr lvl="0"/>
            <a:r>
              <a:rPr b="1"/>
              <a:t>Replicability</a:t>
            </a:r>
            <a:r>
              <a:rPr/>
              <a:t> and </a:t>
            </a:r>
            <a:r>
              <a:rPr b="1"/>
              <a:t>reproducibilty</a:t>
            </a:r>
          </a:p>
          <a:p>
            <a:pPr lvl="0"/>
            <a:r>
              <a:rPr b="1"/>
              <a:t>Biases</a:t>
            </a:r>
            <a:r>
              <a:rPr/>
              <a:t>, inconsistencies and mistakes in research</a:t>
            </a:r>
          </a:p>
          <a:p>
            <a:pPr lvl="0"/>
            <a:r>
              <a:rPr/>
              <a:t>Working towards a </a:t>
            </a:r>
            <a:r>
              <a:rPr b="1"/>
              <a:t>solution</a:t>
            </a:r>
            <a:r>
              <a:rPr/>
              <a:t>: Open Research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 TO DO</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indent="0" marL="0">
              <a:buNone/>
            </a:pPr>
            <a:r>
              <a:rPr b="1"/>
              <a:t>Task</a:t>
            </a:r>
            <a:r>
              <a:rPr/>
              <a:t>: Collect your thoughts with your neighbor.</a:t>
            </a:r>
          </a:p>
          <a:p>
            <a:pPr lvl="0" indent="0" marL="0">
              <a:buNone/>
            </a:pPr>
            <a:r>
              <a:rPr/>
              <a:t> </a:t>
            </a:r>
          </a:p>
          <a:p>
            <a:pPr lvl="0" indent="0" marL="0">
              <a:buNone/>
            </a:pPr>
            <a:r>
              <a:rPr b="1"/>
              <a:t>What does “research” mean to you?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“research”?</a:t>
            </a:r>
          </a:p>
          <a:p>
            <a:pPr lvl="0" indent="0" marL="0">
              <a:buNone/>
            </a:pPr>
          </a:p>
          <a:p>
            <a:pPr lvl="0" indent="0" marL="0">
              <a:buNone/>
            </a:pPr>
            <a:r>
              <a:rPr/>
              <a:t>“Research refers to a careful, well-defined (or redefined), objective, and </a:t>
            </a:r>
            <a:r>
              <a:rPr b="1"/>
              <a:t>systematic method</a:t>
            </a:r>
            <a:r>
              <a:rPr/>
              <a:t> of </a:t>
            </a:r>
            <a:r>
              <a:rPr b="1"/>
              <a:t>search for knowledge</a:t>
            </a:r>
            <a:r>
              <a:rPr/>
              <a:t>, or </a:t>
            </a:r>
            <a:r>
              <a:rPr b="1"/>
              <a:t>formulation of a theory</a:t>
            </a:r>
            <a:r>
              <a:rPr/>
              <a:t> that is driven by inquisitiveness for that which is unknown and useful on a particular aspect so as to make an original contribution to </a:t>
            </a:r>
            <a:r>
              <a:rPr b="1"/>
              <a:t>expand the existing knowledge base</a:t>
            </a:r>
            <a:r>
              <a:rPr/>
              <a:t>. Research involves the </a:t>
            </a:r>
            <a:r>
              <a:rPr b="1"/>
              <a:t>formulation of hypothesis</a:t>
            </a:r>
            <a:r>
              <a:rPr/>
              <a:t> or </a:t>
            </a:r>
            <a:r>
              <a:rPr b="1"/>
              <a:t>proposition of solutions</a:t>
            </a:r>
            <a:r>
              <a:rPr/>
              <a:t>, data analysis, and deductions; and ascertaining whether the conclusions fit the hypothesis. Research is a </a:t>
            </a:r>
            <a:r>
              <a:rPr b="1"/>
              <a:t>process of creating, or formulating knowledge that does not yet exist.</a:t>
            </a:r>
            <a:r>
              <a:rPr/>
              <a:t>”</a:t>
            </a:r>
          </a:p>
          <a:p>
            <a:pPr lvl="0" indent="0" marL="0">
              <a:buNone/>
            </a:pPr>
            <a:r>
              <a:rPr/>
              <a:t> </a:t>
            </a:r>
          </a:p>
          <a:p>
            <a:pPr lvl="0" indent="0" marL="0">
              <a:buNone/>
            </a:pPr>
            <a:r>
              <a:rPr/>
              <a:t>Deb, D., Dey, R., &amp; Balas, V. E. (2018). Introduction: What is research? In </a:t>
            </a:r>
            <a:r>
              <a:rPr i="1"/>
              <a:t>Engineering Research Methodology: A Practical Insight for Researchers</a:t>
            </a:r>
            <a:r>
              <a:rPr/>
              <a:t> (pp. 1-7). Singapore: Springer Singapore.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hlinkClick r:id="rId3"/>
              </a:rPr>
              <a:t>www.phdcomics.com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t>DBR English greyscaler (Design-based research cycle)” by Sarah Zloklikovits, licensed under CC BY 4.0 — Wikimedia Commons.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indent="0" marL="0">
              <a:buNone/>
            </a:pPr>
            <a:r>
              <a:rPr b="1"/>
              <a:t>Task</a:t>
            </a:r>
            <a:r>
              <a:rPr/>
              <a:t>: For the following “observation”, map out the individual steps of the research cycle: </a:t>
            </a:r>
          </a:p>
          <a:p>
            <a:pPr lvl="0" indent="0" marL="0">
              <a:buNone/>
            </a:pPr>
          </a:p>
          <a:p>
            <a:pPr lvl="0" indent="0" marL="0">
              <a:buNone/>
            </a:pPr>
            <a:r>
              <a:rPr b="1"/>
              <a:t>“I wonder what happens to pasta when I cook it in unsalted 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we trust in research?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a:t>
            </a:r>
          </a:p>
          <a:p>
            <a:pPr lvl="1" indent="0" marL="342900">
              <a:buNone/>
            </a:pPr>
            <a:r>
              <a:rPr/>
              <a:t>(Committee on Science, Engineering and Public Policy 2009: ix)</a:t>
            </a:r>
          </a:p>
          <a:p>
            <a:pPr lvl="0"/>
            <a:r>
              <a:rPr/>
              <a:t>“</a:t>
            </a:r>
            <a:r>
              <a:rPr i="1"/>
              <a:t>The public must be able to trust the science and scientific process informing public policy decisions.</a:t>
            </a:r>
            <a:r>
              <a:rPr/>
              <a:t>”</a:t>
            </a:r>
          </a:p>
          <a:p>
            <a:pPr lvl="1" indent="0" marL="342900">
              <a:buNone/>
            </a:pPr>
            <a:r>
              <a:rPr/>
              <a:t>(Obama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a:r>
              <a:rPr/>
              <a:t>Via social surveys: “How much do you trust researchers to tell the truth?” (Example: UK)</a:t>
            </a:r>
          </a:p>
          <a:p>
            <a:pPr lvl="0" indent="0" marL="0">
              <a:buNone/>
            </a:pP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a:t>
            </a:r>
          </a:p>
          <a:p>
            <a:pPr lvl="0"/>
            <a:r>
              <a:rPr b="1"/>
              <a:t>Seyd (2025)</a:t>
            </a:r>
            <a:r>
              <a:rPr/>
              <a:t>:</a:t>
            </a:r>
          </a:p>
          <a:p>
            <a:pPr lvl="1"/>
            <a:r>
              <a:rPr/>
              <a:t>Trust in scientists remains </a:t>
            </a:r>
            <a:r>
              <a:rPr b="1"/>
              <a:t>relatively high</a:t>
            </a:r>
            <a:r>
              <a:rPr/>
              <a:t> in many countries</a:t>
            </a:r>
          </a:p>
          <a:p>
            <a:pPr lvl="1"/>
            <a:r>
              <a:rPr/>
              <a:t>Overall trust levels in research </a:t>
            </a:r>
            <a:r>
              <a:rPr b="1"/>
              <a:t>remain stable</a:t>
            </a:r>
          </a:p>
          <a:p>
            <a:pPr lvl="1"/>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 trust in research</a:t>
            </a:r>
          </a:p>
          <a:p>
            <a:pPr lvl="0" indent="0" marL="0">
              <a:buNone/>
            </a:pPr>
          </a:p>
          <a:p>
            <a:pPr lvl="0" indent="0" marL="0">
              <a:buNone/>
            </a:pPr>
            <a:r>
              <a:rPr/>
              <a:t>Source: </a:t>
            </a:r>
            <a:r>
              <a:rPr i="1"/>
              <a:t>Wissenschaft im Dialog/Verian</a:t>
            </a:r>
            <a:r>
              <a:rPr/>
              <a:t>. The original text of the questionnaire as well as all result tables are available online via the following link: </a:t>
            </a:r>
            <a:r>
              <a:rPr>
                <a:hlinkClick r:id="rId3"/>
              </a:rPr>
              <a:t>www.sciencebarometer.com</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No consensus on definition from the perspective of researchers</a:t>
            </a:r>
          </a:p>
          <a:p>
            <a:pPr lvl="0"/>
            <a:r>
              <a:rPr/>
              <a:t>Trust is </a:t>
            </a:r>
            <a:r>
              <a:rPr b="1"/>
              <a:t>essential for effective collaboration</a:t>
            </a:r>
            <a:r>
              <a:rPr/>
              <a:t> among researchers (includes co-authorship, peer review, data sharing, replication, teaching, mentoring etc.)</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a:t>As a researcher, what can </a:t>
            </a:r>
            <a:r>
              <a:rPr i="1"/>
              <a:t>you</a:t>
            </a:r>
            <a:r>
              <a:rPr/>
              <a:t> do to make your pasta experiment </a:t>
            </a:r>
            <a:r>
              <a:rPr b="1"/>
              <a:t>trustworthy</a:t>
            </a:r>
            <a:r>
              <a:rPr/>
              <a:t>?</a:t>
            </a:r>
          </a:p>
          <a:p>
            <a:pPr lvl="0" indent="0" marL="1270000">
              <a:buNone/>
            </a:pPr>
            <a:r>
              <a:rPr sz="2000" b="1"/>
              <a:t>Tip</a:t>
            </a:r>
          </a:p>
          <a:p>
            <a:pPr lvl="0" indent="0" marL="1270000">
              <a:buNone/>
            </a:pPr>
            <a:r>
              <a:rPr sz="2000"/>
              <a:t>Think about your approach when </a:t>
            </a:r>
            <a:r>
              <a:rPr sz="2000" b="1"/>
              <a:t>formulating your hypothesis</a:t>
            </a:r>
            <a:r>
              <a:rPr sz="2000"/>
              <a:t>, when </a:t>
            </a:r>
            <a:r>
              <a:rPr sz="2000" b="1"/>
              <a:t>conducting</a:t>
            </a:r>
            <a:r>
              <a:rPr sz="2000"/>
              <a:t> your experiment, when </a:t>
            </a:r>
            <a:r>
              <a:rPr sz="2000" b="1"/>
              <a:t>analyzing your data</a:t>
            </a:r>
            <a:r>
              <a:rPr sz="2000"/>
              <a:t>, when </a:t>
            </a:r>
            <a:r>
              <a:rPr sz="2000" b="1"/>
              <a:t>writing up</a:t>
            </a:r>
            <a:r>
              <a:rPr sz="2000"/>
              <a:t> your findings; but also about potential </a:t>
            </a:r>
            <a:r>
              <a:rPr sz="2000" b="1"/>
              <a:t>confounding variables</a:t>
            </a:r>
            <a:r>
              <a:rPr sz="2000"/>
              <a:t> or hurdles you could encounter during the research process.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 across disciplines</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(2025). Investigating the replicability of the social and behavioural sciences. Nature. </a:t>
            </a:r>
            <a:r>
              <a:rPr>
                <a:hlinkClick r:id="rId3"/>
              </a:rPr>
              <a:t>https://doi.org/10.1038/s41586-025-10078-y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a:p>
            <a:pPr lvl="0" indent="0" marL="1270000">
              <a:buNone/>
            </a:pPr>
            <a:r>
              <a:rPr sz="2000" b="1"/>
              <a:t>Consequence: Rat race culture</a:t>
            </a:r>
          </a:p>
          <a:p>
            <a:pPr lvl="0" indent="0" marL="1270000">
              <a:buNone/>
            </a:pPr>
            <a:r>
              <a:rPr sz="2000"/>
              <a:t>Researchers try to </a:t>
            </a:r>
            <a:r>
              <a:rPr sz="2000" b="1"/>
              <a:t>publish as much as they can</a:t>
            </a:r>
            <a:r>
              <a:rPr sz="2000"/>
              <a:t> and to outperform their peers (Schmidt et al., 2021).</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Career relevance of publishing</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do I get lots of publications?</a:t>
            </a:r>
          </a:p>
        </p:txBody>
      </p:sp>
      <p:pic>
        <p:nvPicPr>
          <p:cNvPr descr="images/02_significant_results_discipline_92.png" id="0" name="Picture 1"/>
          <p:cNvPicPr>
            <a:picLocks noGrp="1" noChangeAspect="1"/>
          </p:cNvPicPr>
          <p:nvPr/>
        </p:nvPicPr>
        <p:blipFill>
          <a:blip r:embed="rId2"/>
          <a:stretch>
            <a:fillRect/>
          </a:stretch>
        </p:blipFill>
        <p:spPr bwMode="auto">
          <a:xfrm>
            <a:off x="3568700" y="609600"/>
            <a:ext cx="5105400" cy="35687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publication bias</a:t>
            </a:r>
          </a:p>
        </p:txBody>
      </p:sp>
      <p:pic>
        <p:nvPicPr>
          <p:cNvPr descr="images/Turner_Study_Publication_Bias.png" id="0" name="Picture 1"/>
          <p:cNvPicPr>
            <a:picLocks noGrp="1" noChangeAspect="1"/>
          </p:cNvPicPr>
          <p:nvPr/>
        </p:nvPicPr>
        <p:blipFill>
          <a:blip r:embed="rId2"/>
          <a:stretch>
            <a:fillRect/>
          </a:stretch>
        </p:blipFill>
        <p:spPr bwMode="auto">
          <a:xfrm>
            <a:off x="3568700" y="1219200"/>
            <a:ext cx="5105400" cy="2349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 knew it” bias</a:t>
            </a:r>
          </a:p>
        </p:txBody>
      </p:sp>
      <p:pic>
        <p:nvPicPr>
          <p:cNvPr descr="images/hindsight-bias.png" id="0" name="Picture 1"/>
          <p:cNvPicPr>
            <a:picLocks noGrp="1" noChangeAspect="1"/>
          </p:cNvPicPr>
          <p:nvPr/>
        </p:nvPicPr>
        <p:blipFill>
          <a:blip r:embed="rId3"/>
          <a:stretch>
            <a:fillRect/>
          </a:stretch>
        </p:blipFill>
        <p:spPr bwMode="auto">
          <a:xfrm>
            <a:off x="3568700" y="711200"/>
            <a:ext cx="5105400" cy="3365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what you learnt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Accidental </a:t>
            </a:r>
            <a:r>
              <a:rPr b="1" i="1"/>
              <a:t>p</a:t>
            </a:r>
            <a:r>
              <a:rPr b="1"/>
              <a:t>-hacking</a:t>
            </a:r>
          </a:p>
          <a:p>
            <a:pPr lvl="0" indent="0" marL="0">
              <a:buNone/>
            </a:pPr>
            <a:r>
              <a:rPr b="1"/>
              <a:t>“P-hack… What now?”</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Excursus: Null-Hypothesis-Significance Testing</a:t>
            </a:r>
          </a:p>
          <a:p>
            <a:pPr lvl="0" indent="0" marL="0">
              <a:buNone/>
            </a:pPr>
            <a:r>
              <a:rPr b="1"/>
              <a:t>Example</a:t>
            </a:r>
            <a:r>
              <a:rPr/>
              <a:t>: Does the new drug “SniffStop” work better to decrease flu symptoms compared to the existing drug “CoughAway”?</a:t>
            </a:r>
          </a:p>
          <a:p>
            <a:pPr lvl="0"/>
            <a:r>
              <a:rPr b="1"/>
              <a:t>H₀</a:t>
            </a:r>
            <a:r>
              <a:rPr/>
              <a:t> = “the new drug is not better than the existing one.”</a:t>
            </a:r>
          </a:p>
          <a:p>
            <a:pPr lvl="0"/>
            <a:r>
              <a:rPr/>
              <a:t>Collect data from experiments and perform a statistical analysis to see if the evidence is strong enough to </a:t>
            </a:r>
            <a:r>
              <a:rPr b="1"/>
              <a:t>reject H₀</a:t>
            </a:r>
          </a:p>
          <a:p>
            <a:pPr lvl="0"/>
            <a:r>
              <a:rPr b="1"/>
              <a:t>P-value</a:t>
            </a:r>
            <a:r>
              <a:rPr/>
              <a:t> = how likely it is to see the results you got </a:t>
            </a:r>
            <a:r>
              <a:rPr b="1"/>
              <a:t>if H₀ is true</a:t>
            </a:r>
            <a:r>
              <a:rPr/>
              <a:t>.</a:t>
            </a:r>
          </a:p>
          <a:p>
            <a:pPr lvl="1"/>
            <a:r>
              <a:rPr/>
              <a:t>A p-value of 0.05 means: “</a:t>
            </a:r>
            <a:r>
              <a:rPr i="1"/>
              <a:t>There’s a 5% chance of seeing these results (or more extreme) if the null hypothesis is true.</a:t>
            </a:r>
            <a:r>
              <a:rPr/>
              <a:t>”</a:t>
            </a:r>
          </a:p>
          <a:p>
            <a:pPr lvl="0" indent="0" marL="1270000">
              <a:buNone/>
            </a:pPr>
            <a:r>
              <a:rPr sz="2000" b="1"/>
              <a:t>Important</a:t>
            </a:r>
          </a:p>
          <a:p>
            <a:pPr lvl="0" indent="0" marL="1270000">
              <a:buNone/>
            </a:pPr>
            <a:r>
              <a:rPr sz="2000"/>
              <a:t>A </a:t>
            </a:r>
            <a:r>
              <a:rPr sz="2000" i="1"/>
              <a:t>p</a:t>
            </a:r>
            <a:r>
              <a:rPr sz="2000"/>
              <a:t>-value of 0.05 means that we accept a 5% chance that our results came about by pure luck (if the results were accidental, we would speak of a false positive result)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Increasing your false positive rates can happen in the blink of an eye!</a:t>
            </a:r>
          </a:p>
          <a:p>
            <a:pPr lvl="0" indent="0" marL="1270000">
              <a:buNone/>
            </a:pPr>
            <a:r>
              <a:rPr sz="2000" b="1"/>
              <a:t>Warning</a:t>
            </a:r>
          </a:p>
          <a:p>
            <a:pPr lvl="0" indent="0" marL="1270000">
              <a:buNone/>
            </a:pPr>
            <a:r>
              <a:rPr sz="2000"/>
              <a:t>Do </a:t>
            </a:r>
            <a:r>
              <a:rPr sz="2000" b="1"/>
              <a:t>not</a:t>
            </a:r>
            <a:r>
              <a:rPr sz="2000"/>
              <a:t> try the following at home.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Stop collecting data whenever you found what you were looking for</a:t>
            </a:r>
          </a:p>
          <a:p>
            <a:pPr lvl="0" indent="0" marL="0">
              <a:buNone/>
            </a:pPr>
          </a:p>
          <a:p>
            <a:pPr lvl="0"/>
            <a:r>
              <a:rPr/>
              <a:t>Collect an initial sample, analyze the results, add participants if the results are not significant</a:t>
            </a:r>
          </a:p>
          <a:p>
            <a:pPr lvl="0"/>
            <a:r>
              <a:rPr b="1"/>
              <a:t>Stop</a:t>
            </a:r>
            <a:r>
              <a:rPr/>
              <a:t> when significance is found</a:t>
            </a:r>
          </a:p>
          <a:p>
            <a:pPr lvl="1"/>
            <a:r>
              <a:rPr/>
              <a:t>One analysis: α = 5%</a:t>
            </a:r>
          </a:p>
          <a:p>
            <a:pPr lvl="1"/>
            <a:r>
              <a:rPr/>
              <a:t>Two analyses: α = 11%</a:t>
            </a:r>
          </a:p>
          <a:p>
            <a:pPr lvl="1"/>
            <a:r>
              <a:rPr/>
              <a:t>But with enough “just looking”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indent="0" marL="0">
              <a:buNone/>
            </a:pP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The logic of the p-value is therefore </a:t>
            </a:r>
            <a:r>
              <a:rPr b="1"/>
              <a:t>corrupted</a:t>
            </a:r>
            <a:r>
              <a:rPr/>
              <a:t> and “</a:t>
            </a:r>
            <a:r>
              <a:rPr i="1"/>
              <a:t>renders the reported p-values essentially uninterpretable.</a:t>
            </a:r>
            <a:r>
              <a:rPr/>
              <a:t>”</a:t>
            </a:r>
          </a:p>
          <a:p>
            <a:pPr lvl="0" indent="0" marL="0">
              <a:buNone/>
            </a:pPr>
            <a:r>
              <a:rPr/>
              <a:t>Stefan, A. M., &amp; Schönbrodt, F. D. (2023). Big little lies: A compendium and simulation of p -hacking strategies. </a:t>
            </a:r>
            <a:r>
              <a:rPr i="1"/>
              <a:t>Royal Society Open Science, 10</a:t>
            </a:r>
            <a:r>
              <a:rPr/>
              <a:t>(2), 220346. </a:t>
            </a:r>
            <a:r>
              <a:rPr>
                <a:hlinkClick r:id="rId3"/>
              </a:rPr>
              <a:t>https://doi.org/10.1098/rsos.220346</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“real” scientific method</a:t>
            </a:r>
          </a:p>
        </p:txBody>
      </p:sp>
      <p:pic>
        <p:nvPicPr>
          <p:cNvPr descr="images/00_real_scientific_method.png" id="0" name="Picture 1"/>
          <p:cNvPicPr>
            <a:picLocks noGrp="1" noChangeAspect="1"/>
          </p:cNvPicPr>
          <p:nvPr/>
        </p:nvPicPr>
        <p:blipFill>
          <a:blip r:embed="rId3"/>
          <a:stretch>
            <a:fillRect/>
          </a:stretch>
        </p:blipFill>
        <p:spPr bwMode="auto">
          <a:xfrm>
            <a:off x="3568700" y="685800"/>
            <a:ext cx="5105400" cy="3429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Does this </a:t>
            </a:r>
            <a:r>
              <a:rPr b="1" i="1"/>
              <a:t>actually</a:t>
            </a:r>
            <a:r>
              <a:rPr b="1"/>
              <a:t> happen in real life?</a:t>
            </a:r>
          </a:p>
          <a:p>
            <a:pPr lvl="0" indent="0" marL="0">
              <a:buNone/>
            </a:pPr>
            <a:r>
              <a:rPr i="1"/>
              <a:t>Come on now. Surely not..?</a:t>
            </a:r>
          </a:p>
        </p:txBody>
      </p:sp>
      <p:pic>
        <p:nvPicPr>
          <p:cNvPr descr="images/09_QRPs_Psychology.png" id="0" name="Picture 1"/>
          <p:cNvPicPr>
            <a:picLocks noGrp="1" noChangeAspect="1"/>
          </p:cNvPicPr>
          <p:nvPr/>
        </p:nvPicPr>
        <p:blipFill>
          <a:blip r:embed="rId2"/>
          <a:stretch>
            <a:fillRect/>
          </a:stretch>
        </p:blipFill>
        <p:spPr bwMode="auto">
          <a:xfrm>
            <a:off x="3746500" y="203200"/>
            <a:ext cx="47371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b="1"/>
              <a:t>Unintentional?</a:t>
            </a:r>
          </a:p>
          <a:p>
            <a:pPr lvl="1"/>
            <a:r>
              <a:rPr/>
              <a:t>Lack of education/knowledge?</a:t>
            </a:r>
          </a:p>
          <a:p>
            <a:pPr lvl="1"/>
            <a:r>
              <a:rPr/>
              <a:t>Wrong/uncritical standards of the field?</a:t>
            </a:r>
          </a:p>
          <a:p>
            <a:pPr lvl="1"/>
            <a:r>
              <a:rPr/>
              <a:t>Pushed by supervisors, reviewers, or editors? ➙ </a:t>
            </a:r>
            <a:r>
              <a:rPr>
                <a:hlinkClick r:id="rId3"/>
              </a:rPr>
              <a:t>http://bulliedintobadscience.org/</a:t>
            </a:r>
          </a:p>
          <a:p>
            <a:pPr lvl="1"/>
            <a:r>
              <a:rPr b="1"/>
              <a:t>Simply being human?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buNone/>
            </a:pPr>
            <a:r>
              <a:rPr b="1"/>
              <a:t>“90% Excel-Gate”</a:t>
            </a:r>
          </a:p>
          <a:p>
            <a:pPr lvl="0" indent="0" marL="0">
              <a:buNone/>
            </a:pPr>
            <a:r>
              <a:rPr/>
              <a:t>  </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Lessons learnt</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16,695 scanned papers with </a:t>
            </a:r>
            <a:r>
              <a:rPr b="1"/>
              <a:t>statcheck tool</a:t>
            </a:r>
            <a:r>
              <a:rPr/>
              <a:t> (Nuijten et al., 2015)</a:t>
            </a:r>
          </a:p>
          <a:p>
            <a:pPr lvl="0"/>
            <a:r>
              <a:rPr b="1"/>
              <a:t>50%</a:t>
            </a:r>
            <a:r>
              <a:rPr/>
              <a:t> of papers contain </a:t>
            </a:r>
            <a:r>
              <a:rPr b="1"/>
              <a:t>statistical inconsistencies</a:t>
            </a:r>
          </a:p>
          <a:p>
            <a:pPr lvl="0"/>
            <a:r>
              <a:rPr/>
              <a:t>13% contained </a:t>
            </a:r>
            <a:r>
              <a:rPr b="1"/>
              <a:t>strong errors</a:t>
            </a:r>
            <a:r>
              <a:rPr/>
              <a:t> (i.e., where the statistical conclusion changes).</a:t>
            </a:r>
          </a:p>
          <a:p>
            <a:pPr lvl="0"/>
            <a:r>
              <a:rPr/>
              <a:t>Numerical results of less than 30% of papers can be </a:t>
            </a:r>
            <a:r>
              <a:rPr b="1"/>
              <a:t>reproduced</a:t>
            </a:r>
            <a:r>
              <a:rPr/>
              <a:t> (Crüwell et al., 2022)</a:t>
            </a:r>
          </a:p>
          <a:p>
            <a:pPr lvl="0" indent="0" marL="0">
              <a:buNone/>
            </a:pPr>
            <a:r>
              <a:rPr/>
              <a:t>Nuijten, M. B., Hartgerink, C. H., Van Assen, M. A., Epskamp, S., &amp; Wicherts, J. M. (2016). The prevalence of statistical reporting errors in psychology (1985–2013). </a:t>
            </a:r>
            <a:r>
              <a:rPr i="1"/>
              <a:t>Behavior research methods, 48</a:t>
            </a:r>
            <a:r>
              <a:rPr/>
              <a:t>(4), 1205-1226. </a:t>
            </a:r>
            <a:r>
              <a:rPr>
                <a:hlinkClick r:id="rId3"/>
              </a:rPr>
              <a:t>https://doi.org/10.3758/s13428-015-0664-2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(accidental) p-hacking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2"/>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3"/>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4"/>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5"/>
              </a:rPr>
              <a:t>https://doi.org/10.7554/eLife.70929</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slides TÓ REMOVE?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published research can be replicated/reproduced? REMOVE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2026-04-29T14:48:59Z</dcterms:created>
  <dcterms:modified xsi:type="dcterms:W3CDTF">2026-04-29T14:48:59Z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