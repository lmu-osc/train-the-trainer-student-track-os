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notesMaster" Target="notesMasters/notesMaster1.xml" /><Relationship Id="rId51" Type="http://schemas.openxmlformats.org/officeDocument/2006/relationships/viewProps" Target="viewProps.xml" /><Relationship Id="rId50" Type="http://schemas.openxmlformats.org/officeDocument/2006/relationships/presProps" Target="presProps.xml" /><Relationship Id="rId1" Type="http://schemas.openxmlformats.org/officeDocument/2006/relationships/slideMaster" Target="slideMasters/slideMaster1.xml" /><Relationship Id="rId53" Type="http://schemas.openxmlformats.org/officeDocument/2006/relationships/tableStyles" Target="tableStyles.xml" /><Relationship Id="rId5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a:p>
            <a:pPr lvl="0" indent="0" marL="0">
              <a:buNone/>
            </a:pPr>
          </a:p>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a:p>
            <a:pPr lvl="0" indent="0" marL="0">
              <a:buNone/>
            </a:pPr>
          </a:p>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a:p>
            <a:pPr lvl="0" indent="0" marL="0">
              <a:buNone/>
            </a:pPr>
          </a:p>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salesman.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a:p>
            <a:pPr lvl="0" indent="0" marL="0">
              <a:buNone/>
            </a:pPr>
          </a:p>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a:p>
            <a:pPr lvl="0" indent="0" marL="0">
              <a:buNone/>
            </a:pPr>
          </a:p>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a:p>
            <a:pPr lvl="0" indent="0" marL="0">
              <a:buNone/>
            </a:pPr>
          </a:p>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a:p>
            <a:pPr lvl="0" indent="0" marL="0">
              <a:buNone/>
            </a:pPr>
          </a:p>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a:p>
            <a:pPr lvl="0" indent="0" marL="0">
              <a:buNone/>
            </a:pPr>
          </a:p>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a:p>
            <a:pPr lvl="0" indent="0" marL="0">
              <a:buNone/>
            </a:pPr>
          </a:p>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a:p>
            <a:pPr lvl="0" indent="0" marL="0">
              <a:buNone/>
            </a:pPr>
          </a:p>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a:p>
            <a:pPr lvl="0" indent="0" marL="0">
              <a:buNone/>
            </a:pPr>
          </a:p>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a:p>
            <a:pPr lvl="0" indent="0" marL="0">
              <a:buNone/>
            </a:pPr>
          </a:p>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a:p>
            <a:pPr lvl="0" indent="0" marL="0">
              <a:buNone/>
            </a:pPr>
          </a:p>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a:p>
            <a:pPr lvl="0" indent="0" marL="0">
              <a:buNone/>
            </a:pPr>
          </a:p>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a:p>
            <a:pPr lvl="0" indent="0" marL="0">
              <a:buNone/>
            </a:pPr>
          </a:p>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a:p>
            <a:pPr lvl="0" indent="0" marL="0">
              <a:buNone/>
            </a:pPr>
          </a:p>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a:p>
            <a:pPr lvl="0" indent="0" marL="0">
              <a:buNone/>
            </a:pPr>
          </a:p>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a:p>
            <a:pPr lvl="0" indent="0" marL="0">
              <a:buNone/>
            </a:pPr>
          </a:p>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a:p>
            <a:pPr lvl="0" indent="0" marL="0">
              <a:buNone/>
            </a:pPr>
          </a:p>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a:p>
            <a:pPr lvl="0" indent="0" marL="0">
              <a:buNone/>
            </a:pPr>
          </a:p>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a:p>
            <a:pPr lvl="0" indent="0" marL="0">
              <a:buNone/>
            </a:pPr>
          </a:p>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a:p>
            <a:pPr lvl="0" indent="0" marL="0">
              <a:buNone/>
            </a:pPr>
          </a:p>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a:p>
            <a:pPr lvl="0" indent="0" marL="0">
              <a:buNone/>
            </a:pPr>
          </a:p>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a:p>
            <a:pPr lvl="0" indent="0" marL="0">
              <a:buNone/>
            </a:pPr>
          </a:p>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2-8282-3910" TargetMode="External" /><Relationship Id="rId8" Type="http://schemas.openxmlformats.org/officeDocument/2006/relationships/hyperlink" Target="https://orcid.org/0000-0002-3242-5981"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 Id="rId5"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www.sciencebarometer.com" TargetMode="External" /><Relationship Id="rId4" Type="http://schemas.openxmlformats.org/officeDocument/2006/relationships/hyperlink" Target="https://doi.org/10.1016/j.copsyc.2025.102201"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hyperlink" Target="https://doi.org/10.1525/collabra.74" TargetMode="External" /><Relationship Id="rId4" Type="http://schemas.openxmlformats.org/officeDocument/2006/relationships/hyperlink" Target="https://doi.org/10.1525/collabra.74"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hyperlink" Target="https://osf.io/br9sp/files/nmwr3" TargetMode="External" /><Relationship Id="rId4"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038/s41586-025-10078-y" TargetMode="External" /><Relationship Id="rId4" Type="http://schemas.openxmlformats.org/officeDocument/2006/relationships/hyperlink" Target="https://osf.io/u3znx"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sf.io/d4dcu/"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doi.org/10.1026/0033-3042/a000335" TargetMode="External" /><Relationship Id="rId4" Type="http://schemas.openxmlformats.org/officeDocument/2006/relationships/hyperlink" Target="https://doi.org/10.1371/journal.pone.0010068" TargetMode="External" /><Relationship Id="rId5" Type="http://schemas.openxmlformats.org/officeDocument/2006/relationships/hyperlink" Target="https://doi.org/10.2147/OAJCT.S34419"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hyperlink" Target="https://doi.org/10.1056/NEJMsa065779" TargetMode="External" /><Relationship Id="rId4" Type="http://schemas.openxmlformats.org/officeDocument/2006/relationships/hyperlink" Target="https://doi.org/10.1017/S0033291718001873" TargetMode="External" /><Relationship Id="rId5" Type="http://schemas.openxmlformats.org/officeDocument/2006/relationships/image" Target="../media/image1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5.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hyperlink" Target="https://doi.org/10.1177/0149206314527133" TargetMode="External" /><Relationship Id="rId4" Type="http://schemas.openxmlformats.org/officeDocument/2006/relationships/hyperlink" Target="http://crystalprisonzone.blogspot.com/2016/03/the-weapons-priming-effect.html" TargetMode="External" /><Relationship Id="rId5" Type="http://schemas.openxmlformats.org/officeDocument/2006/relationships/hyperlink" Target="http://crystalprisonzone.blogspot.com/2016/03/the-weapons-priming-effect.html" TargetMode="External" /><Relationship Id="rId6" Type="http://schemas.openxmlformats.org/officeDocument/2006/relationships/image" Target="../media/image1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 Id="rId5" Type="http://schemas.openxmlformats.org/officeDocument/2006/relationships/hyperlink" Target="http://shinyapps.org/apps/p-hacker/" TargetMode="External" /><Relationship Id="rId6" Type="http://schemas.openxmlformats.org/officeDocument/2006/relationships/image" Target="../media/image1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hyperlink" Target="https://doi.org/10.1371/journal.pone.0263023" TargetMode="External" /><Relationship Id="rId4"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doi.org/10.1371/journal.pone.0263023" TargetMode="External" /><Relationship Id="rId4" Type="http://schemas.openxmlformats.org/officeDocument/2006/relationships/hyperlink" Target="http://bulliedintobadscience.org/"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 Id="rId5" Type="http://schemas.openxmlformats.org/officeDocument/2006/relationships/hyperlink" Target="https://doi.org/10.1098/rsos.251997" TargetMode="External" /><Relationship Id="rId6" Type="http://schemas.openxmlformats.org/officeDocument/2006/relationships/hyperlink" Target="https://doi.org/10.1177/09567976221140828"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www.geograph.org.uk/"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 Id="rId3" Type="http://schemas.openxmlformats.org/officeDocument/2006/relationships/hyperlink" Target="https://doi.org/10.1086/442296" TargetMode="External" /><Relationship Id="rId4" Type="http://schemas.openxmlformats.org/officeDocument/2006/relationships/hyperlink" Target="https://doi.org/10.1016/j.respol.2020.103930" TargetMode="External" /><Relationship Id="rId5" Type="http://schemas.openxmlformats.org/officeDocument/2006/relationships/hyperlink" Target="https://doi.org/10.31234/osf.io/729qt" TargetMode="External" /><Relationship Id="rId6" Type="http://schemas.openxmlformats.org/officeDocument/2006/relationships/hyperlink" Target="https://doi.org/10.7554/eLife.7092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06/07/2026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6"/>
              </a:rPr>
              <a:t>0000-0002-6413-3895</a:t>
            </a:r>
            <a:r>
              <a:rPr/>
              <a:t>)</a:t>
            </a:r>
          </a:p>
          <a:p>
            <a:pPr lvl="0" indent="0" marL="0">
              <a:buNone/>
            </a:pPr>
            <a:r>
              <a:rPr b="1"/>
              <a:t>Reviewer</a:t>
            </a:r>
            <a:r>
              <a:rPr/>
              <a:t>: Schönbrodt, Felix (</a:t>
            </a:r>
            <a:r>
              <a:rPr>
                <a:hlinkClick r:id="rId7"/>
              </a:rPr>
              <a:t>0000-0002-8282-3910</a:t>
            </a:r>
            <a:r>
              <a:rPr/>
              <a:t>)</a:t>
            </a:r>
          </a:p>
          <a:p>
            <a:pPr lvl="0" indent="0" marL="0">
              <a:buNone/>
            </a:pPr>
            <a:r>
              <a:rPr b="1"/>
              <a:t>Consultant</a:t>
            </a:r>
            <a:r>
              <a:rPr/>
              <a:t>: Ihle, Malika ( </a:t>
            </a:r>
            <a:r>
              <a:rPr>
                <a:hlinkClick r:id="rId8"/>
              </a:rPr>
              <a:t>0000-0002-3242-5981</a:t>
            </a:r>
            <a:r>
              <a:rPr/>
              <a:t>)</a:t>
            </a:r>
          </a:p>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spcBef>
                <a:spcPts val="3000"/>
              </a:spcBef>
              <a:buNone/>
            </a:pPr>
            <a:r>
              <a:rPr b="1"/>
              <a:t>Threats to credible research - Intro Survey</a:t>
            </a:r>
          </a:p>
          <a:p>
            <a:pPr lvl="0" indent="0" marL="0">
              <a:spcBef>
                <a:spcPts val="3000"/>
              </a:spcBef>
              <a:buNone/>
            </a:pPr>
            <a:r>
              <a:rPr b="1"/>
              <a:t>Survey</a:t>
            </a:r>
          </a:p>
          <a:p>
            <a:pPr lvl="0" indent="0" marL="0">
              <a:buNone/>
            </a:pPr>
            <a:r>
              <a:rPr b="1"/>
              <a:t>Based on your experience so far, how would you currently rate your trust in published scientific findings on a scale from 1 - 5?</a:t>
            </a:r>
          </a:p>
          <a:p>
            <a:pPr lvl="0"/>
            <a:r>
              <a:rPr/>
              <a:t>1 = trusting virtually </a:t>
            </a:r>
            <a:r>
              <a:rPr b="1"/>
              <a:t>none</a:t>
            </a:r>
            <a:r>
              <a:rPr/>
              <a:t> of the findings</a:t>
            </a:r>
          </a:p>
          <a:p>
            <a:pPr lvl="0"/>
            <a:r>
              <a:rPr/>
              <a:t>2 = trusting only </a:t>
            </a:r>
            <a:r>
              <a:rPr b="1"/>
              <a:t>some</a:t>
            </a:r>
            <a:r>
              <a:rPr/>
              <a:t> findings</a:t>
            </a:r>
          </a:p>
          <a:p>
            <a:pPr lvl="0"/>
            <a:r>
              <a:rPr/>
              <a:t>3 = trusting about </a:t>
            </a:r>
            <a:r>
              <a:rPr b="1"/>
              <a:t>half</a:t>
            </a:r>
            <a:r>
              <a:rPr/>
              <a:t> of the findings</a:t>
            </a:r>
          </a:p>
          <a:p>
            <a:pPr lvl="0"/>
            <a:r>
              <a:rPr/>
              <a:t>4 = trusting the </a:t>
            </a:r>
            <a:r>
              <a:rPr b="1"/>
              <a:t>majority</a:t>
            </a:r>
            <a:r>
              <a:rPr/>
              <a:t> of the findings</a:t>
            </a:r>
          </a:p>
          <a:p>
            <a:pPr lvl="0"/>
            <a:r>
              <a:rPr/>
              <a:t>5 = trusting virtually </a:t>
            </a:r>
            <a:r>
              <a:rPr b="1"/>
              <a:t>all</a:t>
            </a:r>
            <a:r>
              <a:rPr/>
              <a:t> findings</a:t>
            </a:r>
          </a:p>
          <a:p>
            <a:pPr lvl="0" indent="0" marL="0">
              <a:spcBef>
                <a:spcPts val="3000"/>
              </a:spcBef>
              <a:buNone/>
            </a:pPr>
            <a:r>
              <a:rPr b="1"/>
              <a:t>Survey</a:t>
            </a:r>
          </a:p>
          <a:p>
            <a:pPr lvl="0" indent="0" marL="0">
              <a:buNone/>
            </a:pPr>
            <a:r>
              <a:rPr b="1"/>
              <a:t>Based on your experience so far, which challenges to research trustworthiness do you see? Name a few keywords.</a:t>
            </a:r>
          </a:p>
          <a:p>
            <a:pPr lvl="0" indent="0" marL="0">
              <a:buNone/>
            </a:pPr>
            <a:r>
              <a:rPr/>
              <a:t>Display Wordcloud answer.</a:t>
            </a:r>
          </a:p>
          <a:p>
            <a:pPr lvl="0" indent="0" marL="0">
              <a:spcBef>
                <a:spcPts val="3000"/>
              </a:spcBef>
              <a:buNone/>
            </a:pPr>
            <a:r>
              <a:rPr b="1"/>
              <a:t>Survey</a:t>
            </a:r>
          </a:p>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a:p>
            <a:pPr lvl="0" indent="0" marL="0">
              <a:spcBef>
                <a:spcPts val="3000"/>
              </a:spcBef>
              <a:buNone/>
            </a:pPr>
            <a:r>
              <a:rPr b="1"/>
              <a:t>Think - Pair - Share</a:t>
            </a:r>
          </a:p>
          <a:p>
            <a:pPr lvl="0"/>
            <a:r>
              <a:rPr b="1"/>
              <a:t>Think</a:t>
            </a:r>
            <a:r>
              <a:rPr/>
              <a:t> (2 min): For yourself: Write down a definition for those key terms: </a:t>
            </a:r>
            <a:r>
              <a:rPr i="1"/>
              <a:t>Replicability</a:t>
            </a:r>
            <a:r>
              <a:rPr/>
              <a:t>, </a:t>
            </a:r>
            <a:r>
              <a:rPr i="1"/>
              <a:t>Replication</a:t>
            </a:r>
            <a:r>
              <a:rPr/>
              <a:t>, </a:t>
            </a:r>
            <a:r>
              <a:rPr i="1"/>
              <a:t>Reproduction</a:t>
            </a:r>
            <a:r>
              <a:rPr/>
              <a:t>, </a:t>
            </a:r>
            <a:r>
              <a:rPr i="1"/>
              <a:t>p-hacking</a:t>
            </a:r>
            <a:r>
              <a:rPr/>
              <a:t>(without internet search - your current understanding)</a:t>
            </a:r>
          </a:p>
          <a:p>
            <a:pPr lvl="0"/>
            <a:r>
              <a:rPr b="1"/>
              <a:t>Pair</a:t>
            </a:r>
            <a:r>
              <a:rPr/>
              <a:t> (2 min): Discuss your definitions with your neighbour</a:t>
            </a:r>
          </a:p>
          <a:p>
            <a:pPr lvl="0"/>
            <a:r>
              <a:rPr b="1"/>
              <a:t>Share</a:t>
            </a:r>
            <a:r>
              <a:rPr/>
              <a:t> (2 min): Share your definitions with the larger group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Replicability and reproducibilty</a:t>
            </a:r>
          </a:p>
          <a:p>
            <a:pPr lvl="0"/>
            <a:r>
              <a:rPr/>
              <a:t>Threats to replicability: </a:t>
            </a:r>
            <a:r>
              <a:rPr b="1"/>
              <a:t>p-hacking, errors, and biases</a:t>
            </a:r>
            <a:r>
              <a:rPr/>
              <a:t> in research</a:t>
            </a:r>
          </a:p>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Do people trust in research?</a:t>
            </a:r>
          </a:p>
        </p:txBody>
      </p:sp>
      <p:sp>
        <p:nvSpPr>
          <p:cNvPr id="4" name="Text Placeholder 3"/>
          <p:cNvSpPr>
            <a:spLocks noGrp="1"/>
          </p:cNvSpPr>
          <p:nvPr>
            <p:ph idx="2" sz="half" type="body"/>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5"/>
          <a:stretch>
            <a:fillRect/>
          </a:stretch>
        </p:blipFill>
        <p:spPr bwMode="auto">
          <a:xfrm>
            <a:off x="3568700" y="546100"/>
            <a:ext cx="5105400" cy="3695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4"/>
              </a:rPr>
              <a:t>2017</a:t>
            </a:r>
            <a:r>
              <a:rPr/>
              <a:t>).</a:t>
            </a:r>
          </a:p>
          <a:p>
            <a:pPr lvl="0" indent="0" marL="0">
              <a:spcBef>
                <a:spcPts val="3000"/>
              </a:spcBef>
              <a:buNone/>
            </a:pPr>
            <a:r>
              <a:rPr b="1"/>
              <a:t>A stark contrast?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Should we trust in science?</a:t>
            </a:r>
          </a:p>
        </p:txBody>
      </p:sp>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a:p>
            <a:pPr lvl="0" indent="0" marL="0">
              <a:spcBef>
                <a:spcPts val="3000"/>
              </a:spcBef>
              <a:buNone/>
            </a:pPr>
            <a:r>
              <a:rPr b="1"/>
              <a:t>Definitions of key terms</a:t>
            </a:r>
          </a:p>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prototypical direct replication:</a:t>
            </a:r>
          </a:p>
        </p:txBody>
      </p:sp>
      <p:pic>
        <p:nvPicPr>
          <p:cNvPr descr="images/replication_types_matrix1.png" id="0" name="Picture 1"/>
          <p:cNvPicPr>
            <a:picLocks noGrp="1" noChangeAspect="1"/>
          </p:cNvPicPr>
          <p:nvPr/>
        </p:nvPicPr>
        <p:blipFill>
          <a:blip r:embed="rId4"/>
          <a:stretch>
            <a:fillRect/>
          </a:stretch>
        </p:blipFill>
        <p:spPr bwMode="auto">
          <a:xfrm>
            <a:off x="3568700" y="1092200"/>
            <a:ext cx="5105400" cy="2616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realistic example:</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qualifiers “direct”, “conceptual”, “close” etc. replications are prototypical configurations of this matrix.</a:t>
            </a:r>
          </a:p>
          <a:p>
            <a:pPr lvl="0" indent="0" marL="0">
              <a:spcBef>
                <a:spcPts val="3000"/>
              </a:spcBef>
              <a:buNone/>
            </a:pPr>
            <a:r>
              <a:rPr b="1"/>
              <a:t>Definitions of key terms</a:t>
            </a:r>
          </a:p>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a:p>
            <a:pPr lvl="0" indent="0" marL="0">
              <a:spcBef>
                <a:spcPts val="3000"/>
              </a:spcBef>
              <a:buNone/>
            </a:pPr>
            <a:r>
              <a:rPr b="1"/>
              <a:t>Reproducibility Project:Psychology (RP:P, 2015)</a:t>
            </a:r>
          </a:p>
          <a:p>
            <a:pPr lvl="0" indent="0" marL="0">
              <a:spcBef>
                <a:spcPts val="3000"/>
              </a:spcBef>
              <a:buNone/>
            </a:pPr>
            <a:r>
              <a:rPr b="1"/>
              <a:t>The first large-scale replication project in the field</a:t>
            </a:r>
          </a:p>
          <a:p>
            <a:pPr lvl="0"/>
            <a:r>
              <a:rPr b="1"/>
              <a:t>Close/exact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TODO: Add new slide with results. Remove the callout box.</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a:p>
            <a:pPr lvl="0" indent="0" marL="0">
              <a:spcBef>
                <a:spcPts val="3000"/>
              </a:spcBef>
              <a:buNone/>
            </a:pPr>
            <a:r>
              <a:rPr b="1"/>
              <a:t>Reproducibility Project:Psychology (RP:P, 2015)</a:t>
            </a:r>
          </a:p>
          <a:p>
            <a:pPr lvl="0" indent="0" marL="0">
              <a:spcBef>
                <a:spcPts val="3000"/>
              </a:spcBef>
              <a:buNone/>
            </a:pPr>
            <a:r>
              <a:rPr b="1"/>
              <a:t>Results</a:t>
            </a:r>
          </a:p>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2-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a:p>
            <a:pPr lvl="0" indent="0" marL="0">
              <a:spcBef>
                <a:spcPts val="3000"/>
              </a:spcBef>
              <a:buNone/>
            </a:pPr>
            <a:r>
              <a:rPr b="1"/>
              <a:t>Not a recent issue</a:t>
            </a:r>
          </a:p>
          <a:p>
            <a:pPr lvl="0" indent="0" marL="0">
              <a:buNone/>
            </a:pPr>
          </a:p>
          <a:p>
            <a:pPr lvl="0" indent="0" marL="0">
              <a:buNone/>
            </a:pPr>
            <a:r>
              <a:rPr/>
              <a:t>Adapted from Dr. Malika Ihle: </a:t>
            </a:r>
            <a:r>
              <a:rPr>
                <a:hlinkClick r:id="rId4"/>
              </a:rPr>
              <a:t>https: https://osf.io/u3znx</a:t>
            </a:r>
          </a:p>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Low power and low p(H1)</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a:p>
                <a:pPr lvl="0" indent="0" marL="0">
                  <a:spcBef>
                    <a:spcPts val="3000"/>
                  </a:spcBef>
                  <a:buNone/>
                </a:pPr>
                <a:r>
                  <a:rPr b="1"/>
                  <a:t>False Discovery Rate 1</a:t>
                </a:r>
              </a:p>
            </p:txBody>
          </p:sp>
        </mc:Choice>
      </mc:AlternateContent>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3"/>
          <a:stretch>
            <a:fillRect/>
          </a:stretch>
        </p:blipFill>
        <p:spPr bwMode="auto">
          <a:xfrm>
            <a:off x="3568700" y="838200"/>
            <a:ext cx="5105400" cy="311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3"/>
          <a:stretch>
            <a:fillRect/>
          </a:stretch>
        </p:blipFill>
        <p:spPr bwMode="auto">
          <a:xfrm>
            <a:off x="3721100" y="203200"/>
            <a:ext cx="4800600" cy="4381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2"/>
                  </a:rPr>
                  <a:t>Open Access</a:t>
                </a:r>
              </a:p>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thing you need to become a professor?</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4"/>
              </a:rPr>
              <a:t>https://doi.org/10.1371/journal.pone.0010068</a:t>
            </a:r>
          </a:p>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5"/>
              </a:rPr>
              <a:t>https://doi.org/10.2147/OAJCT.S34419</a:t>
            </a:r>
          </a:p>
          <a:p>
            <a:pPr lvl="0" indent="0" marL="0">
              <a:spcBef>
                <a:spcPts val="3000"/>
              </a:spcBef>
              <a:buNone/>
            </a:pPr>
            <a:r>
              <a:rPr b="1"/>
              <a:t>Example publication bias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4"/>
              </a:rPr>
              <a:t>https://doi.org/10.1017/S0033291718001873</a:t>
            </a:r>
          </a:p>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5"/>
          <a:stretch>
            <a:fillRect/>
          </a:stretch>
        </p:blipFill>
        <p:spPr bwMode="auto">
          <a:xfrm>
            <a:off x="3568700" y="1485900"/>
            <a:ext cx="5105400" cy="181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tendency to believe, after seeing the results of a study, that the outcome was obvious or predictable all along, even if it was not.</a:t>
            </a:r>
          </a:p>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survey</a:t>
            </a:r>
          </a:p>
        </p:txBody>
      </p:sp>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Pre-break survey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Pre-break survey</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Do aggressive primes trigger aggressive behavior?</a:t>
                </a:r>
              </a:p>
              <a:p>
                <a:pPr lvl="0" indent="0" marL="1270000">
                  <a:buNone/>
                </a:pPr>
                <a:r>
                  <a:rPr sz="2000"/>
                  <a:t>“A second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4"/>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5"/>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a:p>
                <a:pPr lvl="0" indent="0" marL="0">
                  <a:spcBef>
                    <a:spcPts val="3000"/>
                  </a:spcBef>
                  <a:buNone/>
                </a:pPr>
                <a:r>
                  <a:rPr b="1"/>
                  <a:t>Combining these “hacks”</a:t>
                </a:r>
              </a:p>
            </p:txBody>
          </p:sp>
        </mc:Choice>
      </mc:AlternateContent>
      <p:pic>
        <p:nvPicPr>
          <p:cNvPr descr="images/combining_hacks.png" id="0" name="Picture 1"/>
          <p:cNvPicPr>
            <a:picLocks noGrp="1" noChangeAspect="1"/>
          </p:cNvPicPr>
          <p:nvPr/>
        </p:nvPicPr>
        <p:blipFill>
          <a:blip r:embed="rId6"/>
          <a:stretch>
            <a:fillRect/>
          </a:stretch>
        </p:blipFill>
        <p:spPr bwMode="auto">
          <a:xfrm>
            <a:off x="3568700" y="1104900"/>
            <a:ext cx="5105400" cy="25781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6" end="2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a:p>
            <a:pPr lvl="0" indent="0" marL="0">
              <a:spcBef>
                <a:spcPts val="3000"/>
              </a:spcBef>
              <a:buNone/>
            </a:pPr>
            <a:r>
              <a:rPr b="1"/>
              <a:t>A shocking report from an experienced researcher</a:t>
            </a:r>
          </a:p>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5"/>
              </a:rPr>
              <a:t>http://shinyapps.org/apps/p-hacker/</a:t>
            </a:r>
          </a:p>
        </p:txBody>
      </p:sp>
      <p:pic>
        <p:nvPicPr>
          <p:cNvPr descr="images/p-hacker-app.png" id="0" name="Picture 1"/>
          <p:cNvPicPr>
            <a:picLocks noGrp="1" noChangeAspect="1"/>
          </p:cNvPicPr>
          <p:nvPr/>
        </p:nvPicPr>
        <p:blipFill>
          <a:blip r:embed="rId6"/>
          <a:stretch>
            <a:fillRect/>
          </a:stretch>
        </p:blipFill>
        <p:spPr bwMode="auto">
          <a:xfrm>
            <a:off x="3568700" y="368300"/>
            <a:ext cx="5105400" cy="405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4"/>
          <a:stretch>
            <a:fillRect/>
          </a:stretch>
        </p:blipFill>
        <p:spPr bwMode="auto">
          <a:xfrm>
            <a:off x="3568700" y="1422400"/>
            <a:ext cx="5105400" cy="19304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a:t>Lack of education/knowledge?</a:t>
            </a:r>
          </a:p>
          <a:p>
            <a:pPr lvl="1"/>
            <a:r>
              <a:rPr/>
              <a:t>Wrong/uncritical standards of the field?</a:t>
            </a:r>
          </a:p>
          <a:p>
            <a:pPr lvl="1"/>
            <a:r>
              <a:rPr/>
              <a:t>Pushed by supervisors, reviewers, or editors? ➙ </a:t>
            </a:r>
            <a:r>
              <a:rPr>
                <a:hlinkClick r:id="rId4"/>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Honest Errors</a:t>
            </a:r>
          </a:p>
        </p:txBody>
      </p:sp>
      <p:sp>
        <p:nvSpPr>
          <p:cNvPr id="4" name="Text Placeholder 3"/>
          <p:cNvSpPr>
            <a:spLocks noGrp="1"/>
          </p:cNvSpPr>
          <p:nvPr>
            <p:ph idx="2" sz="half" type="body"/>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3"/>
          <a:stretch>
            <a:fillRect/>
          </a:stretch>
        </p:blipFill>
        <p:spPr bwMode="auto">
          <a:xfrm>
            <a:off x="3568700" y="2044700"/>
            <a:ext cx="5105400" cy="698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a:p>
            <a:pPr lvl="0" indent="0" marL="0">
              <a:spcBef>
                <a:spcPts val="3000"/>
              </a:spcBef>
              <a:buNone/>
            </a:pPr>
            <a:r>
              <a:rPr b="1"/>
              <a:t>Reproducibility Success</a:t>
            </a:r>
          </a:p>
          <a:p>
            <a:pPr lvl="0"/>
            <a:r>
              <a:rPr/>
              <a:t>Crüwell et al. (2022), Psychology: Numerical results of less than 30% of papers can be </a:t>
            </a:r>
            <a:r>
              <a:rPr b="1"/>
              <a:t>reproduced</a:t>
            </a:r>
            <a:r>
              <a:rPr/>
              <a:t> (Crüwell et al., 2022)</a:t>
            </a:r>
          </a:p>
          <a:p>
            <a:pPr lvl="0"/>
            <a:r>
              <a:rPr/>
              <a:t>Krähmer et al. (2026), Sociology:</a:t>
            </a:r>
          </a:p>
          <a:p>
            <a:pPr lvl="1"/>
            <a:r>
              <a:rPr/>
              <a:t>Only 3% of authors share analysis 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5"/>
              </a:rPr>
              <a:t>2026</a:t>
            </a:r>
            <a:r>
              <a:rPr/>
              <a:t>). Crüwell et al. (</a:t>
            </a:r>
            <a:r>
              <a:rPr>
                <a:hlinkClick r:id="rId6"/>
              </a:rPr>
              <a:t>2023</a:t>
            </a:r>
            <a:r>
              <a:rPr/>
              <a:t>).</a:t>
            </a:r>
          </a:p>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a:p>
            <a:pPr lvl="0" indent="0" marL="0">
              <a:spcBef>
                <a:spcPts val="3000"/>
              </a:spcBef>
              <a:buNone/>
            </a:pPr>
            <a:r>
              <a:rPr b="1"/>
              <a:t>A romanticized idea of research?</a:t>
            </a:r>
          </a:p>
          <a:p>
            <a:pPr lvl="0" indent="0" marL="0">
              <a:buNone/>
            </a:pPr>
          </a:p>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a:p>
            <a:pPr lvl="0" indent="0" marL="0">
              <a:spcBef>
                <a:spcPts val="3000"/>
              </a:spcBef>
              <a:buNone/>
            </a:pP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a:p>
            <a:pPr lvl="0" indent="0" marL="0">
              <a:spcBef>
                <a:spcPts val="3000"/>
              </a:spcBef>
              <a:buNone/>
            </a:pPr>
            <a:r>
              <a:rPr b="1"/>
              <a:t>Take-home message</a:t>
            </a:r>
          </a:p>
          <a:p>
            <a:pPr lvl="0" indent="0" marL="0">
              <a:buNone/>
            </a:pPr>
            <a:r>
              <a:rPr b="1"/>
              <a:t>What are you taking away from today?</a:t>
            </a:r>
          </a:p>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Thanks! </a:t>
            </a:r>
          </a:p>
        </p:txBody>
      </p:sp>
      <p:sp>
        <p:nvSpPr>
          <p:cNvPr id="4" name="Text Placeholder 3"/>
          <p:cNvSpPr>
            <a:spLocks noGrp="1"/>
          </p:cNvSpPr>
          <p:nvPr>
            <p:ph idx="2" sz="half" type="body"/>
          </p:nvPr>
        </p:nvSpPr>
        <p:spPr/>
        <p:txBody>
          <a:bodyPr/>
          <a:lstStyle/>
          <a:p>
            <a:pPr lvl="0" indent="0" marL="0">
              <a:buNone/>
            </a:pPr>
            <a:r>
              <a:rPr/>
              <a:t>See you next class :)</a:t>
            </a:r>
          </a:p>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3"/>
          <a:stretch>
            <a:fillRect/>
          </a:stretch>
        </p:blipFill>
        <p:spPr bwMode="auto">
          <a:xfrm>
            <a:off x="3568700" y="1320800"/>
            <a:ext cx="5105400" cy="2133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3"/>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4"/>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5"/>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6"/>
              </a:rPr>
              <a:t>https://doi.org/10.7554/eLife.70929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Additional slides TO REMOVE?</a:t>
            </a:r>
          </a:p>
        </p:txBody>
      </p:sp>
      <p:sp>
        <p:nvSpPr>
          <p:cNvPr id="4" name="Text Placeholder 3"/>
          <p:cNvSpPr>
            <a:spLocks noGrp="1"/>
          </p:cNvSpPr>
          <p:nvPr>
            <p:ph idx="2" sz="half" type="body"/>
          </p:nvPr>
        </p:nvSpPr>
        <p:spPr/>
        <p:txBody>
          <a:bodyPr/>
          <a:lstStyle/>
          <a:p>
            <a:pPr lvl="0" indent="0" marL="0">
              <a:spcBef>
                <a:spcPts val="3000"/>
              </a:spcBef>
              <a:buNone/>
            </a:pPr>
            <a:r>
              <a:rPr b="1"/>
              <a:t>What published research can be replicated/reproduced? REMOVE</a:t>
            </a:r>
          </a:p>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2026-07-06T00:07:22Z</dcterms:created>
  <dcterms:modified xsi:type="dcterms:W3CDTF">2026-07-06T00:07:22Z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06/07/2026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