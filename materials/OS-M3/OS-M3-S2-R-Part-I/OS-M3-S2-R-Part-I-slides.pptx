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a:t>There are also </a:t>
            </a:r>
            <a:r>
              <a:rPr b="1"/>
              <a:t>instructor notes</a:t>
            </a:r>
            <a:r>
              <a:rPr/>
              <a:t>. For some slides, there will be pedagogical tips, suggestons for acitivities and troubleshooting tips for issues your audience might run into. You can find these notes underneath the speaker notes.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start with the basics: What exactly is R?</a:t>
            </a:r>
          </a:p>
          <a:p>
            <a:pPr lvl="0" indent="0" marL="0">
              <a:buNone/>
            </a:pPr>
          </a:p>
          <a:p>
            <a:pPr lvl="0" indent="0" marL="0">
              <a:buNone/>
            </a:pPr>
            <a:r>
              <a:rPr/>
              <a:t>R is a programming language specifically designed for data analysis and statistics. That means it’s not just a tool — it’s a full language, built with researchers and data in mind.</a:t>
            </a:r>
          </a:p>
          <a:p>
            <a:pPr lvl="0" indent="0" marL="0">
              <a:buNone/>
            </a:pPr>
          </a:p>
          <a:p>
            <a:pPr lvl="0" indent="0" marL="0">
              <a:buNone/>
            </a:pPr>
            <a:r>
              <a:rPr/>
              <a:t>It’s also free and open source, which means anyone can download and use it, and developers from all over the world contribute to improving it. This has resulted in a large online community — so if you ever run into a problem, chances are someone else has had the same issue and posted a solution online.</a:t>
            </a:r>
          </a:p>
          <a:p>
            <a:pPr lvl="0" indent="0" marL="0">
              <a:buNone/>
            </a:pPr>
          </a:p>
          <a:p>
            <a:pPr lvl="0" indent="0" marL="0">
              <a:buNone/>
            </a:pPr>
            <a:r>
              <a:rPr/>
              <a:t>And because of that community, there are also countless free learning resources: tutorials, blog posts, videos, books, and packages that extend R’s functionality.</a:t>
            </a:r>
          </a:p>
          <a:p>
            <a:pPr lvl="0" indent="0" marL="0">
              <a:buNone/>
            </a:pPr>
          </a:p>
          <a:p>
            <a:pPr lvl="0" indent="0" marL="0">
              <a:buNone/>
            </a:pPr>
            <a:r>
              <a:rPr/>
              <a:t>So in short: R is powerful, flexible, and supported by a strong community — which is why it’s become such a widely used tool in quantitative research.</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RStudio is the main program we’ll be using to interact with R throughout this course. It’s a free and open-source editor specifically designed for R, and it makes things much easier — both for writing code and for organizing your work.</a:t>
            </a:r>
          </a:p>
          <a:p>
            <a:pPr lvl="0" indent="0" marL="0">
              <a:buNone/>
            </a:pPr>
          </a:p>
          <a:p>
            <a:pPr lvl="0" indent="0" marL="0">
              <a:buNone/>
            </a:pPr>
            <a:r>
              <a:rPr/>
              <a:t>On this slide, you can see the four main panes of the RStudio interface:</a:t>
            </a:r>
          </a:p>
          <a:p>
            <a:pPr lvl="0" indent="0" marL="0">
              <a:buNone/>
            </a:pPr>
          </a:p>
          <a:p>
            <a:pPr lvl="0" indent="0" marL="0">
              <a:buNone/>
            </a:pPr>
            <a:r>
              <a:rPr/>
              <a:t>The top left pane is where your scripts or other files appear. This is where you’ll usually write and edit your code.</a:t>
            </a:r>
          </a:p>
          <a:p>
            <a:pPr lvl="0" indent="0" marL="0">
              <a:buNone/>
            </a:pPr>
          </a:p>
          <a:p>
            <a:pPr lvl="0" indent="0" marL="0">
              <a:buNone/>
            </a:pPr>
            <a:r>
              <a:rPr/>
              <a:t>The top right is the Environment pane, which shows the objects you’ve created — like datasets or functions — so you can always check what’s currently in your workspace.</a:t>
            </a:r>
          </a:p>
          <a:p>
            <a:pPr lvl="0" indent="0" marL="0">
              <a:buNone/>
            </a:pPr>
          </a:p>
          <a:p>
            <a:pPr lvl="0" indent="0" marL="0">
              <a:buNone/>
            </a:pPr>
            <a:r>
              <a:rPr/>
              <a:t>The bottom left is the Console, where R actually runs your commands. If you type directly into R instead of using a script, this is where it happens.</a:t>
            </a:r>
          </a:p>
          <a:p>
            <a:pPr lvl="0" indent="0" marL="0">
              <a:buNone/>
            </a:pPr>
          </a:p>
          <a:p>
            <a:pPr lvl="0" indent="0" marL="0">
              <a:buNone/>
            </a:pPr>
            <a:r>
              <a:rPr/>
              <a:t>And finally, the bottom right is for Help, Plots, and Packages. So if you ask for help on a function, create a plot, or install a new package, it’ll show up here.</a:t>
            </a:r>
          </a:p>
          <a:p>
            <a:pPr lvl="0" indent="0" marL="0">
              <a:buNone/>
            </a:pPr>
          </a:p>
          <a:p>
            <a:pPr lvl="0" indent="0" marL="0">
              <a:buNone/>
            </a:pPr>
            <a:r>
              <a:rPr/>
              <a:t>So, RStudio combines everything in one interface to help you keep track of your code, your results, and your progress as you go.</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Instructor notes: add potential troubleshooting tips for instructors to efficiently solve the problems at this stage.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the bottom left pane of RStudio - the console - we can run commands. For example, we can use R to execute calculations. To do this, we use operators that correspond to mathematical symbols, such as the + and - sign.</a:t>
            </a:r>
          </a:p>
          <a:p>
            <a:pPr lvl="0" indent="0" marL="0">
              <a:buNone/>
            </a:pPr>
          </a:p>
          <a:p>
            <a:pPr lvl="0" indent="0" marL="0">
              <a:buNone/>
            </a:pPr>
            <a:r>
              <a:rPr/>
              <a:t>Here, you can see a table with the most important mathematical operators in R.</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We’ve already arrived at our second exercise. Use the console in RStudio to execute the mathematical operations you see on this slide.</a:t>
            </a:r>
          </a:p>
          <a:p>
            <a:pPr lvl="0" indent="0" marL="0">
              <a:buNone/>
            </a:pPr>
          </a:p>
          <a:p>
            <a:pPr lvl="0" indent="0" marL="0">
              <a:buNone/>
            </a:pPr>
            <a:r>
              <a:rPr i="1"/>
              <a:t>optional</a:t>
            </a:r>
            <a:r>
              <a:rPr/>
              <a:t>: live demonstration of what it looks like to run code from the console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Great, now you have a first impression of what it’s like to use 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However, R can of course do more than just calculate. One of its basic features, that is needed for many of its more complex functions are logical comparisons.</a:t>
            </a:r>
          </a:p>
          <a:p>
            <a:pPr lvl="0" indent="0" marL="0">
              <a:buNone/>
            </a:pPr>
          </a:p>
          <a:p>
            <a:pPr lvl="0" indent="0" marL="0">
              <a:buNone/>
            </a:pPr>
            <a:r>
              <a:rPr/>
              <a:t>We can compare two numbers to determine if they are equal or unequal and check if a number is larger or smaller than another number. Comparisons like that are answered by R with either </a:t>
            </a:r>
            <a:r>
              <a:rPr>
                <a:latin typeface="Courier"/>
              </a:rPr>
              <a:t>TRUE</a:t>
            </a:r>
            <a:r>
              <a:rPr/>
              <a:t>(yes) or </a:t>
            </a:r>
            <a:r>
              <a:rPr>
                <a:latin typeface="Courier"/>
              </a:rPr>
              <a:t>FALSE</a:t>
            </a:r>
            <a:r>
              <a:rPr/>
              <a:t> (no). These comparisons are called </a:t>
            </a:r>
            <a:r>
              <a:rPr b="1"/>
              <a:t>logical comparisons</a:t>
            </a:r>
            <a:r>
              <a:rPr/>
              <a:t>. We can also combine logical comparisons using the logical AND, OR, and NOT to formulate longer statements.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you can see an overview of logical operators. You can combine several single statements to longer statements using the logical AND, OR, and NOT.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R, different data types exist. We have already got to know the logical values </a:t>
            </a:r>
            <a:r>
              <a:rPr>
                <a:latin typeface="Courier"/>
              </a:rPr>
              <a:t>TRUE</a:t>
            </a:r>
            <a:r>
              <a:rPr/>
              <a:t>and </a:t>
            </a:r>
            <a:r>
              <a:rPr>
                <a:latin typeface="Courier"/>
              </a:rPr>
              <a:t>FALSE</a:t>
            </a:r>
            <a:r>
              <a:rPr/>
              <a:t>. Data that are numbers can be further differentiated into numeric values, also known as </a:t>
            </a:r>
            <a:r>
              <a:rPr>
                <a:latin typeface="Courier"/>
              </a:rPr>
              <a:t>double</a:t>
            </a:r>
            <a:r>
              <a:rPr/>
              <a:t>, and integers. Numeric variables have decimals, integers do not. Values that are words are normally either characters or factors. Characters have to be written in quotation marks. Factors have prespecified levels, such as brown, blonde, and black for a variable “hair color”.</a:t>
            </a:r>
          </a:p>
          <a:p>
            <a:pPr lvl="0" indent="0" marL="0">
              <a:buNone/>
            </a:pPr>
          </a:p>
          <a:p>
            <a:pPr lvl="0" indent="0" marL="0">
              <a:buNone/>
            </a:pPr>
            <a:r>
              <a:rPr/>
              <a:t>Depending on which type a variable has, different operations can be performed with it.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Until now, we’ve only worked in the console. However, once we close R, everything typed into the console will be lost. To make our work traceable and reproducible, it makes sense to save the code we used. One way of saving and sharing code are R scripts. To run code from an R script, put the cursor anywhere in the respective line of code or mark everything you want to execute. Then press Ctrl+Enter (Windows) or ⌘ + Enter (Mac).</a:t>
            </a:r>
          </a:p>
          <a:p>
            <a:pPr lvl="0" indent="0" marL="0">
              <a:buNone/>
            </a:pPr>
          </a:p>
          <a:p>
            <a:pPr lvl="0" indent="0" marL="0">
              <a:buNone/>
            </a:pPr>
            <a:r>
              <a:rPr/>
              <a:t>If you want to take notes or write anything that is not code into an R script, type # and then type your text.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how you create a new R script. Navigate to the File tab –&gt; New File –&gt; R Script or use the shortcut Ctrl + Shift + N. Then you can save it by navigating to File –&gt; Save or use the shortcut Ctrl + 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in R is referred to as an object. For example, the result of a logical comparison, is an object of type logical. Oftentimes, we want to work with an object repeatedly. To do this, we can create objects and give them names. This is done via assignments.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hyperlink" Target="https://quarto.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R: Part I</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Luz Sanchez Steinhagen</a:t>
            </a:r>
          </a:p>
        </p:txBody>
      </p:sp>
      <p:sp>
        <p:nvSpPr>
          <p:cNvPr id="4" name="Date Placeholder 3"/>
          <p:cNvSpPr>
            <a:spLocks noGrp="1"/>
          </p:cNvSpPr>
          <p:nvPr>
            <p:ph idx="10" sz="half" type="dt"/>
          </p:nvPr>
        </p:nvSpPr>
        <p:spPr/>
        <p:txBody>
          <a:bodyPr/>
          <a:lstStyle/>
          <a:p>
            <a:pPr lvl="0" indent="0" marL="0">
              <a:buNone/>
            </a:pPr>
            <a:r>
              <a:rPr/>
              <a:t>05/02/2026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statement and licence</a:t>
            </a:r>
          </a:p>
          <a:p>
            <a:pPr lvl="0" indent="0" marL="0">
              <a:buNone/>
            </a:pPr>
            <a:r>
              <a:rPr/>
              <a:t>Possible roles using the CRediT contribition system:</a:t>
            </a:r>
          </a:p>
          <a:p>
            <a:pPr lvl="0"/>
            <a:r>
              <a:rPr b="1"/>
              <a:t>Conceptualization</a:t>
            </a:r>
            <a:r>
              <a:rPr/>
              <a:t>: Ideas; formulation or evolution of overarching research goals and aims</a:t>
            </a:r>
          </a:p>
          <a:p>
            <a:pPr lvl="0"/>
            <a:r>
              <a:rPr b="1"/>
              <a:t>Methodology</a:t>
            </a:r>
            <a:r>
              <a:rPr/>
              <a:t>: Development or design of methodology; creation of models</a:t>
            </a:r>
          </a:p>
          <a:p>
            <a:pPr lvl="0"/>
            <a:r>
              <a:rPr b="1"/>
              <a:t>Software</a:t>
            </a:r>
            <a:r>
              <a:rPr/>
              <a:t> : Programming, software development; designing computer programs; implementation of the computer code and supporting algorithms; testing of existing code components</a:t>
            </a:r>
          </a:p>
          <a:p>
            <a:pPr lvl="0"/>
            <a:r>
              <a:rPr b="1"/>
              <a:t>Validation</a:t>
            </a:r>
            <a:r>
              <a:rPr/>
              <a:t>: Verification, whether as a part of the activity or separate, of the overall replication/ reproducibility of results/experiments and other research outputs</a:t>
            </a:r>
          </a:p>
          <a:p>
            <a:pPr lvl="0"/>
            <a:r>
              <a:rPr b="1"/>
              <a:t>Formal analysis</a:t>
            </a:r>
            <a:r>
              <a:rPr/>
              <a:t>: Application of statistical, mathematical, computational, or other formal techniques to analyze or synthesize study data</a:t>
            </a:r>
          </a:p>
          <a:p>
            <a:pPr lvl="0"/>
            <a:r>
              <a:rPr b="1"/>
              <a:t>Investigation</a:t>
            </a:r>
            <a:r>
              <a:rPr/>
              <a:t>: Conducting a research and investigation process, specifically performing the experiments, or data/evidence collection</a:t>
            </a:r>
          </a:p>
          <a:p>
            <a:pPr lvl="0"/>
            <a:r>
              <a:rPr b="1"/>
              <a:t>Resources</a:t>
            </a:r>
            <a:r>
              <a:rPr/>
              <a:t>: Provision of study materials, reagents, materials, patients, laboratory samples, animals, instrumentation, computing resources, or other analysis tools</a:t>
            </a:r>
          </a:p>
          <a:p>
            <a:pPr lvl="0"/>
            <a:r>
              <a:rPr b="1"/>
              <a:t>Data Curation</a:t>
            </a:r>
            <a:r>
              <a:rPr/>
              <a:t>: Management activities to annotate (produce metadata), scrub data and maintain research data (including software code, where it is necessary for interpreting the data itself) for initial use and later reuse</a:t>
            </a:r>
          </a:p>
          <a:p>
            <a:pPr lvl="0"/>
            <a:r>
              <a:rPr b="1"/>
              <a:t>Writing - Original Draft</a:t>
            </a:r>
            <a:r>
              <a:rPr/>
              <a:t>: Preparation, creation and/or presentation of the published work, specifically writing the initial draft (including substantive translation)</a:t>
            </a:r>
          </a:p>
          <a:p>
            <a:pPr lvl="0"/>
            <a:r>
              <a:rPr b="1"/>
              <a:t>Writing - Review &amp; Editing</a:t>
            </a:r>
            <a:r>
              <a:rPr/>
              <a:t>: Preparation, creation and/or presentation of the published work by those from the original research group, specifically critical review, commentary or revision – including pre-or postpublication stages</a:t>
            </a:r>
          </a:p>
          <a:p>
            <a:pPr lvl="0"/>
            <a:r>
              <a:rPr b="1"/>
              <a:t>Visualization</a:t>
            </a:r>
            <a:r>
              <a:rPr/>
              <a:t>: Preparation, creation and/or presentation of the published work, specifically visualization/ data presentation</a:t>
            </a:r>
          </a:p>
          <a:p>
            <a:pPr lvl="0"/>
            <a:r>
              <a:rPr b="1"/>
              <a:t>Supervision</a:t>
            </a:r>
            <a:r>
              <a:rPr/>
              <a:t>: Oversight and leadership responsibility for the research activity planning and execution, including mentorship external to the core team</a:t>
            </a:r>
          </a:p>
          <a:p>
            <a:pPr lvl="0"/>
            <a:r>
              <a:rPr b="1"/>
              <a:t>Project administration</a:t>
            </a:r>
            <a:r>
              <a:rPr/>
              <a:t>: Management and coordination responsibility for the research activity planning and execution</a:t>
            </a:r>
          </a:p>
          <a:p>
            <a:pPr lvl="0"/>
            <a:r>
              <a:rPr b="1"/>
              <a:t>Funding acquisition</a:t>
            </a:r>
            <a:r>
              <a:rPr/>
              <a:t>: Acquisition of the financial support for the project leading to this publication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Prerequisites TO DO</a:t>
            </a:r>
          </a:p>
          <a:p>
            <a:pPr lvl="0" indent="0" marL="1270000">
              <a:buNone/>
            </a:pPr>
            <a:r>
              <a:rPr sz="2000" b="1"/>
              <a:t>Prerequisites</a:t>
            </a:r>
          </a:p>
          <a:p>
            <a:pPr lvl="0" indent="0" marL="1270000">
              <a:buNone/>
            </a:pPr>
            <a:r>
              <a:rPr sz="2000"/>
              <a:t>Before completing this submodule, please carefully read about the necessary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Topic Name</a:t>
                      </a:r>
                    </a:p>
                  </a:txBody>
                </a:tc>
                <a:tc>
                  <a:txBody>
                    <a:bodyPr/>
                    <a:lstStyle/>
                    <a:p>
                      <a:pPr lvl="0" indent="0" marL="0">
                        <a:buNone/>
                      </a:pPr>
                      <a:r>
                        <a:rPr/>
                        <a:t>Basic intro to X</a:t>
                      </a:r>
                    </a:p>
                  </a:txBody>
                </a:tc>
                <a:tc>
                  <a:txBody>
                    <a:bodyPr/>
                    <a:lstStyle/>
                    <a:p>
                      <a:pPr lvl="0" indent="0" marL="0">
                        <a:buNone/>
                      </a:pPr>
                      <a:r>
                        <a:rPr/>
                        <a:t>Module + Submodule</a:t>
                      </a:r>
                    </a:p>
                  </a:txBody>
                </a:tc>
              </a:tr>
              <a:tr h="0">
                <a:tc>
                  <a:txBody>
                    <a:bodyPr/>
                    <a:lstStyle/>
                    <a:p>
                      <a:pPr lvl="0" indent="0" marL="0">
                        <a:buNone/>
                      </a:pPr>
                      <a:r>
                        <a:rPr/>
                        <a:t>Software Name</a:t>
                      </a:r>
                    </a:p>
                  </a:txBody>
                </a:tc>
                <a:tc>
                  <a:txBody>
                    <a:bodyPr/>
                    <a:lstStyle/>
                    <a:p>
                      <a:pPr lvl="0" indent="0" marL="0">
                        <a:buNone/>
                      </a:pPr>
                      <a:r>
                        <a:rPr/>
                        <a:t>Configuring the environment</a:t>
                      </a:r>
                    </a:p>
                  </a:txBody>
                </a:tc>
                <a:tc>
                  <a:txBody>
                    <a:bodyPr/>
                    <a:lstStyle/>
                    <a:p>
                      <a:pPr lvl="0" indent="0" marL="0">
                        <a:buNone/>
                      </a:pPr>
                      <a:r>
                        <a:rPr>
                          <a:hlinkClick r:id="rId3"/>
                        </a:rPr>
                        <a:t>Download Link</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Welcome/What to Expect</a:t>
            </a:r>
          </a:p>
          <a:p>
            <a:pPr lvl="0"/>
            <a:r>
              <a:rPr/>
              <a:t>Overview of what will happen (</a:t>
            </a:r>
            <a:r>
              <a:rPr b="1"/>
              <a:t>make this slide in the end</a:t>
            </a:r>
            <a:r>
              <a:rPr/>
              <a:t>)</a:t>
            </a:r>
          </a:p>
          <a:p>
            <a:pPr lvl="0"/>
            <a:r>
              <a:rPr/>
              <a:t>mention they should already have R and RStudio installed</a:t>
            </a:r>
          </a:p>
          <a:p>
            <a:pPr lvl="0"/>
            <a:r>
              <a:rPr/>
              <a:t>outline the structure and general idea (hands-on, follow-along etc…)</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R?</a:t>
            </a:r>
          </a:p>
          <a:p>
            <a:pPr lvl="0"/>
            <a:r>
              <a:rPr/>
              <a:t>Knowledge of statistical software like R is crucial when conducting quantitative research</a:t>
            </a:r>
          </a:p>
          <a:p>
            <a:pPr lvl="0"/>
            <a:r>
              <a:rPr/>
              <a:t>R is free and open source</a:t>
            </a:r>
          </a:p>
          <a:p>
            <a:pPr lvl="1"/>
            <a:r>
              <a:rPr/>
              <a:t>large online community</a:t>
            </a:r>
          </a:p>
          <a:p>
            <a:pPr lvl="1"/>
            <a:r>
              <a:rPr/>
              <a:t>many free to use resources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RStudio Environment</a:t>
            </a:r>
          </a:p>
          <a:p>
            <a:pPr lvl="0" indent="0" marL="0">
              <a:buNone/>
            </a:pP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1</a:t>
            </a:r>
          </a:p>
          <a:p>
            <a:pPr lvl="0" indent="0" marL="0">
              <a:buNone/>
            </a:pPr>
            <a:r>
              <a:rPr/>
              <a:t>Open RStudio and check if you can see everything that’s on the slide (might be only three panes)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Mathematical Operations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Symbol</a:t>
                      </a:r>
                    </a:p>
                  </a:txBody>
                  <a:tcPr/>
                </a:tc>
                <a:tc>
                  <a:txBody>
                    <a:bodyPr/>
                    <a:lstStyle/>
                    <a:p>
                      <a:pPr lvl="0" indent="0" marL="0">
                        <a:buNone/>
                      </a:pPr>
                      <a:r>
                        <a:rPr/>
                        <a:t>Operation</a:t>
                      </a:r>
                    </a:p>
                  </a:txBody>
                  <a:tcPr/>
                </a:tc>
              </a:tr>
              <a:tr h="0">
                <a:tc>
                  <a:txBody>
                    <a:bodyPr/>
                    <a:lstStyle/>
                    <a:p>
                      <a:pPr lvl="0" indent="0" marL="0">
                        <a:buNone/>
                      </a:pPr>
                      <a:r>
                        <a:rPr>
                          <a:latin typeface="Courier"/>
                        </a:rPr>
                        <a:t>+</a:t>
                      </a:r>
                    </a:p>
                  </a:txBody>
                </a:tc>
                <a:tc>
                  <a:txBody>
                    <a:bodyPr/>
                    <a:lstStyle/>
                    <a:p>
                      <a:pPr lvl="0" indent="0" marL="0">
                        <a:buNone/>
                      </a:pPr>
                      <a:r>
                        <a:rPr/>
                        <a:t>Addition</a:t>
                      </a:r>
                    </a:p>
                  </a:txBody>
                </a:tc>
              </a:tr>
              <a:tr h="0">
                <a:tc>
                  <a:txBody>
                    <a:bodyPr/>
                    <a:lstStyle/>
                    <a:p>
                      <a:pPr lvl="0" indent="0" marL="0">
                        <a:buNone/>
                      </a:pPr>
                      <a:r>
                        <a:rPr>
                          <a:latin typeface="Courier"/>
                        </a:rPr>
                        <a:t>-</a:t>
                      </a:r>
                    </a:p>
                  </a:txBody>
                </a:tc>
                <a:tc>
                  <a:txBody>
                    <a:bodyPr/>
                    <a:lstStyle/>
                    <a:p>
                      <a:pPr lvl="0" indent="0" marL="0">
                        <a:buNone/>
                      </a:pPr>
                      <a:r>
                        <a:rPr/>
                        <a:t>Subtraction</a:t>
                      </a:r>
                    </a:p>
                  </a:txBody>
                </a:tc>
              </a:tr>
              <a:tr h="0">
                <a:tc>
                  <a:txBody>
                    <a:bodyPr/>
                    <a:lstStyle/>
                    <a:p>
                      <a:pPr lvl="0" indent="0" marL="0">
                        <a:buNone/>
                      </a:pPr>
                      <a:r>
                        <a:rPr>
                          <a:latin typeface="Courier"/>
                        </a:rPr>
                        <a:t>*</a:t>
                      </a:r>
                    </a:p>
                  </a:txBody>
                </a:tc>
                <a:tc>
                  <a:txBody>
                    <a:bodyPr/>
                    <a:lstStyle/>
                    <a:p>
                      <a:pPr lvl="0" indent="0" marL="0">
                        <a:buNone/>
                      </a:pPr>
                      <a:r>
                        <a:rPr/>
                        <a:t>Multiplication</a:t>
                      </a:r>
                    </a:p>
                  </a:txBody>
                </a:tc>
              </a:tr>
              <a:tr h="0">
                <a:tc>
                  <a:txBody>
                    <a:bodyPr/>
                    <a:lstStyle/>
                    <a:p>
                      <a:pPr lvl="0" indent="0" marL="0">
                        <a:buNone/>
                      </a:pPr>
                      <a:r>
                        <a:rPr>
                          <a:latin typeface="Courier"/>
                        </a:rPr>
                        <a:t>/</a:t>
                      </a:r>
                    </a:p>
                  </a:txBody>
                </a:tc>
                <a:tc>
                  <a:txBody>
                    <a:bodyPr/>
                    <a:lstStyle/>
                    <a:p>
                      <a:pPr lvl="0" indent="0" marL="0">
                        <a:buNone/>
                      </a:pPr>
                      <a:r>
                        <a:rPr/>
                        <a:t>Division</a:t>
                      </a:r>
                    </a:p>
                  </a:txBody>
                </a:tc>
              </a:tr>
              <a:tr h="0">
                <a:tc>
                  <a:txBody>
                    <a:bodyPr/>
                    <a:lstStyle/>
                    <a:p>
                      <a:pPr lvl="0" indent="0" marL="0">
                        <a:buNone/>
                      </a:pPr>
                      <a:r>
                        <a:rPr>
                          <a:latin typeface="Courier"/>
                        </a:rPr>
                        <a:t>^</a:t>
                      </a:r>
                    </a:p>
                  </a:txBody>
                </a:tc>
                <a:tc>
                  <a:txBody>
                    <a:bodyPr/>
                    <a:lstStyle/>
                    <a:p>
                      <a:pPr lvl="0" indent="0" marL="0">
                        <a:buNone/>
                      </a:pPr>
                      <a:r>
                        <a:rPr/>
                        <a:t>Exponentiation</a:t>
                      </a:r>
                    </a:p>
                  </a:txBody>
                </a:tc>
              </a:tr>
              <a:tr h="0">
                <a:tc>
                  <a:txBody>
                    <a:bodyPr/>
                    <a:lstStyle/>
                    <a:p>
                      <a:pPr lvl="0" indent="0" marL="0">
                        <a:buNone/>
                      </a:pPr>
                      <a:r>
                        <a:rPr>
                          <a:latin typeface="Courier"/>
                        </a:rPr>
                        <a:t>sqrt()</a:t>
                      </a:r>
                    </a:p>
                  </a:txBody>
                </a:tc>
                <a:tc>
                  <a:txBody>
                    <a:bodyPr/>
                    <a:lstStyle/>
                    <a:p>
                      <a:pPr lvl="0" indent="0" marL="0">
                        <a:buNone/>
                      </a:pPr>
                      <a:r>
                        <a:rPr/>
                        <a:t>Square Root</a:t>
                      </a:r>
                    </a:p>
                  </a:txBody>
                </a:tc>
              </a:tr>
              <a:tr h="0">
                <a:tc>
                  <a:txBody>
                    <a:bodyPr/>
                    <a:lstStyle/>
                    <a:p>
                      <a:pPr lvl="0" indent="0" marL="0">
                        <a:buNone/>
                      </a:pPr>
                      <a:r>
                        <a:rPr>
                          <a:latin typeface="Courier"/>
                        </a:rPr>
                        <a:t>log()</a:t>
                      </a:r>
                    </a:p>
                  </a:txBody>
                </a:tc>
                <a:tc>
                  <a:txBody>
                    <a:bodyPr/>
                    <a:lstStyle/>
                    <a:p>
                      <a:pPr lvl="0" indent="0" marL="0">
                        <a:buNone/>
                      </a:pPr>
                      <a:r>
                        <a:rPr/>
                        <a:t>(Natural) Logarithm</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Exercise 2 - Mathematical Operations</a:t>
                </a:r>
              </a:p>
              <a:p>
                <a:pPr lvl="0" indent="0" marL="0">
                  <a:buNone/>
                </a:pPr>
                <a:r>
                  <a:rPr/>
                  <a:t>Use the table on the previous slide to run the following math operations directly in the console (bottom left).</a:t>
                </a:r>
              </a:p>
              <a:p>
                <a:pPr lvl="0"/>
                <a14:m>
                  <m:oMath xmlns:m="http://schemas.openxmlformats.org/officeDocument/2006/math">
                    <m:r>
                      <m:t>12</m:t>
                    </m:r>
                    <m:r>
                      <m:rPr>
                        <m:sty m:val="p"/>
                      </m:rPr>
                      <m:t>+</m:t>
                    </m:r>
                    <m:r>
                      <m:t>17</m:t>
                    </m:r>
                  </m:oMath>
                </a14:m>
              </a:p>
              <a:p>
                <a:pPr lvl="0"/>
                <a14:m>
                  <m:oMath xmlns:m="http://schemas.openxmlformats.org/officeDocument/2006/math">
                    <m:f>
                      <m:fPr>
                        <m:type m:val="bar"/>
                      </m:fPr>
                      <m:num>
                        <m:r>
                          <m:t>218</m:t>
                        </m:r>
                      </m:num>
                      <m:den>
                        <m:r>
                          <m:t>3</m:t>
                        </m:r>
                      </m:den>
                    </m:f>
                  </m:oMath>
                </a14:m>
              </a:p>
              <a:p>
                <a:pPr lvl="0"/>
                <a14:m>
                  <m:oMath xmlns:m="http://schemas.openxmlformats.org/officeDocument/2006/math">
                    <m:sSup>
                      <m:e>
                        <m:r>
                          <m:t>357</m:t>
                        </m:r>
                      </m:e>
                      <m:sup>
                        <m:r>
                          <m:t>2</m:t>
                        </m:r>
                      </m:sup>
                    </m:sSup>
                  </m:oMath>
                </a14:m>
              </a:p>
              <a:p>
                <a:pPr lvl="0" indent="0" marL="0">
                  <a:buNone/>
                </a:pPr>
                <a:r>
                  <a:rPr i="1"/>
                  <a:t>Hint</a:t>
                </a:r>
                <a:r>
                  <a:rPr/>
                  <a:t>: You can run code from the console by pressing Enter.</a:t>
                </a:r>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2 - Solution</a:t>
            </a:r>
          </a:p>
          <a:p>
            <a:pPr lvl="0" indent="0">
              <a:buNone/>
            </a:pPr>
            <a:r>
              <a:rPr>
                <a:solidFill>
                  <a:srgbClr val="AD0000"/>
                </a:solidFill>
                <a:latin typeface="Courier"/>
              </a:rPr>
              <a:t>12</a:t>
            </a:r>
            <a:r>
              <a:rPr>
                <a:solidFill>
                  <a:srgbClr val="5E5E5E"/>
                </a:solidFill>
                <a:latin typeface="Courier"/>
              </a:rPr>
              <a:t>+</a:t>
            </a:r>
            <a:r>
              <a:rPr>
                <a:solidFill>
                  <a:srgbClr val="AD0000"/>
                </a:solidFill>
                <a:latin typeface="Courier"/>
              </a:rPr>
              <a:t>17</a:t>
            </a:r>
            <a:br/>
            <a:r>
              <a:rPr>
                <a:solidFill>
                  <a:srgbClr val="AD0000"/>
                </a:solidFill>
                <a:latin typeface="Courier"/>
              </a:rPr>
              <a:t>218</a:t>
            </a:r>
            <a:r>
              <a:rPr>
                <a:solidFill>
                  <a:srgbClr val="5E5E5E"/>
                </a:solidFill>
                <a:latin typeface="Courier"/>
              </a:rPr>
              <a:t>/</a:t>
            </a:r>
            <a:r>
              <a:rPr>
                <a:solidFill>
                  <a:srgbClr val="AD0000"/>
                </a:solidFill>
                <a:latin typeface="Courier"/>
              </a:rPr>
              <a:t>3</a:t>
            </a:r>
            <a:br/>
            <a:r>
              <a:rPr>
                <a:solidFill>
                  <a:srgbClr val="AD0000"/>
                </a:solidFill>
                <a:latin typeface="Courier"/>
              </a:rPr>
              <a:t>357</a:t>
            </a:r>
            <a:r>
              <a:rPr>
                <a:solidFill>
                  <a:srgbClr val="5E5E5E"/>
                </a:solidFill>
                <a:latin typeface="Courier"/>
              </a:rPr>
              <a:t>^</a:t>
            </a:r>
            <a:r>
              <a:rPr>
                <a:solidFill>
                  <a:srgbClr val="AD0000"/>
                </a:solidFill>
                <a:latin typeface="Courier"/>
              </a:rPr>
              <a:t>2</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Logical Comparisons</a:t>
            </a:r>
          </a:p>
          <a:p>
            <a:pPr lvl="0"/>
            <a:r>
              <a:rPr/>
              <a:t>Check if two numbers are equal or unequal</a:t>
            </a:r>
          </a:p>
          <a:p>
            <a:pPr lvl="0"/>
            <a:r>
              <a:rPr/>
              <a:t>Check if a number is larger or smaller than another number</a:t>
            </a:r>
          </a:p>
          <a:p>
            <a:pPr lvl="0" indent="0" marL="0">
              <a:buNone/>
            </a:pPr>
            <a:r>
              <a:rPr/>
              <a:t>Example:</a:t>
            </a:r>
          </a:p>
          <a:p>
            <a:pPr lvl="0" indent="0">
              <a:buNone/>
            </a:pPr>
            <a:r>
              <a:rPr>
                <a:solidFill>
                  <a:srgbClr val="AD0000"/>
                </a:solidFill>
                <a:latin typeface="Courier"/>
              </a:rPr>
              <a:t>49</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50</a:t>
            </a:r>
          </a:p>
          <a:p>
            <a:pPr lvl="0" indent="0">
              <a:buNone/>
            </a:pPr>
            <a:r>
              <a:rPr>
                <a:latin typeface="Courier"/>
              </a:rPr>
              <a:t>[1] FALSE</a:t>
            </a:r>
          </a:p>
          <a:p>
            <a:pPr lvl="0" indent="0">
              <a:buNone/>
            </a:pPr>
            <a:r>
              <a:rPr>
                <a:solidFill>
                  <a:srgbClr val="AD0000"/>
                </a:solidFill>
                <a:latin typeface="Courier"/>
              </a:rPr>
              <a:t>49</a:t>
            </a:r>
            <a:r>
              <a:rPr>
                <a:solidFill>
                  <a:srgbClr val="003B4F"/>
                </a:solidFill>
                <a:latin typeface="Courier"/>
              </a:rPr>
              <a:t> </a:t>
            </a:r>
            <a:r>
              <a:rPr>
                <a:solidFill>
                  <a:srgbClr val="5E5E5E"/>
                </a:solidFill>
                <a:latin typeface="Courier"/>
              </a:rPr>
              <a:t>&lt;</a:t>
            </a:r>
            <a:r>
              <a:rPr>
                <a:solidFill>
                  <a:srgbClr val="003B4F"/>
                </a:solidFill>
                <a:latin typeface="Courier"/>
              </a:rPr>
              <a:t> </a:t>
            </a:r>
            <a:r>
              <a:rPr>
                <a:solidFill>
                  <a:srgbClr val="AD0000"/>
                </a:solidFill>
                <a:latin typeface="Courier"/>
              </a:rPr>
              <a:t>50</a:t>
            </a:r>
            <a:r>
              <a:rPr>
                <a:solidFill>
                  <a:srgbClr val="003B4F"/>
                </a:solidFill>
                <a:latin typeface="Courier"/>
              </a:rPr>
              <a:t> </a:t>
            </a:r>
          </a:p>
          <a:p>
            <a:pPr lvl="0" indent="0">
              <a:buNone/>
            </a:pPr>
            <a:r>
              <a:rPr>
                <a:latin typeface="Courier"/>
              </a:rPr>
              <a:t>[1] TRUE</a:t>
            </a:r>
          </a:p>
          <a:p>
            <a:pPr lvl="0"/>
            <a:r>
              <a:rPr/>
              <a:t>R returns a </a:t>
            </a:r>
            <a:r>
              <a:rPr b="1"/>
              <a:t>logical value</a:t>
            </a:r>
            <a:r>
              <a:rPr/>
              <a:t>:</a:t>
            </a:r>
          </a:p>
          <a:p>
            <a:pPr lvl="1"/>
            <a:r>
              <a:rPr>
                <a:latin typeface="Courier"/>
              </a:rPr>
              <a:t>TRUE</a:t>
            </a:r>
            <a:r>
              <a:rPr/>
              <a:t> or</a:t>
            </a:r>
          </a:p>
          <a:p>
            <a:pPr lvl="1"/>
            <a:r>
              <a:rPr>
                <a:latin typeface="Courier"/>
              </a:rPr>
              <a:t>FALSE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Logical Comparisons - Operators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Symbol</a:t>
                      </a:r>
                    </a:p>
                  </a:txBody>
                  <a:tcPr/>
                </a:tc>
                <a:tc>
                  <a:txBody>
                    <a:bodyPr/>
                    <a:lstStyle/>
                    <a:p>
                      <a:pPr lvl="0" indent="0" marL="0">
                        <a:buNone/>
                      </a:pPr>
                      <a:r>
                        <a:rPr/>
                        <a:t>Operation</a:t>
                      </a:r>
                    </a:p>
                  </a:txBody>
                  <a:tcPr/>
                </a:tc>
              </a:tr>
              <a:tr h="0">
                <a:tc>
                  <a:txBody>
                    <a:bodyPr/>
                    <a:lstStyle/>
                    <a:p>
                      <a:pPr lvl="0" indent="0" marL="0">
                        <a:buNone/>
                      </a:pPr>
                      <a:r>
                        <a:rPr>
                          <a:latin typeface="Courier"/>
                        </a:rPr>
                        <a:t>==</a:t>
                      </a:r>
                    </a:p>
                  </a:txBody>
                </a:tc>
                <a:tc>
                  <a:txBody>
                    <a:bodyPr/>
                    <a:lstStyle/>
                    <a:p>
                      <a:pPr lvl="0" indent="0" marL="0">
                        <a:buNone/>
                      </a:pPr>
                      <a:r>
                        <a:rPr/>
                        <a:t>Equals</a:t>
                      </a:r>
                    </a:p>
                  </a:txBody>
                </a:tc>
              </a:tr>
              <a:tr h="0">
                <a:tc>
                  <a:txBody>
                    <a:bodyPr/>
                    <a:lstStyle/>
                    <a:p>
                      <a:pPr lvl="0" indent="0" marL="0">
                        <a:buNone/>
                      </a:pPr>
                      <a:r>
                        <a:rPr>
                          <a:latin typeface="Courier"/>
                        </a:rPr>
                        <a:t>!=</a:t>
                      </a:r>
                    </a:p>
                  </a:txBody>
                </a:tc>
                <a:tc>
                  <a:txBody>
                    <a:bodyPr/>
                    <a:lstStyle/>
                    <a:p>
                      <a:pPr lvl="0" indent="0" marL="0">
                        <a:buNone/>
                      </a:pPr>
                      <a:r>
                        <a:rPr/>
                        <a:t>Not Equal</a:t>
                      </a:r>
                    </a:p>
                  </a:txBody>
                </a:tc>
              </a:tr>
              <a:tr h="0">
                <a:tc>
                  <a:txBody>
                    <a:bodyPr/>
                    <a:lstStyle/>
                    <a:p>
                      <a:pPr lvl="0" indent="0" marL="0">
                        <a:buNone/>
                      </a:pPr>
                      <a:r>
                        <a:rPr>
                          <a:latin typeface="Courier"/>
                        </a:rPr>
                        <a:t>&gt;</a:t>
                      </a:r>
                      <a:r>
                        <a:rPr/>
                        <a:t> and </a:t>
                      </a:r>
                      <a:r>
                        <a:rPr>
                          <a:latin typeface="Courier"/>
                        </a:rPr>
                        <a:t>&lt;</a:t>
                      </a:r>
                    </a:p>
                  </a:txBody>
                </a:tc>
                <a:tc>
                  <a:txBody>
                    <a:bodyPr/>
                    <a:lstStyle/>
                    <a:p>
                      <a:pPr lvl="0" indent="0" marL="0">
                        <a:buNone/>
                      </a:pPr>
                      <a:r>
                        <a:rPr/>
                        <a:t>Greater and Lesser Than</a:t>
                      </a:r>
                    </a:p>
                  </a:txBody>
                </a:tc>
              </a:tr>
              <a:tr h="0">
                <a:tc>
                  <a:txBody>
                    <a:bodyPr/>
                    <a:lstStyle/>
                    <a:p>
                      <a:pPr lvl="0" indent="0" marL="0">
                        <a:buNone/>
                      </a:pPr>
                      <a:r>
                        <a:rPr>
                          <a:latin typeface="Courier"/>
                        </a:rPr>
                        <a:t>&gt;=</a:t>
                      </a:r>
                      <a:r>
                        <a:rPr/>
                        <a:t> and </a:t>
                      </a:r>
                      <a:r>
                        <a:rPr>
                          <a:latin typeface="Courier"/>
                        </a:rPr>
                        <a:t>&lt;=</a:t>
                      </a:r>
                    </a:p>
                  </a:txBody>
                </a:tc>
                <a:tc>
                  <a:txBody>
                    <a:bodyPr/>
                    <a:lstStyle/>
                    <a:p>
                      <a:pPr lvl="0" indent="0" marL="0">
                        <a:buNone/>
                      </a:pPr>
                      <a:r>
                        <a:rPr/>
                        <a:t>Greater Than or Equal / Less Than or Equal</a:t>
                      </a:r>
                    </a:p>
                  </a:txBody>
                </a:tc>
              </a:tr>
              <a:tr h="0">
                <a:tc>
                  <a:txBody>
                    <a:bodyPr/>
                    <a:lstStyle/>
                    <a:p>
                      <a:pPr lvl="0" indent="0" marL="0">
                        <a:buNone/>
                      </a:pPr>
                      <a:r>
                        <a:rPr>
                          <a:latin typeface="Courier"/>
                        </a:rPr>
                        <a:t>&amp;</a:t>
                      </a:r>
                    </a:p>
                  </a:txBody>
                </a:tc>
                <a:tc>
                  <a:txBody>
                    <a:bodyPr/>
                    <a:lstStyle/>
                    <a:p>
                      <a:pPr lvl="0" indent="0" marL="0">
                        <a:buNone/>
                      </a:pPr>
                      <a:r>
                        <a:rPr/>
                        <a:t>logical AND</a:t>
                      </a:r>
                    </a:p>
                  </a:txBody>
                </a:tc>
              </a:tr>
              <a:tr h="0">
                <a:tc>
                  <a:txBody>
                    <a:bodyPr/>
                    <a:lstStyle/>
                    <a:p>
                      <a:pPr lvl="0" indent="0" marL="0">
                        <a:buNone/>
                      </a:pPr>
                      <a:r>
                        <a:rPr>
                          <a:latin typeface="Courier"/>
                        </a:rPr>
                        <a:t>|</a:t>
                      </a:r>
                    </a:p>
                  </a:txBody>
                </a:tc>
                <a:tc>
                  <a:txBody>
                    <a:bodyPr/>
                    <a:lstStyle/>
                    <a:p>
                      <a:pPr lvl="0" indent="0" marL="0">
                        <a:buNone/>
                      </a:pPr>
                      <a:r>
                        <a:rPr/>
                        <a:t>logical OR</a:t>
                      </a:r>
                    </a:p>
                  </a:txBody>
                </a:tc>
              </a:tr>
              <a:tr h="0">
                <a:tc>
                  <a:txBody>
                    <a:bodyPr/>
                    <a:lstStyle/>
                    <a:p>
                      <a:pPr lvl="0" indent="0" marL="0">
                        <a:buNone/>
                      </a:pPr>
                      <a:r>
                        <a:rPr>
                          <a:latin typeface="Courier"/>
                        </a:rPr>
                        <a:t>!</a:t>
                      </a:r>
                    </a:p>
                  </a:txBody>
                </a:tc>
                <a:tc>
                  <a:txBody>
                    <a:bodyPr/>
                    <a:lstStyle/>
                    <a:p>
                      <a:pPr lvl="0" indent="0" marL="0">
                        <a:buNone/>
                      </a:pPr>
                      <a:r>
                        <a:rPr/>
                        <a:t>logical NOT</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3: Logical Comparisons</a:t>
            </a:r>
          </a:p>
          <a:p>
            <a:pPr lvl="0" indent="0" marL="0">
              <a:buNone/>
            </a:pPr>
            <a:r>
              <a:rPr>
                <a:latin typeface="Courier"/>
              </a:rPr>
              <a:t>TRUE</a:t>
            </a:r>
            <a:r>
              <a:rPr/>
              <a:t> or </a:t>
            </a:r>
            <a:r>
              <a:rPr>
                <a:latin typeface="Courier"/>
              </a:rPr>
              <a:t>FALSE</a:t>
            </a:r>
            <a:r>
              <a:rPr/>
              <a:t>?</a:t>
            </a:r>
          </a:p>
          <a:p>
            <a:pPr lvl="0" indent="0" marL="0">
              <a:buNone/>
            </a:pPr>
            <a:r>
              <a:rPr/>
              <a:t>Express the following statements in words and evaluate whether they are correct or not. Check your answers by running the statements in the console.</a:t>
            </a:r>
          </a:p>
          <a:p>
            <a:pPr lvl="0" indent="0">
              <a:buNone/>
            </a:pPr>
            <a:r>
              <a:rPr>
                <a:solidFill>
                  <a:srgbClr val="003B4F"/>
                </a:solidFill>
                <a:latin typeface="Courier"/>
              </a:rPr>
              <a:t>(</a:t>
            </a:r>
            <a:r>
              <a:rPr>
                <a:solidFill>
                  <a:srgbClr val="AD0000"/>
                </a:solidFill>
                <a:latin typeface="Courier"/>
              </a:rPr>
              <a:t>36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a:t>
            </a:r>
            <a:r>
              <a:rPr>
                <a:solidFill>
                  <a:srgbClr val="5E5E5E"/>
                </a:solidFill>
                <a:latin typeface="Courier"/>
              </a:rPr>
              <a:t>&gt;</a:t>
            </a:r>
            <a:r>
              <a:rPr>
                <a:solidFill>
                  <a:srgbClr val="003B4F"/>
                </a:solidFill>
                <a:latin typeface="Courier"/>
              </a:rPr>
              <a:t> </a:t>
            </a:r>
            <a:r>
              <a:rPr>
                <a:solidFill>
                  <a:srgbClr val="AD0000"/>
                </a:solidFill>
                <a:latin typeface="Courier"/>
              </a:rPr>
              <a:t>40</a:t>
            </a:r>
          </a:p>
          <a:p>
            <a:pPr lvl="0" indent="0">
              <a:buNone/>
            </a:pP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17</a:t>
            </a:r>
            <a:r>
              <a:rPr>
                <a:solidFill>
                  <a:srgbClr val="003B4F"/>
                </a:solidFill>
                <a:latin typeface="Courier"/>
              </a:rPr>
              <a:t>)</a:t>
            </a:r>
          </a:p>
          <a:p>
            <a:pPr lvl="0" indent="0">
              <a:buNone/>
            </a:pPr>
            <a:r>
              <a:rPr>
                <a:solidFill>
                  <a:srgbClr val="003B4F"/>
                </a:solidFill>
                <a:latin typeface="Courier"/>
              </a:rPr>
              <a:t>(</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&amp;</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8</a:t>
            </a:r>
            <a:r>
              <a:rPr>
                <a:solidFill>
                  <a:srgbClr val="003B4F"/>
                </a:solidFill>
                <a:latin typeface="Courier"/>
              </a:rPr>
              <a:t>)</a:t>
            </a:r>
          </a:p>
          <a:p>
            <a:pPr lvl="0" indent="0" marL="0">
              <a:buNone/>
            </a:pPr>
            <a:r>
              <a:rPr/>
              <a:t>TODO: decide whether there should be another exercise that involves writing code to express a written statement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3: Solutions</a:t>
            </a:r>
          </a:p>
          <a:p>
            <a:pPr lvl="0" indent="0">
              <a:buNone/>
            </a:pPr>
            <a:r>
              <a:rPr>
                <a:solidFill>
                  <a:srgbClr val="003B4F"/>
                </a:solidFill>
                <a:latin typeface="Courier"/>
              </a:rPr>
              <a:t>(</a:t>
            </a:r>
            <a:r>
              <a:rPr>
                <a:solidFill>
                  <a:srgbClr val="AD0000"/>
                </a:solidFill>
                <a:latin typeface="Courier"/>
              </a:rPr>
              <a:t>36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a:t>
            </a:r>
            <a:r>
              <a:rPr>
                <a:solidFill>
                  <a:srgbClr val="5E5E5E"/>
                </a:solidFill>
                <a:latin typeface="Courier"/>
              </a:rPr>
              <a:t>&gt;</a:t>
            </a:r>
            <a:r>
              <a:rPr>
                <a:solidFill>
                  <a:srgbClr val="003B4F"/>
                </a:solidFill>
                <a:latin typeface="Courier"/>
              </a:rPr>
              <a:t> </a:t>
            </a:r>
            <a:r>
              <a:rPr>
                <a:solidFill>
                  <a:srgbClr val="AD0000"/>
                </a:solidFill>
                <a:latin typeface="Courier"/>
              </a:rPr>
              <a:t>40</a:t>
            </a:r>
          </a:p>
          <a:p>
            <a:pPr lvl="0" indent="0">
              <a:buNone/>
            </a:pPr>
            <a:r>
              <a:rPr>
                <a:latin typeface="Courier"/>
              </a:rPr>
              <a:t>[1] TRUE</a:t>
            </a:r>
          </a:p>
          <a:p>
            <a:pPr lvl="0" indent="0">
              <a:buNone/>
            </a:pP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17</a:t>
            </a:r>
            <a:r>
              <a:rPr>
                <a:solidFill>
                  <a:srgbClr val="003B4F"/>
                </a:solidFill>
                <a:latin typeface="Courier"/>
              </a:rPr>
              <a:t>)</a:t>
            </a:r>
          </a:p>
          <a:p>
            <a:pPr lvl="0" indent="0">
              <a:buNone/>
            </a:pPr>
            <a:r>
              <a:rPr>
                <a:latin typeface="Courier"/>
              </a:rPr>
              <a:t>[1] TRUE</a:t>
            </a:r>
          </a:p>
          <a:p>
            <a:pPr lvl="0" indent="0">
              <a:buNone/>
            </a:pPr>
            <a:r>
              <a:rPr>
                <a:solidFill>
                  <a:srgbClr val="003B4F"/>
                </a:solidFill>
                <a:latin typeface="Courier"/>
              </a:rPr>
              <a:t>(</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&amp;</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8</a:t>
            </a:r>
            <a:r>
              <a:rPr>
                <a:solidFill>
                  <a:srgbClr val="003B4F"/>
                </a:solidFill>
                <a:latin typeface="Courier"/>
              </a:rPr>
              <a:t>)</a:t>
            </a:r>
          </a:p>
          <a:p>
            <a:pPr lvl="0" indent="0">
              <a:buNone/>
            </a:pPr>
            <a:r>
              <a:rPr>
                <a:latin typeface="Courier"/>
              </a:rPr>
              <a:t>[1] FALSE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Important Data Types</a:t>
            </a:r>
          </a:p>
          <a:p>
            <a:pPr lvl="0" indent="0" marL="0">
              <a:buNone/>
            </a:pP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Types - Operations</a:t>
            </a:r>
          </a:p>
          <a:p>
            <a:pPr lvl="0" indent="0" marL="0">
              <a:buNone/>
            </a:pPr>
            <a:r>
              <a:rPr/>
              <a:t>Two numeric variables can be summed up:</a:t>
            </a:r>
          </a:p>
          <a:p>
            <a:pPr lvl="0" indent="0">
              <a:buNone/>
            </a:pP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p>
          <a:p>
            <a:pPr lvl="0" indent="0">
              <a:buNone/>
            </a:pPr>
            <a:r>
              <a:rPr>
                <a:latin typeface="Courier"/>
              </a:rPr>
              <a:t>[1] 9</a:t>
            </a:r>
          </a:p>
          <a:p>
            <a:pPr lvl="0" indent="0" marL="0">
              <a:buNone/>
            </a:pPr>
            <a:r>
              <a:rPr/>
              <a:t>A numeric and a character variable cannot be summed up:</a:t>
            </a:r>
          </a:p>
          <a:p>
            <a:pPr lvl="0" indent="0">
              <a:buNone/>
            </a:pP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"five"</a:t>
            </a:r>
          </a:p>
          <a:p>
            <a:pPr lvl="0" indent="0">
              <a:buNone/>
            </a:pPr>
            <a:r>
              <a:rPr>
                <a:latin typeface="Courier"/>
              </a:rPr>
              <a:t>Error in `4 + "five"`:
! non-numeric argument to binary operator</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 Scripts</a:t>
            </a:r>
          </a:p>
          <a:p>
            <a:pPr lvl="0"/>
            <a:r>
              <a:rPr/>
              <a:t>Easy way to save and share code you wrote</a:t>
            </a:r>
          </a:p>
          <a:p>
            <a:pPr lvl="0"/>
            <a:r>
              <a:rPr/>
              <a:t>You can run code from an R script by pressing Ctrl + Enter (Windows) or</a:t>
            </a:r>
          </a:p>
          <a:p>
            <a:pPr lvl="0"/>
            <a:r>
              <a:rPr/>
              <a:t>To comment your code use </a:t>
            </a:r>
            <a:r>
              <a:rPr>
                <a:latin typeface="Courier"/>
              </a:rPr>
              <a:t>#</a:t>
            </a:r>
            <a:r>
              <a:rPr/>
              <a:t>, for example:</a:t>
            </a:r>
          </a:p>
          <a:p>
            <a:pPr lvl="1" indent="0">
              <a:buNone/>
            </a:pPr>
            <a:r>
              <a:rPr>
                <a:solidFill>
                  <a:srgbClr val="5E5E5E"/>
                </a:solidFill>
                <a:latin typeface="Courier"/>
              </a:rPr>
              <a:t># sum up two numbers: </a:t>
            </a:r>
            <a:br/>
            <a:r>
              <a:rPr>
                <a:solidFill>
                  <a:srgbClr val="AD0000"/>
                </a:solidFill>
                <a:latin typeface="Courier"/>
              </a:rPr>
              <a:t>4</a:t>
            </a:r>
            <a:r>
              <a:rPr>
                <a:solidFill>
                  <a:srgbClr val="5E5E5E"/>
                </a:solidFill>
                <a:latin typeface="Courier"/>
              </a:rPr>
              <a:t>+</a:t>
            </a:r>
            <a:r>
              <a:rPr>
                <a:solidFill>
                  <a:srgbClr val="AD0000"/>
                </a:solidFill>
                <a:latin typeface="Courier"/>
              </a:rPr>
              <a:t>5</a:t>
            </a:r>
          </a:p>
          <a:p>
            <a:pPr lvl="1" indent="0">
              <a:buNone/>
            </a:pPr>
            <a:r>
              <a:rPr>
                <a:latin typeface="Courier"/>
              </a:rPr>
              <a:t>[1] 9</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New R Script</a:t>
            </a:r>
          </a:p>
          <a:p>
            <a:pPr lvl="0" indent="0" marL="0">
              <a:buNone/>
            </a:pP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4</a:t>
            </a:r>
          </a:p>
          <a:p>
            <a:pPr lvl="0" indent="0" marL="0">
              <a:buNone/>
            </a:pPr>
            <a:r>
              <a:rPr/>
              <a:t>Create a new R Script with only a comment in the first line and save it in a fresh folder.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Objects and Assignments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Everything in R is an object</a:t>
            </a:r>
          </a:p>
          <a:p>
            <a:pPr lvl="0"/>
            <a:r>
              <a:rPr/>
              <a:t>Oftentimes, we want to work with an object repeatedly</a:t>
            </a:r>
          </a:p>
          <a:p>
            <a:pPr lvl="0"/>
            <a:r>
              <a:rPr/>
              <a:t>Assign a name to an object using the assignment arrow </a:t>
            </a:r>
            <a:r>
              <a:rPr>
                <a:latin typeface="Courier"/>
              </a:rPr>
              <a:t>&lt;-</a:t>
            </a:r>
          </a:p>
          <a:p>
            <a:pPr lvl="0" indent="0" marL="0">
              <a:buNone/>
            </a:pPr>
            <a:r>
              <a:rPr/>
              <a:t>For Example:</a:t>
            </a:r>
          </a:p>
          <a:p>
            <a:pPr lvl="0" indent="0">
              <a:buNone/>
            </a:pPr>
            <a:r>
              <a:rPr>
                <a:solidFill>
                  <a:srgbClr val="003B4F"/>
                </a:solidFill>
                <a:latin typeface="Courier"/>
              </a:rPr>
              <a:t>my_number &lt;- </a:t>
            </a:r>
            <a:r>
              <a:rPr>
                <a:solidFill>
                  <a:srgbClr val="AD0000"/>
                </a:solidFill>
                <a:latin typeface="Courier"/>
              </a:rPr>
              <a:t>4</a:t>
            </a:r>
          </a:p>
          <a:p>
            <a:pPr lvl="0"/>
            <a:r>
              <a:rPr/>
              <a:t>This saves the value 4 under the name </a:t>
            </a:r>
            <a:r>
              <a:rPr>
                <a:latin typeface="Courier"/>
              </a:rPr>
              <a:t>my_number</a:t>
            </a:r>
            <a:r>
              <a:rPr/>
              <a:t>in the environment of R Studio</a:t>
            </a:r>
          </a:p>
        </p:txBody>
      </p:sp>
      <p:sp>
        <p:nvSpPr>
          <p:cNvPr id="4" name="Content Placeholder 3"/>
          <p:cNvSpPr>
            <a:spLocks noGrp="1"/>
          </p:cNvSpPr>
          <p:nvPr>
            <p:ph idx="2" sz="half"/>
          </p:nvPr>
        </p:nvSpPr>
        <p:spPr/>
        <p:txBody>
          <a:bodyPr/>
          <a:lstStyle/>
          <a:p>
            <a:pPr lvl="0" indent="0" marL="0">
              <a:buNone/>
            </a:p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 Part I</dc:title>
  <dc:creator>Luz Sanchez Steinhagen</dc:creator>
  <cp:keywords/>
  <dcterms:created xsi:type="dcterms:W3CDTF">2026-02-05T16:08:38Z</dcterms:created>
  <dcterms:modified xsi:type="dcterms:W3CDTF">2026-02-05T16:08:38Z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05/02/2026</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