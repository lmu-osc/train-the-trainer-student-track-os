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8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0" Type="http://schemas.openxmlformats.org/officeDocument/2006/relationships/slide" Target="slides/slide79.xml" /><Relationship Id="rId81" Type="http://schemas.openxmlformats.org/officeDocument/2006/relationships/slide" Target="slides/slide80.xml" /><Relationship Id="rId82" Type="http://schemas.openxmlformats.org/officeDocument/2006/relationships/slide" Target="slides/slide81.xml" /><Relationship Id="rId83" Type="http://schemas.openxmlformats.org/officeDocument/2006/relationships/slide" Target="slides/slide82.xml" /><Relationship Id="rId84" Type="http://schemas.openxmlformats.org/officeDocument/2006/relationships/slide" Target="slides/slide83.xml" /><Relationship Id="rId85" Type="http://schemas.openxmlformats.org/officeDocument/2006/relationships/slide" Target="slides/slide84.xml" /><Relationship Id="rId86" Type="http://schemas.openxmlformats.org/officeDocument/2006/relationships/slide" Target="slides/slide85.xml" /><Relationship Id="rId87" Type="http://schemas.openxmlformats.org/officeDocument/2006/relationships/notesMaster" Target="notesMasters/notesMaster1.xml" /><Relationship Id="rId89" Type="http://schemas.openxmlformats.org/officeDocument/2006/relationships/viewProps" Target="viewProps.xml" /><Relationship Id="rId88" Type="http://schemas.openxmlformats.org/officeDocument/2006/relationships/presProps" Target="presProps.xml" /><Relationship Id="rId1" Type="http://schemas.openxmlformats.org/officeDocument/2006/relationships/slideMaster" Target="slideMasters/slideMaster1.xml" /><Relationship Id="rId91" Type="http://schemas.openxmlformats.org/officeDocument/2006/relationships/tableStyles" Target="tableStyles.xml" /><Relationship Id="rId90"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33.xml.rels><?xml version="1.0" encoding="UTF-8"?><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34.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35.xml.rels><?xml version="1.0" encoding="UTF-8"?><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36.xml.rels><?xml version="1.0" encoding="UTF-8"?><Relationships xmlns="http://schemas.openxmlformats.org/package/2006/relationships"><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_rels/notesSlide37.xml.rels><?xml version="1.0" encoding="UTF-8"?><Relationships xmlns="http://schemas.openxmlformats.org/package/2006/relationships"><Relationship Id="rId2" Type="http://schemas.openxmlformats.org/officeDocument/2006/relationships/slide" Target="../slides/slide44.xml" /><Relationship Id="rId1" Type="http://schemas.openxmlformats.org/officeDocument/2006/relationships/notesMaster" Target="../notesMasters/notesMaster1.xml" /></Relationships>
</file>

<file path=ppt/notesSlides/_rels/notesSlide38.xml.rels><?xml version="1.0" encoding="UTF-8"?><Relationships xmlns="http://schemas.openxmlformats.org/package/2006/relationships"><Relationship Id="rId2" Type="http://schemas.openxmlformats.org/officeDocument/2006/relationships/slide" Target="../slides/slide45.xml" /><Relationship Id="rId1" Type="http://schemas.openxmlformats.org/officeDocument/2006/relationships/notesMaster" Target="../notesMasters/notesMaster1.xml" /></Relationships>
</file>

<file path=ppt/notesSlides/_rels/notesSlide39.xml.rels><?xml version="1.0" encoding="UTF-8"?><Relationships xmlns="http://schemas.openxmlformats.org/package/2006/relationships"><Relationship Id="rId2" Type="http://schemas.openxmlformats.org/officeDocument/2006/relationships/slide" Target="../slides/slide47.xml" /><Relationship Id="rId1" Type="http://schemas.openxmlformats.org/officeDocument/2006/relationships/notesMaster" Target="../notesMasters/notesMaster1.xml" /></Relationships>
</file>

<file path=ppt/notesSlides/_rels/notesSlide40.xml.rels><?xml version="1.0" encoding="UTF-8"?><Relationships xmlns="http://schemas.openxmlformats.org/package/2006/relationships"><Relationship Id="rId2" Type="http://schemas.openxmlformats.org/officeDocument/2006/relationships/slide" Target="../slides/slide48.xml" /><Relationship Id="rId1" Type="http://schemas.openxmlformats.org/officeDocument/2006/relationships/notesMaster" Target="../notesMasters/notesMaster1.xml" /></Relationships>
</file>

<file path=ppt/notesSlides/_rels/notesSlide41.xml.rels><?xml version="1.0" encoding="UTF-8"?><Relationships xmlns="http://schemas.openxmlformats.org/package/2006/relationships"><Relationship Id="rId2" Type="http://schemas.openxmlformats.org/officeDocument/2006/relationships/slide" Target="../slides/slide49.xml" /><Relationship Id="rId1" Type="http://schemas.openxmlformats.org/officeDocument/2006/relationships/notesMaster" Target="../notesMasters/notesMaster1.xml" /></Relationships>
</file>

<file path=ppt/notesSlides/_rels/notesSlide42.xml.rels><?xml version="1.0" encoding="UTF-8"?><Relationships xmlns="http://schemas.openxmlformats.org/package/2006/relationships"><Relationship Id="rId2" Type="http://schemas.openxmlformats.org/officeDocument/2006/relationships/slide" Target="../slides/slide50.xml" /><Relationship Id="rId1" Type="http://schemas.openxmlformats.org/officeDocument/2006/relationships/notesMaster" Target="../notesMasters/notesMaster1.xml" /></Relationships>
</file>

<file path=ppt/notesSlides/_rels/notesSlide43.xml.rels><?xml version="1.0" encoding="UTF-8"?><Relationships xmlns="http://schemas.openxmlformats.org/package/2006/relationships"><Relationship Id="rId2" Type="http://schemas.openxmlformats.org/officeDocument/2006/relationships/slide" Target="../slides/slide52.xml" /><Relationship Id="rId1" Type="http://schemas.openxmlformats.org/officeDocument/2006/relationships/notesMaster" Target="../notesMasters/notesMaster1.xml" /></Relationships>
</file>

<file path=ppt/notesSlides/_rels/notesSlide44.xml.rels><?xml version="1.0" encoding="UTF-8"?><Relationships xmlns="http://schemas.openxmlformats.org/package/2006/relationships"><Relationship Id="rId2" Type="http://schemas.openxmlformats.org/officeDocument/2006/relationships/slide" Target="../slides/slide53.xml" /><Relationship Id="rId1" Type="http://schemas.openxmlformats.org/officeDocument/2006/relationships/notesMaster" Target="../notesMasters/notesMaster1.xml" /></Relationships>
</file>

<file path=ppt/notesSlides/_rels/notesSlide45.xml.rels><?xml version="1.0" encoding="UTF-8"?><Relationships xmlns="http://schemas.openxmlformats.org/package/2006/relationships"><Relationship Id="rId2" Type="http://schemas.openxmlformats.org/officeDocument/2006/relationships/slide" Target="../slides/slide54.xml" /><Relationship Id="rId1" Type="http://schemas.openxmlformats.org/officeDocument/2006/relationships/notesMaster" Target="../notesMasters/notesMaster1.xml" /></Relationships>
</file>

<file path=ppt/notesSlides/_rels/notesSlide46.xml.rels><?xml version="1.0" encoding="UTF-8"?><Relationships xmlns="http://schemas.openxmlformats.org/package/2006/relationships"><Relationship Id="rId2" Type="http://schemas.openxmlformats.org/officeDocument/2006/relationships/slide" Target="../slides/slide55.xml" /><Relationship Id="rId1" Type="http://schemas.openxmlformats.org/officeDocument/2006/relationships/notesMaster" Target="../notesMasters/notesMaster1.xml" /></Relationships>
</file>

<file path=ppt/notesSlides/_rels/notesSlide47.xml.rels><?xml version="1.0" encoding="UTF-8"?><Relationships xmlns="http://schemas.openxmlformats.org/package/2006/relationships"><Relationship Id="rId2" Type="http://schemas.openxmlformats.org/officeDocument/2006/relationships/slide" Target="../slides/slide56.xml" /><Relationship Id="rId1" Type="http://schemas.openxmlformats.org/officeDocument/2006/relationships/notesMaster" Target="../notesMasters/notesMaster1.xml" /></Relationships>
</file>

<file path=ppt/notesSlides/_rels/notesSlide48.xml.rels><?xml version="1.0" encoding="UTF-8"?><Relationships xmlns="http://schemas.openxmlformats.org/package/2006/relationships"><Relationship Id="rId2" Type="http://schemas.openxmlformats.org/officeDocument/2006/relationships/slide" Target="../slides/slide58.xml" /><Relationship Id="rId1" Type="http://schemas.openxmlformats.org/officeDocument/2006/relationships/notesMaster" Target="../notesMasters/notesMaster1.xml" /></Relationships>
</file>

<file path=ppt/notesSlides/_rels/notesSlide49.xml.rels><?xml version="1.0" encoding="UTF-8"?><Relationships xmlns="http://schemas.openxmlformats.org/package/2006/relationships"><Relationship Id="rId2" Type="http://schemas.openxmlformats.org/officeDocument/2006/relationships/slide" Target="../slides/slide61.xml" /><Relationship Id="rId1" Type="http://schemas.openxmlformats.org/officeDocument/2006/relationships/notesMaster" Target="../notesMasters/notesMaster1.xml" /></Relationships>
</file>

<file path=ppt/notesSlides/_rels/notesSlide50.xml.rels><?xml version="1.0" encoding="UTF-8"?><Relationships xmlns="http://schemas.openxmlformats.org/package/2006/relationships"><Relationship Id="rId2" Type="http://schemas.openxmlformats.org/officeDocument/2006/relationships/slide" Target="../slides/slide62.xml" /><Relationship Id="rId1" Type="http://schemas.openxmlformats.org/officeDocument/2006/relationships/notesMaster" Target="../notesMasters/notesMaster1.xml" /></Relationships>
</file>

<file path=ppt/notesSlides/_rels/notesSlide51.xml.rels><?xml version="1.0" encoding="UTF-8"?><Relationships xmlns="http://schemas.openxmlformats.org/package/2006/relationships"><Relationship Id="rId2" Type="http://schemas.openxmlformats.org/officeDocument/2006/relationships/slide" Target="../slides/slide63.xml" /><Relationship Id="rId1" Type="http://schemas.openxmlformats.org/officeDocument/2006/relationships/notesMaster" Target="../notesMasters/notesMaster1.xml" /></Relationships>
</file>

<file path=ppt/notesSlides/_rels/notesSlide52.xml.rels><?xml version="1.0" encoding="UTF-8"?><Relationships xmlns="http://schemas.openxmlformats.org/package/2006/relationships"><Relationship Id="rId2" Type="http://schemas.openxmlformats.org/officeDocument/2006/relationships/slide" Target="../slides/slide64.xml" /><Relationship Id="rId1" Type="http://schemas.openxmlformats.org/officeDocument/2006/relationships/notesMaster" Target="../notesMasters/notesMaster1.xml" /></Relationships>
</file>

<file path=ppt/notesSlides/_rels/notesSlide53.xml.rels><?xml version="1.0" encoding="UTF-8"?><Relationships xmlns="http://schemas.openxmlformats.org/package/2006/relationships"><Relationship Id="rId2" Type="http://schemas.openxmlformats.org/officeDocument/2006/relationships/slide" Target="../slides/slide65.xml" /><Relationship Id="rId1" Type="http://schemas.openxmlformats.org/officeDocument/2006/relationships/notesMaster" Target="../notesMasters/notesMaster1.xml" /></Relationships>
</file>

<file path=ppt/notesSlides/_rels/notesSlide54.xml.rels><?xml version="1.0" encoding="UTF-8"?><Relationships xmlns="http://schemas.openxmlformats.org/package/2006/relationships"><Relationship Id="rId2" Type="http://schemas.openxmlformats.org/officeDocument/2006/relationships/slide" Target="../slides/slide66.xml" /><Relationship Id="rId1" Type="http://schemas.openxmlformats.org/officeDocument/2006/relationships/notesMaster" Target="../notesMasters/notesMaster1.xml" /></Relationships>
</file>

<file path=ppt/notesSlides/_rels/notesSlide55.xml.rels><?xml version="1.0" encoding="UTF-8"?><Relationships xmlns="http://schemas.openxmlformats.org/package/2006/relationships"><Relationship Id="rId2" Type="http://schemas.openxmlformats.org/officeDocument/2006/relationships/slide" Target="../slides/slide68.xml" /><Relationship Id="rId1" Type="http://schemas.openxmlformats.org/officeDocument/2006/relationships/notesMaster" Target="../notesMasters/notesMaster1.xml" /></Relationships>
</file>

<file path=ppt/notesSlides/_rels/notesSlide56.xml.rels><?xml version="1.0" encoding="UTF-8"?><Relationships xmlns="http://schemas.openxmlformats.org/package/2006/relationships"><Relationship Id="rId2" Type="http://schemas.openxmlformats.org/officeDocument/2006/relationships/slide" Target="../slides/slide69.xml" /><Relationship Id="rId1" Type="http://schemas.openxmlformats.org/officeDocument/2006/relationships/notesMaster" Target="../notesMasters/notesMaster1.xml" /></Relationships>
</file>

<file path=ppt/notesSlides/_rels/notesSlide57.xml.rels><?xml version="1.0" encoding="UTF-8"?><Relationships xmlns="http://schemas.openxmlformats.org/package/2006/relationships"><Relationship Id="rId2" Type="http://schemas.openxmlformats.org/officeDocument/2006/relationships/slide" Target="../slides/slide70.xml" /><Relationship Id="rId1" Type="http://schemas.openxmlformats.org/officeDocument/2006/relationships/notesMaster" Target="../notesMasters/notesMaster1.xml" /></Relationships>
</file>

<file path=ppt/notesSlides/_rels/notesSlide58.xml.rels><?xml version="1.0" encoding="UTF-8"?><Relationships xmlns="http://schemas.openxmlformats.org/package/2006/relationships"><Relationship Id="rId2" Type="http://schemas.openxmlformats.org/officeDocument/2006/relationships/slide" Target="../slides/slide71.xml" /><Relationship Id="rId1" Type="http://schemas.openxmlformats.org/officeDocument/2006/relationships/notesMaster" Target="../notesMasters/notesMaster1.xml" /></Relationships>
</file>

<file path=ppt/notesSlides/_rels/notesSlide59.xml.rels><?xml version="1.0" encoding="UTF-8"?><Relationships xmlns="http://schemas.openxmlformats.org/package/2006/relationships"><Relationship Id="rId2" Type="http://schemas.openxmlformats.org/officeDocument/2006/relationships/slide" Target="../slides/slide72.xml" /><Relationship Id="rId1" Type="http://schemas.openxmlformats.org/officeDocument/2006/relationships/notesMaster" Target="../notesMasters/notesMaster1.xml" /></Relationships>
</file>

<file path=ppt/notesSlides/_rels/notesSlide60.xml.rels><?xml version="1.0" encoding="UTF-8"?><Relationships xmlns="http://schemas.openxmlformats.org/package/2006/relationships"><Relationship Id="rId2" Type="http://schemas.openxmlformats.org/officeDocument/2006/relationships/slide" Target="../slides/slide73.xml" /><Relationship Id="rId1" Type="http://schemas.openxmlformats.org/officeDocument/2006/relationships/notesMaster" Target="../notesMasters/notesMaster1.xml" /></Relationships>
</file>

<file path=ppt/notesSlides/_rels/notesSlide61.xml.rels><?xml version="1.0" encoding="UTF-8"?><Relationships xmlns="http://schemas.openxmlformats.org/package/2006/relationships"><Relationship Id="rId2" Type="http://schemas.openxmlformats.org/officeDocument/2006/relationships/slide" Target="../slides/slide74.xml" /><Relationship Id="rId1" Type="http://schemas.openxmlformats.org/officeDocument/2006/relationships/notesMaster" Target="../notesMasters/notesMaster1.xml" /></Relationships>
</file>

<file path=ppt/notesSlides/_rels/notesSlide62.xml.rels><?xml version="1.0" encoding="UTF-8"?><Relationships xmlns="http://schemas.openxmlformats.org/package/2006/relationships"><Relationship Id="rId2" Type="http://schemas.openxmlformats.org/officeDocument/2006/relationships/slide" Target="../slides/slide75.xml" /><Relationship Id="rId1" Type="http://schemas.openxmlformats.org/officeDocument/2006/relationships/notesMaster" Target="../notesMasters/notesMaster1.xml" /></Relationships>
</file>

<file path=ppt/notesSlides/_rels/notesSlide63.xml.rels><?xml version="1.0" encoding="UTF-8"?><Relationships xmlns="http://schemas.openxmlformats.org/package/2006/relationships"><Relationship Id="rId2" Type="http://schemas.openxmlformats.org/officeDocument/2006/relationships/slide" Target="../slides/slide76.xml" /><Relationship Id="rId1" Type="http://schemas.openxmlformats.org/officeDocument/2006/relationships/notesMaster" Target="../notesMasters/notesMaster1.xml" /></Relationships>
</file>

<file path=ppt/notesSlides/_rels/notesSlide64.xml.rels><?xml version="1.0" encoding="UTF-8"?><Relationships xmlns="http://schemas.openxmlformats.org/package/2006/relationships"><Relationship Id="rId2" Type="http://schemas.openxmlformats.org/officeDocument/2006/relationships/slide" Target="../slides/slide77.xml" /><Relationship Id="rId1" Type="http://schemas.openxmlformats.org/officeDocument/2006/relationships/notesMaster" Target="../notesMasters/notesMaster1.xml" /></Relationships>
</file>

<file path=ppt/notesSlides/_rels/notesSlide65.xml.rels><?xml version="1.0" encoding="UTF-8"?><Relationships xmlns="http://schemas.openxmlformats.org/package/2006/relationships"><Relationship Id="rId2" Type="http://schemas.openxmlformats.org/officeDocument/2006/relationships/slide" Target="../slides/slide79.xml" /><Relationship Id="rId1" Type="http://schemas.openxmlformats.org/officeDocument/2006/relationships/notesMaster" Target="../notesMasters/notesMaster1.xml" /></Relationships>
</file>

<file path=ppt/notesSlides/_rels/notesSlide66.xml.rels><?xml version="1.0" encoding="UTF-8"?><Relationships xmlns="http://schemas.openxmlformats.org/package/2006/relationships"><Relationship Id="rId2" Type="http://schemas.openxmlformats.org/officeDocument/2006/relationships/slide" Target="../slides/slide80.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Creative Commons Attribution 4.0 International (CC-BY-SA-4.0) license permits you to freely use, share, and adapt the licensed material for any purpose, including commercial use. This means you can copy, redistribute, remix, transform, and build upon the work without asking for permission.</a:t>
            </a:r>
          </a:p>
          <a:p>
            <a:pPr lvl="0" indent="0" marL="0">
              <a:buNone/>
            </a:pPr>
          </a:p>
          <a:p>
            <a:pPr lvl="0" indent="0" marL="0">
              <a:buNone/>
            </a:pPr>
            <a:r>
              <a:rPr/>
              <a:t>However, there are some important conditions you must follow. You are required to give appropriate credit to the original creator, provide a link to the license, and indicate if you made any changes to the material. Additionally, you cannot apply any legal terms or technological measures that would restrict others from using the work under the same freedoms.</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These are the </a:t>
            </a:r>
            <a:r>
              <a:rPr b="1"/>
              <a:t>presenter notes</a:t>
            </a:r>
            <a:r>
              <a:rPr/>
              <a:t>. You will a script for the presenter for every slide. In presentation mode, your audience will not be able to see these presenter notes, they are only visible to the presenter.</a:t>
            </a:r>
          </a:p>
          <a:p>
            <a:pPr lvl="0" indent="0" marL="0">
              <a:buNone/>
            </a:pPr>
          </a:p>
          <a:p>
            <a:pPr lvl="0" indent="0" marL="0">
              <a:buNone/>
            </a:pPr>
            <a:r>
              <a:rPr b="1"/>
              <a:t>Instructor Notes</a:t>
            </a:r>
            <a:r>
              <a:rPr/>
              <a:t>: There are also </a:t>
            </a:r>
            <a:r>
              <a:rPr b="1"/>
              <a:t>instructor notes</a:t>
            </a:r>
            <a:r>
              <a:rPr/>
              <a:t>. For some slides, there will be pedagogical tips, suggestons for acitivities and troubleshooting tips for issues your audience might run into. You can find these notes underneath the presenter notes.</a:t>
            </a:r>
          </a:p>
          <a:p>
            <a:pPr lvl="0" indent="0" marL="0">
              <a:buNone/>
            </a:pPr>
          </a:p>
          <a:p>
            <a:pPr lvl="0" indent="0" marL="0">
              <a:buNone/>
            </a:pPr>
            <a:r>
              <a:rPr b="1"/>
              <a:t>Accessibility Tips</a:t>
            </a:r>
            <a:r>
              <a:rPr/>
              <a:t>: Where applicable, this is a space to add any tips you may have to facilitate the accessibility of your slides and activities.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first take a look at these prerequisites. These are important to complete in order to fully understand what will be covered in this submodule.</a:t>
            </a:r>
          </a:p>
          <a:p>
            <a:pPr lvl="0" indent="0" marL="0">
              <a:buNone/>
            </a:pPr>
          </a:p>
          <a:p>
            <a:pPr lvl="0" indent="0" marL="0">
              <a:buNone/>
            </a:pPr>
            <a:r>
              <a:rPr b="1"/>
              <a:t>Instructor Notes</a:t>
            </a:r>
            <a:r>
              <a:rPr/>
              <a:t>: These are the prerequisites for this submodule. Before you get started on this submodule with your audience, you need to ensure that the audience fulfills these criteria. In this session, we will assume that your audience has basic R skills and completed the corresponding workshops. We also assume familiariy with Git and GitHub and that the audience has also completed those submodules. Finally, we assume that, through the previos workshops, participants have downloaded and installed R and RStudio on their local machines, and also have the desktop app for Zotero.</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During this session, we will be using Quarto from RStudio. It is therefore necessary for you to have the most recent version of R and RStudio installed. Then open RStudio and install Quarto following the link. Finally, install tinytex, which is a small version of TeX that can be used to build pdf documents with Quarto. You need to install tinytex from the Terminal within RStudio by typing </a:t>
            </a:r>
            <a:r>
              <a:rPr>
                <a:latin typeface="Courier"/>
              </a:rPr>
              <a:t>quarto install tinytex</a:t>
            </a:r>
            <a:r>
              <a:rPr/>
              <a:t> into the terminal.</a:t>
            </a:r>
          </a:p>
          <a:p>
            <a:pPr lvl="0" indent="0" marL="0">
              <a:buNone/>
            </a:pPr>
          </a:p>
          <a:p>
            <a:pPr lvl="0" indent="0" marL="0">
              <a:buNone/>
            </a:pPr>
            <a:r>
              <a:rPr b="1"/>
              <a:t>Instructor Notes</a:t>
            </a:r>
            <a:r>
              <a:rPr/>
              <a:t>: Leave enough time for the download and installation of Quarto. Guide your students through the installation of tinytex by showing them where to find the Terminal in RStudio. To see which version of Quarto they already have installed, students can type </a:t>
            </a:r>
            <a:r>
              <a:rPr>
                <a:latin typeface="Courier"/>
              </a:rPr>
              <a:t>quarto --version</a:t>
            </a:r>
            <a:r>
              <a:rPr/>
              <a:t> into the terminal. Quarto versions of 1.7 or higher are suitable for the rest of this tutorial. Quarto may fail or behave unpredictably with older versions of R and RStudio, as newer Quarto features and extensions rely on recent R releases and the current RStudio. Keeping both up to date helps to avoid errors.</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Are there any questions from what we discussed during the last session? Are there any remaining thoughts or discussion points?</a:t>
            </a:r>
          </a:p>
          <a:p>
            <a:pPr lvl="0" indent="0" marL="0">
              <a:buNone/>
            </a:pPr>
          </a:p>
          <a:p>
            <a:pPr lvl="0" indent="0" marL="0">
              <a:buNone/>
            </a:pPr>
            <a:r>
              <a:rPr b="1"/>
              <a:t>Instructor Notes</a:t>
            </a:r>
            <a:r>
              <a:rPr/>
              <a:t>:</a:t>
            </a:r>
          </a:p>
          <a:p>
            <a:pPr lvl="0" indent="0" marL="0">
              <a:buNone/>
            </a:pPr>
          </a:p>
          <a:p>
            <a:pPr lvl="0"/>
            <a:r>
              <a:rPr b="1"/>
              <a:t>Aim</a:t>
            </a:r>
            <a:r>
              <a:rPr/>
              <a:t>: clarify questions from the previous submodule and/or to discuss assignments.</a:t>
            </a:r>
          </a:p>
          <a:p>
            <a:pPr lvl="0" indent="0" marL="0">
              <a:buNone/>
            </a:pPr>
          </a:p>
          <a:p>
            <a:pPr lvl="0"/>
            <a:r>
              <a:rPr/>
              <a:t>Additional slides may need to be added depending on the nature of the homework assignments.</a:t>
            </a:r>
          </a:p>
          <a:p>
            <a:pPr lvl="0" indent="0" marL="0">
              <a:buNone/>
            </a:pPr>
          </a:p>
          <a:p>
            <a:pPr lvl="0"/>
            <a:r>
              <a:rPr/>
              <a:t>It is critical for the learning process to ensure that students are on the same page and have been able to achieve the learning goals of the previous workshop.</a:t>
            </a:r>
          </a:p>
          <a:p>
            <a:pPr lvl="0" indent="0" marL="0">
              <a:buNone/>
            </a:pPr>
          </a:p>
          <a:p>
            <a:pPr lvl="0"/>
            <a:r>
              <a:rPr/>
              <a:t>Not applicable if this set of slides corresponds to the first submodule of a new module.</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start the session by gauging where our Quarto skills are at this point. Please answer honestly and don’t worry about having little to no prior knowledge about Quarto. This lesson is for beginners.</a:t>
            </a:r>
          </a:p>
          <a:p>
            <a:pPr lvl="0" indent="0" marL="0">
              <a:buNone/>
            </a:pPr>
          </a:p>
          <a:p>
            <a:pPr lvl="0" indent="0" marL="0">
              <a:buNone/>
            </a:pPr>
            <a:r>
              <a:rPr b="1"/>
              <a:t>Instructor Notes</a:t>
            </a:r>
            <a:r>
              <a:rPr/>
              <a:t>:</a:t>
            </a:r>
          </a:p>
          <a:p>
            <a:pPr lvl="0" indent="0" marL="0">
              <a:buNone/>
            </a:pPr>
          </a:p>
          <a:p>
            <a:pPr lvl="0"/>
            <a:r>
              <a:rPr b="1"/>
              <a:t>Aim</a:t>
            </a:r>
            <a:r>
              <a:rPr/>
              <a:t>: the pre-submodule survey serves to examine students’ prior knowledge about the submodule’s topic.</a:t>
            </a:r>
          </a:p>
          <a:p>
            <a:pPr lvl="0" indent="0" marL="0">
              <a:buNone/>
            </a:pPr>
          </a:p>
          <a:p>
            <a:pPr lvl="0"/>
            <a:r>
              <a:rPr/>
              <a:t>Use free survey software such as particify to establish this. You can use the example survey, edit it or create your own. Make sure to have a QR code for easy scanning, as well as the link displayed on the slides.</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have a look at these results.</a:t>
            </a:r>
          </a:p>
          <a:p>
            <a:pPr lvl="0" indent="0" marL="0">
              <a:buNone/>
            </a:pPr>
          </a:p>
          <a:p>
            <a:pPr lvl="0" indent="0" marL="0">
              <a:buNone/>
            </a:pPr>
            <a:r>
              <a:rPr b="1"/>
              <a:t>Instructor Notes</a:t>
            </a:r>
            <a:r>
              <a:rPr/>
              <a:t>:</a:t>
            </a:r>
          </a:p>
          <a:p>
            <a:pPr lvl="0" indent="0" marL="0">
              <a:buNone/>
            </a:pPr>
          </a:p>
          <a:p>
            <a:pPr lvl="0"/>
            <a:r>
              <a:rPr b="1"/>
              <a:t>Aim</a:t>
            </a:r>
            <a:r>
              <a:rPr/>
              <a:t>: Briefly examine the answers given to each question interactively with the group. Use visuals from the survey to highlight specific answers.</a:t>
            </a:r>
          </a:p>
          <a:p>
            <a:pPr lvl="0" indent="0" marL="0">
              <a:buNone/>
            </a:pPr>
          </a:p>
          <a:p>
            <a:pPr lvl="0" indent="0" marL="0">
              <a:buNone/>
            </a:pPr>
            <a:r>
              <a:rPr b="1"/>
              <a:t>Accessibility Tip</a:t>
            </a:r>
            <a:r>
              <a:rPr/>
              <a:t>: Have people work in pairs if someone did not bring their phone/does not have a phone. This survey also cannot be completed in an asynchronous setting.</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Previously, you have gained skills and experience with R, RStudio, version control with Git, and collaborative work on GitHub. Next, we are moving to a new tool: Quarto. Here, you will learn about a platform that can combine text, code, and media all into one document. We will cover how to create a simple website using different functionalities that Quarto offers.</a:t>
            </a:r>
          </a:p>
          <a:p>
            <a:pPr lvl="0" indent="0" marL="0">
              <a:buNone/>
            </a:pPr>
          </a:p>
          <a:p>
            <a:pPr lvl="0" indent="0" marL="0">
              <a:buNone/>
            </a:pPr>
            <a:r>
              <a:rPr b="1"/>
              <a:t>Instructor Notes</a:t>
            </a:r>
            <a:r>
              <a:rPr/>
              <a:t>: Place the topic of the current submodule within a broader context. Consider Quarto as a solution to some existing challenges in Open Research to remind learners what they are working towards and what the bigger picture is.</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session will cover some basics in how to use Quarto and then some ways it can work with other platforms to perform functions like referencing and publishing. We will first begin by setting up a Quarto document in RStudio, then we will look at important elements: text, code, media, links, and layout. Next, we will work with both Quarto and Zotero for quick and easy citations and, finally, we will look at sharing our work to GitHub. All of these are pertinent steps in learning how to use Quarto to facilitate Open Research practices.</a:t>
            </a:r>
          </a:p>
          <a:p>
            <a:pPr lvl="0" indent="0" marL="0">
              <a:buNone/>
            </a:pPr>
          </a:p>
          <a:p>
            <a:pPr lvl="0" indent="0" marL="0">
              <a:buNone/>
            </a:pPr>
            <a:r>
              <a:rPr b="1"/>
              <a:t>Instructor Notes</a:t>
            </a:r>
            <a:r>
              <a:rPr/>
              <a:t>:</a:t>
            </a:r>
          </a:p>
          <a:p>
            <a:pPr lvl="0" indent="0" marL="0">
              <a:buNone/>
            </a:pPr>
          </a:p>
          <a:p>
            <a:pPr lvl="0"/>
            <a:r>
              <a:rPr b="1"/>
              <a:t>Aim</a:t>
            </a:r>
            <a:r>
              <a:rPr/>
              <a:t>: To establish the core theoretical introduction of submodule topics.</a:t>
            </a:r>
          </a:p>
          <a:p>
            <a:pPr lvl="0" indent="0" marL="0">
              <a:buNone/>
            </a:pPr>
          </a:p>
          <a:p>
            <a:pPr lvl="0"/>
            <a:r>
              <a:rPr/>
              <a:t>Pair theoretical aspects with practical exercises and group discussions according to the Think-Pair-Share style and according to Cognitive Load Theory (Sweller, 1980).</a:t>
            </a:r>
          </a:p>
          <a:p>
            <a:pPr lvl="0" indent="0" marL="0">
              <a:buNone/>
            </a:pPr>
          </a:p>
          <a:p>
            <a:pPr lvl="0"/>
            <a:r>
              <a:rPr/>
              <a:t>For a 90-minute lesson, the instructor should try to “lecture” for only 20 minutes, learners should work in groups/pairs/on their own for at least 55 minutes of the lesson (+ a 15 minute break).</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p>
          <a:p>
            <a:pPr lvl="0" indent="0" marL="0">
              <a:buNone/>
            </a:pPr>
          </a:p>
          <a:p>
            <a:pPr lvl="0"/>
            <a:r>
              <a:rPr/>
              <a:t>These are the goals we’re working toward in today’s session. By the end, you should be comfortable creating, editing, and rendering Quarto documents. You’ll also know how to use key features like code chunks, YAML headers, citations, and formatting.</a:t>
            </a:r>
          </a:p>
          <a:p>
            <a:pPr lvl="0" indent="0" marL="0">
              <a:buNone/>
            </a:pPr>
          </a:p>
          <a:p>
            <a:pPr lvl="0"/>
            <a:r>
              <a:rPr/>
              <a:t>We’ll practice inserting citations and generating bibliographies using Zotero, and finally, we’ll publish and share our work using GitHub Pages.</a:t>
            </a:r>
          </a:p>
          <a:p>
            <a:pPr lvl="0" indent="0" marL="0">
              <a:buNone/>
            </a:pPr>
          </a:p>
          <a:p>
            <a:pPr lvl="0"/>
            <a:r>
              <a:rPr/>
              <a:t>Think of this as the full workflow: first is authoring the document, then comes proper referencing, and finally sharing your work openly.</a:t>
            </a:r>
          </a:p>
          <a:p>
            <a:pPr lvl="0" indent="0" marL="0">
              <a:buNone/>
            </a:pPr>
          </a:p>
          <a:p>
            <a:pPr lvl="0" indent="0" marL="0">
              <a:buNone/>
            </a:pPr>
            <a:r>
              <a:rPr b="1"/>
              <a:t>Instructor Notes</a:t>
            </a:r>
            <a:r>
              <a:rPr/>
              <a:t>:</a:t>
            </a:r>
          </a:p>
          <a:p>
            <a:pPr lvl="0" indent="0" marL="0">
              <a:buNone/>
            </a:pPr>
          </a:p>
          <a:p>
            <a:pPr lvl="0"/>
            <a:r>
              <a:rPr b="1"/>
              <a:t>Aim</a:t>
            </a:r>
            <a:r>
              <a:rPr/>
              <a:t>: Formulate specific, action-oriented goals learning goals which are measurable and observable in line with Bloom’s taxonomy (Anderson et al., 2001; Bloom et al., 1956)</a:t>
            </a:r>
          </a:p>
          <a:p>
            <a:pPr lvl="0" indent="0" marL="0">
              <a:buNone/>
            </a:pPr>
          </a:p>
          <a:p>
            <a:pPr lvl="0"/>
            <a:r>
              <a:rPr/>
              <a:t>Place an emphasis on the </a:t>
            </a:r>
            <a:r>
              <a:rPr b="1"/>
              <a:t>verbs</a:t>
            </a:r>
            <a:r>
              <a:rPr/>
              <a:t> of the learning goals and choose verbs that align with the skills you want to develop or assess.</a:t>
            </a:r>
          </a:p>
          <a:p>
            <a:pPr lvl="0" indent="0" marL="0">
              <a:buNone/>
            </a:pPr>
          </a:p>
          <a:p>
            <a:pPr lvl="0"/>
            <a:r>
              <a:rPr/>
              <a:t>Examples:</a:t>
            </a:r>
          </a:p>
          <a:p>
            <a:pPr lvl="0" indent="0" marL="0">
              <a:buNone/>
            </a:pPr>
          </a:p>
          <a:p>
            <a:pPr lvl="1"/>
            <a:r>
              <a:rPr/>
              <a:t>Learners will </a:t>
            </a:r>
            <a:r>
              <a:rPr b="1"/>
              <a:t>describe</a:t>
            </a:r>
            <a:r>
              <a:rPr/>
              <a:t> the process of photosynthesis or</a:t>
            </a:r>
          </a:p>
          <a:p>
            <a:pPr lvl="0" indent="0" marL="0">
              <a:buNone/>
            </a:pPr>
          </a:p>
          <a:p>
            <a:pPr lvl="1"/>
            <a:r>
              <a:rPr/>
              <a:t>Learners will </a:t>
            </a:r>
            <a:r>
              <a:rPr b="1"/>
              <a:t>construct</a:t>
            </a:r>
            <a:r>
              <a:rPr/>
              <a:t> a diagram illustrating the process of photosynthesis</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These are some of the key terms that will come up throughout this lesson. What are your associations with each of these concepts? Which ones have you come across before? What could these concepts refer to? What is new to you?</a:t>
            </a:r>
          </a:p>
          <a:p>
            <a:pPr lvl="0" indent="0" marL="0">
              <a:buNone/>
            </a:pPr>
          </a:p>
          <a:p>
            <a:pPr lvl="0" indent="0" marL="0">
              <a:buNone/>
            </a:pPr>
            <a:r>
              <a:rPr b="1"/>
              <a:t>Instructor Notes</a:t>
            </a:r>
            <a:r>
              <a:rPr/>
              <a:t>: Use the think-pair-share paradigm to examine existing concepts and definitions. learners think for themselves what they associate with each term, discuss collaboratively in pairs and then share their thoughts with the group. Give learners about 10 minutes for this exercise.</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p>
          <a:p>
            <a:pPr lvl="0" indent="0" marL="0">
              <a:buNone/>
            </a:pPr>
          </a:p>
          <a:p>
            <a:pPr lvl="0"/>
            <a:r>
              <a:rPr/>
              <a:t>A Quarto document or file gets the extension of .qmd.</a:t>
            </a:r>
          </a:p>
          <a:p>
            <a:pPr lvl="0" indent="0" marL="0">
              <a:buNone/>
            </a:pPr>
          </a:p>
          <a:p>
            <a:pPr lvl="0"/>
            <a:r>
              <a:rPr/>
              <a:t>The YAML header is the section at the top of the Quarto document that controls settings like the title, output format, and author.</a:t>
            </a:r>
          </a:p>
          <a:p>
            <a:pPr lvl="0" indent="0" marL="0">
              <a:buNone/>
            </a:pPr>
          </a:p>
          <a:p>
            <a:pPr lvl="0"/>
            <a:r>
              <a:rPr/>
              <a:t>The code chunks are the sections of the document that contain code (from R or Python, for example) that are used for showing results such as tables, plots, or calculations.</a:t>
            </a:r>
          </a:p>
          <a:p>
            <a:pPr lvl="0" indent="0" marL="0">
              <a:buNone/>
            </a:pPr>
          </a:p>
          <a:p>
            <a:pPr lvl="0"/>
            <a:r>
              <a:rPr/>
              <a:t>Then, the Quarto markdown text is the component that combines text, codes, and formatting to create the actual content of the document. These are different components within a Quarto document that are important for rendering.</a:t>
            </a:r>
          </a:p>
          <a:p>
            <a:pPr lvl="0" indent="0" marL="0">
              <a:buNone/>
            </a:pPr>
          </a:p>
          <a:p>
            <a:pPr lvl="0" indent="0" marL="0">
              <a:buNone/>
            </a:pPr>
            <a:r>
              <a:rPr b="1"/>
              <a:t>Instructor Notes</a:t>
            </a:r>
            <a:r>
              <a:rPr/>
              <a:t>: - Aim: Introduce key terms and definitions that students will come across throughout the session.</a:t>
            </a:r>
          </a:p>
          <a:p>
            <a:pPr lvl="0" indent="0" marL="0">
              <a:buNone/>
            </a:pPr>
          </a:p>
          <a:p>
            <a:pPr lvl="0"/>
            <a:r>
              <a:rPr/>
              <a:t>This first part of the lesson is useful to establish an understanding of important vocabulary- it can be helpful to remind students of the meaning of these terms as they appear in the upcoming sections.</a:t>
            </a:r>
          </a:p>
          <a:p>
            <a:pPr lvl="0" indent="0" marL="0">
              <a:buNone/>
            </a:pPr>
          </a:p>
          <a:p>
            <a:pPr lvl="0"/>
            <a:r>
              <a:rPr/>
              <a:t>Move within the framework of the conceptual change theory (the process whereby learners restructure their existing ideas or concepts to make sense of the new information presented to them). Examine existing concepts in relation to some key terms- taking the prior meanings students may have and relating it specifically to new meanings connected to Quarto. Re-examine formation of new concepts at the end of the lesson.</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Quarto is an open-source publishing system, this means it is free to use and community-driven. Anyone can download it, contribute towards its improvement, and adapt it. It’s designed for combining text, code, and media in a way that makes your work transparent and reprodcible, this means that anyone can read it, rerun the code, and even check the results themselves.</a:t>
            </a:r>
          </a:p>
          <a:p>
            <a:pPr lvl="0" indent="0" marL="0">
              <a:buNone/>
            </a:pPr>
          </a:p>
          <a:p>
            <a:pPr lvl="0"/>
            <a:r>
              <a:rPr/>
              <a:t>The 3 key things you can do with Quarto are:</a:t>
            </a:r>
          </a:p>
          <a:p>
            <a:pPr lvl="0" indent="0" marL="0">
              <a:buNone/>
            </a:pPr>
          </a:p>
          <a:p>
            <a:pPr lvl="1"/>
            <a:r>
              <a:rPr/>
              <a:t>Analyze and work with data, text, or research content directly in your document</a:t>
            </a:r>
          </a:p>
          <a:p>
            <a:pPr lvl="0" indent="0" marL="0">
              <a:buNone/>
            </a:pPr>
          </a:p>
          <a:p>
            <a:pPr lvl="1"/>
            <a:r>
              <a:rPr/>
              <a:t>Share or present your results as reports, slides, or even full websites</a:t>
            </a:r>
          </a:p>
          <a:p>
            <a:pPr lvl="0" indent="0" marL="0">
              <a:buNone/>
            </a:pPr>
          </a:p>
          <a:p>
            <a:pPr lvl="1"/>
            <a:r>
              <a:rPr/>
              <a:t>Make your workflow reproducible so others can repeat them.</a:t>
            </a:r>
          </a:p>
          <a:p>
            <a:pPr lvl="0" indent="0" marL="0">
              <a:buNone/>
            </a:pPr>
          </a:p>
          <a:p>
            <a:pPr lvl="0" indent="0" marL="0">
              <a:buNone/>
            </a:pPr>
            <a:r>
              <a:rPr b="1"/>
              <a:t>Instructor Notes</a:t>
            </a:r>
            <a:r>
              <a:rPr/>
              <a:t>: Establishing a clear idea of what Quarto is at the beginning of the lesson is useful for building context and purpose.</a:t>
            </a:r>
          </a:p>
          <a:p>
            <a:pPr lvl="0" indent="0" marL="0">
              <a:buNone/>
            </a:pPr>
          </a:p>
          <a:p>
            <a:pPr lvl="0"/>
            <a:r>
              <a:rPr/>
              <a:t>Context: how all the parts of Quarto work together to create the intended document(s)</a:t>
            </a:r>
          </a:p>
          <a:p>
            <a:pPr lvl="0" indent="0" marL="0">
              <a:buNone/>
            </a:pPr>
          </a:p>
          <a:p>
            <a:pPr lvl="0"/>
            <a:r>
              <a:rPr/>
              <a:t>Purpose: reasons why one would use Quarto (it’s versatile, customizable, and shareable)</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first answer the question, “How can using Quarto solve common challenges in research?” Research can be messy and scattered sometimes, especially when you want to use different elements like text, code, and media. This is where Quarto comes in! It brings these elements together where we can type, run code, embed media, and cite literature all in one place. On the left, we see the raw source with markup and code mixed in, which is harder to scan. On the right, Quarto renders the same content into readable text and a clear result, making it much easier to understand at a glance.</a:t>
            </a:r>
          </a:p>
          <a:p>
            <a:pPr lvl="0" indent="0" marL="0">
              <a:buNone/>
            </a:pPr>
          </a:p>
          <a:p>
            <a:pPr lvl="0" indent="0" marL="0">
              <a:buNone/>
            </a:pPr>
            <a:r>
              <a:rPr b="1"/>
              <a:t>Instructor Notes</a:t>
            </a:r>
            <a:r>
              <a:rPr/>
              <a:t>: Frame Quarto as the solution to the problem of hard-to-read papers and bodies of work that attempt to integrate text, code, and media with no standard format. This slide demonstrates how Quarto separates source from presentation. The left side shows what the author writes, while the right side shows what the reader sees as a rendered Quarto output.</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Inconsistency and scattered files can also be an obstacle when sharing and ensuring your work is reproducible. One of the main challenges in research is that results are often disconnected from the code and data that produced them. As analyses evolve, it’s easy for reported results to become outdated or inconsistent. Quarto helps address this by keeping text, code, and results together, so outputs are always generated from the same analysis and are easier to share and reproduce.</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Quarto documents can be rendered either manually or automatically when you save your work.</a:t>
            </a:r>
          </a:p>
          <a:p>
            <a:pPr lvl="0" indent="0" marL="0">
              <a:buNone/>
            </a:pPr>
          </a:p>
          <a:p>
            <a:pPr lvl="0"/>
            <a:r>
              <a:rPr/>
              <a:t>Manual rendering gives you control meaning you decide when to update the document. This is helpful if you’re making lots of edits and do not want constant re-renders.</a:t>
            </a:r>
          </a:p>
          <a:p>
            <a:pPr lvl="0" indent="0" marL="0">
              <a:buNone/>
            </a:pPr>
          </a:p>
          <a:p>
            <a:pPr lvl="0"/>
            <a:r>
              <a:rPr/>
              <a:t>Render on Save automatically updates your document every time you hit Save, which is great for quick feedback and seeing your changes instantly. In this lesson, you can try both to see which workflow feels more comfortable for you.</a:t>
            </a:r>
          </a:p>
          <a:p>
            <a:pPr lvl="0" indent="0" marL="0">
              <a:buNone/>
            </a:pPr>
          </a:p>
          <a:p>
            <a:pPr lvl="0" indent="0" marL="0">
              <a:buNone/>
            </a:pPr>
            <a:r>
              <a:rPr b="1"/>
              <a:t>Instructor Notes</a:t>
            </a:r>
            <a:r>
              <a:rPr/>
              <a:t>: It can be more helpful for new learners getting started with Quarto to have the ‘Render on Save’ option active. Keep the rendered window (the browser with the rendered version of the website) open as well so that they can simply hit save when they make changes and have it rendered automatically to view the changes in real time.</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Quarto documents can be created and edited in either Source mode or Visual mode. Both modes work with the same file, but they provide slightly different experiences:</a:t>
            </a:r>
          </a:p>
          <a:p>
            <a:pPr lvl="0" indent="0" marL="0">
              <a:buNone/>
            </a:pPr>
          </a:p>
          <a:p>
            <a:pPr lvl="0"/>
            <a:r>
              <a:rPr/>
              <a:t>Source Mode is like writing in raw code as you write in plain text or Markdown syntax.</a:t>
            </a:r>
          </a:p>
          <a:p>
            <a:pPr lvl="0" indent="0" marL="0">
              <a:buNone/>
            </a:pPr>
          </a:p>
          <a:p>
            <a:pPr lvl="0"/>
            <a:r>
              <a:rPr/>
              <a:t>Visual Mode shows the formatted text, headings, tables, and the like as they would appear in the final output. WYSIWYM is an acronym for “What You Say is What You Mean” which means that whatever you see in your document will be what you see even when you save or render the document as PDF or as HTML.</a:t>
            </a:r>
          </a:p>
          <a:p>
            <a:pPr lvl="0" indent="0" marL="0">
              <a:buNone/>
            </a:pPr>
          </a:p>
          <a:p>
            <a:pPr lvl="0"/>
            <a:r>
              <a:rPr/>
              <a:t>In this lesson, most of our tasks will be done in Source mode, but you’ll also have a chance to try Visual mode so you can compare how the same content looks and feels in each.</a:t>
            </a:r>
          </a:p>
          <a:p>
            <a:pPr lvl="0" indent="0" marL="0">
              <a:buNone/>
            </a:pPr>
          </a:p>
          <a:p>
            <a:pPr lvl="0"/>
            <a:r>
              <a:rPr/>
              <a:t>This is part of the authoring process where you are creating the content of the document.</a:t>
            </a:r>
          </a:p>
          <a:p>
            <a:pPr lvl="0" indent="0" marL="0">
              <a:buNone/>
            </a:pPr>
          </a:p>
          <a:p>
            <a:pPr lvl="0" indent="0" marL="0">
              <a:buNone/>
            </a:pPr>
            <a:r>
              <a:rPr b="1"/>
              <a:t>Instructor Notes</a:t>
            </a:r>
            <a:r>
              <a:rPr/>
              <a:t>: “Authoring process” is mentioned here but not defined because it will be explained further in later slides.</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begin with the practical bits! To get started with Quarto in RStudio, the first step is to create a new Quarto document. You do this by going to ‘File’ on the toolbar and selecting ‘New File’. Here, you see options for both Quarto Document and Quarto Presentation. </a:t>
            </a:r>
            <a:r>
              <a:rPr b="1"/>
              <a:t>What’s the difference between a Quarto Document and Quarto Presentation</a:t>
            </a:r>
            <a:r>
              <a:rPr/>
              <a:t>?</a:t>
            </a:r>
          </a:p>
          <a:p>
            <a:pPr lvl="0" indent="0" marL="0">
              <a:buNone/>
            </a:pPr>
          </a:p>
          <a:p>
            <a:pPr lvl="0"/>
            <a:r>
              <a:rPr/>
              <a:t>A Quarto Document is best for reports or articles because it produces continuous text like a paper.</a:t>
            </a:r>
          </a:p>
          <a:p>
            <a:pPr lvl="0" indent="0" marL="0">
              <a:buNone/>
            </a:pPr>
          </a:p>
          <a:p>
            <a:pPr lvl="0"/>
            <a:r>
              <a:rPr/>
              <a:t>A Quarto Presentation is for creating slide decks, like PowerPoint or Reveal.js slides. For the exercises today, we will select ‘Quarto Document’.</a:t>
            </a:r>
          </a:p>
          <a:p>
            <a:pPr lvl="0" indent="0" marL="0">
              <a:buNone/>
            </a:pPr>
          </a:p>
          <a:p>
            <a:pPr lvl="0" indent="0" marL="0">
              <a:buNone/>
            </a:pPr>
            <a:r>
              <a:rPr b="1"/>
              <a:t>Instructor Notes</a:t>
            </a:r>
            <a:r>
              <a:rPr/>
              <a:t>: This lesson intentionally starts with a standalone Quarto document rather than an R Project. While Quarto documents can be used inside R Projects, avoiding project setup at this stage reduces complexity and allows learners to focus on the core ideas of Quarto before introducing project-based workflows.</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creates your document where you can customize the YAML header, add Markdown text, and insert code chunks. This next step is where you can already set items in the YAML header such as the title and the output format. The default output format is HTML but this can be changed later on by editing the YAML header directly in the document. When you press ‘Create’, it will open your Quarto document in RStudio where you can begin building.</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We will create a Quarto document using these steps. But first, make a new folder on your device to make it easier for you to store and retrieve files related to the activities today. Then, follow the steps from the previous slide and make a new Quarto document in RStudio. Name the document “Chicken Weights” and put your own name as the author of the document. Then, save this document in the folder that you created.</a:t>
            </a:r>
          </a:p>
          <a:p>
            <a:pPr lvl="0" indent="0" marL="0">
              <a:buNone/>
            </a:pPr>
          </a:p>
          <a:p>
            <a:pPr lvl="0" indent="0" marL="0">
              <a:buNone/>
            </a:pPr>
            <a:r>
              <a:rPr b="1"/>
              <a:t>Instructor Notes</a:t>
            </a:r>
            <a:r>
              <a:rPr/>
              <a:t>: Ensure students know where this new folder for the Quarto exercises is located on their device, suggest that they simply right-click on their desktop or ‘Documents’ folder and click ‘New’ → ‘Folder’ so as not to complicate this initial process. This will make it easier for them to find files in later tasks. Then, after creating the Quarto Document, encourage them to save the document right after by selecting “Save As”, so they can manually choose the document location (for example, on the Desktop or in a newly created course folder).</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Authoring is combining the YAML header with the markdown text. This means that what you do to customize, add to, and develop your document is the process of ‘authoring.’</a:t>
            </a:r>
          </a:p>
          <a:p>
            <a:pPr lvl="0" indent="0" marL="0">
              <a:buNone/>
            </a:pPr>
          </a:p>
          <a:p>
            <a:pPr lvl="0"/>
            <a:r>
              <a:rPr/>
              <a:t>The </a:t>
            </a:r>
            <a:r>
              <a:rPr b="1"/>
              <a:t>YAML header</a:t>
            </a:r>
            <a:r>
              <a:rPr/>
              <a:t> is the section at the very top, wrapped in three dashes. It holds the document’s settings, like the title, author, date, and output format.</a:t>
            </a:r>
          </a:p>
          <a:p>
            <a:pPr lvl="0" indent="0" marL="0">
              <a:buNone/>
            </a:pPr>
          </a:p>
          <a:p>
            <a:pPr lvl="0"/>
            <a:r>
              <a:rPr/>
              <a:t>Below that, we use </a:t>
            </a:r>
            <a:r>
              <a:rPr b="1"/>
              <a:t>Markdown text</a:t>
            </a:r>
            <a:r>
              <a:rPr/>
              <a:t> to write the actual content which are things like headings, bullet points, bold or italic text, and the actual body of your document.</a:t>
            </a:r>
          </a:p>
          <a:p>
            <a:pPr lvl="0" indent="0" marL="0">
              <a:buNone/>
            </a:pPr>
          </a:p>
          <a:p>
            <a:pPr lvl="0" indent="0" marL="0">
              <a:buNone/>
            </a:pPr>
            <a:r>
              <a:rPr b="1"/>
              <a:t>Instructor Notes</a:t>
            </a:r>
            <a:r>
              <a:rPr/>
              <a:t>: Reminding students of the meanings of YAML Header and Markdown text will be helpful especially to those with very little prior knowledge as these are terms that appear very often when working with Quarto.</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Remember that the YAML Header goes at the top of the document in both Source and Visual Modes. In the YAML header, the “format” field tells Quarto what kind of output to create. Here we have set it to HTML, which means the document will render as a web page. You could choose other formats like PDF or Word, but for this lesson we will stick with HTML so everyone has the same experience. After it is the </a:t>
            </a:r>
            <a:r>
              <a:rPr>
                <a:latin typeface="Courier"/>
              </a:rPr>
              <a:t>code-fold: false</a:t>
            </a:r>
            <a:r>
              <a:rPr/>
              <a:t> which makes all code is visible by default and </a:t>
            </a:r>
            <a:r>
              <a:rPr>
                <a:latin typeface="Courier"/>
              </a:rPr>
              <a:t>toc: true</a:t>
            </a:r>
            <a:r>
              <a:rPr/>
              <a:t> to enable a table of contents for easier navigation.</a:t>
            </a:r>
          </a:p>
          <a:p>
            <a:pPr lvl="0" indent="0" marL="0">
              <a:buNone/>
            </a:pPr>
          </a:p>
          <a:p>
            <a:pPr lvl="0" indent="0" marL="0">
              <a:buNone/>
            </a:pPr>
            <a:r>
              <a:rPr b="1"/>
              <a:t>Instructor Notes</a:t>
            </a:r>
            <a:r>
              <a:rPr/>
              <a:t>: - There is a small clipboard icon at the top-right of the text box. Let students know they can simply click the icon to copy all the text in that specific text box. This icon will appear for every text box moving forward so you can remind them of it the next few times a task requires them to copy the content of a text box.</a:t>
            </a:r>
          </a:p>
          <a:p>
            <a:pPr lvl="0" indent="0" marL="0">
              <a:buNone/>
            </a:pPr>
          </a:p>
          <a:p>
            <a:pPr lvl="0"/>
            <a:r>
              <a:rPr/>
              <a:t>In Practical exercise 1, the learners have already set up some of the items in the YAML header (the title, author, and format). So, the extra items (</a:t>
            </a:r>
            <a:r>
              <a:rPr>
                <a:latin typeface="Courier"/>
              </a:rPr>
              <a:t>code-fold: false</a:t>
            </a:r>
            <a:r>
              <a:rPr/>
              <a:t> and </a:t>
            </a:r>
            <a:r>
              <a:rPr>
                <a:latin typeface="Courier"/>
              </a:rPr>
              <a:t>toc: true</a:t>
            </a:r>
            <a:r>
              <a:rPr/>
              <a:t>) can either be added OR the section from the slide can simply be copied and pasted to replace the entire YAML section (Note: the “Author” would have to be manually changed here after pasting).</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With Markdown text, we can format text with very simple symbols. It works the same way in both Source and Visual mode with the only difference being how you see it while typing. In Source mode you see the symbols, while in Visual mode it looks like regular bold or italic text right away.</a:t>
            </a:r>
          </a:p>
          <a:p>
            <a:pPr lvl="0" indent="0" marL="0">
              <a:buNone/>
            </a:pPr>
          </a:p>
          <a:p>
            <a:pPr lvl="0" indent="0" marL="0">
              <a:buNone/>
            </a:pPr>
            <a:r>
              <a:rPr/>
              <a:t>To make bullet points, add a single dash (</a:t>
            </a:r>
            <a:r>
              <a:rPr>
                <a:latin typeface="Courier"/>
              </a:rPr>
              <a:t>-</a:t>
            </a:r>
            <a:r>
              <a:rPr/>
              <a:t>) before each point. Make sure there is a blank line before the first and after the last bullet points for it to render properly. To make a piece of text bold, wrap it in double asterisks (</a:t>
            </a:r>
            <a:r>
              <a:rPr>
                <a:latin typeface="Courier"/>
              </a:rPr>
              <a:t>**</a:t>
            </a:r>
            <a:r>
              <a:rPr/>
              <a:t>). For italics, wrap the text in single asterisks (</a:t>
            </a:r>
            <a:r>
              <a:rPr>
                <a:latin typeface="Courier"/>
              </a:rPr>
              <a:t>*</a:t>
            </a:r>
            <a:r>
              <a:rPr/>
              <a:t>). To strike through text, wrap it in double tildes (</a:t>
            </a:r>
            <a:r>
              <a:rPr>
                <a:latin typeface="Courier"/>
              </a:rPr>
              <a:t>~~</a:t>
            </a:r>
            <a:r>
              <a:rPr/>
              <a:t>). For writing inline code or for text that you want to appear as written (that is, not computed), wrap it in single backticks (`).</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words “Markdown Text” may seem technical or complicated for those new to Quarto. But Markdown text can simply be understood as just typing, like writing in any normal document, sometimes with a few simple symbols to add structure or emphasis.</a:t>
            </a:r>
          </a:p>
          <a:p>
            <a:pPr lvl="0" indent="0" marL="0">
              <a:buNone/>
            </a:pPr>
          </a:p>
          <a:p>
            <a:pPr lvl="0" indent="0" marL="0">
              <a:buNone/>
            </a:pPr>
            <a:r>
              <a:rPr b="1"/>
              <a:t>Instructor Notes</a:t>
            </a:r>
            <a:r>
              <a:rPr/>
              <a:t>: The aim here is to help students feel comfortable using Markdown text by showing how simple and familiar it really is.</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practice formatting the Markdown text, let’s copy the text from the previous slide and use simple keyboard shortcuts to bold and italicize certain parts.</a:t>
            </a:r>
          </a:p>
          <a:p>
            <a:pPr lvl="0" indent="0" marL="0">
              <a:buNone/>
            </a:pPr>
          </a:p>
          <a:p>
            <a:pPr lvl="0" indent="0" marL="0">
              <a:buNone/>
            </a:pPr>
            <a:r>
              <a:rPr b="1"/>
              <a:t>Instructor Notes</a:t>
            </a:r>
            <a:r>
              <a:rPr/>
              <a:t>: It’s useful to render the document after each practical exercise (where applicable) so students can see the changes as they make them and identify issues. If the ‘Render on Save’ is active, just hit ‘Save’ to render the changes.</a:t>
            </a:r>
          </a:p>
          <a:p>
            <a:pPr lvl="0" indent="0" marL="0">
              <a:buNone/>
            </a:pPr>
          </a:p>
          <a:p>
            <a:pPr lvl="0"/>
            <a:r>
              <a:rPr b="1"/>
              <a:t>Solution</a:t>
            </a:r>
            <a:r>
              <a:rPr/>
              <a:t>: Have you ever wondered what affects a chick’s weight? This document explores the </a:t>
            </a:r>
            <a:r>
              <a:rPr b="1"/>
              <a:t>ChickWeight</a:t>
            </a:r>
            <a:r>
              <a:rPr/>
              <a:t> dataset using R. The goal is to compare chick weight across different diets and time points.</a:t>
            </a:r>
            <a:br/>
            <a:r>
              <a:rPr/>
              <a:t>Key steps include:</a:t>
            </a:r>
          </a:p>
          <a:p>
            <a:pPr lvl="0" indent="0" marL="0">
              <a:buNone/>
            </a:pPr>
          </a:p>
          <a:p>
            <a:pPr lvl="1"/>
            <a:r>
              <a:rPr/>
              <a:t>Loading the dataset</a:t>
            </a:r>
          </a:p>
          <a:p>
            <a:pPr lvl="0" indent="0" marL="0">
              <a:buNone/>
            </a:pPr>
          </a:p>
          <a:p>
            <a:pPr lvl="1"/>
            <a:r>
              <a:rPr/>
              <a:t>Visualizing </a:t>
            </a:r>
            <a:r>
              <a:rPr i="1"/>
              <a:t>growth trends</a:t>
            </a:r>
          </a:p>
          <a:p>
            <a:pPr lvl="0" indent="0" marL="0">
              <a:buNone/>
            </a:pPr>
          </a:p>
          <a:p>
            <a:pPr lvl="1"/>
            <a:r>
              <a:rPr/>
              <a:t>Summarizing results</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Callout boxes are a way to highlight important information in your document. They stand out visually, so readers immediately notice them. You can use them to emphasize tips, warnings, examples, or key takeaways.</a:t>
            </a:r>
          </a:p>
          <a:p>
            <a:pPr lvl="0" indent="0" marL="0">
              <a:buNone/>
            </a:pPr>
          </a:p>
          <a:p>
            <a:pPr lvl="0"/>
            <a:r>
              <a:rPr/>
              <a:t>Observe that the look of the callout boxes changes depending on if “-important,” “-tip,” “-note” or “-warning” follows the word “callout”.</a:t>
            </a:r>
          </a:p>
          <a:p>
            <a:pPr lvl="0" indent="0" marL="0">
              <a:buNone/>
            </a:pPr>
          </a:p>
          <a:p>
            <a:pPr lvl="0" indent="0" marL="0">
              <a:buNone/>
            </a:pPr>
            <a:r>
              <a:rPr b="1"/>
              <a:t>Instructor Notes</a:t>
            </a:r>
            <a:r>
              <a:rPr/>
              <a:t>: These are just examples of callout boxes. How to actually create one will be covered in the next slide/task.</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is what the Markdown syntax looks like for a callout box. To start and end the callout box, we use 3 colons (</a:t>
            </a:r>
            <a:r>
              <a:rPr>
                <a:latin typeface="Courier"/>
              </a:rPr>
              <a:t>:::</a:t>
            </a:r>
            <a:r>
              <a:rPr/>
              <a:t>). We will choose the ‘note’ style by adding the word “note” to the callout. Inside the box, you can add a heading using ## and then add text below it. These aren’t just for highlighting important information but can be used for supplementary or by-the-way information as well as warnings.</a:t>
            </a:r>
          </a:p>
          <a:p>
            <a:pPr lvl="0" indent="0" marL="0">
              <a:buNone/>
            </a:pPr>
          </a:p>
          <a:p>
            <a:pPr lvl="0" indent="0" marL="0">
              <a:buNone/>
            </a:pPr>
            <a:r>
              <a:rPr b="1"/>
              <a:t>Instructor Notes</a:t>
            </a:r>
            <a:r>
              <a:rPr/>
              <a:t>: To change the type of callout box, learners have to replace callout-note with either:</a:t>
            </a:r>
          </a:p>
          <a:p>
            <a:pPr lvl="0" indent="0" marL="0">
              <a:buNone/>
            </a:pPr>
          </a:p>
          <a:p>
            <a:pPr lvl="0"/>
            <a:r>
              <a:rPr/>
              <a:t>callout-warning</a:t>
            </a:r>
          </a:p>
          <a:p>
            <a:pPr lvl="0" indent="0" marL="0">
              <a:buNone/>
            </a:pPr>
          </a:p>
          <a:p>
            <a:pPr lvl="0"/>
            <a:r>
              <a:rPr/>
              <a:t>callout-tip</a:t>
            </a:r>
          </a:p>
          <a:p>
            <a:pPr lvl="0" indent="0" marL="0">
              <a:buNone/>
            </a:pPr>
          </a:p>
          <a:p>
            <a:pPr lvl="0"/>
            <a:r>
              <a:rPr/>
              <a:t>callout-important</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add a callout-important box to our document, do this by copying the text from the previous slide and pasting it into your document. Note the important elements and specific details in the formatting (for callout boxes and for all authoring features): beginning and ending with 3 colons (</a:t>
            </a:r>
            <a:r>
              <a:rPr>
                <a:latin typeface="Courier"/>
              </a:rPr>
              <a:t>:::</a:t>
            </a:r>
            <a:r>
              <a:rPr/>
              <a:t>); single space between the first set of colons and the words “</a:t>
            </a:r>
            <a:r>
              <a:rPr>
                <a:latin typeface="Courier"/>
              </a:rPr>
              <a:t>callout-important</a:t>
            </a:r>
            <a:r>
              <a:rPr/>
              <a:t>”; and a single space between </a:t>
            </a:r>
            <a:r>
              <a:rPr>
                <a:latin typeface="Courier"/>
              </a:rPr>
              <a:t>##</a:t>
            </a:r>
            <a:r>
              <a:rPr/>
              <a:t> and title. When rendered, observe how the callout boxes sets its contents apart from the rest of the document to draw the reader’s attention.</a:t>
            </a:r>
          </a:p>
          <a:p>
            <a:pPr lvl="0" indent="0" marL="0">
              <a:buNone/>
            </a:pPr>
          </a:p>
          <a:p>
            <a:pPr lvl="0" indent="0" marL="0">
              <a:buNone/>
            </a:pPr>
            <a:r>
              <a:rPr b="1"/>
              <a:t>Instructor Notes</a:t>
            </a:r>
            <a:r>
              <a:rPr/>
              <a:t>: The aim here is to understand and practice the specific format of a callout box and how it is useful. Solution:</a:t>
            </a:r>
          </a:p>
          <a:p>
            <a:pPr lvl="0" indent="0" marL="0">
              <a:buNone/>
            </a:pPr>
          </a:p>
          <a:p>
            <a:pPr lvl="0"/>
            <a:r>
              <a:rPr/>
              <a:t>Line 1: “</a:t>
            </a:r>
            <a:r>
              <a:rPr>
                <a:latin typeface="Courier"/>
              </a:rPr>
              <a:t>::: callout-important</a:t>
            </a:r>
            <a:r>
              <a:rPr/>
              <a:t>”</a:t>
            </a:r>
          </a:p>
          <a:p>
            <a:pPr lvl="0" indent="0" marL="0">
              <a:buNone/>
            </a:pPr>
          </a:p>
          <a:p>
            <a:pPr lvl="0"/>
            <a:r>
              <a:rPr/>
              <a:t>Line 2: ## Based on Real Data</a:t>
            </a:r>
          </a:p>
          <a:p>
            <a:pPr lvl="0" indent="0" marL="0">
              <a:buNone/>
            </a:pPr>
          </a:p>
          <a:p>
            <a:pPr lvl="0"/>
            <a:r>
              <a:rPr/>
              <a:t>Line 3: The ChickWeight dataset in R is based on real experimental data.</a:t>
            </a:r>
          </a:p>
          <a:p>
            <a:pPr lvl="0" indent="0" marL="0">
              <a:buNone/>
            </a:pPr>
          </a:p>
          <a:p>
            <a:pPr lvl="0"/>
            <a:r>
              <a:rPr/>
              <a:t>Line 4: </a:t>
            </a:r>
            <a:r>
              <a:rPr>
                <a:latin typeface="Courier"/>
              </a:rPr>
              <a:t>:::</a:t>
            </a:r>
          </a:p>
          <a:p>
            <a:pPr lvl="0" indent="0" marL="0">
              <a:buNone/>
            </a:pPr>
          </a:p>
          <a:p>
            <a:pPr lvl="0" indent="0" marL="0">
              <a:buNone/>
            </a:pPr>
            <a:r>
              <a:rPr b="1"/>
              <a:t>Troubleshooting:</a:t>
            </a:r>
            <a:r>
              <a:rPr/>
              <a:t> Remember to add an </a:t>
            </a:r>
            <a:r>
              <a:rPr b="1"/>
              <a:t>empty line</a:t>
            </a:r>
            <a:r>
              <a:rPr/>
              <a:t> before and after the callout boxes.</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Code chunks are sections of a Quarto document where you can run code directly inside your file. They are marked by three backticks followed by the language name, like {r} or {python}. So, using {r} to start the Code Chunk indicates that the coding language that we’re using is R. These let us write and execute code, and then display the results, such as tables, plots, or calculations, right in the document. Code chunks make it possible to combine text and analysis in one place, so the document stays reproducible and dynamic.</a:t>
            </a:r>
          </a:p>
          <a:p>
            <a:pPr lvl="0" indent="0" marL="0">
              <a:buNone/>
            </a:pPr>
          </a:p>
          <a:p>
            <a:pPr lvl="0" indent="0" marL="0">
              <a:buNone/>
            </a:pPr>
            <a:r>
              <a:rPr b="1"/>
              <a:t>Instructor Notes</a:t>
            </a:r>
            <a:r>
              <a:rPr/>
              <a:t>: Use ```{r} for this lesson as students will be using R Studio and possession of some background knowledge in R is assumed. Sometimes the third backtick only appears once the spacebar is pressed.</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For example, here we are summarizing the ChickWeight dataset, and below, we’re using the </a:t>
            </a:r>
            <a:r>
              <a:rPr>
                <a:latin typeface="Courier"/>
              </a:rPr>
              <a:t>ggplot2</a:t>
            </a:r>
            <a:r>
              <a:rPr/>
              <a:t> package in R to create a visualization of chick growth over time. Notice how the code is written inside a chunk, and when rendered, Quarto automatically runs the code and shows the results in your output. This is what makes Quarto so powerful, it combines text, code, and results all in one place. It’s also possible to see the output of the code before rendering by clicking the small, green arrow at the top-right corner of the code chunk. Hover over it and it would say “Run Current Chunk.”</a:t>
            </a:r>
          </a:p>
          <a:p>
            <a:pPr lvl="0" indent="0" marL="0">
              <a:buNone/>
            </a:pPr>
          </a:p>
          <a:p>
            <a:pPr lvl="0" indent="0" marL="0">
              <a:buNone/>
            </a:pPr>
            <a:r>
              <a:rPr b="1"/>
              <a:t>Instructor Notes</a:t>
            </a:r>
            <a:r>
              <a:rPr/>
              <a:t>: Make sure you have “ggplot2” package installed and loaded before running these codes. do so by running install.packages(“ggplot2”) and library(ggplot).</a:t>
            </a:r>
          </a:p>
          <a:p>
            <a:pPr lvl="0" indent="0" marL="0">
              <a:buNone/>
            </a:pPr>
          </a:p>
          <a:p>
            <a:pPr lvl="0" indent="0" marL="0">
              <a:buNone/>
            </a:pPr>
            <a:r>
              <a:rPr/>
              <a:t>If you’d like to simplify the concept of code chunks and have students feel less intimated to use it, you can begin by having them run “1 + 2” in a code chunk and render it to see Quarto run this simple calculation in the output.</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run the functions from the previous slides by putting them in code chunks. First create the code chunk then copy and paste the text from the previous slides containing the R functions. Try using different methods to insert coding chunks for this exercise. You don’t need to hit Ctrl + Enter (Windows) or Command + Enter (Mac) to run the code. After placing it in the coding chunk, rendering the document will run the code and print the output. Render the output and observe how the code appears together with the markdown text from the previous activities, this is what makes Quarto so useful, it gives you one place where you could combine text and code neatly into a single document.</a:t>
            </a:r>
          </a:p>
          <a:p>
            <a:pPr lvl="0" indent="0" marL="0">
              <a:buNone/>
            </a:pPr>
          </a:p>
          <a:p>
            <a:pPr lvl="0" indent="0" marL="0">
              <a:buNone/>
            </a:pPr>
            <a:r>
              <a:rPr b="1"/>
              <a:t>Instructor Notes</a:t>
            </a:r>
            <a:r>
              <a:rPr/>
              <a:t>: Note that the code is in two separate text boxes/coding chunks for teaching purposes but can actually both be put in 1 coding chunk. You do not have to start a new coding chunk each time you want to use a different R function.</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Quarto gives us several options for controlling how code appears in our documents. For example, we can choose whether to show or hide the code itself, whether readers can fold code open and closed, or whether only the results are shown. These settings don’t change the analysis, but just change how it’s displayed. This flexibility is helpful because sometimes we want to highlight the process by showing the code, and other times we want readers to focus on the results. In open research, showing the underlying code isn’t just a technical choice, it’s important for building trust and reproducibility.</a:t>
            </a:r>
          </a:p>
          <a:p>
            <a:pPr lvl="0" indent="0" marL="0">
              <a:buNone/>
            </a:pPr>
          </a:p>
          <a:p>
            <a:pPr lvl="0" indent="0" marL="0">
              <a:buNone/>
            </a:pPr>
            <a:r>
              <a:rPr b="1"/>
              <a:t>Instructor Notes</a:t>
            </a:r>
            <a:r>
              <a:rPr/>
              <a:t>: If useful, clarify that “not collapsible” means that we cannot chose to hide the code, meaning we cannot choose to fold it closed (as we will see when we set it to </a:t>
            </a:r>
            <a:r>
              <a:rPr>
                <a:latin typeface="Courier"/>
              </a:rPr>
              <a:t>code-fold: true</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Here are some ways we can change how code is displayed in our rendered website. </a:t>
            </a:r>
            <a:r>
              <a:rPr>
                <a:latin typeface="Courier"/>
              </a:rPr>
              <a:t>echo: true</a:t>
            </a:r>
            <a:r>
              <a:rPr/>
              <a:t> and </a:t>
            </a:r>
            <a:r>
              <a:rPr>
                <a:latin typeface="Courier"/>
              </a:rPr>
              <a:t>code-fold: false</a:t>
            </a:r>
            <a:r>
              <a:rPr/>
              <a:t> both affect how code is shown, but in different ways. </a:t>
            </a:r>
            <a:r>
              <a:rPr>
                <a:latin typeface="Courier"/>
              </a:rPr>
              <a:t>echo</a:t>
            </a:r>
            <a:r>
              <a:rPr/>
              <a:t> decides if the code prints at all, while </a:t>
            </a:r>
            <a:r>
              <a:rPr>
                <a:latin typeface="Courier"/>
              </a:rPr>
              <a:t>code-fold</a:t>
            </a:r>
            <a:r>
              <a:rPr/>
              <a:t> lets readers toggle it open or closed, deciding whether the code can be hidden or expanded. </a:t>
            </a:r>
            <a:r>
              <a:rPr>
                <a:latin typeface="Courier"/>
              </a:rPr>
              <a:t>code-tools</a:t>
            </a:r>
            <a:r>
              <a:rPr/>
              <a:t> gives extra functions to the parts of code in the document with the options “show code” and “copy” next to the coding chunks.</a:t>
            </a:r>
          </a:p>
          <a:p>
            <a:pPr lvl="0" indent="0" marL="0">
              <a:buNone/>
            </a:pPr>
          </a:p>
          <a:p>
            <a:pPr lvl="0" indent="0" marL="0">
              <a:buNone/>
            </a:pPr>
            <a:r>
              <a:rPr b="1"/>
              <a:t>Instructor Notes</a:t>
            </a:r>
            <a:r>
              <a:rPr/>
              <a:t>: It’s easy to confuse </a:t>
            </a:r>
            <a:r>
              <a:rPr>
                <a:latin typeface="Courier"/>
              </a:rPr>
              <a:t>echo</a:t>
            </a:r>
            <a:r>
              <a:rPr/>
              <a:t> and </a:t>
            </a:r>
            <a:r>
              <a:rPr>
                <a:latin typeface="Courier"/>
              </a:rPr>
              <a:t>code-fold</a:t>
            </a:r>
            <a:r>
              <a:rPr/>
              <a:t> because they both deal with code visibility. Be clear on the difference.</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Currently in our YAML header, we have it set to </a:t>
            </a:r>
            <a:r>
              <a:rPr>
                <a:latin typeface="Courier"/>
              </a:rPr>
              <a:t>code-fold: false</a:t>
            </a:r>
            <a:r>
              <a:rPr/>
              <a:t>. This means the code is visible and not collapsible, but we can change that. Find it in the YAML under </a:t>
            </a:r>
            <a:r>
              <a:rPr>
                <a:latin typeface="Courier"/>
              </a:rPr>
              <a:t>html</a:t>
            </a:r>
            <a:r>
              <a:rPr/>
              <a:t> and simply replace the word “false” with “true.” Then, add a new code setting by inserting “</a:t>
            </a:r>
            <a:r>
              <a:rPr>
                <a:latin typeface="Courier"/>
              </a:rPr>
              <a:t>code-tools: true</a:t>
            </a:r>
            <a:r>
              <a:rPr/>
              <a:t>” right under it.</a:t>
            </a:r>
          </a:p>
          <a:p>
            <a:pPr lvl="0" indent="0" marL="0">
              <a:buNone/>
            </a:pPr>
          </a:p>
          <a:p>
            <a:pPr lvl="0" indent="0" marL="0">
              <a:buNone/>
            </a:pPr>
            <a:r>
              <a:rPr b="1"/>
              <a:t>Instructor Notes</a:t>
            </a:r>
            <a:r>
              <a:rPr/>
              <a:t>: Engage students by asking for possible reasons why one would want their code to be visible or not (optional).</a:t>
            </a:r>
          </a:p>
          <a:p>
            <a:pPr lvl="0" indent="0" marL="0">
              <a:buNone/>
            </a:pPr>
          </a:p>
          <a:p>
            <a:pPr lvl="0" indent="0" marL="0">
              <a:buNone/>
            </a:pPr>
            <a:r>
              <a:rPr b="1"/>
              <a:t>Solution</a:t>
            </a:r>
            <a:r>
              <a:rPr/>
              <a:t>: The new YAML header should look like this:</a:t>
            </a:r>
          </a:p>
          <a:p>
            <a:pPr lvl="0" indent="0" marL="0">
              <a:buNone/>
            </a:pPr>
          </a:p>
          <a:p>
            <a:pPr lvl="0" indent="0">
              <a:buNone/>
            </a:pPr>
            <a:r>
              <a:rPr>
                <a:solidFill>
                  <a:srgbClr val="AD0000"/>
                </a:solidFill>
                <a:latin typeface="Courier"/>
              </a:rPr>
              <a:t>---</a:t>
            </a:r>
            <a:br/>
            <a:r>
              <a:rPr>
                <a:solidFill>
                  <a:srgbClr val="4758AB"/>
                </a:solidFill>
                <a:latin typeface="Courier"/>
              </a:rPr>
              <a:t>title</a:t>
            </a:r>
            <a:r>
              <a:rPr b="1">
                <a:solidFill>
                  <a:srgbClr val="003B4F"/>
                </a:solidFill>
                <a:latin typeface="Courier"/>
              </a:rPr>
              <a:t>:</a:t>
            </a:r>
            <a:r>
              <a:rPr>
                <a:solidFill>
                  <a:srgbClr val="657422"/>
                </a:solidFill>
                <a:latin typeface="Courier"/>
              </a:rPr>
              <a:t> </a:t>
            </a:r>
            <a:r>
              <a:rPr>
                <a:solidFill>
                  <a:srgbClr val="20794D"/>
                </a:solidFill>
                <a:latin typeface="Courier"/>
              </a:rPr>
              <a:t>"ChickWeight Analysis"</a:t>
            </a:r>
            <a:br/>
            <a:r>
              <a:rPr>
                <a:solidFill>
                  <a:srgbClr val="4758AB"/>
                </a:solidFill>
                <a:latin typeface="Courier"/>
              </a:rPr>
              <a:t>author</a:t>
            </a:r>
            <a:r>
              <a:rPr b="1">
                <a:solidFill>
                  <a:srgbClr val="003B4F"/>
                </a:solidFill>
                <a:latin typeface="Courier"/>
              </a:rPr>
              <a:t>:</a:t>
            </a:r>
            <a:r>
              <a:rPr>
                <a:solidFill>
                  <a:srgbClr val="657422"/>
                </a:solidFill>
                <a:latin typeface="Courier"/>
              </a:rPr>
              <a:t> </a:t>
            </a:r>
            <a:r>
              <a:rPr>
                <a:solidFill>
                  <a:srgbClr val="20794D"/>
                </a:solidFill>
                <a:latin typeface="Courier"/>
              </a:rPr>
              <a:t>"Your Name"</a:t>
            </a:r>
            <a:br/>
            <a:r>
              <a:rPr>
                <a:solidFill>
                  <a:srgbClr val="4758AB"/>
                </a:solidFill>
                <a:latin typeface="Courier"/>
              </a:rPr>
              <a:t>format</a:t>
            </a:r>
            <a:r>
              <a:rPr b="1">
                <a:solidFill>
                  <a:srgbClr val="003B4F"/>
                </a:solidFill>
                <a:latin typeface="Courier"/>
              </a:rPr>
              <a:t>:</a:t>
            </a:r>
            <a:br/>
            <a:r>
              <a:rPr>
                <a:solidFill>
                  <a:srgbClr val="657422"/>
                </a:solidFill>
                <a:latin typeface="Courier"/>
              </a:rPr>
              <a:t>  </a:t>
            </a:r>
            <a:r>
              <a:rPr>
                <a:solidFill>
                  <a:srgbClr val="4758AB"/>
                </a:solidFill>
                <a:latin typeface="Courier"/>
              </a:rPr>
              <a:t>html</a:t>
            </a:r>
            <a:r>
              <a:rPr b="1">
                <a:solidFill>
                  <a:srgbClr val="003B4F"/>
                </a:solidFill>
                <a:latin typeface="Courier"/>
              </a:rPr>
              <a:t>:</a:t>
            </a:r>
            <a:br/>
            <a:r>
              <a:rPr>
                <a:solidFill>
                  <a:srgbClr val="657422"/>
                </a:solidFill>
                <a:latin typeface="Courier"/>
              </a:rPr>
              <a:t>    </a:t>
            </a:r>
            <a:r>
              <a:rPr>
                <a:solidFill>
                  <a:srgbClr val="4758AB"/>
                </a:solidFill>
                <a:latin typeface="Courier"/>
              </a:rPr>
              <a:t>code-fold</a:t>
            </a:r>
            <a:r>
              <a:rPr b="1">
                <a:solidFill>
                  <a:srgbClr val="003B4F"/>
                </a:solidFill>
                <a:latin typeface="Courier"/>
              </a:rPr>
              <a:t>:</a:t>
            </a:r>
            <a:r>
              <a:rPr>
                <a:solidFill>
                  <a:srgbClr val="657422"/>
                </a:solidFill>
                <a:latin typeface="Courier"/>
              </a:rPr>
              <a:t> </a:t>
            </a:r>
            <a:r>
              <a:rPr>
                <a:solidFill>
                  <a:srgbClr val="20794D"/>
                </a:solidFill>
                <a:latin typeface="Courier"/>
              </a:rPr>
              <a:t>true</a:t>
            </a:r>
            <a:br/>
            <a:r>
              <a:rPr>
                <a:solidFill>
                  <a:srgbClr val="657422"/>
                </a:solidFill>
                <a:latin typeface="Courier"/>
              </a:rPr>
              <a:t>    </a:t>
            </a:r>
            <a:r>
              <a:rPr>
                <a:solidFill>
                  <a:srgbClr val="4758AB"/>
                </a:solidFill>
                <a:latin typeface="Courier"/>
              </a:rPr>
              <a:t>code-tools</a:t>
            </a:r>
            <a:r>
              <a:rPr b="1">
                <a:solidFill>
                  <a:srgbClr val="003B4F"/>
                </a:solidFill>
                <a:latin typeface="Courier"/>
              </a:rPr>
              <a:t>:</a:t>
            </a:r>
            <a:r>
              <a:rPr>
                <a:solidFill>
                  <a:srgbClr val="657422"/>
                </a:solidFill>
                <a:latin typeface="Courier"/>
              </a:rPr>
              <a:t> </a:t>
            </a:r>
            <a:r>
              <a:rPr>
                <a:solidFill>
                  <a:srgbClr val="20794D"/>
                </a:solidFill>
                <a:latin typeface="Courier"/>
              </a:rPr>
              <a:t>true</a:t>
            </a:r>
            <a:br/>
            <a:r>
              <a:rPr>
                <a:solidFill>
                  <a:srgbClr val="657422"/>
                </a:solidFill>
                <a:latin typeface="Courier"/>
              </a:rPr>
              <a:t>    </a:t>
            </a:r>
            <a:r>
              <a:rPr>
                <a:solidFill>
                  <a:srgbClr val="4758AB"/>
                </a:solidFill>
                <a:latin typeface="Courier"/>
              </a:rPr>
              <a:t>toc</a:t>
            </a:r>
            <a:r>
              <a:rPr b="1">
                <a:solidFill>
                  <a:srgbClr val="003B4F"/>
                </a:solidFill>
                <a:latin typeface="Courier"/>
              </a:rPr>
              <a:t>:</a:t>
            </a:r>
            <a:r>
              <a:rPr>
                <a:solidFill>
                  <a:srgbClr val="657422"/>
                </a:solidFill>
                <a:latin typeface="Courier"/>
              </a:rPr>
              <a:t> </a:t>
            </a:r>
            <a:r>
              <a:rPr>
                <a:solidFill>
                  <a:srgbClr val="20794D"/>
                </a:solidFill>
                <a:latin typeface="Courier"/>
              </a:rPr>
              <a:t>true</a:t>
            </a:r>
            <a:br/>
            <a:r>
              <a:rPr>
                <a:solidFill>
                  <a:srgbClr val="AD0000"/>
                </a:solidFill>
                <a:latin typeface="Courier"/>
              </a:rPr>
              <a:t>---</a:t>
            </a:r>
          </a:p>
          <a:p>
            <a:pPr lvl="0" indent="0" marL="0">
              <a:buNone/>
            </a:pPr>
          </a:p>
          <a:p>
            <a:pPr lvl="0" indent="0" marL="0">
              <a:buNone/>
            </a:pPr>
            <a:r>
              <a:rPr/>
              <a:t>It does not matter the order in which the new additions are placed once they are under the </a:t>
            </a:r>
            <a:r>
              <a:rPr>
                <a:latin typeface="Courier"/>
              </a:rPr>
              <a:t>html</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the break, let’s take a moment to review the things we covered in the first part of this lesson. This survey has a few simple recap questions about what we’ve learned so far about using Quarto. The goal isn’t to test you, but to help you reflect on what you’ve learned and for me to see if anything needs a bit more clarification.</a:t>
            </a:r>
          </a:p>
          <a:p>
            <a:pPr lvl="0" indent="0" marL="0">
              <a:buNone/>
            </a:pPr>
          </a:p>
          <a:p>
            <a:pPr lvl="0" indent="0" marL="0">
              <a:buNone/>
            </a:pPr>
            <a:r>
              <a:rPr b="1"/>
              <a:t>Instructor Notes</a:t>
            </a:r>
            <a:r>
              <a:rPr/>
              <a:t>: Aim: This pre-break survey serves to examine students’ current understanding of key concepts of the submodule  - Use free survey software such as or other survey software (Menti, particify, formR) to establish the following questions. It’s important to have an idea of these key terms because they will reappear many times throughout the rest of this lesson.</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discuss the survey answers and clarify any questions before moving on to the next section.</a:t>
            </a:r>
          </a:p>
          <a:p>
            <a:pPr lvl="0" indent="0" marL="0">
              <a:buNone/>
            </a:pPr>
          </a:p>
          <a:p>
            <a:pPr lvl="0" indent="0" marL="0">
              <a:buNone/>
            </a:pPr>
            <a:r>
              <a:rPr b="1"/>
              <a:t>Instructor Notes</a:t>
            </a:r>
            <a:r>
              <a:rPr/>
              <a:t>: The aim of this suvery is to clarify concepts and aspects that are not yet understood. Highlight specific answers given during the survey and also use this time to clarify any confusions or questions on specific topics students may have from the first part of the session. Guidance on interpreting the results:</a:t>
            </a:r>
          </a:p>
          <a:p>
            <a:pPr lvl="0" indent="0" marL="0">
              <a:buNone/>
            </a:pPr>
          </a:p>
          <a:p>
            <a:pPr lvl="0"/>
            <a:r>
              <a:rPr/>
              <a:t>If more than 80% of the learners select the correct response option, show which one it is and move on.</a:t>
            </a:r>
          </a:p>
          <a:p>
            <a:pPr lvl="0" indent="0" marL="0">
              <a:buNone/>
            </a:pPr>
          </a:p>
          <a:p>
            <a:pPr lvl="0"/>
            <a:r>
              <a:rPr/>
              <a:t>If less than 80% of answers are correct, let them discuss with each other for 1-2 minutes which one they selected, and why, and afterwards let them re-take the question. If they`re above 80% correct the second time, move on, else show the correct response and explain why it is correct (plus maybe why the others are not).</a:t>
            </a:r>
          </a:p>
          <a:p>
            <a:pPr lvl="0" indent="0" marL="0">
              <a:buNone/>
            </a:pPr>
          </a:p>
          <a:p>
            <a:pPr lvl="0"/>
            <a:r>
              <a:rPr/>
              <a:t>If more than 30% select a specific distractor answer, discuss it in class.</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Beyond writing plain text, Quarto also incorporates additional features like hyperlinked text and inserting images or videos. These improve how our document communicates. Hyperlinks let us connect to sources or other sections; and media like images and video help explain complex ideas more clearly. Using these features thoughtfully improves both the usability and the overall look of the document.</a:t>
            </a:r>
          </a:p>
          <a:p>
            <a:pPr lvl="0" indent="0" marL="0">
              <a:buNone/>
            </a:pPr>
          </a:p>
          <a:p>
            <a:pPr lvl="0" indent="0" marL="0">
              <a:buNone/>
            </a:pPr>
            <a:r>
              <a:rPr b="1"/>
              <a:t>Instructor Notes</a:t>
            </a:r>
            <a:r>
              <a:rPr/>
              <a:t>: If your learners want to know more about additional possibilities with markdown, direct them to the link in the callout box.</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You can insert a link with a title using square brackets for the title (that is, what appears to the reader) and parentheses for the URL. This is helpful when you want the link to be descriptive or if you want to hyperlink written text. You can also add a link without a title by simply wrapping the URL in angle brackets (&lt;…&gt;). This shows the raw link, which is fine if the URL itself is clear and concise enough. A good rule of thumb is to use titled links for readability, and untitled links when you want to show the exact URL.</a:t>
            </a:r>
          </a:p>
        </p:txBody>
      </p:sp>
      <p:sp>
        <p:nvSpPr>
          <p:cNvPr id="4" name="Slide Number Placeholder 3"/>
          <p:cNvSpPr>
            <a:spLocks noGrp="1"/>
          </p:cNvSpPr>
          <p:nvPr>
            <p:ph type="sldNum" sz="quarter" idx="10"/>
          </p:nvPr>
        </p:nvSpPr>
        <p:spPr/>
        <p:txBody>
          <a:bodyPr/>
          <a:lstStyle/>
          <a:p>
            <a:fld id="{18BDFEC3-8487-43E8-A154-7C12CBC1FFF2}" type="slidenum">
              <a:rPr lang="en-US"/>
              <a:t>45</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 benefit of using Quarto is the ability to easily add media, such as images, to your documents. You can add the image by itself with no additional text by entering </a:t>
            </a:r>
            <a:r>
              <a:rPr>
                <a:latin typeface="Courier"/>
              </a:rPr>
              <a:t>![](path to the image/name of the image.file)</a:t>
            </a:r>
            <a:r>
              <a:rPr/>
              <a:t>. The </a:t>
            </a:r>
            <a:r>
              <a:rPr i="1"/>
              <a:t>path</a:t>
            </a:r>
            <a:r>
              <a:rPr/>
              <a:t> tells Quarto where to find the image on your device. If the image is stored in the same folder as your .qmd file, you only need to use the image’s file name. If the image is inside a subfolder (for example, a folder within the folder labelled “Images”), then you just include the folder name in the path, for example </a:t>
            </a:r>
            <a:r>
              <a:rPr i="1"/>
              <a:t>images/picture.png</a:t>
            </a:r>
            <a:r>
              <a:rPr/>
              <a:t>.  Images can also be inserted with a caption placed below it. Do so by typing the caption in the square brackets [] after the exclamation point !. This helps with clarity and accessibility, since captions explain the relevance of the image. It is also useful in reports, presentations, or academic writing where figures must be labeled.</a:t>
            </a:r>
          </a:p>
        </p:txBody>
      </p:sp>
      <p:sp>
        <p:nvSpPr>
          <p:cNvPr id="4" name="Slide Number Placeholder 3"/>
          <p:cNvSpPr>
            <a:spLocks noGrp="1"/>
          </p:cNvSpPr>
          <p:nvPr>
            <p:ph type="sldNum" sz="quarter" idx="10"/>
          </p:nvPr>
        </p:nvSpPr>
        <p:spPr/>
        <p:txBody>
          <a:bodyPr/>
          <a:lstStyle/>
          <a:p>
            <a:fld id="{18BDFEC3-8487-43E8-A154-7C12CBC1FFF2}" type="slidenum">
              <a:rPr lang="en-US"/>
              <a:t>47</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Images can also be inserted with links embedded in them. This allows readers to click and explore more details (for example, linking a screenshot to a website or dataset). This helps keep documents concise while still offering extra resources for those who want them. Having a caption in this case is not necessary but recommended to provide context for what link is attached to the image.</a:t>
            </a:r>
          </a:p>
        </p:txBody>
      </p:sp>
      <p:sp>
        <p:nvSpPr>
          <p:cNvPr id="4" name="Slide Number Placeholder 3"/>
          <p:cNvSpPr>
            <a:spLocks noGrp="1"/>
          </p:cNvSpPr>
          <p:nvPr>
            <p:ph type="sldNum" sz="quarter" idx="10"/>
          </p:nvPr>
        </p:nvSpPr>
        <p:spPr/>
        <p:txBody>
          <a:bodyPr/>
          <a:lstStyle/>
          <a:p>
            <a:fld id="{18BDFEC3-8487-43E8-A154-7C12CBC1FFF2}" type="slidenum">
              <a:rPr lang="en-US"/>
              <a:t>48</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For this task, click the link and the image will automatically download. The text inside the square brackets is the caption, and the text inside the parentheses is the path to the image file. Reminder that the path tells Quarto where to look for the image on your deivce. If your image is saved directly in the same folder as your .qmd file, you only need the file name. If it’s in a subfolder, include the folder name in the path.</a:t>
            </a:r>
          </a:p>
          <a:p>
            <a:pPr lvl="0" indent="0" marL="0">
              <a:buNone/>
            </a:pPr>
          </a:p>
          <a:p>
            <a:pPr lvl="0" indent="0" marL="0">
              <a:buNone/>
            </a:pPr>
            <a:r>
              <a:rPr b="1"/>
              <a:t>Instructor Notes</a:t>
            </a:r>
            <a:r>
              <a:rPr/>
              <a:t>: The aims are to reinforce how to add images, insert captions, and how paths work. Setting the path can be tricky depending on where the files are located. It’s a good practice to save these files in the same main folder as your Quarto document files (ideally in a dedicated subfolder named “images” to keep paths organized and easy to manage). If students saved and placed their main folder earlier, then locating it should be easy. In the Task above, the text says “images/chickpic1.png” - this assumes the picture is saved in a folder called “images” in a main folder containing all the Quarto document files.</a:t>
            </a:r>
          </a:p>
        </p:txBody>
      </p:sp>
      <p:sp>
        <p:nvSpPr>
          <p:cNvPr id="4" name="Slide Number Placeholder 3"/>
          <p:cNvSpPr>
            <a:spLocks noGrp="1"/>
          </p:cNvSpPr>
          <p:nvPr>
            <p:ph type="sldNum" sz="quarter" idx="10"/>
          </p:nvPr>
        </p:nvSpPr>
        <p:spPr/>
        <p:txBody>
          <a:bodyPr/>
          <a:lstStyle/>
          <a:p>
            <a:fld id="{18BDFEC3-8487-43E8-A154-7C12CBC1FFF2}" type="slidenum">
              <a:rPr lang="en-US"/>
              <a:t>49</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Zotero is a reference manager that helps you collect and organize research articles, books, and other sources. When you connect Zotero to Quarto, you can easily insert citations while writing and then automatically generate a reference list at the end. This saves time and reduces errors compared to typing citations manually.</a:t>
            </a:r>
          </a:p>
          <a:p>
            <a:pPr lvl="0" indent="0" marL="0">
              <a:buNone/>
            </a:pPr>
          </a:p>
          <a:p>
            <a:pPr lvl="0" indent="0" marL="0">
              <a:buNone/>
            </a:pPr>
            <a:r>
              <a:rPr b="1"/>
              <a:t>Instructor Notes</a:t>
            </a:r>
            <a:r>
              <a:rPr/>
              <a:t>: If applicable, sign post the materials for Zotero to your learners.</a:t>
            </a:r>
          </a:p>
        </p:txBody>
      </p:sp>
      <p:sp>
        <p:nvSpPr>
          <p:cNvPr id="4" name="Slide Number Placeholder 3"/>
          <p:cNvSpPr>
            <a:spLocks noGrp="1"/>
          </p:cNvSpPr>
          <p:nvPr>
            <p:ph type="sldNum" sz="quarter" idx="10"/>
          </p:nvPr>
        </p:nvSpPr>
        <p:spPr/>
        <p:txBody>
          <a:bodyPr/>
          <a:lstStyle/>
          <a:p>
            <a:fld id="{18BDFEC3-8487-43E8-A154-7C12CBC1FFF2}" type="slidenum">
              <a:rPr lang="en-US"/>
              <a:t>50</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add citations in Quarto, you’ll need Zotero installed on your device. Then, in RStudio, switch to the Visual Editor, which makes citation insertion easier. Simply go to the toolbar, click Insert → Citation, and you’ll be able to search your Zotero library directly. Once you add citations in the text, </a:t>
            </a:r>
            <a:r>
              <a:rPr>
                <a:latin typeface="Courier"/>
              </a:rPr>
              <a:t>bibliography: references.bib</a:t>
            </a:r>
            <a:r>
              <a:rPr/>
              <a:t> will be added to the YAML header and Quarto will automatically generate a reference list or bibliography at the end of the document. This means that you do not have to format it manually.</a:t>
            </a:r>
          </a:p>
        </p:txBody>
      </p:sp>
      <p:sp>
        <p:nvSpPr>
          <p:cNvPr id="4" name="Slide Number Placeholder 3"/>
          <p:cNvSpPr>
            <a:spLocks noGrp="1"/>
          </p:cNvSpPr>
          <p:nvPr>
            <p:ph type="sldNum" sz="quarter" idx="10"/>
          </p:nvPr>
        </p:nvSpPr>
        <p:spPr/>
        <p:txBody>
          <a:bodyPr/>
          <a:lstStyle/>
          <a:p>
            <a:fld id="{18BDFEC3-8487-43E8-A154-7C12CBC1FFF2}" type="slidenum">
              <a:rPr lang="en-US"/>
              <a:t>52</a:t>
            </a:fld>
            <a:endParaRPr lang="en-US"/>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When you click “My Library,” it mirrors what folders you’ve created in Zotero Library. This helps you navigate to the folder where the citation is stored. After inserting a citation once, you see what citation key is assigned to it for easier referencing later in the text. The way the citation key is written is different for regular and in-text citations.</a:t>
            </a:r>
          </a:p>
          <a:p>
            <a:pPr lvl="0" indent="0" marL="0">
              <a:buNone/>
            </a:pPr>
          </a:p>
          <a:p>
            <a:pPr lvl="0" indent="0" marL="0">
              <a:buNone/>
            </a:pPr>
            <a:r>
              <a:rPr b="1"/>
              <a:t>Instructor Note</a:t>
            </a:r>
            <a:r>
              <a:rPr/>
              <a:t>: The Zotero program does not need to be open on the device for the “Zotero” option to show up in RStudio. But if it’s not appearing like it does in the image, opening the program on the device may help.</a:t>
            </a:r>
          </a:p>
        </p:txBody>
      </p:sp>
      <p:sp>
        <p:nvSpPr>
          <p:cNvPr id="4" name="Slide Number Placeholder 3"/>
          <p:cNvSpPr>
            <a:spLocks noGrp="1"/>
          </p:cNvSpPr>
          <p:nvPr>
            <p:ph type="sldNum" sz="quarter" idx="10"/>
          </p:nvPr>
        </p:nvSpPr>
        <p:spPr/>
        <p:txBody>
          <a:bodyPr/>
          <a:lstStyle/>
          <a:p>
            <a:fld id="{18BDFEC3-8487-43E8-A154-7C12CBC1FFF2}" type="slidenum">
              <a:rPr lang="en-US"/>
              <a:t>53</a:t>
            </a:fld>
            <a:endParaRPr lang="en-US"/>
          </a:p>
        </p:txBody>
      </p:sp>
    </p:spTree>
  </p:cSld>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use Zotero with RStudio to insert citations in our Quarto document and generate a bibliography, this simplifies the referencing process. Follow these steps to add a citation to your Zotero library and add some information extracted from it to your Quarto document.</a:t>
            </a:r>
          </a:p>
          <a:p>
            <a:pPr lvl="0" indent="0" marL="0">
              <a:buNone/>
            </a:pPr>
          </a:p>
          <a:p>
            <a:pPr lvl="0" indent="0" marL="0">
              <a:buNone/>
            </a:pPr>
            <a:r>
              <a:rPr/>
              <a:t>There are several ways to add a citation to your Zotero library but an easy way is using the ‘magic wand’ (adding the item by its identifier). Here, you can just copy and paste the DOI of the study, hit Enter, and it will be added to Zotero.</a:t>
            </a:r>
          </a:p>
          <a:p>
            <a:pPr lvl="0" indent="0" marL="0">
              <a:buNone/>
            </a:pPr>
          </a:p>
          <a:p>
            <a:pPr lvl="0" indent="0" marL="0">
              <a:buNone/>
            </a:pPr>
            <a:r>
              <a:rPr/>
              <a:t>After adding the citation to your Library in Zotero, copy the text provided and place it in your Quarto document. Wherever the cursor is when you click “Insert” is where the citation will be placed. So, have the cursor at the end of the sentence.</a:t>
            </a:r>
          </a:p>
          <a:p>
            <a:pPr lvl="0" indent="0" marL="0">
              <a:buNone/>
            </a:pPr>
          </a:p>
          <a:p>
            <a:pPr lvl="0" indent="0" marL="0">
              <a:buNone/>
            </a:pPr>
            <a:r>
              <a:rPr b="1"/>
              <a:t>Instructor Notes</a:t>
            </a:r>
            <a:r>
              <a:rPr/>
              <a:t>: The DOIs of the articles in these tasks will be clearly visible so the ‘magic wand’ method for adding citations in Zotero is recommended.</a:t>
            </a:r>
          </a:p>
          <a:p>
            <a:pPr lvl="0" indent="0" marL="0">
              <a:buNone/>
            </a:pPr>
          </a:p>
          <a:p>
            <a:pPr lvl="0" indent="0" marL="0">
              <a:buNone/>
            </a:pPr>
            <a:r>
              <a:rPr/>
              <a:t>With the addition of </a:t>
            </a:r>
            <a:r>
              <a:rPr>
                <a:latin typeface="Courier"/>
              </a:rPr>
              <a:t>bibliography: references.bib</a:t>
            </a:r>
            <a:r>
              <a:rPr/>
              <a:t>, the new YAML header will look like this:</a:t>
            </a:r>
          </a:p>
          <a:p>
            <a:pPr lvl="0" indent="0" marL="0">
              <a:buNone/>
            </a:pPr>
          </a:p>
          <a:p>
            <a:pPr lvl="0" indent="0">
              <a:buNone/>
            </a:pPr>
            <a:r>
              <a:rPr>
                <a:solidFill>
                  <a:srgbClr val="AD0000"/>
                </a:solidFill>
                <a:latin typeface="Courier"/>
              </a:rPr>
              <a:t>---</a:t>
            </a:r>
            <a:br/>
            <a:r>
              <a:rPr>
                <a:solidFill>
                  <a:srgbClr val="4758AB"/>
                </a:solidFill>
                <a:latin typeface="Courier"/>
              </a:rPr>
              <a:t>title</a:t>
            </a:r>
            <a:r>
              <a:rPr b="1">
                <a:solidFill>
                  <a:srgbClr val="003B4F"/>
                </a:solidFill>
                <a:latin typeface="Courier"/>
              </a:rPr>
              <a:t>:</a:t>
            </a:r>
            <a:r>
              <a:rPr>
                <a:solidFill>
                  <a:srgbClr val="657422"/>
                </a:solidFill>
                <a:latin typeface="Courier"/>
              </a:rPr>
              <a:t> </a:t>
            </a:r>
            <a:r>
              <a:rPr>
                <a:solidFill>
                  <a:srgbClr val="20794D"/>
                </a:solidFill>
                <a:latin typeface="Courier"/>
              </a:rPr>
              <a:t>"ChickWeight Analysis"</a:t>
            </a:r>
            <a:br/>
            <a:r>
              <a:rPr>
                <a:solidFill>
                  <a:srgbClr val="4758AB"/>
                </a:solidFill>
                <a:latin typeface="Courier"/>
              </a:rPr>
              <a:t>author</a:t>
            </a:r>
            <a:r>
              <a:rPr b="1">
                <a:solidFill>
                  <a:srgbClr val="003B4F"/>
                </a:solidFill>
                <a:latin typeface="Courier"/>
              </a:rPr>
              <a:t>:</a:t>
            </a:r>
            <a:r>
              <a:rPr>
                <a:solidFill>
                  <a:srgbClr val="657422"/>
                </a:solidFill>
                <a:latin typeface="Courier"/>
              </a:rPr>
              <a:t> </a:t>
            </a:r>
            <a:r>
              <a:rPr>
                <a:solidFill>
                  <a:srgbClr val="20794D"/>
                </a:solidFill>
                <a:latin typeface="Courier"/>
              </a:rPr>
              <a:t>"Your Name"</a:t>
            </a:r>
            <a:br/>
            <a:r>
              <a:rPr>
                <a:solidFill>
                  <a:srgbClr val="4758AB"/>
                </a:solidFill>
                <a:latin typeface="Courier"/>
              </a:rPr>
              <a:t>format</a:t>
            </a:r>
            <a:r>
              <a:rPr b="1">
                <a:solidFill>
                  <a:srgbClr val="003B4F"/>
                </a:solidFill>
                <a:latin typeface="Courier"/>
              </a:rPr>
              <a:t>:</a:t>
            </a:r>
            <a:br/>
            <a:r>
              <a:rPr>
                <a:solidFill>
                  <a:srgbClr val="657422"/>
                </a:solidFill>
                <a:latin typeface="Courier"/>
              </a:rPr>
              <a:t>  </a:t>
            </a:r>
            <a:r>
              <a:rPr>
                <a:solidFill>
                  <a:srgbClr val="4758AB"/>
                </a:solidFill>
                <a:latin typeface="Courier"/>
              </a:rPr>
              <a:t>html</a:t>
            </a:r>
            <a:r>
              <a:rPr b="1">
                <a:solidFill>
                  <a:srgbClr val="003B4F"/>
                </a:solidFill>
                <a:latin typeface="Courier"/>
              </a:rPr>
              <a:t>:</a:t>
            </a:r>
            <a:br/>
            <a:r>
              <a:rPr>
                <a:solidFill>
                  <a:srgbClr val="657422"/>
                </a:solidFill>
                <a:latin typeface="Courier"/>
              </a:rPr>
              <a:t>    </a:t>
            </a:r>
            <a:r>
              <a:rPr>
                <a:solidFill>
                  <a:srgbClr val="4758AB"/>
                </a:solidFill>
                <a:latin typeface="Courier"/>
              </a:rPr>
              <a:t>code-fold</a:t>
            </a:r>
            <a:r>
              <a:rPr b="1">
                <a:solidFill>
                  <a:srgbClr val="003B4F"/>
                </a:solidFill>
                <a:latin typeface="Courier"/>
              </a:rPr>
              <a:t>:</a:t>
            </a:r>
            <a:r>
              <a:rPr>
                <a:solidFill>
                  <a:srgbClr val="657422"/>
                </a:solidFill>
                <a:latin typeface="Courier"/>
              </a:rPr>
              <a:t> </a:t>
            </a:r>
            <a:r>
              <a:rPr>
                <a:solidFill>
                  <a:srgbClr val="20794D"/>
                </a:solidFill>
                <a:latin typeface="Courier"/>
              </a:rPr>
              <a:t>true</a:t>
            </a:r>
            <a:br/>
            <a:r>
              <a:rPr>
                <a:solidFill>
                  <a:srgbClr val="657422"/>
                </a:solidFill>
                <a:latin typeface="Courier"/>
              </a:rPr>
              <a:t>    </a:t>
            </a:r>
            <a:r>
              <a:rPr>
                <a:solidFill>
                  <a:srgbClr val="4758AB"/>
                </a:solidFill>
                <a:latin typeface="Courier"/>
              </a:rPr>
              <a:t>code-tools</a:t>
            </a:r>
            <a:r>
              <a:rPr b="1">
                <a:solidFill>
                  <a:srgbClr val="003B4F"/>
                </a:solidFill>
                <a:latin typeface="Courier"/>
              </a:rPr>
              <a:t>:</a:t>
            </a:r>
            <a:r>
              <a:rPr>
                <a:solidFill>
                  <a:srgbClr val="657422"/>
                </a:solidFill>
                <a:latin typeface="Courier"/>
              </a:rPr>
              <a:t> </a:t>
            </a:r>
            <a:r>
              <a:rPr>
                <a:solidFill>
                  <a:srgbClr val="20794D"/>
                </a:solidFill>
                <a:latin typeface="Courier"/>
              </a:rPr>
              <a:t>true</a:t>
            </a:r>
            <a:br/>
            <a:r>
              <a:rPr>
                <a:solidFill>
                  <a:srgbClr val="657422"/>
                </a:solidFill>
                <a:latin typeface="Courier"/>
              </a:rPr>
              <a:t>    </a:t>
            </a:r>
            <a:r>
              <a:rPr>
                <a:solidFill>
                  <a:srgbClr val="4758AB"/>
                </a:solidFill>
                <a:latin typeface="Courier"/>
              </a:rPr>
              <a:t>toc</a:t>
            </a:r>
            <a:r>
              <a:rPr b="1">
                <a:solidFill>
                  <a:srgbClr val="003B4F"/>
                </a:solidFill>
                <a:latin typeface="Courier"/>
              </a:rPr>
              <a:t>:</a:t>
            </a:r>
            <a:r>
              <a:rPr>
                <a:solidFill>
                  <a:srgbClr val="657422"/>
                </a:solidFill>
                <a:latin typeface="Courier"/>
              </a:rPr>
              <a:t> </a:t>
            </a:r>
            <a:r>
              <a:rPr>
                <a:solidFill>
                  <a:srgbClr val="20794D"/>
                </a:solidFill>
                <a:latin typeface="Courier"/>
              </a:rPr>
              <a:t>true</a:t>
            </a:r>
            <a:br/>
            <a:r>
              <a:rPr>
                <a:solidFill>
                  <a:srgbClr val="4758AB"/>
                </a:solidFill>
                <a:latin typeface="Courier"/>
              </a:rPr>
              <a:t>bibliography</a:t>
            </a:r>
            <a:r>
              <a:rPr b="1">
                <a:solidFill>
                  <a:srgbClr val="003B4F"/>
                </a:solidFill>
                <a:latin typeface="Courier"/>
              </a:rPr>
              <a:t>:</a:t>
            </a:r>
            <a:r>
              <a:rPr>
                <a:solidFill>
                  <a:srgbClr val="657422"/>
                </a:solidFill>
                <a:latin typeface="Courier"/>
              </a:rPr>
              <a:t> references.bib</a:t>
            </a:r>
            <a:br/>
            <a:r>
              <a:rPr>
                <a:solidFill>
                  <a:srgbClr val="AD0000"/>
                </a:solidFill>
                <a:latin typeface="Courier"/>
              </a:rPr>
              <a:t>---</a:t>
            </a:r>
          </a:p>
        </p:txBody>
      </p:sp>
      <p:sp>
        <p:nvSpPr>
          <p:cNvPr id="4" name="Slide Number Placeholder 3"/>
          <p:cNvSpPr>
            <a:spLocks noGrp="1"/>
          </p:cNvSpPr>
          <p:nvPr>
            <p:ph type="sldNum" sz="quarter" idx="10"/>
          </p:nvPr>
        </p:nvSpPr>
        <p:spPr/>
        <p:txBody>
          <a:bodyPr/>
          <a:lstStyle/>
          <a:p>
            <a:fld id="{18BDFEC3-8487-43E8-A154-7C12CBC1FFF2}" type="slidenum">
              <a:rPr lang="en-US"/>
              <a:t>54</a:t>
            </a:fld>
            <a:endParaRPr lang="en-US"/>
          </a:p>
        </p:txBody>
      </p:sp>
    </p:spTree>
  </p:cSld>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Follow these steps to add the citation to the end of the text. It is possible to add citations in Source mode, but it is easier and more efficient to do it in Visual mode. This is also a good opportunity to see all the work you’ve done so far in the Quarto document but now in Visual mode. Cick “Insert” and then “Citations”. You will see your Zotero library in the side panel. Here, you can select the citation you want to add and then click “Insert”</a:t>
            </a:r>
          </a:p>
        </p:txBody>
      </p:sp>
      <p:sp>
        <p:nvSpPr>
          <p:cNvPr id="4" name="Slide Number Placeholder 3"/>
          <p:cNvSpPr>
            <a:spLocks noGrp="1"/>
          </p:cNvSpPr>
          <p:nvPr>
            <p:ph type="sldNum" sz="quarter" idx="10"/>
          </p:nvPr>
        </p:nvSpPr>
        <p:spPr/>
        <p:txBody>
          <a:bodyPr/>
          <a:lstStyle/>
          <a:p>
            <a:fld id="{18BDFEC3-8487-43E8-A154-7C12CBC1FFF2}" type="slidenum">
              <a:rPr lang="en-US"/>
              <a:t>55</a:t>
            </a:fld>
            <a:endParaRPr lang="en-US"/>
          </a:p>
        </p:txBody>
      </p:sp>
    </p:spTree>
  </p:cSld>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Follow these steps to place an in-text citation at the beginning of the sentence. This is another article, so you will have to follow this new link and add it to your Zotero library.</a:t>
            </a:r>
          </a:p>
          <a:p>
            <a:pPr lvl="0" indent="0" marL="0">
              <a:buNone/>
            </a:pPr>
          </a:p>
          <a:p>
            <a:pPr lvl="0"/>
            <a:r>
              <a:rPr/>
              <a:t>In-text citation is a short reference within the sentence itself that points to the full source that you’re citing.</a:t>
            </a:r>
          </a:p>
        </p:txBody>
      </p:sp>
      <p:sp>
        <p:nvSpPr>
          <p:cNvPr id="4" name="Slide Number Placeholder 3"/>
          <p:cNvSpPr>
            <a:spLocks noGrp="1"/>
          </p:cNvSpPr>
          <p:nvPr>
            <p:ph type="sldNum" sz="quarter" idx="10"/>
          </p:nvPr>
        </p:nvSpPr>
        <p:spPr/>
        <p:txBody>
          <a:bodyPr/>
          <a:lstStyle/>
          <a:p>
            <a:fld id="{18BDFEC3-8487-43E8-A154-7C12CBC1FFF2}" type="slidenum">
              <a:rPr lang="en-US"/>
              <a:t>56</a:t>
            </a:fld>
            <a:endParaRPr lang="en-US"/>
          </a:p>
        </p:txBody>
      </p:sp>
    </p:spTree>
  </p:cSld>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steps to add an in-text citation is almost identical to adding a regular citation with an additional step of checking the “In-text” box before inserting the citation.</a:t>
            </a:r>
          </a:p>
        </p:txBody>
      </p:sp>
      <p:sp>
        <p:nvSpPr>
          <p:cNvPr id="4" name="Slide Number Placeholder 3"/>
          <p:cNvSpPr>
            <a:spLocks noGrp="1"/>
          </p:cNvSpPr>
          <p:nvPr>
            <p:ph type="sldNum" sz="quarter" idx="10"/>
          </p:nvPr>
        </p:nvSpPr>
        <p:spPr/>
        <p:txBody>
          <a:bodyPr/>
          <a:lstStyle/>
          <a:p>
            <a:fld id="{18BDFEC3-8487-43E8-A154-7C12CBC1FFF2}" type="slidenum">
              <a:rPr lang="en-US"/>
              <a:t>58</a:t>
            </a:fld>
            <a:endParaRPr lang="en-US"/>
          </a:p>
        </p:txBody>
      </p:sp>
    </p:spTree>
  </p:cSld>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When you render, you should have three new elements in your Quarto website: a citation, an in-text citation, and a reference list or bibliography at the end. As you can see, Quarto does most of the heavy lifting as long as you insert citations correctly and the bibliography builds automatically. Also, if you ever need to follow a specific format, like APA or Chicago, you can easily change the citation style by adding a CSL file in your YAML. It can be a link directly to the Zotero website or archive.</a:t>
            </a:r>
          </a:p>
        </p:txBody>
      </p:sp>
      <p:sp>
        <p:nvSpPr>
          <p:cNvPr id="4" name="Slide Number Placeholder 3"/>
          <p:cNvSpPr>
            <a:spLocks noGrp="1"/>
          </p:cNvSpPr>
          <p:nvPr>
            <p:ph type="sldNum" sz="quarter" idx="10"/>
          </p:nvPr>
        </p:nvSpPr>
        <p:spPr/>
        <p:txBody>
          <a:bodyPr/>
          <a:lstStyle/>
          <a:p>
            <a:fld id="{18BDFEC3-8487-43E8-A154-7C12CBC1FFF2}" type="slidenum">
              <a:rPr lang="en-US"/>
              <a:t>61</a:t>
            </a:fld>
            <a:endParaRPr lang="en-US"/>
          </a:p>
        </p:txBody>
      </p:sp>
    </p:spTree>
  </p:cSld>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Publishing in Quarto is all about making your work accessible to others. Once you have created and rendered your document, you can share it online so that collaborators, students, or the wider community can view it. Quarto supports multiple publishing options, including GitHub Pages, your own personal website or Quarto Pub.</a:t>
            </a:r>
          </a:p>
          <a:p>
            <a:pPr lvl="0" indent="0" marL="0">
              <a:buNone/>
            </a:pPr>
          </a:p>
          <a:p>
            <a:pPr lvl="0" indent="0" marL="0">
              <a:buNone/>
            </a:pPr>
            <a:r>
              <a:rPr b="1"/>
              <a:t>Instructor Notes</a:t>
            </a:r>
            <a:r>
              <a:rPr/>
              <a:t>: Keep in mind that the key takeaway here is publishing turns your local work into something that can be accessed from anywhere.</a:t>
            </a:r>
          </a:p>
          <a:p>
            <a:pPr lvl="0" indent="0" marL="0">
              <a:buNone/>
            </a:pPr>
          </a:p>
          <a:p>
            <a:pPr lvl="0" indent="0" marL="0">
              <a:buNone/>
            </a:pPr>
            <a:r>
              <a:rPr/>
              <a:t>What is Quarto Pub? It’s is a free publishing service for content created with Quarto.</a:t>
            </a:r>
          </a:p>
        </p:txBody>
      </p:sp>
      <p:sp>
        <p:nvSpPr>
          <p:cNvPr id="4" name="Slide Number Placeholder 3"/>
          <p:cNvSpPr>
            <a:spLocks noGrp="1"/>
          </p:cNvSpPr>
          <p:nvPr>
            <p:ph type="sldNum" sz="quarter" idx="10"/>
          </p:nvPr>
        </p:nvSpPr>
        <p:spPr/>
        <p:txBody>
          <a:bodyPr/>
          <a:lstStyle/>
          <a:p>
            <a:fld id="{18BDFEC3-8487-43E8-A154-7C12CBC1FFF2}" type="slidenum">
              <a:rPr lang="en-US"/>
              <a:t>62</a:t>
            </a:fld>
            <a:endParaRPr lang="en-US"/>
          </a:p>
        </p:txBody>
      </p:sp>
    </p:spTree>
  </p:cSld>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As practitioners of open research, sharing your work is more than just making it available. It’s also about being responsible and following certain standards. There are legal aspects of sharing that we should consider such as:</a:t>
            </a:r>
          </a:p>
          <a:p>
            <a:pPr lvl="0" indent="0" marL="0">
              <a:buNone/>
            </a:pPr>
          </a:p>
          <a:p>
            <a:pPr lvl="0"/>
            <a:r>
              <a:rPr/>
              <a:t>Licenses that define how other may use your work</a:t>
            </a:r>
          </a:p>
          <a:p>
            <a:pPr lvl="0" indent="0" marL="0">
              <a:buNone/>
            </a:pPr>
          </a:p>
          <a:p>
            <a:pPr lvl="0"/>
            <a:r>
              <a:rPr/>
              <a:t>The importance of archiving to preserve your work in the long run</a:t>
            </a:r>
          </a:p>
          <a:p>
            <a:pPr lvl="0" indent="0" marL="0">
              <a:buNone/>
            </a:pPr>
          </a:p>
          <a:p>
            <a:pPr lvl="0"/>
            <a:r>
              <a:rPr/>
              <a:t>Established best practices to make sure our research remains credible and reusable</a:t>
            </a:r>
          </a:p>
          <a:p>
            <a:pPr lvl="0" indent="0" marL="0">
              <a:buNone/>
            </a:pPr>
          </a:p>
          <a:p>
            <a:pPr lvl="0" indent="0" marL="0">
              <a:buNone/>
            </a:pPr>
            <a:r>
              <a:rPr b="1"/>
              <a:t>Instructor Notes</a:t>
            </a:r>
            <a:r>
              <a:rPr/>
              <a:t>: Aim: To inform learners that open science involves thoughtful practices. In this case, sharing should be done with legality, licenses, and reusability in mind. We will not practice this in the session but it is good to know moving forward.</a:t>
            </a:r>
          </a:p>
        </p:txBody>
      </p:sp>
      <p:sp>
        <p:nvSpPr>
          <p:cNvPr id="4" name="Slide Number Placeholder 3"/>
          <p:cNvSpPr>
            <a:spLocks noGrp="1"/>
          </p:cNvSpPr>
          <p:nvPr>
            <p:ph type="sldNum" sz="quarter" idx="10"/>
          </p:nvPr>
        </p:nvSpPr>
        <p:spPr/>
        <p:txBody>
          <a:bodyPr/>
          <a:lstStyle/>
          <a:p>
            <a:fld id="{18BDFEC3-8487-43E8-A154-7C12CBC1FFF2}" type="slidenum">
              <a:rPr lang="en-US"/>
              <a:t>63</a:t>
            </a:fld>
            <a:endParaRPr lang="en-US"/>
          </a:p>
        </p:txBody>
      </p:sp>
    </p:spTree>
  </p:cSld>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GitHub is one of the most common platforms for sharing code and documents. One of its biggest advantages is version control, which means you can track every change made to your files and even go back to earlier versions if needed. For Quarto, publishing to GitHub is a great option because it’s free, widely used, and makes your work easily accessible to others. The simplest way is through GitHub Pages, which lets you turn your Quarto document into a live website that anyone can access.</a:t>
            </a:r>
          </a:p>
          <a:p>
            <a:pPr lvl="0" indent="0" marL="0">
              <a:buNone/>
            </a:pPr>
          </a:p>
          <a:p>
            <a:pPr lvl="0" indent="0" marL="0">
              <a:buNone/>
            </a:pPr>
            <a:r>
              <a:rPr b="1"/>
              <a:t>Instructor Notes</a:t>
            </a:r>
            <a:r>
              <a:rPr/>
              <a:t>: If applicable, sign post the materials for Git and GitHub to your learners.</a:t>
            </a:r>
          </a:p>
        </p:txBody>
      </p:sp>
      <p:sp>
        <p:nvSpPr>
          <p:cNvPr id="4" name="Slide Number Placeholder 3"/>
          <p:cNvSpPr>
            <a:spLocks noGrp="1"/>
          </p:cNvSpPr>
          <p:nvPr>
            <p:ph type="sldNum" sz="quarter" idx="10"/>
          </p:nvPr>
        </p:nvSpPr>
        <p:spPr/>
        <p:txBody>
          <a:bodyPr/>
          <a:lstStyle/>
          <a:p>
            <a:fld id="{18BDFEC3-8487-43E8-A154-7C12CBC1FFF2}" type="slidenum">
              <a:rPr lang="en-US"/>
              <a:t>64</a:t>
            </a:fld>
            <a:endParaRPr lang="en-US"/>
          </a:p>
        </p:txBody>
      </p:sp>
    </p:spTree>
  </p:cSld>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GitHub Pages makes it possible to publish Quarto content as a live website, directly from your GitHub repository. There are three main ways to do this:</a:t>
            </a:r>
          </a:p>
          <a:p>
            <a:pPr lvl="0" indent="0" marL="0">
              <a:buNone/>
            </a:pPr>
          </a:p>
          <a:p>
            <a:pPr lvl="0"/>
            <a:r>
              <a:rPr/>
              <a:t>The simplest way is to render your document to a “docs” folder and commit it to your repository. GitHub Pages can then serve those files as a website. “Docs” here is a folder in your project where you put the files that should be published as a website.</a:t>
            </a:r>
          </a:p>
          <a:p>
            <a:pPr lvl="0" indent="0" marL="0">
              <a:buNone/>
            </a:pPr>
          </a:p>
          <a:p>
            <a:pPr lvl="0"/>
            <a:r>
              <a:rPr/>
              <a:t>You can also use the quarto publish command, which pushes your rendered site to GitHub Pages automatically.</a:t>
            </a:r>
          </a:p>
          <a:p>
            <a:pPr lvl="0" indent="0" marL="0">
              <a:buNone/>
            </a:pPr>
          </a:p>
          <a:p>
            <a:pPr lvl="1"/>
            <a:r>
              <a:rPr/>
              <a:t>For a more advanced setup, you can use GitHub Actions so that every time you push changes to your repository, the site automatically re-renders and updates online.</a:t>
            </a:r>
          </a:p>
          <a:p>
            <a:pPr lvl="0" indent="0" marL="0">
              <a:buNone/>
            </a:pPr>
          </a:p>
          <a:p>
            <a:pPr lvl="0"/>
            <a:r>
              <a:rPr/>
              <a:t>Whichever method you use depends on how automated you want the process to be.</a:t>
            </a:r>
          </a:p>
        </p:txBody>
      </p:sp>
      <p:sp>
        <p:nvSpPr>
          <p:cNvPr id="4" name="Slide Number Placeholder 3"/>
          <p:cNvSpPr>
            <a:spLocks noGrp="1"/>
          </p:cNvSpPr>
          <p:nvPr>
            <p:ph type="sldNum" sz="quarter" idx="10"/>
          </p:nvPr>
        </p:nvSpPr>
        <p:spPr/>
        <p:txBody>
          <a:bodyPr/>
          <a:lstStyle/>
          <a:p>
            <a:fld id="{18BDFEC3-8487-43E8-A154-7C12CBC1FFF2}" type="slidenum">
              <a:rPr lang="en-US"/>
              <a:t>65</a:t>
            </a:fld>
            <a:endParaRPr lang="en-US"/>
          </a:p>
        </p:txBody>
      </p:sp>
    </p:spTree>
  </p:cSld>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For this lesson, we will publish our completed Quarto document with all the additions we’ve made to Git Pages using the “Render to docs” method.</a:t>
            </a:r>
          </a:p>
        </p:txBody>
      </p:sp>
      <p:sp>
        <p:nvSpPr>
          <p:cNvPr id="4" name="Slide Number Placeholder 3"/>
          <p:cNvSpPr>
            <a:spLocks noGrp="1"/>
          </p:cNvSpPr>
          <p:nvPr>
            <p:ph type="sldNum" sz="quarter" idx="10"/>
          </p:nvPr>
        </p:nvSpPr>
        <p:spPr/>
        <p:txBody>
          <a:bodyPr/>
          <a:lstStyle/>
          <a:p>
            <a:fld id="{18BDFEC3-8487-43E8-A154-7C12CBC1FFF2}" type="slidenum">
              <a:rPr lang="en-US"/>
              <a:t>66</a:t>
            </a:fld>
            <a:endParaRPr lang="en-US"/>
          </a:p>
        </p:txBody>
      </p:sp>
    </p:spTree>
  </p:cSld>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When publishing to GitHub, we’ll often work directly in the Terminal in RStudio. To use Git Bash, which is a command-line tool for running Git commands typically on Windows devices, directly inside RStudio: go to “Terminal” then “Terminal Options”, and under “New terminals open with”, select Git Bash. Then, when you click “Terminal” then click “New Terminal”, it will open Git Bash automatically, ready for you to start working. This setup keeps everything in one place so you don’t need to switch between RStudio and an external terminal.</a:t>
            </a:r>
          </a:p>
          <a:p>
            <a:pPr lvl="0" indent="0" marL="0">
              <a:buNone/>
            </a:pPr>
          </a:p>
          <a:p>
            <a:pPr lvl="0" indent="0" marL="0">
              <a:buNone/>
            </a:pPr>
            <a:r>
              <a:rPr/>
              <a:t>On macOS and Linux, RStudio already opens a compatible terminal, so Git works without any additional setup.</a:t>
            </a:r>
          </a:p>
          <a:p>
            <a:pPr lvl="0" indent="0" marL="0">
              <a:buNone/>
            </a:pPr>
          </a:p>
          <a:p>
            <a:pPr lvl="0" indent="0" marL="0">
              <a:buNone/>
            </a:pPr>
            <a:r>
              <a:rPr b="1"/>
              <a:t>Instructor Notes</a:t>
            </a:r>
            <a:r>
              <a:rPr/>
              <a:t>: Git Bash needs to be installed on the learners’ device for this to work. When you click the drop-down arrow by Terminal, the options may look different than what’s in the image in this slide, but the “Terminal Options…” will be at the end (you may have to scroll a bit). The last step (open a new Terminal) is important because the current Terminal does not automatically change to Git Bash.</a:t>
            </a:r>
          </a:p>
        </p:txBody>
      </p:sp>
      <p:sp>
        <p:nvSpPr>
          <p:cNvPr id="4" name="Slide Number Placeholder 3"/>
          <p:cNvSpPr>
            <a:spLocks noGrp="1"/>
          </p:cNvSpPr>
          <p:nvPr>
            <p:ph type="sldNum" sz="quarter" idx="10"/>
          </p:nvPr>
        </p:nvSpPr>
        <p:spPr/>
        <p:txBody>
          <a:bodyPr/>
          <a:lstStyle/>
          <a:p>
            <a:fld id="{18BDFEC3-8487-43E8-A154-7C12CBC1FFF2}" type="slidenum">
              <a:rPr lang="en-US"/>
              <a:t>68</a:t>
            </a:fld>
            <a:endParaRPr lang="en-US"/>
          </a:p>
        </p:txBody>
      </p:sp>
    </p:spTree>
  </p:cSld>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this exercise, we are preparing our Quarto document for it to be published on GitHub Pages. First, edit the YAML header of your Quarto document to define it as a ‘website project’ and set the output to the ‘docs’ folder. This tells Quarto where to place the rendered files that GitHub Pages will serve. If necessary, set up your terminal in RStudio to use Git Bash by following the steps in the previous slide (Windows users). From this new Git-compatible Terminal, use the </a:t>
            </a:r>
            <a:r>
              <a:rPr>
                <a:latin typeface="Courier"/>
              </a:rPr>
              <a:t>cd</a:t>
            </a:r>
            <a:r>
              <a:rPr/>
              <a:t> command to change the directory to the main folder where your Quarto files are stored. This step makes sure any Git commands you run are applied in the right project folder.</a:t>
            </a:r>
          </a:p>
          <a:p>
            <a:pPr lvl="0" indent="0" marL="0">
              <a:buNone/>
            </a:pPr>
          </a:p>
          <a:p>
            <a:pPr lvl="0" indent="0" marL="0">
              <a:buNone/>
            </a:pPr>
            <a:r>
              <a:rPr b="1"/>
              <a:t>Instructor Notes</a:t>
            </a:r>
            <a:r>
              <a:rPr/>
              <a:t>: The new YAML header will look like this:</a:t>
            </a:r>
          </a:p>
          <a:p>
            <a:pPr lvl="0" indent="0" marL="0">
              <a:buNone/>
            </a:pPr>
          </a:p>
          <a:p>
            <a:pPr lvl="0" indent="0">
              <a:buNone/>
            </a:pPr>
            <a:r>
              <a:rPr>
                <a:solidFill>
                  <a:srgbClr val="AD0000"/>
                </a:solidFill>
                <a:latin typeface="Courier"/>
              </a:rPr>
              <a:t>---</a:t>
            </a:r>
            <a:br/>
            <a:r>
              <a:rPr>
                <a:solidFill>
                  <a:srgbClr val="4758AB"/>
                </a:solidFill>
                <a:latin typeface="Courier"/>
              </a:rPr>
              <a:t>title</a:t>
            </a:r>
            <a:r>
              <a:rPr b="1">
                <a:solidFill>
                  <a:srgbClr val="003B4F"/>
                </a:solidFill>
                <a:latin typeface="Courier"/>
              </a:rPr>
              <a:t>:</a:t>
            </a:r>
            <a:r>
              <a:rPr>
                <a:solidFill>
                  <a:srgbClr val="657422"/>
                </a:solidFill>
                <a:latin typeface="Courier"/>
              </a:rPr>
              <a:t> </a:t>
            </a:r>
            <a:r>
              <a:rPr>
                <a:solidFill>
                  <a:srgbClr val="20794D"/>
                </a:solidFill>
                <a:latin typeface="Courier"/>
              </a:rPr>
              <a:t>"ChickWeight Analysis"</a:t>
            </a:r>
            <a:br/>
            <a:r>
              <a:rPr>
                <a:solidFill>
                  <a:srgbClr val="4758AB"/>
                </a:solidFill>
                <a:latin typeface="Courier"/>
              </a:rPr>
              <a:t>author</a:t>
            </a:r>
            <a:r>
              <a:rPr b="1">
                <a:solidFill>
                  <a:srgbClr val="003B4F"/>
                </a:solidFill>
                <a:latin typeface="Courier"/>
              </a:rPr>
              <a:t>:</a:t>
            </a:r>
            <a:r>
              <a:rPr>
                <a:solidFill>
                  <a:srgbClr val="657422"/>
                </a:solidFill>
                <a:latin typeface="Courier"/>
              </a:rPr>
              <a:t> </a:t>
            </a:r>
            <a:r>
              <a:rPr>
                <a:solidFill>
                  <a:srgbClr val="20794D"/>
                </a:solidFill>
                <a:latin typeface="Courier"/>
              </a:rPr>
              <a:t>"Your Name"</a:t>
            </a:r>
            <a:br/>
            <a:r>
              <a:rPr>
                <a:solidFill>
                  <a:srgbClr val="4758AB"/>
                </a:solidFill>
                <a:latin typeface="Courier"/>
              </a:rPr>
              <a:t>format</a:t>
            </a:r>
            <a:r>
              <a:rPr b="1">
                <a:solidFill>
                  <a:srgbClr val="003B4F"/>
                </a:solidFill>
                <a:latin typeface="Courier"/>
              </a:rPr>
              <a:t>:</a:t>
            </a:r>
            <a:br/>
            <a:r>
              <a:rPr>
                <a:solidFill>
                  <a:srgbClr val="657422"/>
                </a:solidFill>
                <a:latin typeface="Courier"/>
              </a:rPr>
              <a:t>  </a:t>
            </a:r>
            <a:r>
              <a:rPr>
                <a:solidFill>
                  <a:srgbClr val="4758AB"/>
                </a:solidFill>
                <a:latin typeface="Courier"/>
              </a:rPr>
              <a:t>html</a:t>
            </a:r>
            <a:r>
              <a:rPr b="1">
                <a:solidFill>
                  <a:srgbClr val="003B4F"/>
                </a:solidFill>
                <a:latin typeface="Courier"/>
              </a:rPr>
              <a:t>:</a:t>
            </a:r>
            <a:br/>
            <a:r>
              <a:rPr>
                <a:solidFill>
                  <a:srgbClr val="657422"/>
                </a:solidFill>
                <a:latin typeface="Courier"/>
              </a:rPr>
              <a:t>    </a:t>
            </a:r>
            <a:r>
              <a:rPr>
                <a:solidFill>
                  <a:srgbClr val="4758AB"/>
                </a:solidFill>
                <a:latin typeface="Courier"/>
              </a:rPr>
              <a:t>code-fold</a:t>
            </a:r>
            <a:r>
              <a:rPr b="1">
                <a:solidFill>
                  <a:srgbClr val="003B4F"/>
                </a:solidFill>
                <a:latin typeface="Courier"/>
              </a:rPr>
              <a:t>:</a:t>
            </a:r>
            <a:r>
              <a:rPr>
                <a:solidFill>
                  <a:srgbClr val="657422"/>
                </a:solidFill>
                <a:latin typeface="Courier"/>
              </a:rPr>
              <a:t> </a:t>
            </a:r>
            <a:r>
              <a:rPr>
                <a:solidFill>
                  <a:srgbClr val="20794D"/>
                </a:solidFill>
                <a:latin typeface="Courier"/>
              </a:rPr>
              <a:t>true</a:t>
            </a:r>
            <a:br/>
            <a:r>
              <a:rPr>
                <a:solidFill>
                  <a:srgbClr val="657422"/>
                </a:solidFill>
                <a:latin typeface="Courier"/>
              </a:rPr>
              <a:t>    </a:t>
            </a:r>
            <a:r>
              <a:rPr>
                <a:solidFill>
                  <a:srgbClr val="4758AB"/>
                </a:solidFill>
                <a:latin typeface="Courier"/>
              </a:rPr>
              <a:t>code-tools</a:t>
            </a:r>
            <a:r>
              <a:rPr b="1">
                <a:solidFill>
                  <a:srgbClr val="003B4F"/>
                </a:solidFill>
                <a:latin typeface="Courier"/>
              </a:rPr>
              <a:t>:</a:t>
            </a:r>
            <a:r>
              <a:rPr>
                <a:solidFill>
                  <a:srgbClr val="657422"/>
                </a:solidFill>
                <a:latin typeface="Courier"/>
              </a:rPr>
              <a:t> </a:t>
            </a:r>
            <a:r>
              <a:rPr>
                <a:solidFill>
                  <a:srgbClr val="20794D"/>
                </a:solidFill>
                <a:latin typeface="Courier"/>
              </a:rPr>
              <a:t>true</a:t>
            </a:r>
            <a:br/>
            <a:r>
              <a:rPr>
                <a:solidFill>
                  <a:srgbClr val="657422"/>
                </a:solidFill>
                <a:latin typeface="Courier"/>
              </a:rPr>
              <a:t>    </a:t>
            </a:r>
            <a:r>
              <a:rPr>
                <a:solidFill>
                  <a:srgbClr val="4758AB"/>
                </a:solidFill>
                <a:latin typeface="Courier"/>
              </a:rPr>
              <a:t>toc</a:t>
            </a:r>
            <a:r>
              <a:rPr b="1">
                <a:solidFill>
                  <a:srgbClr val="003B4F"/>
                </a:solidFill>
                <a:latin typeface="Courier"/>
              </a:rPr>
              <a:t>:</a:t>
            </a:r>
            <a:r>
              <a:rPr>
                <a:solidFill>
                  <a:srgbClr val="657422"/>
                </a:solidFill>
                <a:latin typeface="Courier"/>
              </a:rPr>
              <a:t> </a:t>
            </a:r>
            <a:r>
              <a:rPr>
                <a:solidFill>
                  <a:srgbClr val="20794D"/>
                </a:solidFill>
                <a:latin typeface="Courier"/>
              </a:rPr>
              <a:t>true</a:t>
            </a:r>
            <a:br/>
            <a:r>
              <a:rPr>
                <a:solidFill>
                  <a:srgbClr val="4758AB"/>
                </a:solidFill>
                <a:latin typeface="Courier"/>
              </a:rPr>
              <a:t>bibliography</a:t>
            </a:r>
            <a:r>
              <a:rPr b="1">
                <a:solidFill>
                  <a:srgbClr val="003B4F"/>
                </a:solidFill>
                <a:latin typeface="Courier"/>
              </a:rPr>
              <a:t>:</a:t>
            </a:r>
            <a:r>
              <a:rPr>
                <a:solidFill>
                  <a:srgbClr val="657422"/>
                </a:solidFill>
                <a:latin typeface="Courier"/>
              </a:rPr>
              <a:t> references.bib</a:t>
            </a:r>
            <a:br/>
            <a:r>
              <a:rPr>
                <a:solidFill>
                  <a:srgbClr val="4758AB"/>
                </a:solidFill>
                <a:latin typeface="Courier"/>
              </a:rPr>
              <a:t>project</a:t>
            </a:r>
            <a:r>
              <a:rPr b="1">
                <a:solidFill>
                  <a:srgbClr val="003B4F"/>
                </a:solidFill>
                <a:latin typeface="Courier"/>
              </a:rPr>
              <a:t>:</a:t>
            </a:r>
            <a:br/>
            <a:r>
              <a:rPr>
                <a:solidFill>
                  <a:srgbClr val="657422"/>
                </a:solidFill>
                <a:latin typeface="Courier"/>
              </a:rPr>
              <a:t>  </a:t>
            </a:r>
            <a:r>
              <a:rPr>
                <a:solidFill>
                  <a:srgbClr val="4758AB"/>
                </a:solidFill>
                <a:latin typeface="Courier"/>
              </a:rPr>
              <a:t>type</a:t>
            </a:r>
            <a:r>
              <a:rPr b="1">
                <a:solidFill>
                  <a:srgbClr val="003B4F"/>
                </a:solidFill>
                <a:latin typeface="Courier"/>
              </a:rPr>
              <a:t>:</a:t>
            </a:r>
            <a:r>
              <a:rPr>
                <a:solidFill>
                  <a:srgbClr val="657422"/>
                </a:solidFill>
                <a:latin typeface="Courier"/>
              </a:rPr>
              <a:t> website</a:t>
            </a:r>
            <a:br/>
            <a:r>
              <a:rPr>
                <a:solidFill>
                  <a:srgbClr val="657422"/>
                </a:solidFill>
                <a:latin typeface="Courier"/>
              </a:rPr>
              <a:t>  </a:t>
            </a:r>
            <a:r>
              <a:rPr>
                <a:solidFill>
                  <a:srgbClr val="4758AB"/>
                </a:solidFill>
                <a:latin typeface="Courier"/>
              </a:rPr>
              <a:t>output-dir</a:t>
            </a:r>
            <a:r>
              <a:rPr b="1">
                <a:solidFill>
                  <a:srgbClr val="003B4F"/>
                </a:solidFill>
                <a:latin typeface="Courier"/>
              </a:rPr>
              <a:t>:</a:t>
            </a:r>
            <a:r>
              <a:rPr>
                <a:solidFill>
                  <a:srgbClr val="657422"/>
                </a:solidFill>
                <a:latin typeface="Courier"/>
              </a:rPr>
              <a:t> docs</a:t>
            </a:r>
            <a:br/>
            <a:r>
              <a:rPr>
                <a:solidFill>
                  <a:srgbClr val="AD0000"/>
                </a:solidFill>
                <a:latin typeface="Courier"/>
              </a:rPr>
              <a:t>---</a:t>
            </a:r>
          </a:p>
          <a:p>
            <a:pPr lvl="0" indent="0" marL="0">
              <a:buNone/>
            </a:pPr>
          </a:p>
          <a:p>
            <a:pPr lvl="0" indent="0" marL="0">
              <a:buNone/>
            </a:pPr>
            <a:r>
              <a:rPr/>
              <a:t>Some level of Git and Git Hub knowledge is assumed but here are some common issues that the students can run into:</a:t>
            </a:r>
          </a:p>
          <a:p>
            <a:pPr lvl="0" indent="0" marL="0">
              <a:buNone/>
            </a:pPr>
          </a:p>
          <a:p>
            <a:pPr lvl="0"/>
            <a:r>
              <a:rPr/>
              <a:t>A note on copying and pasting: copying and pasting with keyboard shortcuts do not work the same in the Terminal. Right-clicking and selecting “Paste” is an easy option.</a:t>
            </a:r>
          </a:p>
          <a:p>
            <a:pPr lvl="0" indent="0" marL="0">
              <a:buNone/>
            </a:pPr>
          </a:p>
          <a:p>
            <a:pPr lvl="0" indent="0" marL="0">
              <a:buNone/>
            </a:pPr>
            <a:r>
              <a:rPr/>
              <a:t>Setting the directory can be tricky - Backslashes (</a:t>
            </a:r>
            <a:r>
              <a:rPr>
                <a:latin typeface="Courier"/>
              </a:rPr>
              <a:t>\</a:t>
            </a:r>
            <a:r>
              <a:rPr/>
              <a:t>) need to be changed to forward slashes (</a:t>
            </a:r>
            <a:r>
              <a:rPr>
                <a:latin typeface="Courier"/>
              </a:rPr>
              <a:t>/</a:t>
            </a:r>
            <a:r>
              <a:rPr/>
              <a:t>) - If you are pasting the exact path of the folder, wrap it in quotation marks (</a:t>
            </a:r>
            <a:r>
              <a:rPr>
                <a:latin typeface="Courier"/>
              </a:rPr>
              <a:t>"..."</a:t>
            </a:r>
            <a:r>
              <a:rPr/>
              <a:t>); An easy way to change the directory is by typing </a:t>
            </a:r>
            <a:r>
              <a:rPr>
                <a:latin typeface="Courier"/>
              </a:rPr>
              <a:t>cd</a:t>
            </a:r>
            <a:r>
              <a:rPr/>
              <a:t> then clicking and dragging the folder directly into the Terminal- this puts the folder path after the </a:t>
            </a:r>
            <a:r>
              <a:rPr>
                <a:latin typeface="Courier"/>
              </a:rPr>
              <a:t>cd</a:t>
            </a:r>
          </a:p>
          <a:p>
            <a:pPr lvl="0" indent="0" marL="0">
              <a:buNone/>
            </a:pPr>
          </a:p>
          <a:p>
            <a:pPr lvl="0" indent="0" marL="0">
              <a:buNone/>
            </a:pPr>
            <a:r>
              <a:rPr/>
              <a:t>Sometimes in the Terminal, just copying and pasting will run the command, but you often need to hit “Enter”.</a:t>
            </a:r>
          </a:p>
        </p:txBody>
      </p:sp>
      <p:sp>
        <p:nvSpPr>
          <p:cNvPr id="4" name="Slide Number Placeholder 3"/>
          <p:cNvSpPr>
            <a:spLocks noGrp="1"/>
          </p:cNvSpPr>
          <p:nvPr>
            <p:ph type="sldNum" sz="quarter" idx="10"/>
          </p:nvPr>
        </p:nvSpPr>
        <p:spPr/>
        <p:txBody>
          <a:bodyPr/>
          <a:lstStyle/>
          <a:p>
            <a:fld id="{18BDFEC3-8487-43E8-A154-7C12CBC1FFF2}" type="slidenum">
              <a:rPr lang="en-US"/>
              <a:t>69</a:t>
            </a:fld>
            <a:endParaRPr lang="en-US"/>
          </a:p>
        </p:txBody>
      </p:sp>
    </p:spTree>
  </p:cSld>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Here, we’re setting up the basic project files GitHub Pages needs in order to publish our Quarto website. First, we’ll create a </a:t>
            </a:r>
            <a:r>
              <a:rPr>
                <a:latin typeface="Courier"/>
              </a:rPr>
              <a:t>_quarto.yml</a:t>
            </a:r>
            <a:r>
              <a:rPr/>
              <a:t> file using the Terminal. This file tells Quarto that the project is a website and that the rendered output should go into the docs folder. Next, we’ll add a special file called </a:t>
            </a:r>
            <a:r>
              <a:rPr>
                <a:latin typeface="Courier"/>
              </a:rPr>
              <a:t>.nojekyll</a:t>
            </a:r>
            <a:r>
              <a:rPr/>
              <a:t>. By default, GitHub Pages uses Jekyll to process websites, but that can interfere with Quarto’s output. Adding a </a:t>
            </a:r>
            <a:r>
              <a:rPr>
                <a:latin typeface="Courier"/>
              </a:rPr>
              <a:t>.nojekyll</a:t>
            </a:r>
            <a:r>
              <a:rPr/>
              <a:t> file tells GitHub Pages to leave our site exactly as Quarto created it.</a:t>
            </a:r>
          </a:p>
          <a:p>
            <a:pPr lvl="0" indent="0" marL="0">
              <a:buNone/>
            </a:pPr>
          </a:p>
          <a:p>
            <a:pPr lvl="0" indent="0" marL="0">
              <a:buNone/>
            </a:pPr>
            <a:r>
              <a:rPr b="1"/>
              <a:t>Instructor Notes</a:t>
            </a:r>
            <a:r>
              <a:rPr/>
              <a:t>: By “run in the Terminal”, it means to copy &amp; paste the commands provided and run it in the Terminal. Keep in mind:</a:t>
            </a:r>
          </a:p>
          <a:p>
            <a:pPr lvl="0" indent="0" marL="0">
              <a:buNone/>
            </a:pPr>
          </a:p>
          <a:p>
            <a:pPr lvl="0"/>
            <a:r>
              <a:rPr/>
              <a:t>Pasting text in terminals may not work with keyboard shortcuts, safest option is to right-click and select “Paste”</a:t>
            </a:r>
          </a:p>
          <a:p>
            <a:pPr lvl="0" indent="0" marL="0">
              <a:buNone/>
            </a:pPr>
          </a:p>
          <a:p>
            <a:pPr lvl="0"/>
            <a:r>
              <a:rPr/>
              <a:t>Sometimes simply pasting the text runs the command and other times you need to hit Enter/Return on your keyboard to run the command</a:t>
            </a:r>
          </a:p>
        </p:txBody>
      </p:sp>
      <p:sp>
        <p:nvSpPr>
          <p:cNvPr id="4" name="Slide Number Placeholder 3"/>
          <p:cNvSpPr>
            <a:spLocks noGrp="1"/>
          </p:cNvSpPr>
          <p:nvPr>
            <p:ph type="sldNum" sz="quarter" idx="10"/>
          </p:nvPr>
        </p:nvSpPr>
        <p:spPr/>
        <p:txBody>
          <a:bodyPr/>
          <a:lstStyle/>
          <a:p>
            <a:fld id="{18BDFEC3-8487-43E8-A154-7C12CBC1FFF2}" type="slidenum">
              <a:rPr lang="en-US"/>
              <a:t>70</a:t>
            </a:fld>
            <a:endParaRPr lang="en-US"/>
          </a:p>
        </p:txBody>
      </p:sp>
    </p:spTree>
  </p:cSld>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Running </a:t>
            </a:r>
            <a:r>
              <a:rPr>
                <a:latin typeface="Courier"/>
              </a:rPr>
              <a:t>quarto render</a:t>
            </a:r>
            <a:r>
              <a:rPr/>
              <a:t> in the Terminal takes your Quarto project and produces the HTML files in the docs folder. These are the files GitHub Pages will serve as your website. Next, we need to initialize Git in the project folder so we can connect it to GitHub. The command </a:t>
            </a:r>
            <a:r>
              <a:rPr>
                <a:latin typeface="Courier"/>
              </a:rPr>
              <a:t>git init</a:t>
            </a:r>
            <a:r>
              <a:rPr/>
              <a:t> sets up Git tracking, and </a:t>
            </a:r>
            <a:r>
              <a:rPr>
                <a:latin typeface="Courier"/>
              </a:rPr>
              <a:t>git branch -M main</a:t>
            </a:r>
            <a:r>
              <a:rPr/>
              <a:t> renames the default branch from “master” to “main,” which is the standard branch name used in this session.</a:t>
            </a:r>
          </a:p>
          <a:p>
            <a:pPr lvl="0" indent="0" marL="0">
              <a:buNone/>
            </a:pPr>
          </a:p>
          <a:p>
            <a:pPr lvl="0" indent="0" marL="0">
              <a:buNone/>
            </a:pPr>
            <a:r>
              <a:rPr b="1"/>
              <a:t>Instructor Notes</a:t>
            </a:r>
            <a:r>
              <a:rPr/>
              <a:t>: Running </a:t>
            </a:r>
            <a:r>
              <a:rPr>
                <a:latin typeface="Courier"/>
              </a:rPr>
              <a:t>quarto render</a:t>
            </a:r>
            <a:r>
              <a:rPr/>
              <a:t> here does not open or preview your website- It is building the website by generating HTML files and placing them in the docs/ folder.</a:t>
            </a:r>
          </a:p>
          <a:p>
            <a:pPr lvl="0" indent="0" marL="0">
              <a:buNone/>
            </a:pPr>
          </a:p>
          <a:p>
            <a:pPr lvl="0" indent="0" marL="0">
              <a:buNone/>
            </a:pPr>
            <a:r>
              <a:rPr/>
              <a:t>You may see a warning about “</a:t>
            </a:r>
            <a:r>
              <a:rPr>
                <a:latin typeface="Courier"/>
              </a:rPr>
              <a:t>references.bib not found in resource path</a:t>
            </a:r>
            <a:r>
              <a:rPr/>
              <a:t>” which usually happens because Quarto looks for the file in the project’s root or resource path, but the Terminal is case-sensitive and strict with paths. So, you will see in your completed Git Pages web page that the citations look strange, but we will leave it like that for now. Extra steps are needed to correct this that will not be covered in this lesson but can be explored further independently.</a:t>
            </a:r>
          </a:p>
        </p:txBody>
      </p:sp>
      <p:sp>
        <p:nvSpPr>
          <p:cNvPr id="4" name="Slide Number Placeholder 3"/>
          <p:cNvSpPr>
            <a:spLocks noGrp="1"/>
          </p:cNvSpPr>
          <p:nvPr>
            <p:ph type="sldNum" sz="quarter" idx="10"/>
          </p:nvPr>
        </p:nvSpPr>
        <p:spPr/>
        <p:txBody>
          <a:bodyPr/>
          <a:lstStyle/>
          <a:p>
            <a:fld id="{18BDFEC3-8487-43E8-A154-7C12CBC1FFF2}" type="slidenum">
              <a:rPr lang="en-US"/>
              <a:t>71</a:t>
            </a:fld>
            <a:endParaRPr lang="en-US"/>
          </a:p>
        </p:txBody>
      </p:sp>
    </p:spTree>
  </p:cSld>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to put everything together. We need to create a new, public repository on GitHub which is where our project files will be held. Then, we connect our local project to GitHub using </a:t>
            </a:r>
            <a:r>
              <a:rPr>
                <a:latin typeface="Courier"/>
              </a:rPr>
              <a:t>git remote add origin</a:t>
            </a:r>
            <a:r>
              <a:rPr/>
              <a:t> followed by the repository’s HTTPS link (found on the GitHub website). This tells Git where to send the files when we push them with </a:t>
            </a:r>
            <a:r>
              <a:rPr>
                <a:latin typeface="Courier"/>
              </a:rPr>
              <a:t>git push -u origin main</a:t>
            </a:r>
            <a:r>
              <a:rPr/>
              <a:t>. Then, go to the settings in your newly created repository and click “Pages” to configure GitHub Pages.</a:t>
            </a:r>
          </a:p>
          <a:p>
            <a:pPr lvl="0" indent="0" marL="0">
              <a:buNone/>
            </a:pPr>
          </a:p>
          <a:p>
            <a:pPr lvl="0" indent="0" marL="0">
              <a:buNone/>
            </a:pPr>
            <a:r>
              <a:rPr b="1"/>
              <a:t>Instructor Notes</a:t>
            </a:r>
            <a:r>
              <a:rPr/>
              <a:t>: For this to work, it is important that the repository created is set to ‘Public’.</a:t>
            </a:r>
          </a:p>
        </p:txBody>
      </p:sp>
      <p:sp>
        <p:nvSpPr>
          <p:cNvPr id="4" name="Slide Number Placeholder 3"/>
          <p:cNvSpPr>
            <a:spLocks noGrp="1"/>
          </p:cNvSpPr>
          <p:nvPr>
            <p:ph type="sldNum" sz="quarter" idx="10"/>
          </p:nvPr>
        </p:nvSpPr>
        <p:spPr/>
        <p:txBody>
          <a:bodyPr/>
          <a:lstStyle/>
          <a:p>
            <a:fld id="{18BDFEC3-8487-43E8-A154-7C12CBC1FFF2}" type="slidenum">
              <a:rPr lang="en-US"/>
              <a:t>72</a:t>
            </a:fld>
            <a:endParaRPr lang="en-US"/>
          </a:p>
        </p:txBody>
      </p:sp>
    </p:spTree>
  </p:cSld>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final steps to make the site public is to configure the GitHub repository settings under “Pages.” Change “None” to “main”- this switches us to the branch we are working on. Then change “/(root)” to “/docs” which will switch the folder where Quarto rendered the website files. After clicking Save, your site will be live after a minute or two.</a:t>
            </a:r>
          </a:p>
          <a:p>
            <a:pPr lvl="0" indent="0" marL="0">
              <a:buNone/>
            </a:pPr>
          </a:p>
          <a:p>
            <a:pPr lvl="0" indent="0" marL="0">
              <a:buNone/>
            </a:pPr>
            <a:r>
              <a:rPr b="1"/>
              <a:t>Instructor Notes</a:t>
            </a:r>
            <a:r>
              <a:rPr/>
              <a:t>: Reminder that the citations will not be complete because configuring to include the bibliography was not done. That’s an additional step.</a:t>
            </a:r>
          </a:p>
        </p:txBody>
      </p:sp>
      <p:sp>
        <p:nvSpPr>
          <p:cNvPr id="4" name="Slide Number Placeholder 3"/>
          <p:cNvSpPr>
            <a:spLocks noGrp="1"/>
          </p:cNvSpPr>
          <p:nvPr>
            <p:ph type="sldNum" sz="quarter" idx="10"/>
          </p:nvPr>
        </p:nvSpPr>
        <p:spPr/>
        <p:txBody>
          <a:bodyPr/>
          <a:lstStyle/>
          <a:p>
            <a:fld id="{18BDFEC3-8487-43E8-A154-7C12CBC1FFF2}" type="slidenum">
              <a:rPr lang="en-US"/>
              <a:t>73</a:t>
            </a:fld>
            <a:endParaRPr lang="en-US"/>
          </a:p>
        </p:txBody>
      </p:sp>
    </p:spTree>
  </p:cSld>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a:t>
            </a:r>
            <a:r>
              <a:rPr/>
              <a:t>: Here are some of the key things covered in the lesson that give a general overview of Quarto and what it contains. Quarto is more than just a tool to write documents, it’s designed to bring together text, code, and media in one .qmd file that ensures transparency and reproducibility. It makes writing cleaner and more efficient without the need for complex styling tools. Zotero integration streamlines citation management and bibliography building, which is essential for academic and research writing. Quarto enables sharing work through platforms like Quarto Pub or GitHub Pages, which makes research accessible and reproducible.  - For quick reference, a downloadable cheatsheet is provided with this lesson. It offers beginner-friendly instructions summarizing the key terms, features, and functions of Quarto.</a:t>
            </a:r>
          </a:p>
          <a:p>
            <a:pPr lvl="0" indent="0" marL="0">
              <a:buNone/>
            </a:pPr>
          </a:p>
          <a:p>
            <a:pPr lvl="0" indent="0" marL="0">
              <a:buNone/>
            </a:pPr>
            <a:r>
              <a:rPr b="1"/>
              <a:t>Instructor Note</a:t>
            </a:r>
            <a:r>
              <a:rPr/>
              <a:t>: The idea of this slide is to give a recap of important elements about Quarto covered in the lesson, things you can do to edit the Quarto document, and then how to make it shareable.</a:t>
            </a:r>
          </a:p>
          <a:p>
            <a:pPr lvl="0" indent="0" marL="0">
              <a:buNone/>
            </a:pPr>
          </a:p>
          <a:p>
            <a:pPr lvl="0"/>
            <a:r>
              <a:rPr/>
              <a:t>A downloadable cheatsheet is included for students to have a summary of information and features that were covered in this session.</a:t>
            </a:r>
          </a:p>
        </p:txBody>
      </p:sp>
      <p:sp>
        <p:nvSpPr>
          <p:cNvPr id="4" name="Slide Number Placeholder 3"/>
          <p:cNvSpPr>
            <a:spLocks noGrp="1"/>
          </p:cNvSpPr>
          <p:nvPr>
            <p:ph type="sldNum" sz="quarter" idx="10"/>
          </p:nvPr>
        </p:nvSpPr>
        <p:spPr/>
        <p:txBody>
          <a:bodyPr/>
          <a:lstStyle/>
          <a:p>
            <a:fld id="{18BDFEC3-8487-43E8-A154-7C12CBC1FFF2}" type="slidenum">
              <a:rPr lang="en-US"/>
              <a:t>74</a:t>
            </a:fld>
            <a:endParaRPr lang="en-US"/>
          </a:p>
        </p:txBody>
      </p:sp>
    </p:spTree>
  </p:cSld>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a:t>
            </a:r>
            <a:r>
              <a:rPr/>
              <a:t>: Let’s discuss how these new skills could be applied in practice with specific examples. Go through the questions on the slide to add to the discussion. Wirte down some notes for yourself first for two minutes, then discuss in pairs for five minutes.</a:t>
            </a:r>
          </a:p>
          <a:p>
            <a:pPr lvl="0" indent="0" marL="0">
              <a:buNone/>
            </a:pPr>
          </a:p>
          <a:p>
            <a:pPr lvl="0" indent="0" marL="0">
              <a:buNone/>
            </a:pPr>
            <a:r>
              <a:rPr b="1"/>
              <a:t>Instructor Note</a:t>
            </a:r>
            <a:r>
              <a:rPr/>
              <a:t>: The goal with this activity is to work out the relevance of the topic to your students, examine downfalls, and practical obstacles in an interactive setting. Make use of the think-pair-share paradigm.</a:t>
            </a:r>
          </a:p>
        </p:txBody>
      </p:sp>
      <p:sp>
        <p:nvSpPr>
          <p:cNvPr id="4" name="Slide Number Placeholder 3"/>
          <p:cNvSpPr>
            <a:spLocks noGrp="1"/>
          </p:cNvSpPr>
          <p:nvPr>
            <p:ph type="sldNum" sz="quarter" idx="10"/>
          </p:nvPr>
        </p:nvSpPr>
        <p:spPr/>
        <p:txBody>
          <a:bodyPr/>
          <a:lstStyle/>
          <a:p>
            <a:fld id="{18BDFEC3-8487-43E8-A154-7C12CBC1FFF2}" type="slidenum">
              <a:rPr lang="en-US"/>
              <a:t>75</a:t>
            </a:fld>
            <a:endParaRPr lang="en-US"/>
          </a:p>
        </p:txBody>
      </p:sp>
    </p:spTree>
  </p:cSld>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Think about the question on the slide and either answer it or use it to share a one-sentence take-home message.</a:t>
            </a:r>
          </a:p>
          <a:p>
            <a:pPr lvl="0" indent="0" marL="0">
              <a:buNone/>
            </a:pPr>
          </a:p>
          <a:p>
            <a:pPr lvl="0" indent="0" marL="0">
              <a:buNone/>
            </a:pPr>
            <a:r>
              <a:rPr b="1"/>
              <a:t>Instructor Notes</a:t>
            </a:r>
            <a:r>
              <a:rPr/>
              <a:t>: - Aim: End lesson on clear take-home message that are interactively compiled by students. - You can collect them verbally or in a shared doc/board. - If you choose to contribute to the discussion, reinforce that Quarto is not just a tool, but a mindset shift toward openness and collaboration.</a:t>
            </a:r>
          </a:p>
        </p:txBody>
      </p:sp>
      <p:sp>
        <p:nvSpPr>
          <p:cNvPr id="4" name="Slide Number Placeholder 3"/>
          <p:cNvSpPr>
            <a:spLocks noGrp="1"/>
          </p:cNvSpPr>
          <p:nvPr>
            <p:ph type="sldNum" sz="quarter" idx="10"/>
          </p:nvPr>
        </p:nvSpPr>
        <p:spPr/>
        <p:txBody>
          <a:bodyPr/>
          <a:lstStyle/>
          <a:p>
            <a:fld id="{18BDFEC3-8487-43E8-A154-7C12CBC1FFF2}" type="slidenum">
              <a:rPr lang="en-US"/>
              <a:t>76</a:t>
            </a:fld>
            <a:endParaRPr lang="en-US"/>
          </a:p>
        </p:txBody>
      </p:sp>
    </p:spTree>
  </p:cSld>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homework activity builds on the document created during this lesson to add more to the content and layout. It contains activities that take what we practiced today one step further. Each item builds on the knowledge and exercises that were covered in this session.</a:t>
            </a:r>
          </a:p>
          <a:p>
            <a:pPr lvl="0" indent="0" marL="0">
              <a:buNone/>
            </a:pPr>
          </a:p>
          <a:p>
            <a:pPr lvl="0" indent="0" marL="0">
              <a:buNone/>
            </a:pPr>
            <a:r>
              <a:rPr b="1"/>
              <a:t>Instructor Note</a:t>
            </a:r>
            <a:r>
              <a:rPr/>
              <a:t>: - Aim- to reinforce what was learned in this session and to have an opportunity to apply the knowledge in a more challenging way. Use this activity sheet for a homework assignment as it is or use it as an example to create your own based on the needs of the class or the specific requirements for future lessons. Consider the following:</a:t>
            </a:r>
          </a:p>
          <a:p>
            <a:pPr lvl="0" indent="0" marL="0">
              <a:buNone/>
            </a:pPr>
          </a:p>
          <a:p>
            <a:pPr lvl="0"/>
            <a:r>
              <a:rPr/>
              <a:t>Examine whether/how it will be assessed</a:t>
            </a:r>
          </a:p>
          <a:p>
            <a:pPr lvl="0" indent="0" marL="0">
              <a:buNone/>
            </a:pPr>
          </a:p>
          <a:p>
            <a:pPr lvl="0"/>
            <a:r>
              <a:rPr/>
              <a:t>Mention scoring rubrics, if applicable</a:t>
            </a:r>
          </a:p>
          <a:p>
            <a:pPr lvl="0" indent="0" marL="0">
              <a:buNone/>
            </a:pPr>
          </a:p>
          <a:p>
            <a:pPr lvl="0"/>
            <a:r>
              <a:rPr/>
              <a:t>Design a peer-review system for assignments to place students in role of reviewer and author</a:t>
            </a:r>
          </a:p>
        </p:txBody>
      </p:sp>
      <p:sp>
        <p:nvSpPr>
          <p:cNvPr id="4" name="Slide Number Placeholder 3"/>
          <p:cNvSpPr>
            <a:spLocks noGrp="1"/>
          </p:cNvSpPr>
          <p:nvPr>
            <p:ph type="sldNum" sz="quarter" idx="10"/>
          </p:nvPr>
        </p:nvSpPr>
        <p:spPr/>
        <p:txBody>
          <a:bodyPr/>
          <a:lstStyle/>
          <a:p>
            <a:fld id="{18BDFEC3-8487-43E8-A154-7C12CBC1FFF2}" type="slidenum">
              <a:rPr lang="en-US"/>
              <a:t>77</a:t>
            </a:fld>
            <a:endParaRPr lang="en-US"/>
          </a:p>
        </p:txBody>
      </p:sp>
    </p:spTree>
  </p:cSld>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end this lesson, let’s use this survey to see where we stand in our knowledge of Quarto and what we can focus on more moving forward to become more proficient in literate programming with it.</a:t>
            </a:r>
          </a:p>
          <a:p>
            <a:pPr lvl="0" indent="0" marL="0">
              <a:buNone/>
            </a:pPr>
          </a:p>
          <a:p>
            <a:pPr lvl="0" indent="0" marL="0">
              <a:buNone/>
            </a:pPr>
            <a:r>
              <a:rPr i="1"/>
              <a:t>Instructor Notes</a:t>
            </a:r>
            <a:r>
              <a:rPr/>
              <a:t> Aim- This post-submodule survey serves to examine students’ current knowledge about the sumodule’s topic.  - Use free survey software such as or other survey software (particify, formR) to establish the following questions (these are examples that can be adapted to suit your needs):</a:t>
            </a:r>
          </a:p>
        </p:txBody>
      </p:sp>
      <p:sp>
        <p:nvSpPr>
          <p:cNvPr id="4" name="Slide Number Placeholder 3"/>
          <p:cNvSpPr>
            <a:spLocks noGrp="1"/>
          </p:cNvSpPr>
          <p:nvPr>
            <p:ph type="sldNum" sz="quarter" idx="10"/>
          </p:nvPr>
        </p:nvSpPr>
        <p:spPr/>
        <p:txBody>
          <a:bodyPr/>
          <a:lstStyle/>
          <a:p>
            <a:fld id="{18BDFEC3-8487-43E8-A154-7C12CBC1FFF2}" type="slidenum">
              <a:rPr lang="en-US"/>
              <a:t>79</a:t>
            </a:fld>
            <a:endParaRPr lang="en-US"/>
          </a:p>
        </p:txBody>
      </p:sp>
    </p:spTree>
  </p:cSld>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end off, we can use the answers from this survey to see how much we know about Quarto after this lesson and where we should focus and explore more moving forward if we are to become proficient in using it.</a:t>
            </a:r>
          </a:p>
          <a:p>
            <a:pPr lvl="0" indent="0" marL="0">
              <a:buNone/>
            </a:pPr>
          </a:p>
          <a:p>
            <a:pPr lvl="0" indent="0" marL="0">
              <a:buNone/>
            </a:pPr>
            <a:r>
              <a:rPr b="1"/>
              <a:t>Instructor Notes</a:t>
            </a:r>
            <a:r>
              <a:rPr/>
              <a:t>: If there’s still time, briefly examine the answers given to each question interactively with the group to compare and highlight specific differences in answers between pre- and post-survey answers</a:t>
            </a:r>
          </a:p>
        </p:txBody>
      </p:sp>
      <p:sp>
        <p:nvSpPr>
          <p:cNvPr id="4" name="Slide Number Placeholder 3"/>
          <p:cNvSpPr>
            <a:spLocks noGrp="1"/>
          </p:cNvSpPr>
          <p:nvPr>
            <p:ph type="sldNum" sz="quarter" idx="10"/>
          </p:nvPr>
        </p:nvSpPr>
        <p:spPr/>
        <p:txBody>
          <a:bodyPr/>
          <a:lstStyle/>
          <a:p>
            <a:fld id="{18BDFEC3-8487-43E8-A154-7C12CBC1FFF2}" type="slidenum">
              <a:rPr lang="en-US"/>
              <a:t>80</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 Id="rId3" Type="http://schemas.openxmlformats.org/officeDocument/2006/relationships/hyperlink" Target="https://github.com/annakrystalli" TargetMode="External" /><Relationship Id="rId4" Type="http://schemas.openxmlformats.org/officeDocument/2006/relationships/hyperlink" Target="https://github.com/RSE-Sheffield" TargetMode="External" /><Relationship Id="rId5" Type="http://schemas.openxmlformats.org/officeDocument/2006/relationships/hyperlink" Target="https://opensource.org/license/mit" TargetMode="External" /><Relationship Id="rId6" Type="http://schemas.openxmlformats.org/officeDocument/2006/relationships/hyperlink" Target="https://www.lmu.de/psyedu/de/personen/kontaktseite/malika-ihle-1f381483.html" TargetMode="External" /><Relationship Id="rId7" Type="http://schemas.openxmlformats.org/officeDocument/2006/relationships/hyperlink" Target="https://ox.ukrn.org/" TargetMode="External" /><Relationship Id="rId8" Type="http://schemas.openxmlformats.org/officeDocument/2006/relationships/hyperlink" Target="https://github.com/Kennyanthro" TargetMode="External" /><Relationship Id="rId9" Type="http://schemas.openxmlformats.org/officeDocument/2006/relationships/hyperlink" Target="https://duzun.me/tips/git" TargetMode="External" /><Relationship Id="rId10" Type="http://schemas.openxmlformats.org/officeDocument/2006/relationships/hyperlink" Target="https://x.com/MorphobeakGeek" TargetMode="External" /><Relationship Id="rId11" Type="http://schemas.openxmlformats.org/officeDocument/2006/relationships/hyperlink" Target="https://www.lmu.de/psyedu/de/personen/kontaktseite/malika-ihle-1f381483.html" TargetMode="External" /><Relationship Id="rId12" Type="http://schemas.openxmlformats.org/officeDocument/2006/relationships/hyperlink" Target="https://orcid.org/my-orcid?orcid=0000-0002-6413-3895" TargetMode="External" /><Relationship Id="rId13" Type="http://schemas.openxmlformats.org/officeDocument/2006/relationships/hyperlink" Target="https://www.osc.uni-muenchen.de/index.html" TargetMode="External" /><Relationship Id="rId14" Type="http://schemas.openxmlformats.org/officeDocument/2006/relationships/hyperlink" Target="https://creativecommons.org/licenses/by-sa/4.0/deed.en" TargetMode="Externa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 Id="rId3" Type="http://schemas.openxmlformats.org/officeDocument/2006/relationships/hyperlink" Target="https://orcid.org/my-orcid?orcid=0009-0006-3725-6730" TargetMode="External" /><Relationship Id="rId4" Type="http://schemas.openxmlformats.org/officeDocument/2006/relationships/hyperlink" Target="https://orcid.org/my-orcid?orcid=0000-0002-6413-3895" TargetMode="External" /><Relationship Id="rId5" Type="http://schemas.openxmlformats.org/officeDocument/2006/relationships/hyperlink" Target="https://orcid.org/0000-0002-3242-5981"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 Id="rId3" Type="http://schemas.openxmlformats.org/officeDocument/2006/relationships/hyperlink" Target="https://quarto.org/docs/download/release.html" TargetMode="External" /><Relationship Id="rId4" Type="http://schemas.openxmlformats.org/officeDocument/2006/relationships/hyperlink" Target="https://quarto.org/docs/output-formats/pdf-engine.html#installing-tex" TargetMode="External" /><Relationship Id="rId5" Type="http://schemas.openxmlformats.org/officeDocument/2006/relationships/hyperlink" Target="https://www.r-project.org/" TargetMode="External" /><Relationship Id="rId6" Type="http://schemas.openxmlformats.org/officeDocument/2006/relationships/hyperlink" Target="https://posit.co/download/rstudio-desktop/" TargetMode="External" /><Relationship Id="rId7" Type="http://schemas.openxmlformats.org/officeDocument/2006/relationships/hyperlink" Target="https://posit.co/download/rstudio-desktop/" TargetMode="Externa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artici.fi/62360222" TargetMode="External" /><Relationship Id="rId3" Type="http://schemas.openxmlformats.org/officeDocument/2006/relationships/image" Target="../media/image1.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 Id="rId3" Type="http://schemas.openxmlformats.org/officeDocument/2006/relationships/hyperlink" Target="https://quarto.org/" TargetMode="Externa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6.xml" /><Relationship Id="rId3" Type="http://schemas.openxmlformats.org/officeDocument/2006/relationships/image" Target="../media/image2.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8.xml" /><Relationship Id="rId3" Type="http://schemas.openxmlformats.org/officeDocument/2006/relationships/image" Target="../media/image3.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9.xml" /><Relationship Id="rId3" Type="http://schemas.openxmlformats.org/officeDocument/2006/relationships/image" Target="../media/image4.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3.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4.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artici.fi/06396725" TargetMode="External" /><Relationship Id="rId3" Type="http://schemas.openxmlformats.org/officeDocument/2006/relationships/image" Target="../media/image1.png"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5.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6.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7.xml" /><Relationship Id="rId3" Type="http://schemas.openxmlformats.org/officeDocument/2006/relationships/hyperlink" Target="https://quarto.org/docs/authoring/markdown-basics.html" TargetMode="Externa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8.xml" /><Relationship Id="rId3" Type="http://schemas.openxmlformats.org/officeDocument/2006/relationships/hyperlink" Target="https://quarto.org/" TargetMode="External" /><Relationship Id="rId4" Type="http://schemas.openxmlformats.org/officeDocument/2006/relationships/hyperlink" Target="https://revealjs.com/" TargetMode="External" /><Relationship Id="rId5" Type="http://schemas.openxmlformats.org/officeDocument/2006/relationships/hyperlink" Target="https://www.markdownguide.org/" TargetMode="External" /><Relationship Id="rId6" Type="http://schemas.openxmlformats.org/officeDocument/2006/relationships/hyperlink" Target="https://github.com/" TargetMode="External" /></Relationships>
</file>

<file path=ppt/slides/_rels/slide4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png" /></Relationships>
</file>

<file path=ppt/slides/_rels/slide4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39.xml" /><Relationship Id="rId3" Type="http://schemas.openxmlformats.org/officeDocument/2006/relationships/image" Target="../media/image5.png" /></Relationships>
</file>

<file path=ppt/slides/_rels/slide4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40.xml" /><Relationship Id="rId4" Type="http://schemas.openxmlformats.org/officeDocument/2006/relationships/hyperlink" Target="https://journals.plos.org/plosone/article?id=10.1371/journal.pone.0127819" TargetMode="External" /><Relationship Id="rId3" Type="http://schemas.openxmlformats.org/officeDocument/2006/relationships/image" Target="../media/image5.png"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1.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2.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png"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3.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4.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5.xml" /><Relationship Id="rId3" Type="http://schemas.openxmlformats.org/officeDocument/2006/relationships/hyperlink" Target="https://journals.plos.org/plosone/article?id=10.1371/journal.pone.0127819" TargetMode="External" /></Relationships>
</file>

<file path=ppt/slides/_rels/slide5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46.xml" /><Relationship Id="rId3" Type="http://schemas.openxmlformats.org/officeDocument/2006/relationships/image" Target="../media/image7.png"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7.xml" /><Relationship Id="rId3" Type="http://schemas.openxmlformats.org/officeDocument/2006/relationships/hyperlink" Target="https://journals.plos.org/plosone/article?id=10.1371/journal.pone.0153859#:~:text=In%20conclusion%2C%20HDND%20improved%20the,diet%20adversely%20affected%20bone%20mineralization." TargetMode="External" /></Relationships>
</file>

<file path=ppt/slides/_rels/slide5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png"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8.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9.png"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9.xml"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0.xml" /><Relationship Id="rId3" Type="http://schemas.openxmlformats.org/officeDocument/2006/relationships/hyperlink" Target="https://quarto.org/docs/publishing/index.html" TargetMode="External"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1.xml" /><Relationship Id="rId3" Type="http://schemas.openxmlformats.org/officeDocument/2006/relationships/hyperlink" Target="https://lmu-osc.github.io/code-publishing/intro.html" TargetMode="Externa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2.xml"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3.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4.xml"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55.xml" /><Relationship Id="rId4" Type="http://schemas.openxmlformats.org/officeDocument/2006/relationships/image" Target="../media/image11.png" /><Relationship Id="rId3" Type="http://schemas.openxmlformats.org/officeDocument/2006/relationships/image" Target="../media/image10.png" /></Relationships>
</file>

<file path=ppt/slides/_rels/slide6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6.xml"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7.xml" /></Relationships>
</file>

<file path=ppt/slides/_rels/slide7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8.xml" /></Relationships>
</file>

<file path=ppt/slides/_rels/slide7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9.xml" /><Relationship Id="rId3" Type="http://schemas.openxmlformats.org/officeDocument/2006/relationships/hyperlink" Target="github.com" TargetMode="External" /><Relationship Id="rId4" Type="http://schemas.openxmlformats.org/officeDocument/2006/relationships/hyperlink" Target="github.com" TargetMode="External" /></Relationships>
</file>

<file path=ppt/slides/_rels/slide7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0.xml" /></Relationships>
</file>

<file path=ppt/slides/_rels/slide7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1.xml" /></Relationships>
</file>

<file path=ppt/slides/_rels/slide7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2.xml" /></Relationships>
</file>

<file path=ppt/slides/_rels/slide7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3.xml" /></Relationships>
</file>

<file path=ppt/slides/_rels/slide7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4.xml" /></Relationships>
</file>

<file path=ppt/slides/_rels/slide7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artici.fi/62360222" TargetMode="External" /><Relationship Id="rId3" Type="http://schemas.openxmlformats.org/officeDocument/2006/relationships/image" Target="../media/image1.png" /></Relationships>
</file>

<file path=ppt/slides/_rels/slide7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5.xml" /></Relationships>
</file>

<file path=ppt/slides/_rels/slide8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6.xml" /></Relationships>
</file>

<file path=ppt/slides/_rels/slide8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oi.org/10.1093/ps/81.8.1156" TargetMode="External" /><Relationship Id="rId3" Type="http://schemas.openxmlformats.org/officeDocument/2006/relationships/hyperlink" Target="https://doi.org/10.1080/09500690305016" TargetMode="External" /><Relationship Id="rId4" Type="http://schemas.openxmlformats.org/officeDocument/2006/relationships/hyperlink" Target="https://doi.org/10.1371/journal.pone.0153859" TargetMode="External" /><Relationship Id="rId5" Type="http://schemas.openxmlformats.org/officeDocument/2006/relationships/hyperlink" Target="https://doi.org/10.1371/journal.pone.0127819" TargetMode="External" /><Relationship Id="rId6" Type="http://schemas.openxmlformats.org/officeDocument/2006/relationships/hyperlink" Target="https://doi.org/10.3389/fpsyg.2021.714321" TargetMode="External" /></Relationships>
</file>

<file path=ppt/slides/_rels/slide8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lmu-osc.github.io/introduction-to-Quarto/quarto_exercises.html" TargetMode="External" /></Relationships>
</file>

<file path=ppt/slides/_rels/slide8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quarto.org/docs/guide/" TargetMode="External" /><Relationship Id="rId3" Type="http://schemas.openxmlformats.org/officeDocument/2006/relationships/hyperlink" Target="https://quarto.org/docs/presentations/" TargetMode="External" /><Relationship Id="rId4" Type="http://schemas.openxmlformats.org/officeDocument/2006/relationships/hyperlink" Target="https://health.ucdavis.edu/mdprogram/curriculum/pdfs/blooms-taxonomy-vanderbilt.pdf" TargetMode="External" /><Relationship Id="rId5" Type="http://schemas.openxmlformats.org/officeDocument/2006/relationships/hyperlink" Target="https://www.researchgate.net/publication/255659929_Conceptual_change_A_powerful_framework_for_improving_science_teaching_and_learning" TargetMode="External" /><Relationship Id="rId6" Type="http://schemas.openxmlformats.org/officeDocument/2006/relationships/hyperlink" Target="https://www.youtube.com/watch?v=01KifhHDkFk" TargetMode="External" /></Relationships>
</file>

<file path=ppt/slides/_rels/slide85.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Introduction to literate programming with Quarto</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Elizabeth Waterfield</a:t>
            </a:r>
          </a:p>
        </p:txBody>
      </p:sp>
      <p:sp>
        <p:nvSpPr>
          <p:cNvPr id="4" name="Date Placeholder 3"/>
          <p:cNvSpPr>
            <a:spLocks noGrp="1"/>
          </p:cNvSpPr>
          <p:nvPr>
            <p:ph idx="10" sz="half" type="dt"/>
          </p:nvPr>
        </p:nvSpPr>
        <p:spPr/>
        <p:txBody>
          <a:bodyPr/>
          <a:lstStyle/>
          <a:p>
            <a:pPr lvl="0" indent="0" marL="0">
              <a:buNone/>
            </a:pPr>
            <a:r>
              <a:rPr/>
              <a:t>05/03/2026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Licence</a:t>
            </a:r>
          </a:p>
          <a:p>
            <a:pPr lvl="0" indent="0" marL="0">
              <a:buNone/>
            </a:pPr>
          </a:p>
          <a:p>
            <a:pPr lvl="0" indent="0" marL="0">
              <a:buNone/>
            </a:pPr>
          </a:p>
          <a:p>
            <a:pPr lvl="0" indent="0" marL="0">
              <a:buNone/>
            </a:pPr>
            <a:r>
              <a:rPr/>
              <a:t>This work was originally created by </a:t>
            </a:r>
            <a:r>
              <a:rPr>
                <a:hlinkClick r:id="rId3"/>
              </a:rPr>
              <a:t>Anna Krystalli</a:t>
            </a:r>
            <a:r>
              <a:rPr/>
              <a:t> from </a:t>
            </a:r>
            <a:r>
              <a:rPr>
                <a:hlinkClick r:id="rId4"/>
              </a:rPr>
              <a:t>RSE-Sheffield</a:t>
            </a:r>
            <a:r>
              <a:rPr/>
              <a:t> under a </a:t>
            </a:r>
            <a:r>
              <a:rPr>
                <a:hlinkClick r:id="rId5"/>
              </a:rPr>
              <a:t>MIT licence</a:t>
            </a:r>
            <a:r>
              <a:rPr/>
              <a:t> (original repository). It was subsequently adapted by </a:t>
            </a:r>
            <a:r>
              <a:rPr>
                <a:hlinkClick r:id="rId6"/>
              </a:rPr>
              <a:t>Malika Ihle</a:t>
            </a:r>
            <a:r>
              <a:rPr/>
              <a:t> during her time at </a:t>
            </a:r>
            <a:r>
              <a:rPr>
                <a:hlinkClick r:id="rId7"/>
              </a:rPr>
              <a:t>Reproducible Research Oxford</a:t>
            </a:r>
            <a:r>
              <a:rPr/>
              <a:t>, with the contributions of </a:t>
            </a:r>
            <a:r>
              <a:rPr>
                <a:hlinkClick r:id="rId8"/>
              </a:rPr>
              <a:t>Adam Kenny</a:t>
            </a:r>
            <a:r>
              <a:rPr/>
              <a:t>. The overview image is from </a:t>
            </a:r>
            <a:r>
              <a:rPr>
                <a:hlinkClick r:id="rId9"/>
              </a:rPr>
              <a:t>Dumitru Uzun</a:t>
            </a:r>
            <a:r>
              <a:rPr/>
              <a:t>. The exercice is based on the research of </a:t>
            </a:r>
            <a:r>
              <a:rPr>
                <a:hlinkClick r:id="rId10"/>
              </a:rPr>
              <a:t>Jen Bright</a:t>
            </a:r>
            <a:r>
              <a:rPr/>
              <a:t> who also kindly provided the gifs used in the exercice. It is now maintained by </a:t>
            </a:r>
            <a:r>
              <a:rPr>
                <a:hlinkClick r:id="rId11"/>
              </a:rPr>
              <a:t>Malika Ihle</a:t>
            </a:r>
            <a:r>
              <a:rPr/>
              <a:t> and </a:t>
            </a:r>
            <a:r>
              <a:rPr>
                <a:hlinkClick r:id="rId12"/>
              </a:rPr>
              <a:t>Sarah von Grebmer zu Wolfsthurn</a:t>
            </a:r>
            <a:r>
              <a:rPr/>
              <a:t> at the </a:t>
            </a:r>
            <a:r>
              <a:rPr>
                <a:hlinkClick r:id="rId13"/>
              </a:rPr>
              <a:t>LMU Open Science Center</a:t>
            </a:r>
            <a:r>
              <a:rPr/>
              <a:t>. This current work by Elizabeth Waterfield, Sarah von Grebmer zu Wolfsthurn and Malika Ihle is licensed under a CC-BY-SA-4.0 </a:t>
            </a:r>
            <a:r>
              <a:rPr>
                <a:hlinkClick r:id="rId14"/>
              </a:rPr>
              <a:t>Creative Commons Attribution 4.0 International SA License</a:t>
            </a:r>
            <a:r>
              <a:rPr/>
              <a:t> licence. It permits unrestricted re-use, distribution, and reproduction in any medium, provided the original work is properly cited. If you remix, transform, or build upon the material, you must distribute your contributions under the same license as the original.</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Contribution statement</a:t>
            </a:r>
          </a:p>
          <a:p>
            <a:pPr lvl="0" indent="0" marL="0">
              <a:buNone/>
            </a:pPr>
            <a:r>
              <a:rPr b="1"/>
              <a:t>Creator</a:t>
            </a:r>
            <a:r>
              <a:rPr/>
              <a:t>: Waterfield, Elizabeth ( </a:t>
            </a:r>
            <a:r>
              <a:rPr>
                <a:hlinkClick r:id="rId3"/>
              </a:rPr>
              <a:t>0009-0006-3725-6730</a:t>
            </a:r>
            <a:r>
              <a:rPr/>
              <a:t>)</a:t>
            </a:r>
          </a:p>
          <a:p>
            <a:pPr lvl="0" indent="0" marL="0">
              <a:buNone/>
            </a:pPr>
            <a:r>
              <a:rPr b="1"/>
              <a:t>Reviewer</a:t>
            </a:r>
            <a:r>
              <a:rPr/>
              <a:t>: von Grebmer zu Wolfsthurn, Sarah ( </a:t>
            </a:r>
            <a:r>
              <a:rPr>
                <a:hlinkClick r:id="rId4"/>
              </a:rPr>
              <a:t>0000-0002-6413-3895</a:t>
            </a:r>
            <a:r>
              <a:rPr/>
              <a:t>)</a:t>
            </a:r>
          </a:p>
          <a:p>
            <a:pPr lvl="0" indent="0" marL="0">
              <a:buNone/>
            </a:pPr>
            <a:r>
              <a:rPr b="1"/>
              <a:t>Acknowledgments</a:t>
            </a:r>
            <a:r>
              <a:rPr/>
              <a:t>: Ihle, Malika ( </a:t>
            </a:r>
            <a:r>
              <a:rPr>
                <a:hlinkClick r:id="rId5"/>
              </a:rPr>
              <a:t>0000-0002-3242-5981</a:t>
            </a:r>
            <a:r>
              <a:rPr/>
              <a: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Prerequisites</a:t>
            </a:r>
          </a:p>
          <a:p>
            <a:pPr lvl="0" indent="0" marL="1270000">
              <a:buNone/>
            </a:pPr>
            <a:r>
              <a:rPr sz="2000" b="1"/>
              <a:t>Prerequisites</a:t>
            </a:r>
          </a:p>
          <a:p>
            <a:pPr lvl="0" indent="0" marL="1270000">
              <a:buNone/>
            </a:pPr>
            <a:r>
              <a:rPr sz="2000"/>
              <a:t>Before completing this submodule, please carefully read about the necessary prerequisites.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Setting up Quarto</a:t>
            </a:r>
          </a:p>
          <a:p>
            <a:pPr lvl="0" indent="0" marL="0">
              <a:buNone/>
            </a:pPr>
            <a:r>
              <a:rPr/>
              <a:t>During this session, we will be using Quarto from RStudio. To set up Quarto, follow these steps:</a:t>
            </a:r>
          </a:p>
          <a:p>
            <a:pPr lvl="0" indent="-342900" marL="342900">
              <a:buAutoNum type="arabicPeriod"/>
            </a:pPr>
            <a:r>
              <a:rPr/>
              <a:t>Open RStudio</a:t>
            </a:r>
          </a:p>
          <a:p>
            <a:pPr lvl="0" indent="-342900" marL="342900">
              <a:buAutoNum type="arabicPeriod"/>
            </a:pPr>
            <a:r>
              <a:rPr/>
              <a:t>Install the most recent version of Quarto </a:t>
            </a:r>
            <a:r>
              <a:rPr>
                <a:hlinkClick r:id="rId3"/>
              </a:rPr>
              <a:t>here</a:t>
            </a:r>
          </a:p>
          <a:p>
            <a:pPr lvl="0" indent="-342900" marL="342900">
              <a:buAutoNum type="arabicPeriod"/>
            </a:pPr>
            <a:r>
              <a:rPr/>
              <a:t>In RStudio, go to the Terminal tab and install </a:t>
            </a:r>
            <a:r>
              <a:rPr>
                <a:hlinkClick r:id="rId4"/>
              </a:rPr>
              <a:t>tinytex</a:t>
            </a:r>
            <a:r>
              <a:rPr/>
              <a:t> by typing </a:t>
            </a:r>
            <a:r>
              <a:rPr>
                <a:latin typeface="Courier"/>
              </a:rPr>
              <a:t>quarto install tinytex</a:t>
            </a:r>
            <a:r>
              <a:rPr/>
              <a:t> into your terminal</a:t>
            </a:r>
          </a:p>
          <a:p>
            <a:pPr lvl="0" indent="-342900" marL="342900">
              <a:buAutoNum type="arabicPeriod"/>
            </a:pPr>
            <a:r>
              <a:rPr/>
              <a:t>Type </a:t>
            </a:r>
            <a:r>
              <a:rPr>
                <a:latin typeface="Courier"/>
              </a:rPr>
              <a:t>quarto --version</a:t>
            </a:r>
            <a:r>
              <a:rPr/>
              <a:t> into the terminal to check with version of Quarto you are using (should be 1.7 or higher)</a:t>
            </a:r>
          </a:p>
          <a:p>
            <a:pPr lvl="0" indent="0" marL="1270000">
              <a:buNone/>
            </a:pPr>
            <a:r>
              <a:rPr sz="2000" b="1"/>
              <a:t>Important</a:t>
            </a:r>
          </a:p>
          <a:p>
            <a:pPr lvl="0" indent="0" marL="1270000">
              <a:buNone/>
            </a:pPr>
            <a:r>
              <a:rPr sz="2000"/>
              <a:t>Make sure to have a recent version of </a:t>
            </a:r>
            <a:r>
              <a:rPr sz="2000">
                <a:hlinkClick r:id="rId5"/>
              </a:rPr>
              <a:t>R</a:t>
            </a:r>
            <a:r>
              <a:rPr sz="2000"/>
              <a:t> (Version 4.4.3 or higher) and </a:t>
            </a:r>
            <a:r>
              <a:rPr sz="2000">
                <a:hlinkClick r:id="rId6"/>
              </a:rPr>
              <a:t>RStudio</a:t>
            </a:r>
            <a:r>
              <a:rPr sz="2000"/>
              <a:t> (Version 2025.05.1+513 or higher) installed before you install/update Quarto. For installing R and RStudio, see </a:t>
            </a:r>
            <a:r>
              <a:rPr sz="2000">
                <a:hlinkClick r:id="rId7"/>
              </a:rPr>
              <a:t>here</a:t>
            </a:r>
            <a:r>
              <a:rPr sz="2000"/>
              <a:t>.</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Questions from previous submodule?</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Before we start: Survey time!</a:t>
            </a:r>
          </a:p>
          <a:p>
            <a:pPr lvl="0" indent="0" marL="0">
              <a:buNone/>
            </a:pPr>
            <a:r>
              <a:rPr/>
              <a:t>Click on the following link or scan the QR code to test your prior Quarto knowledge: </a:t>
            </a:r>
            <a:r>
              <a:rPr>
                <a:hlinkClick r:id="rId2"/>
              </a:rPr>
              <a:t>Quarto Survey</a:t>
            </a:r>
          </a:p>
        </p:txBody>
      </p:sp>
      <p:pic>
        <p:nvPicPr>
          <p:cNvPr descr="images/00_particify.png" id="0" name="Picture 1"/>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Starting Survey</a:t>
            </a:r>
          </a:p>
          <a:p>
            <a:pPr lvl="0" indent="0" marL="1270000">
              <a:buNone/>
            </a:pPr>
            <a:r>
              <a:rPr sz="2000"/>
              <a:t>Please complete survey labeled “OS-M3-S6-Quarto_starting_survey”.</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Discussion of survey results</a:t>
            </a:r>
          </a:p>
          <a:p>
            <a:pPr lvl="0" indent="0" marL="0">
              <a:buNone/>
            </a:pPr>
          </a:p>
          <a:p>
            <a:pPr lvl="0" indent="0" marL="0">
              <a:buNone/>
            </a:pPr>
            <a:r>
              <a:rPr/>
              <a:t>What do we see in the results?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Where are we at?</a:t>
            </a:r>
          </a:p>
          <a:p>
            <a:pPr lvl="0" indent="0" marL="0">
              <a:buNone/>
            </a:pPr>
            <a:r>
              <a:rPr b="1"/>
              <a:t>Previously</a:t>
            </a:r>
            <a:r>
              <a:rPr/>
              <a:t>:</a:t>
            </a:r>
          </a:p>
          <a:p>
            <a:pPr lvl="0"/>
            <a:r>
              <a:rPr/>
              <a:t>Basic and advanced R skills (data manipulation, plotting, etc.)</a:t>
            </a:r>
          </a:p>
          <a:p>
            <a:pPr lvl="0"/>
            <a:r>
              <a:rPr/>
              <a:t>Introduction to version control using Git</a:t>
            </a:r>
          </a:p>
          <a:p>
            <a:pPr lvl="0"/>
            <a:r>
              <a:rPr/>
              <a:t>Collaborative coding using GitHub</a:t>
            </a:r>
          </a:p>
          <a:p>
            <a:pPr lvl="0" indent="0" marL="0">
              <a:buNone/>
            </a:pPr>
            <a:r>
              <a:rPr b="1"/>
              <a:t>Up next</a:t>
            </a:r>
            <a:r>
              <a:rPr/>
              <a:t>:</a:t>
            </a:r>
          </a:p>
          <a:p>
            <a:pPr lvl="0"/>
            <a:r>
              <a:rPr/>
              <a:t>Combining text, code, and media to create a simple website</a:t>
            </a:r>
          </a:p>
          <a:p>
            <a:pPr lvl="0"/>
            <a:r>
              <a:rPr/>
              <a:t>Publishing the website on GitHub</a:t>
            </a:r>
          </a:p>
          <a:p>
            <a:pPr lvl="0" indent="0" marL="1270000">
              <a:buNone/>
            </a:pPr>
            <a:r>
              <a:rPr sz="2000" b="1"/>
              <a:t>Quarto and Open Science</a:t>
            </a:r>
          </a:p>
          <a:p>
            <a:pPr lvl="0" indent="0" marL="1270000">
              <a:buNone/>
            </a:pPr>
            <a:r>
              <a:rPr sz="2000" b="1"/>
              <a:t>Quarto</a:t>
            </a:r>
            <a:r>
              <a:rPr sz="2000"/>
              <a:t> is a tool that can help us connect ideas, data, and people through open and reproducible research.</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Covered in this session</a:t>
            </a:r>
          </a:p>
          <a:p>
            <a:pPr lvl="0"/>
            <a:r>
              <a:rPr b="1"/>
              <a:t>Key terms and definitions</a:t>
            </a:r>
            <a:r>
              <a:rPr/>
              <a:t>: Understanding core concepts in Quarto</a:t>
            </a:r>
          </a:p>
          <a:p>
            <a:pPr lvl="0"/>
            <a:r>
              <a:rPr b="1"/>
              <a:t>Setting up Quarto</a:t>
            </a:r>
            <a:r>
              <a:rPr/>
              <a:t>: Opening a Quarto document in RStudio</a:t>
            </a:r>
          </a:p>
          <a:p>
            <a:pPr lvl="0"/>
            <a:r>
              <a:rPr b="1"/>
              <a:t>Authoring</a:t>
            </a:r>
            <a:r>
              <a:rPr/>
              <a:t>: Writing text and structuring content in Quarto</a:t>
            </a:r>
          </a:p>
          <a:p>
            <a:pPr lvl="0"/>
            <a:r>
              <a:rPr b="1"/>
              <a:t>Code chunks</a:t>
            </a:r>
            <a:r>
              <a:rPr/>
              <a:t>: Running and displaying code in Quarto</a:t>
            </a:r>
          </a:p>
          <a:p>
            <a:pPr lvl="0"/>
            <a:r>
              <a:rPr b="1"/>
              <a:t>Additional authoring features</a:t>
            </a:r>
            <a:r>
              <a:rPr/>
              <a:t>: Inserting images and links in Quarto</a:t>
            </a:r>
          </a:p>
          <a:p>
            <a:pPr lvl="0"/>
            <a:r>
              <a:rPr b="1"/>
              <a:t>Citations</a:t>
            </a:r>
            <a:r>
              <a:rPr/>
              <a:t>: Adding citations and bibliography with Zotero in Quarto</a:t>
            </a:r>
          </a:p>
          <a:p>
            <a:pPr lvl="0"/>
            <a:r>
              <a:rPr b="1"/>
              <a:t>Publishing</a:t>
            </a:r>
            <a:r>
              <a:rPr/>
              <a:t>: Sharing your Quarto document on GitHub</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Learning goals</a:t>
            </a:r>
          </a:p>
          <a:p>
            <a:pPr lvl="0" indent="0" marL="0">
              <a:buNone/>
            </a:pPr>
            <a:r>
              <a:rPr/>
              <a:t>At the end of this session, you should be able to:</a:t>
            </a:r>
          </a:p>
          <a:p>
            <a:pPr lvl="0"/>
            <a:r>
              <a:rPr b="1"/>
              <a:t>Create</a:t>
            </a:r>
            <a:r>
              <a:rPr/>
              <a:t>, </a:t>
            </a:r>
            <a:r>
              <a:rPr b="1"/>
              <a:t>edit</a:t>
            </a:r>
            <a:r>
              <a:rPr/>
              <a:t>, and </a:t>
            </a:r>
            <a:r>
              <a:rPr b="1"/>
              <a:t>render</a:t>
            </a:r>
            <a:r>
              <a:rPr/>
              <a:t> Quarto documents</a:t>
            </a:r>
          </a:p>
          <a:p>
            <a:pPr lvl="0"/>
            <a:r>
              <a:rPr b="1"/>
              <a:t>Use key Quarto features</a:t>
            </a:r>
            <a:r>
              <a:rPr/>
              <a:t> like code chunks, YAML headers, citations, and output formatting</a:t>
            </a:r>
          </a:p>
          <a:p>
            <a:pPr lvl="0"/>
            <a:r>
              <a:rPr b="1"/>
              <a:t>Insert citations</a:t>
            </a:r>
            <a:r>
              <a:rPr/>
              <a:t> and </a:t>
            </a:r>
            <a:r>
              <a:rPr b="1"/>
              <a:t>generate a bibliography</a:t>
            </a:r>
            <a:r>
              <a:rPr/>
              <a:t> with Zotero directly into the Quarto document</a:t>
            </a:r>
          </a:p>
          <a:p>
            <a:pPr lvl="0"/>
            <a:r>
              <a:rPr b="1"/>
              <a:t>Publish</a:t>
            </a:r>
            <a:r>
              <a:rPr/>
              <a:t> and </a:t>
            </a:r>
            <a:r>
              <a:rPr b="1"/>
              <a:t>share</a:t>
            </a:r>
            <a:r>
              <a:rPr/>
              <a:t> your work using GitHub Pages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Key terms and definitions</a:t>
            </a:r>
          </a:p>
          <a:p>
            <a:pPr lvl="0"/>
            <a:r>
              <a:rPr b="1"/>
              <a:t>.qmd file</a:t>
            </a:r>
          </a:p>
          <a:p>
            <a:pPr lvl="0"/>
            <a:r>
              <a:rPr b="1"/>
              <a:t>YAML header</a:t>
            </a:r>
          </a:p>
          <a:p>
            <a:pPr lvl="0"/>
            <a:r>
              <a:rPr b="1"/>
              <a:t>Code chunks</a:t>
            </a:r>
          </a:p>
          <a:p>
            <a:pPr lvl="0"/>
            <a:r>
              <a:rPr b="1"/>
              <a:t>Quarto markdown text</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Key terms and definitions</a:t>
            </a:r>
          </a:p>
          <a:p>
            <a:pPr lvl="0"/>
            <a:r>
              <a:rPr b="1"/>
              <a:t>.qmd file</a:t>
            </a:r>
            <a:r>
              <a:rPr/>
              <a:t>: The type of file the Quarto document is saved as.</a:t>
            </a:r>
          </a:p>
          <a:p>
            <a:pPr lvl="0"/>
            <a:r>
              <a:rPr b="1"/>
              <a:t>YAML header</a:t>
            </a:r>
            <a:r>
              <a:rPr/>
              <a:t>: The section at the top of the Quarto document that controls settings like the title, output format, and author.</a:t>
            </a:r>
          </a:p>
          <a:p>
            <a:pPr lvl="0"/>
            <a:r>
              <a:rPr b="1"/>
              <a:t>Code chunks</a:t>
            </a:r>
            <a:r>
              <a:rPr/>
              <a:t>: The sections of the document that contain code (from R or Python, for example) that are used for showing results such as tables, plots, or calculations.</a:t>
            </a:r>
          </a:p>
          <a:p>
            <a:pPr lvl="0"/>
            <a:r>
              <a:rPr b="1"/>
              <a:t>Quarto markdown text</a:t>
            </a:r>
            <a:r>
              <a:rPr/>
              <a:t>: Text written using Markdown syntax to structure and format the content of a document.</a:t>
            </a:r>
          </a:p>
          <a:p>
            <a:pPr lvl="0" indent="0" marL="1270000">
              <a:buNone/>
            </a:pPr>
            <a:r>
              <a:rPr sz="2000" b="1"/>
              <a:t>Note</a:t>
            </a:r>
          </a:p>
          <a:p>
            <a:pPr lvl="0" indent="0" marL="1270000">
              <a:buNone/>
            </a:pPr>
            <a:r>
              <a:rPr sz="2000"/>
              <a:t>The </a:t>
            </a:r>
            <a:r>
              <a:rPr sz="2000" b="1"/>
              <a:t>YAML header, code chunks, and markdown text</a:t>
            </a:r>
            <a:r>
              <a:rPr sz="2000"/>
              <a:t> are the </a:t>
            </a:r>
            <a:r>
              <a:rPr sz="2000" b="1"/>
              <a:t>components</a:t>
            </a:r>
            <a:r>
              <a:rPr sz="2000"/>
              <a:t> of the </a:t>
            </a:r>
            <a:r>
              <a:rPr sz="2000" i="1"/>
              <a:t>.qmd file</a:t>
            </a:r>
            <a:r>
              <a:rPr sz="2000"/>
              <a: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What is Quarto?</a:t>
            </a:r>
          </a:p>
          <a:p>
            <a:pPr lvl="0" indent="0" marL="0">
              <a:buNone/>
            </a:pPr>
            <a:r>
              <a:rPr/>
              <a:t>An </a:t>
            </a:r>
            <a:r>
              <a:rPr b="1"/>
              <a:t>open-source scientific and publishing system</a:t>
            </a:r>
            <a:r>
              <a:rPr/>
              <a:t> that combines text, code and media to produce transparent and reproducible work that can be freely accessed by others.</a:t>
            </a:r>
          </a:p>
          <a:p>
            <a:pPr lvl="0" indent="0" marL="0">
              <a:buNone/>
            </a:pPr>
            <a:r>
              <a:rPr/>
              <a:t>With Quarto, you can easily:</a:t>
            </a:r>
          </a:p>
          <a:p>
            <a:pPr lvl="0"/>
            <a:r>
              <a:rPr b="1"/>
              <a:t>Analyze</a:t>
            </a:r>
            <a:r>
              <a:rPr/>
              <a:t> data, text, or research content</a:t>
            </a:r>
          </a:p>
          <a:p>
            <a:pPr lvl="0"/>
            <a:r>
              <a:rPr b="1"/>
              <a:t>Share</a:t>
            </a:r>
            <a:r>
              <a:rPr/>
              <a:t> results and outputs like reports, slides, or websites</a:t>
            </a:r>
          </a:p>
          <a:p>
            <a:pPr lvl="0"/>
            <a:r>
              <a:rPr b="1"/>
              <a:t>Reproduce</a:t>
            </a:r>
            <a:r>
              <a:rPr/>
              <a:t> entire workflows</a:t>
            </a:r>
          </a:p>
          <a:p>
            <a:pPr lvl="0" indent="0" marL="1270000">
              <a:buNone/>
            </a:pPr>
            <a:r>
              <a:rPr sz="2000" b="1"/>
              <a:t>Quarto Website</a:t>
            </a:r>
          </a:p>
          <a:p>
            <a:pPr lvl="0" indent="0" marL="1270000">
              <a:buNone/>
            </a:pPr>
            <a:r>
              <a:rPr sz="2000"/>
              <a:t>You can always check out the </a:t>
            </a:r>
            <a:r>
              <a:rPr sz="2000">
                <a:hlinkClick r:id="rId3"/>
              </a:rPr>
              <a:t>Quarto Website</a:t>
            </a:r>
            <a:r>
              <a:rPr sz="2000"/>
              <a:t> to learn more.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So, why Quarto?</a:t>
            </a:r>
          </a:p>
          <a:p>
            <a:pPr lvl="0" indent="-342900" marL="342900">
              <a:buAutoNum type="arabicPeriod"/>
            </a:pPr>
            <a:r>
              <a:rPr b="1"/>
              <a:t>Readability</a:t>
            </a:r>
            <a:r>
              <a:rPr/>
              <a:t>: Research is more </a:t>
            </a:r>
            <a:r>
              <a:rPr b="1"/>
              <a:t>accessible</a:t>
            </a:r>
            <a:r>
              <a:rPr/>
              <a:t> when results, explanations, and code are presented in a way that is easy to read and understand.</a:t>
            </a:r>
          </a:p>
          <a:p>
            <a:pPr lvl="0" indent="0" marL="0">
              <a:buNone/>
            </a:pPr>
            <a:r>
              <a:rPr/>
              <a:t>Take a look at these 2 examples. Which side is easier to read?</a:t>
            </a:r>
          </a:p>
          <a:p>
            <a:pPr lvl="0" indent="0" marL="0">
              <a:buNone/>
            </a:pPr>
            <a:r>
              <a:rPr i="1"/>
              <a:t>Side A</a:t>
            </a:r>
          </a:p>
          <a:p>
            <a:pPr lvl="0" indent="0">
              <a:buNone/>
            </a:pPr>
            <a:r>
              <a:rPr>
                <a:latin typeface="Courier"/>
              </a:rPr>
              <a:t>With **Quarto**, combine into *one single document*:
- text 
- media
- code
For example, easily calculate and display the difference between two sets:
```r
set1 &lt;- c(6.8, 7.0, 6.9)
set2 &lt;- c(7.6, 7.9, 7.8)
mean(set2) - mean(set1)
```</a:t>
            </a:r>
          </a:p>
          <a:p>
            <a:pPr lvl="0" indent="0" marL="0">
              <a:buNone/>
            </a:pPr>
            <a:r>
              <a:rPr i="1"/>
              <a:t>Side B</a:t>
            </a:r>
          </a:p>
          <a:p>
            <a:pPr lvl="0" indent="0" marL="0">
              <a:buNone/>
            </a:pPr>
            <a:r>
              <a:rPr/>
              <a:t>With </a:t>
            </a:r>
            <a:r>
              <a:rPr b="1"/>
              <a:t>Quarto</a:t>
            </a:r>
            <a:r>
              <a:rPr/>
              <a:t>, combine into </a:t>
            </a:r>
            <a:r>
              <a:rPr i="1"/>
              <a:t>one single document</a:t>
            </a:r>
            <a:r>
              <a:rPr/>
              <a:t>:</a:t>
            </a:r>
          </a:p>
          <a:p>
            <a:pPr lvl="0"/>
            <a:r>
              <a:rPr/>
              <a:t>text</a:t>
            </a:r>
          </a:p>
          <a:p>
            <a:pPr lvl="0"/>
            <a:r>
              <a:rPr/>
              <a:t>media</a:t>
            </a:r>
          </a:p>
          <a:p>
            <a:pPr lvl="0"/>
            <a:r>
              <a:rPr/>
              <a:t>code</a:t>
            </a:r>
          </a:p>
          <a:p>
            <a:pPr lvl="0" indent="0" marL="0">
              <a:buNone/>
            </a:pPr>
            <a:r>
              <a:rPr/>
              <a:t>For example, easily calculate and display the difference between two sets:</a:t>
            </a:r>
          </a:p>
          <a:p>
            <a:pPr lvl="0" indent="0">
              <a:buNone/>
            </a:pPr>
            <a:r>
              <a:rPr>
                <a:solidFill>
                  <a:srgbClr val="003B4F"/>
                </a:solidFill>
                <a:latin typeface="Courier"/>
              </a:rPr>
              <a:t>set1 &lt;- </a:t>
            </a:r>
            <a:r>
              <a:rPr>
                <a:solidFill>
                  <a:srgbClr val="4758AB"/>
                </a:solidFill>
                <a:latin typeface="Courier"/>
              </a:rPr>
              <a:t>c</a:t>
            </a:r>
            <a:r>
              <a:rPr>
                <a:solidFill>
                  <a:srgbClr val="003B4F"/>
                </a:solidFill>
                <a:latin typeface="Courier"/>
              </a:rPr>
              <a:t>(</a:t>
            </a:r>
            <a:r>
              <a:rPr>
                <a:solidFill>
                  <a:srgbClr val="AD0000"/>
                </a:solidFill>
                <a:latin typeface="Courier"/>
              </a:rPr>
              <a:t>6.8</a:t>
            </a:r>
            <a:r>
              <a:rPr>
                <a:solidFill>
                  <a:srgbClr val="003B4F"/>
                </a:solidFill>
                <a:latin typeface="Courier"/>
              </a:rPr>
              <a:t>, </a:t>
            </a:r>
            <a:r>
              <a:rPr>
                <a:solidFill>
                  <a:srgbClr val="AD0000"/>
                </a:solidFill>
                <a:latin typeface="Courier"/>
              </a:rPr>
              <a:t>7.0</a:t>
            </a:r>
            <a:r>
              <a:rPr>
                <a:solidFill>
                  <a:srgbClr val="003B4F"/>
                </a:solidFill>
                <a:latin typeface="Courier"/>
              </a:rPr>
              <a:t>, </a:t>
            </a:r>
            <a:r>
              <a:rPr>
                <a:solidFill>
                  <a:srgbClr val="AD0000"/>
                </a:solidFill>
                <a:latin typeface="Courier"/>
              </a:rPr>
              <a:t>6.9</a:t>
            </a:r>
            <a:r>
              <a:rPr>
                <a:solidFill>
                  <a:srgbClr val="003B4F"/>
                </a:solidFill>
                <a:latin typeface="Courier"/>
              </a:rPr>
              <a:t>)</a:t>
            </a:r>
            <a:br/>
            <a:r>
              <a:rPr>
                <a:solidFill>
                  <a:srgbClr val="003B4F"/>
                </a:solidFill>
                <a:latin typeface="Courier"/>
              </a:rPr>
              <a:t>set2 &lt;- </a:t>
            </a:r>
            <a:r>
              <a:rPr>
                <a:solidFill>
                  <a:srgbClr val="4758AB"/>
                </a:solidFill>
                <a:latin typeface="Courier"/>
              </a:rPr>
              <a:t>c</a:t>
            </a:r>
            <a:r>
              <a:rPr>
                <a:solidFill>
                  <a:srgbClr val="003B4F"/>
                </a:solidFill>
                <a:latin typeface="Courier"/>
              </a:rPr>
              <a:t>(</a:t>
            </a:r>
            <a:r>
              <a:rPr>
                <a:solidFill>
                  <a:srgbClr val="AD0000"/>
                </a:solidFill>
                <a:latin typeface="Courier"/>
              </a:rPr>
              <a:t>7.6</a:t>
            </a:r>
            <a:r>
              <a:rPr>
                <a:solidFill>
                  <a:srgbClr val="003B4F"/>
                </a:solidFill>
                <a:latin typeface="Courier"/>
              </a:rPr>
              <a:t>, </a:t>
            </a:r>
            <a:r>
              <a:rPr>
                <a:solidFill>
                  <a:srgbClr val="AD0000"/>
                </a:solidFill>
                <a:latin typeface="Courier"/>
              </a:rPr>
              <a:t>7.9</a:t>
            </a:r>
            <a:r>
              <a:rPr>
                <a:solidFill>
                  <a:srgbClr val="003B4F"/>
                </a:solidFill>
                <a:latin typeface="Courier"/>
              </a:rPr>
              <a:t>, </a:t>
            </a:r>
            <a:r>
              <a:rPr>
                <a:solidFill>
                  <a:srgbClr val="AD0000"/>
                </a:solidFill>
                <a:latin typeface="Courier"/>
              </a:rPr>
              <a:t>7.8</a:t>
            </a:r>
            <a:r>
              <a:rPr>
                <a:solidFill>
                  <a:srgbClr val="003B4F"/>
                </a:solidFill>
                <a:latin typeface="Courier"/>
              </a:rPr>
              <a:t>)</a:t>
            </a:r>
            <a:br/>
            <a:br/>
            <a:r>
              <a:rPr>
                <a:solidFill>
                  <a:srgbClr val="4758AB"/>
                </a:solidFill>
                <a:latin typeface="Courier"/>
              </a:rPr>
              <a:t>mean</a:t>
            </a:r>
            <a:r>
              <a:rPr>
                <a:solidFill>
                  <a:srgbClr val="003B4F"/>
                </a:solidFill>
                <a:latin typeface="Courier"/>
              </a:rPr>
              <a:t>(set2) </a:t>
            </a:r>
            <a:r>
              <a:rPr>
                <a:solidFill>
                  <a:srgbClr val="5E5E5E"/>
                </a:solidFill>
                <a:latin typeface="Courier"/>
              </a:rPr>
              <a:t>-</a:t>
            </a:r>
            <a:r>
              <a:rPr>
                <a:solidFill>
                  <a:srgbClr val="003B4F"/>
                </a:solidFill>
                <a:latin typeface="Courier"/>
              </a:rPr>
              <a:t> </a:t>
            </a:r>
            <a:r>
              <a:rPr>
                <a:solidFill>
                  <a:srgbClr val="4758AB"/>
                </a:solidFill>
                <a:latin typeface="Courier"/>
              </a:rPr>
              <a:t>mean</a:t>
            </a:r>
            <a:r>
              <a:rPr>
                <a:solidFill>
                  <a:srgbClr val="003B4F"/>
                </a:solidFill>
                <a:latin typeface="Courier"/>
              </a:rPr>
              <a:t>(set1)</a:t>
            </a:r>
          </a:p>
          <a:p>
            <a:pPr lvl="0" indent="0">
              <a:buNone/>
            </a:pPr>
            <a:r>
              <a:rPr>
                <a:latin typeface="Courier"/>
              </a:rPr>
              <a:t>[1] 0.8666667</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So, why Quarto?</a:t>
            </a:r>
          </a:p>
          <a:p>
            <a:pPr lvl="0" indent="-342900" marL="342900">
              <a:buAutoNum startAt="2" type="arabicPeriod"/>
            </a:pPr>
            <a:r>
              <a:rPr b="1"/>
              <a:t>Reproducibility</a:t>
            </a:r>
            <a:r>
              <a:rPr/>
              <a:t>: Research is more </a:t>
            </a:r>
            <a:r>
              <a:rPr b="1"/>
              <a:t>reliable</a:t>
            </a:r>
            <a:r>
              <a:rPr/>
              <a:t> when others can clearly see how results were produced and reproduce them from the original code and data.</a:t>
            </a:r>
          </a:p>
          <a:p>
            <a:pPr lvl="0" indent="0" marL="0">
              <a:buNone/>
            </a:pPr>
            <a:r>
              <a:rPr b="1"/>
              <a:t>Current challenges:</a:t>
            </a:r>
          </a:p>
          <a:p>
            <a:pPr lvl="0"/>
            <a:r>
              <a:rPr/>
              <a:t>Research outputs are often separated from the code that generated them</a:t>
            </a:r>
            <a:br/>
          </a:p>
          <a:p>
            <a:pPr lvl="0"/>
            <a:r>
              <a:rPr/>
              <a:t>Results can become outdated as analyses change</a:t>
            </a:r>
            <a:br/>
          </a:p>
          <a:p>
            <a:pPr lvl="0"/>
            <a:r>
              <a:rPr/>
              <a:t>It can be difficult to share workflows clearly with others</a:t>
            </a:r>
          </a:p>
          <a:p>
            <a:pPr lvl="0" indent="0" marL="0">
              <a:buNone/>
            </a:pPr>
            <a:r>
              <a:rPr b="1"/>
              <a:t>How Quarto can help:</a:t>
            </a:r>
          </a:p>
          <a:p>
            <a:pPr lvl="0"/>
            <a:r>
              <a:rPr/>
              <a:t>Keeps text, code, and results in a single, executable document</a:t>
            </a:r>
            <a:br/>
          </a:p>
          <a:p>
            <a:pPr lvl="0"/>
            <a:r>
              <a:rPr/>
              <a:t>Ensures results are regenerated directly from the underlying code</a:t>
            </a:r>
            <a:br/>
          </a:p>
          <a:p>
            <a:pPr lvl="0"/>
            <a:r>
              <a:rPr/>
              <a:t>Supports transparent and shareable research workflows</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“Rendering” in Quarto</a:t>
            </a:r>
          </a:p>
          <a:p>
            <a:pPr lvl="0" indent="0" marL="0">
              <a:buNone/>
            </a:pPr>
            <a:r>
              <a:rPr/>
              <a:t>What is </a:t>
            </a:r>
            <a:r>
              <a:rPr b="1"/>
              <a:t>rendering</a:t>
            </a:r>
            <a:r>
              <a:rPr/>
              <a:t>? The process where Quarto runs the code, combines it with the text, and creates a final output.</a:t>
            </a:r>
          </a:p>
          <a:p>
            <a:pPr lvl="0"/>
            <a:r>
              <a:rPr/>
              <a:t>There are two ways to render in Quarto:</a:t>
            </a:r>
          </a:p>
          <a:p>
            <a:pPr lvl="1"/>
            <a:r>
              <a:rPr b="1"/>
              <a:t>Render on Save</a:t>
            </a:r>
            <a:r>
              <a:rPr/>
              <a:t>: Quarto will automatically re-render the document each time you click “Save”</a:t>
            </a:r>
          </a:p>
          <a:p>
            <a:pPr lvl="1"/>
            <a:r>
              <a:rPr b="1"/>
              <a:t>Manual Rendering</a:t>
            </a:r>
            <a:r>
              <a:rPr/>
              <a:t>: You have to click on the “Render” each time you want to see the output</a:t>
            </a:r>
          </a:p>
        </p:txBody>
      </p:sp>
      <p:pic>
        <p:nvPicPr>
          <p:cNvPr descr="images/01_Render.png" id="0" name="Picture 1"/>
          <p:cNvPicPr>
            <a:picLocks noGrp="1" noChangeAspect="1"/>
          </p:cNvPicPr>
          <p:nvPr/>
        </p:nvPicPr>
        <p:blipFill>
          <a:blip r:embed="rId3"/>
          <a:stretch>
            <a:fillRect/>
          </a:stretch>
        </p:blipFill>
        <p:spPr bwMode="auto">
          <a:xfrm>
            <a:off x="3568700" y="1968500"/>
            <a:ext cx="5105400" cy="3429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You can find both </a:t>
            </a:r>
            <a:r>
              <a:rPr i="1"/>
              <a:t>Render on Save</a:t>
            </a:r>
            <a:r>
              <a:rPr/>
              <a:t> and </a:t>
            </a:r>
            <a:r>
              <a:rPr i="1"/>
              <a:t>Manual Rendering</a:t>
            </a:r>
            <a:r>
              <a:rPr/>
              <a:t> at the top of your workspace.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Quarto modes</a:t>
            </a:r>
          </a:p>
          <a:p>
            <a:pPr lvl="0" indent="0" marL="0">
              <a:buNone/>
            </a:pPr>
            <a:r>
              <a:rPr/>
              <a:t>You can write Quarto documents in </a:t>
            </a:r>
            <a:r>
              <a:rPr b="1"/>
              <a:t>Source mode</a:t>
            </a:r>
            <a:r>
              <a:rPr/>
              <a:t> or </a:t>
            </a:r>
            <a:r>
              <a:rPr b="1"/>
              <a:t>Visual mode</a:t>
            </a:r>
            <a:r>
              <a:rPr/>
              <a:t> in RStudio.</a:t>
            </a:r>
          </a:p>
          <a:p>
            <a:pPr lvl="0"/>
            <a:r>
              <a:rPr b="1"/>
              <a:t>Source mode</a:t>
            </a:r>
            <a:r>
              <a:rPr/>
              <a:t> allows you write directly in plain text/Markdown Syntax, allowing for more control and it’s closer to raw code</a:t>
            </a:r>
          </a:p>
          <a:p>
            <a:pPr lvl="0"/>
            <a:r>
              <a:rPr b="1"/>
              <a:t>Visual mode</a:t>
            </a:r>
            <a:r>
              <a:rPr/>
              <a:t> gives a WYSIWYM-style interface which is easier for beginners, but sometimes hides syntax</a:t>
            </a:r>
          </a:p>
          <a:p>
            <a:pPr lvl="0" indent="0" marL="1270000">
              <a:buNone/>
            </a:pPr>
            <a:r>
              <a:rPr sz="2000" b="1"/>
              <a:t>Note</a:t>
            </a:r>
          </a:p>
          <a:p>
            <a:pPr lvl="0" indent="0" marL="1270000">
              <a:buNone/>
            </a:pPr>
            <a:r>
              <a:rPr sz="2000"/>
              <a:t>Choosing modes is part of the </a:t>
            </a:r>
            <a:r>
              <a:rPr sz="2000" b="1"/>
              <a:t>authoring process</a:t>
            </a:r>
            <a:r>
              <a:rPr sz="2000"/>
              <a:t>, and it allows you to format the text, add code, and build your document.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Creating a Quarto document</a:t>
            </a:r>
          </a:p>
          <a:p>
            <a:pPr lvl="0" indent="0" marL="0">
              <a:buNone/>
            </a:pPr>
            <a:r>
              <a:rPr/>
              <a:t>These are the steps to </a:t>
            </a:r>
            <a:r>
              <a:rPr b="1"/>
              <a:t>create a Quarto Document</a:t>
            </a:r>
            <a:r>
              <a:rPr/>
              <a:t> in RStudio:</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02_Quarto_Setup.png" id="0" name="Picture 1"/>
          <p:cNvPicPr>
            <a:picLocks noGrp="1" noChangeAspect="1"/>
          </p:cNvPicPr>
          <p:nvPr/>
        </p:nvPicPr>
        <p:blipFill>
          <a:blip r:embed="rId3"/>
          <a:stretch>
            <a:fillRect/>
          </a:stretch>
        </p:blipFill>
        <p:spPr bwMode="auto">
          <a:xfrm>
            <a:off x="723900" y="1193800"/>
            <a:ext cx="3505200" cy="3390900"/>
          </a:xfrm>
          <a:prstGeom prst="rect">
            <a:avLst/>
          </a:prstGeom>
          <a:noFill/>
          <a:ln w="9525">
            <a:noFill/>
            <a:headEnd/>
            <a:tailEnd/>
          </a:ln>
        </p:spPr>
      </p:pic>
      <p:sp>
        <p:nvSpPr>
          <p:cNvPr id="4" name="Content Placeholder 3"/>
          <p:cNvSpPr>
            <a:spLocks noGrp="1"/>
          </p:cNvSpPr>
          <p:nvPr>
            <p:ph idx="2" sz="half"/>
          </p:nvPr>
        </p:nvSpPr>
        <p:spPr/>
        <p:txBody>
          <a:bodyPr/>
          <a:lstStyle/>
          <a:p>
            <a:pPr lvl="0"/>
            <a:r>
              <a:rPr/>
              <a:t>Select “</a:t>
            </a:r>
            <a:r>
              <a:rPr>
                <a:latin typeface="Courier"/>
              </a:rPr>
              <a:t>File</a:t>
            </a:r>
            <a:r>
              <a:rPr/>
              <a:t>”</a:t>
            </a:r>
            <a:br/>
          </a:p>
          <a:p>
            <a:pPr lvl="0"/>
            <a:r>
              <a:rPr/>
              <a:t>Select “</a:t>
            </a:r>
            <a:r>
              <a:rPr>
                <a:latin typeface="Courier"/>
              </a:rPr>
              <a:t>New File</a:t>
            </a:r>
            <a:r>
              <a:rPr/>
              <a:t>”</a:t>
            </a:r>
            <a:br/>
          </a:p>
          <a:p>
            <a:pPr lvl="0"/>
            <a:r>
              <a:rPr/>
              <a:t>Select “</a:t>
            </a:r>
            <a:r>
              <a:rPr>
                <a:latin typeface="Courier"/>
              </a:rPr>
              <a:t>Quarto Document</a:t>
            </a:r>
            <a:r>
              <a:rPr/>
              <a:t>”</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Setting up a Quarto document</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03_Quarto_Setup.png" id="0" name="Picture 1"/>
          <p:cNvPicPr>
            <a:picLocks noGrp="1" noChangeAspect="1"/>
          </p:cNvPicPr>
          <p:nvPr/>
        </p:nvPicPr>
        <p:blipFill>
          <a:blip r:embed="rId3"/>
          <a:stretch>
            <a:fillRect/>
          </a:stretch>
        </p:blipFill>
        <p:spPr bwMode="auto">
          <a:xfrm>
            <a:off x="571500" y="1193800"/>
            <a:ext cx="3822700" cy="3390900"/>
          </a:xfrm>
          <a:prstGeom prst="rect">
            <a:avLst/>
          </a:prstGeom>
          <a:noFill/>
          <a:ln w="9525">
            <a:noFill/>
            <a:headEnd/>
            <a:tailEnd/>
          </a:ln>
        </p:spPr>
      </p:pic>
      <p:sp>
        <p:nvSpPr>
          <p:cNvPr id="4" name="Content Placeholder 3"/>
          <p:cNvSpPr>
            <a:spLocks noGrp="1"/>
          </p:cNvSpPr>
          <p:nvPr>
            <p:ph idx="2" sz="half"/>
          </p:nvPr>
        </p:nvSpPr>
        <p:spPr/>
        <p:txBody>
          <a:bodyPr/>
          <a:lstStyle/>
          <a:p>
            <a:pPr lvl="0"/>
            <a:r>
              <a:rPr/>
              <a:t>You can set some of the YAML header details here:</a:t>
            </a:r>
          </a:p>
          <a:p>
            <a:pPr lvl="1"/>
            <a:r>
              <a:rPr/>
              <a:t>Put in the </a:t>
            </a:r>
            <a:r>
              <a:rPr>
                <a:latin typeface="Courier"/>
              </a:rPr>
              <a:t>title</a:t>
            </a:r>
            <a:r>
              <a:rPr/>
              <a:t> of your document</a:t>
            </a:r>
          </a:p>
          <a:p>
            <a:pPr lvl="1"/>
            <a:r>
              <a:rPr/>
              <a:t>Choose an </a:t>
            </a:r>
            <a:r>
              <a:rPr>
                <a:latin typeface="Courier"/>
              </a:rPr>
              <a:t>output format</a:t>
            </a:r>
            <a:r>
              <a:rPr/>
              <a:t> (the default format is HTML)</a:t>
            </a:r>
          </a:p>
          <a:p>
            <a:pPr lvl="1"/>
            <a:r>
              <a:rPr/>
              <a:t>Hit “</a:t>
            </a:r>
            <a:r>
              <a:rPr>
                <a:latin typeface="Courier"/>
              </a:rPr>
              <a:t>Create</a:t>
            </a:r>
            <a:r>
              <a:rPr/>
              <a:t>”</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1</a:t>
            </a:r>
          </a:p>
          <a:p>
            <a:pPr lvl="0"/>
            <a:r>
              <a:rPr/>
              <a:t>☐ Create a new folder on your device</a:t>
            </a:r>
          </a:p>
          <a:p>
            <a:pPr lvl="0"/>
            <a:r>
              <a:rPr/>
              <a:t>☐ Repeat the steps in the previous slides to create a new Quarto Document</a:t>
            </a:r>
          </a:p>
          <a:p>
            <a:pPr lvl="0"/>
            <a:r>
              <a:rPr/>
              <a:t>☐ Set the title as “Chicken Weights”</a:t>
            </a:r>
          </a:p>
          <a:p>
            <a:pPr lvl="0"/>
            <a:r>
              <a:rPr/>
              <a:t>☐ Use your name for the author</a:t>
            </a:r>
          </a:p>
          <a:p>
            <a:pPr lvl="0"/>
            <a:r>
              <a:rPr/>
              <a:t>☐ Select “</a:t>
            </a:r>
            <a:r>
              <a:rPr>
                <a:latin typeface="Courier"/>
              </a:rPr>
              <a:t>File</a:t>
            </a:r>
            <a:r>
              <a:rPr/>
              <a:t>” → “</a:t>
            </a:r>
            <a:r>
              <a:rPr>
                <a:latin typeface="Courier"/>
              </a:rPr>
              <a:t>Save As...</a:t>
            </a:r>
            <a:r>
              <a:rPr/>
              <a:t>” and save this Quarto Document in the folder you created</a:t>
            </a:r>
          </a:p>
          <a:p>
            <a:pPr lvl="0" indent="0" marL="1270000">
              <a:buNone/>
            </a:pPr>
            <a:r>
              <a:rPr sz="2000" b="1"/>
              <a:t>Why make a new folder?</a:t>
            </a:r>
          </a:p>
          <a:p>
            <a:pPr lvl="0" indent="0" marL="1270000">
              <a:buNone/>
            </a:pPr>
            <a:r>
              <a:rPr sz="2000"/>
              <a:t>Creating a folder on your device helps you stay organized! Keeping all the files (such as Quarto documents and images) in one designated folder makes it easier for you to store and retrieve all materials related to the project or exercise.</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Authoring a Quarto document</a:t>
            </a:r>
          </a:p>
          <a:p>
            <a:pPr lvl="0" indent="0" marL="0">
              <a:buNone/>
            </a:pPr>
            <a:r>
              <a:rPr/>
              <a:t>What is </a:t>
            </a:r>
            <a:r>
              <a:rPr b="1"/>
              <a:t>authoring</a:t>
            </a:r>
            <a:r>
              <a:rPr/>
              <a:t>?</a:t>
            </a:r>
          </a:p>
          <a:p>
            <a:pPr lvl="0"/>
            <a:r>
              <a:rPr/>
              <a:t>The process of writing and structuring the Quarto document.</a:t>
            </a:r>
          </a:p>
          <a:p>
            <a:pPr lvl="0"/>
            <a:r>
              <a:rPr/>
              <a:t>Consider it as a formula: </a:t>
            </a:r>
            <a:r>
              <a:rPr b="1"/>
              <a:t>Authoring = YAML Header + Markdown</a:t>
            </a:r>
          </a:p>
          <a:p>
            <a:pPr lvl="0" indent="0" marL="0">
              <a:buNone/>
            </a:pPr>
            <a:r>
              <a:rPr/>
              <a:t>To practice authoring in Quarto, let’s start with setting the YAML header and adding markdown text in </a:t>
            </a:r>
            <a:r>
              <a:rPr b="1"/>
              <a:t>Source mode</a:t>
            </a:r>
            <a:r>
              <a:rPr/>
              <a:t>.</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exericise 2</a:t>
            </a:r>
          </a:p>
          <a:p>
            <a:pPr lvl="0"/>
            <a:r>
              <a:rPr/>
              <a:t>☐ In </a:t>
            </a:r>
            <a:r>
              <a:rPr b="1"/>
              <a:t>Source mode</a:t>
            </a:r>
            <a:r>
              <a:rPr/>
              <a:t>, copy and paste the following into the YAML Header of your document:</a:t>
            </a:r>
          </a:p>
          <a:p>
            <a:pPr lvl="0" indent="0">
              <a:buNone/>
            </a:pPr>
            <a:r>
              <a:rPr>
                <a:solidFill>
                  <a:srgbClr val="AD0000"/>
                </a:solidFill>
                <a:latin typeface="Courier"/>
              </a:rPr>
              <a:t>---</a:t>
            </a:r>
            <a:br/>
            <a:r>
              <a:rPr>
                <a:solidFill>
                  <a:srgbClr val="4758AB"/>
                </a:solidFill>
                <a:latin typeface="Courier"/>
              </a:rPr>
              <a:t>title</a:t>
            </a:r>
            <a:r>
              <a:rPr b="1">
                <a:solidFill>
                  <a:srgbClr val="003B4F"/>
                </a:solidFill>
                <a:latin typeface="Courier"/>
              </a:rPr>
              <a:t>:</a:t>
            </a:r>
            <a:r>
              <a:rPr>
                <a:solidFill>
                  <a:srgbClr val="657422"/>
                </a:solidFill>
                <a:latin typeface="Courier"/>
              </a:rPr>
              <a:t> </a:t>
            </a:r>
            <a:r>
              <a:rPr>
                <a:solidFill>
                  <a:srgbClr val="20794D"/>
                </a:solidFill>
                <a:latin typeface="Courier"/>
              </a:rPr>
              <a:t>"ChickWeight Analysis"</a:t>
            </a:r>
            <a:br/>
            <a:r>
              <a:rPr>
                <a:solidFill>
                  <a:srgbClr val="4758AB"/>
                </a:solidFill>
                <a:latin typeface="Courier"/>
              </a:rPr>
              <a:t>author</a:t>
            </a:r>
            <a:r>
              <a:rPr b="1">
                <a:solidFill>
                  <a:srgbClr val="003B4F"/>
                </a:solidFill>
                <a:latin typeface="Courier"/>
              </a:rPr>
              <a:t>:</a:t>
            </a:r>
            <a:r>
              <a:rPr>
                <a:solidFill>
                  <a:srgbClr val="657422"/>
                </a:solidFill>
                <a:latin typeface="Courier"/>
              </a:rPr>
              <a:t> </a:t>
            </a:r>
            <a:r>
              <a:rPr>
                <a:solidFill>
                  <a:srgbClr val="20794D"/>
                </a:solidFill>
                <a:latin typeface="Courier"/>
              </a:rPr>
              <a:t>"Your Name"</a:t>
            </a:r>
            <a:br/>
            <a:r>
              <a:rPr>
                <a:solidFill>
                  <a:srgbClr val="4758AB"/>
                </a:solidFill>
                <a:latin typeface="Courier"/>
              </a:rPr>
              <a:t>format</a:t>
            </a:r>
            <a:r>
              <a:rPr b="1">
                <a:solidFill>
                  <a:srgbClr val="003B4F"/>
                </a:solidFill>
                <a:latin typeface="Courier"/>
              </a:rPr>
              <a:t>:</a:t>
            </a:r>
            <a:br/>
            <a:r>
              <a:rPr>
                <a:solidFill>
                  <a:srgbClr val="657422"/>
                </a:solidFill>
                <a:latin typeface="Courier"/>
              </a:rPr>
              <a:t>  </a:t>
            </a:r>
            <a:r>
              <a:rPr>
                <a:solidFill>
                  <a:srgbClr val="4758AB"/>
                </a:solidFill>
                <a:latin typeface="Courier"/>
              </a:rPr>
              <a:t>html</a:t>
            </a:r>
            <a:r>
              <a:rPr b="1">
                <a:solidFill>
                  <a:srgbClr val="003B4F"/>
                </a:solidFill>
                <a:latin typeface="Courier"/>
              </a:rPr>
              <a:t>:</a:t>
            </a:r>
            <a:br/>
            <a:r>
              <a:rPr>
                <a:solidFill>
                  <a:srgbClr val="657422"/>
                </a:solidFill>
                <a:latin typeface="Courier"/>
              </a:rPr>
              <a:t>    </a:t>
            </a:r>
            <a:r>
              <a:rPr>
                <a:solidFill>
                  <a:srgbClr val="4758AB"/>
                </a:solidFill>
                <a:latin typeface="Courier"/>
              </a:rPr>
              <a:t>code-fold</a:t>
            </a:r>
            <a:r>
              <a:rPr b="1">
                <a:solidFill>
                  <a:srgbClr val="003B4F"/>
                </a:solidFill>
                <a:latin typeface="Courier"/>
              </a:rPr>
              <a:t>:</a:t>
            </a:r>
            <a:r>
              <a:rPr>
                <a:solidFill>
                  <a:srgbClr val="657422"/>
                </a:solidFill>
                <a:latin typeface="Courier"/>
              </a:rPr>
              <a:t> </a:t>
            </a:r>
            <a:r>
              <a:rPr>
                <a:solidFill>
                  <a:srgbClr val="20794D"/>
                </a:solidFill>
                <a:latin typeface="Courier"/>
              </a:rPr>
              <a:t>false</a:t>
            </a:r>
            <a:br/>
            <a:r>
              <a:rPr>
                <a:solidFill>
                  <a:srgbClr val="657422"/>
                </a:solidFill>
                <a:latin typeface="Courier"/>
              </a:rPr>
              <a:t>    </a:t>
            </a:r>
            <a:r>
              <a:rPr>
                <a:solidFill>
                  <a:srgbClr val="4758AB"/>
                </a:solidFill>
                <a:latin typeface="Courier"/>
              </a:rPr>
              <a:t>toc</a:t>
            </a:r>
            <a:r>
              <a:rPr b="1">
                <a:solidFill>
                  <a:srgbClr val="003B4F"/>
                </a:solidFill>
                <a:latin typeface="Courier"/>
              </a:rPr>
              <a:t>:</a:t>
            </a:r>
            <a:r>
              <a:rPr>
                <a:solidFill>
                  <a:srgbClr val="657422"/>
                </a:solidFill>
                <a:latin typeface="Courier"/>
              </a:rPr>
              <a:t> </a:t>
            </a:r>
            <a:r>
              <a:rPr>
                <a:solidFill>
                  <a:srgbClr val="20794D"/>
                </a:solidFill>
                <a:latin typeface="Courier"/>
              </a:rPr>
              <a:t>true</a:t>
            </a:r>
            <a:br/>
            <a:r>
              <a:rPr>
                <a:solidFill>
                  <a:srgbClr val="AD0000"/>
                </a:solidFill>
                <a:latin typeface="Courier"/>
              </a:rPr>
              <a:t>---</a:t>
            </a:r>
          </a:p>
          <a:p>
            <a:pPr lvl="0" indent="0" marL="1270000">
              <a:buNone/>
            </a:pPr>
            <a:r>
              <a:rPr sz="2000" b="1"/>
              <a:t>Output format</a:t>
            </a:r>
          </a:p>
          <a:p>
            <a:pPr lvl="0" indent="0" marL="1270000">
              <a:buNone/>
            </a:pPr>
            <a:r>
              <a:rPr sz="2000"/>
              <a:t>In future projects, you can replace “html” to render the document to a different format.</a:t>
            </a:r>
          </a:p>
          <a:p>
            <a:pPr lvl="0" indent="0" marL="1270000">
              <a:buNone/>
            </a:pPr>
            <a:r>
              <a:rPr sz="2000"/>
              <a:t>Here is a link to a list of the different output formats.</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Authoring: Text formatting</a:t>
            </a:r>
          </a:p>
          <a:p>
            <a:pPr lvl="0" indent="0" marL="0">
              <a:buNone/>
            </a:pPr>
            <a:r>
              <a:rPr b="1"/>
              <a:t>Basic Markdown Text Formatting:</a:t>
            </a:r>
          </a:p>
          <a:p>
            <a:pPr lvl="0"/>
            <a:r>
              <a:rPr/>
              <a:t>bullet point: </a:t>
            </a:r>
            <a:r>
              <a:rPr>
                <a:latin typeface="Courier"/>
              </a:rPr>
              <a:t>- bullet point</a:t>
            </a:r>
          </a:p>
          <a:p>
            <a:pPr lvl="0"/>
            <a:r>
              <a:rPr b="1"/>
              <a:t>Bold:</a:t>
            </a:r>
            <a:r>
              <a:rPr/>
              <a:t> </a:t>
            </a:r>
            <a:r>
              <a:rPr>
                <a:latin typeface="Courier"/>
              </a:rPr>
              <a:t>**bold**</a:t>
            </a:r>
            <a:r>
              <a:rPr/>
              <a:t> → </a:t>
            </a:r>
            <a:r>
              <a:rPr b="1"/>
              <a:t>bold</a:t>
            </a:r>
          </a:p>
          <a:p>
            <a:pPr lvl="0"/>
            <a:r>
              <a:rPr i="1"/>
              <a:t>Italic:</a:t>
            </a:r>
            <a:r>
              <a:rPr/>
              <a:t> </a:t>
            </a:r>
            <a:r>
              <a:rPr>
                <a:latin typeface="Courier"/>
              </a:rPr>
              <a:t>*italic*</a:t>
            </a:r>
            <a:r>
              <a:rPr/>
              <a:t> → </a:t>
            </a:r>
            <a:r>
              <a:rPr i="1"/>
              <a:t>italic</a:t>
            </a:r>
          </a:p>
          <a:p>
            <a:pPr lvl="0"/>
            <a:r>
              <a:rPr strike="sngStrike"/>
              <a:t>Strikethrough:</a:t>
            </a:r>
            <a:r>
              <a:rPr/>
              <a:t> </a:t>
            </a:r>
            <a:r>
              <a:rPr>
                <a:latin typeface="Courier"/>
              </a:rPr>
              <a:t>~~text~~</a:t>
            </a:r>
            <a:r>
              <a:rPr/>
              <a:t> → </a:t>
            </a:r>
            <a:r>
              <a:rPr strike="sngStrike"/>
              <a:t>text</a:t>
            </a:r>
          </a:p>
          <a:p>
            <a:pPr lvl="0"/>
            <a:r>
              <a:rPr>
                <a:latin typeface="Courier"/>
              </a:rPr>
              <a:t>Inline code:</a:t>
            </a:r>
            <a:r>
              <a:rPr/>
              <a:t> </a:t>
            </a:r>
            <a:r>
              <a:rPr>
                <a:latin typeface="Courier"/>
              </a:rPr>
              <a:t>`code`</a:t>
            </a:r>
            <a:r>
              <a:rPr/>
              <a:t> → </a:t>
            </a:r>
            <a:r>
              <a:rPr>
                <a:latin typeface="Courier"/>
              </a:rPr>
              <a:t>code</a:t>
            </a:r>
          </a:p>
          <a:p>
            <a:pPr lvl="0" indent="0" marL="1270000">
              <a:buNone/>
            </a:pPr>
            <a:r>
              <a:rPr sz="2000" b="1"/>
              <a:t>Markdown text shortcuts</a:t>
            </a:r>
          </a:p>
          <a:p>
            <a:pPr lvl="0" indent="0" marL="1270000">
              <a:buNone/>
            </a:pPr>
            <a:r>
              <a:rPr sz="2000"/>
              <a:t>Here is a link for the full list of markdown text shortcuts for formatting!</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Authoring: Markdown text</a:t>
            </a:r>
          </a:p>
          <a:p>
            <a:pPr lvl="0" indent="0" marL="0">
              <a:buNone/>
            </a:pPr>
          </a:p>
          <a:p>
            <a:pPr lvl="0" indent="0">
              <a:buNone/>
            </a:pPr>
            <a:r>
              <a:rPr>
                <a:latin typeface="Courier"/>
              </a:rPr>
              <a:t>Have you ever wondered what affects a chick's weight? 
This document explores the ChickWeight dataset using R.  
The goal is to compare chick weight across different diets and time points.  
Key steps include:
- Loading the dataset  
- Visualizing growth trends  
- Summarizing results</a:t>
            </a:r>
          </a:p>
          <a:p>
            <a:pPr lvl="0" indent="0" marL="0">
              <a:buNone/>
            </a:pPr>
          </a:p>
          <a:p>
            <a:pPr lvl="0" indent="0" marL="0">
              <a:buNone/>
            </a:pPr>
            <a:r>
              <a:rPr/>
              <a:t>This is an example of </a:t>
            </a:r>
            <a:r>
              <a:rPr b="1"/>
              <a:t>markdown text</a:t>
            </a:r>
            <a:r>
              <a:rPr/>
              <a:t>. Let’s use it to continue authoring and building our document.</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3</a:t>
            </a:r>
          </a:p>
          <a:p>
            <a:pPr lvl="0"/>
            <a:r>
              <a:rPr/>
              <a:t>☐ Copy the markdown text from the previous slide and paste it to your document</a:t>
            </a:r>
          </a:p>
          <a:p>
            <a:pPr lvl="0"/>
            <a:r>
              <a:rPr/>
              <a:t>☐ Bold the word </a:t>
            </a:r>
            <a:r>
              <a:rPr i="1"/>
              <a:t>“ChickWeight”</a:t>
            </a:r>
          </a:p>
          <a:p>
            <a:pPr lvl="0"/>
            <a:r>
              <a:rPr/>
              <a:t>☐ Italicize the phrase </a:t>
            </a:r>
            <a:r>
              <a:rPr i="1"/>
              <a:t>“growth trends”</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Authoring: The callout box</a:t>
            </a:r>
          </a:p>
          <a:p>
            <a:pPr lvl="0" indent="0" marL="0">
              <a:buNone/>
            </a:pPr>
            <a:r>
              <a:rPr b="1"/>
              <a:t>Quarto callout boxes</a:t>
            </a:r>
            <a:r>
              <a:rPr/>
              <a:t> can highlight important aspects of your document or provide supplementary information.</a:t>
            </a:r>
          </a:p>
          <a:p>
            <a:pPr lvl="0" indent="0" marL="1270000">
              <a:buNone/>
            </a:pPr>
            <a:r>
              <a:rPr sz="2000" b="1"/>
              <a:t>Important with Title</a:t>
            </a:r>
          </a:p>
          <a:p>
            <a:pPr lvl="0" indent="0" marL="1270000">
              <a:buNone/>
            </a:pPr>
            <a:r>
              <a:rPr sz="2000"/>
              <a:t>This is an example of a callout box to highlight particularly important information using </a:t>
            </a:r>
            <a:r>
              <a:rPr sz="2000">
                <a:latin typeface="Courier"/>
              </a:rPr>
              <a:t>callout-important</a:t>
            </a:r>
          </a:p>
          <a:p>
            <a:pPr lvl="0" indent="0" marL="1270000">
              <a:buNone/>
            </a:pPr>
            <a:r>
              <a:rPr sz="2000" b="1"/>
              <a:t>Tip with Title</a:t>
            </a:r>
          </a:p>
          <a:p>
            <a:pPr lvl="0" indent="0" marL="1270000">
              <a:buNone/>
            </a:pPr>
            <a:r>
              <a:rPr sz="2000"/>
              <a:t>This is an example of a callout box to give important tips using </a:t>
            </a:r>
            <a:r>
              <a:rPr sz="2000">
                <a:latin typeface="Courier"/>
              </a:rPr>
              <a:t>callout-tip</a:t>
            </a:r>
          </a:p>
          <a:p>
            <a:pPr lvl="0" indent="0" marL="1270000">
              <a:buNone/>
            </a:pPr>
            <a:r>
              <a:rPr sz="2000" b="1"/>
              <a:t>Note with Title</a:t>
            </a:r>
          </a:p>
          <a:p>
            <a:pPr lvl="0" indent="0" marL="1270000">
              <a:buNone/>
            </a:pPr>
            <a:r>
              <a:rPr sz="2000"/>
              <a:t>This is an example of a callout box to include additional information or context using </a:t>
            </a:r>
            <a:r>
              <a:rPr sz="2000">
                <a:latin typeface="Courier"/>
              </a:rPr>
              <a:t>callout-note</a:t>
            </a:r>
          </a:p>
          <a:p>
            <a:pPr lvl="0" indent="0" marL="1270000">
              <a:buNone/>
            </a:pPr>
            <a:r>
              <a:rPr sz="2000" b="1"/>
              <a:t>Warning with Title</a:t>
            </a:r>
          </a:p>
          <a:p>
            <a:pPr lvl="0" indent="0" marL="1270000">
              <a:buNone/>
            </a:pPr>
            <a:r>
              <a:rPr sz="2000"/>
              <a:t>This is an example of a callout box to include additional information or context using </a:t>
            </a:r>
            <a:r>
              <a:rPr sz="2000">
                <a:latin typeface="Courier"/>
              </a:rPr>
              <a:t>callout-warning</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Authoring: Inserting a callout box</a:t>
            </a:r>
          </a:p>
          <a:p>
            <a:pPr lvl="0" indent="0" marL="0">
              <a:buNone/>
            </a:pPr>
            <a:r>
              <a:rPr/>
              <a:t>Here is the markdown text for inserting a </a:t>
            </a:r>
            <a:r>
              <a:rPr b="1"/>
              <a:t>callout note</a:t>
            </a:r>
            <a:r>
              <a:rPr/>
              <a:t> box:</a:t>
            </a:r>
          </a:p>
          <a:p>
            <a:pPr lvl="0" indent="0">
              <a:buNone/>
            </a:pPr>
            <a:r>
              <a:rPr>
                <a:latin typeface="Courier"/>
              </a:rPr>
              <a:t>::: callout-note
## Based on Real Data
The ChickWeight dataset in R is based on real experimental data.
:::
</a:t>
            </a:r>
          </a:p>
          <a:p>
            <a:pPr lvl="0" indent="0" marL="0">
              <a:buNone/>
            </a:pPr>
            <a:r>
              <a:rPr/>
              <a:t>Important elements:</a:t>
            </a:r>
          </a:p>
          <a:p>
            <a:pPr lvl="0"/>
            <a:r>
              <a:rPr/>
              <a:t>Begins and ends with three (!) colons </a:t>
            </a:r>
            <a:r>
              <a:rPr>
                <a:latin typeface="Courier"/>
              </a:rPr>
              <a:t>:::</a:t>
            </a:r>
          </a:p>
          <a:p>
            <a:pPr lvl="0"/>
            <a:r>
              <a:rPr/>
              <a:t>Specifies the style of the callout box with “</a:t>
            </a:r>
            <a:r>
              <a:rPr>
                <a:latin typeface="Courier"/>
              </a:rPr>
              <a:t>-note</a:t>
            </a:r>
            <a:r>
              <a:rPr/>
              <a:t>”</a:t>
            </a:r>
          </a:p>
          <a:p>
            <a:pPr lvl="0"/>
            <a:r>
              <a:rPr/>
              <a:t>The title of callout box is made by using </a:t>
            </a:r>
            <a:r>
              <a:rPr>
                <a:latin typeface="Courier"/>
              </a:rPr>
              <a:t>##</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4</a:t>
            </a:r>
          </a:p>
          <a:p>
            <a:pPr lvl="0"/>
            <a:r>
              <a:rPr/>
              <a:t>☐ Copy and paste the markdown text from the previous slide into your Quarto document to add this </a:t>
            </a:r>
            <a:r>
              <a:rPr>
                <a:latin typeface="Courier"/>
              </a:rPr>
              <a:t>callout-important</a:t>
            </a:r>
            <a:r>
              <a:rPr/>
              <a:t> box.</a:t>
            </a:r>
          </a:p>
          <a:p>
            <a:pPr lvl="0" indent="0" marL="0">
              <a:buNone/>
            </a:pPr>
          </a:p>
          <a:p>
            <a:pPr lvl="0" indent="0" marL="0">
              <a:buNone/>
            </a:pPr>
            <a:r>
              <a:rPr/>
              <a:t>When rendered, it should look like this:</a:t>
            </a:r>
          </a:p>
          <a:p>
            <a:pPr lvl="0" indent="0" marL="1270000">
              <a:buNone/>
            </a:pPr>
            <a:r>
              <a:rPr sz="2000" b="1"/>
              <a:t>Based on Real Data</a:t>
            </a:r>
          </a:p>
          <a:p>
            <a:pPr lvl="0" indent="0" marL="1270000">
              <a:buNone/>
            </a:pPr>
            <a:r>
              <a:rPr sz="2000"/>
              <a:t>The ChickWeight dataset in R is based on real experimental data.</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Code chunks</a:t>
            </a:r>
          </a:p>
          <a:p>
            <a:pPr lvl="0" indent="0" marL="0">
              <a:buNone/>
            </a:pPr>
            <a:r>
              <a:rPr/>
              <a:t>= </a:t>
            </a:r>
            <a:r>
              <a:rPr b="1"/>
              <a:t>Sections of the document</a:t>
            </a:r>
            <a:r>
              <a:rPr/>
              <a:t> where you can </a:t>
            </a:r>
            <a:r>
              <a:rPr b="1"/>
              <a:t>write and execute</a:t>
            </a:r>
            <a:r>
              <a:rPr/>
              <a:t> pieces of </a:t>
            </a:r>
            <a:r>
              <a:rPr b="1"/>
              <a:t>code</a:t>
            </a:r>
          </a:p>
          <a:p>
            <a:pPr lvl="0"/>
            <a:r>
              <a:rPr/>
              <a:t>There are multiple ways to insert </a:t>
            </a:r>
            <a:r>
              <a:rPr b="1"/>
              <a:t>code chunks</a:t>
            </a:r>
            <a:r>
              <a:rPr/>
              <a:t>:</a:t>
            </a:r>
          </a:p>
          <a:p>
            <a:pPr lvl="1"/>
            <a:r>
              <a:rPr/>
              <a:t>Simply click the green </a:t>
            </a:r>
            <a:r>
              <a:rPr i="1"/>
              <a:t>Insert Code Chunk</a:t>
            </a:r>
            <a:r>
              <a:rPr/>
              <a:t> button on the toolbar </a:t>
            </a:r>
          </a:p>
          <a:p>
            <a:pPr lvl="1"/>
            <a:r>
              <a:rPr/>
              <a:t>You can manually type 3 back ticks ``` then {r} to start a coding chunk, enter your code, then end the chunk with 3 back ticks</a:t>
            </a:r>
          </a:p>
          <a:p>
            <a:pPr lvl="1"/>
            <a:r>
              <a:rPr/>
              <a:t>You can use the keyboard shortcut Ctrl + Alt + I (Windows/Linux) or Cmd + Option + I (Mac) to insert a code chunk then simply enter your code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Inserting code chunks</a:t>
            </a:r>
          </a:p>
          <a:p>
            <a:pPr lvl="0" indent="0" marL="0">
              <a:buNone/>
            </a:pPr>
          </a:p>
          <a:p>
            <a:pPr lvl="0" indent="0">
              <a:buNone/>
            </a:pPr>
            <a:r>
              <a:rPr>
                <a:latin typeface="Courier"/>
              </a:rPr>
              <a:t>summary(ChickWeight)</a:t>
            </a:r>
          </a:p>
          <a:p>
            <a:pPr lvl="0" indent="0" marL="0">
              <a:buNone/>
            </a:pPr>
          </a:p>
          <a:p>
            <a:pPr lvl="0" indent="0">
              <a:buNone/>
            </a:pPr>
            <a:r>
              <a:rPr>
                <a:latin typeface="Courier"/>
              </a:rPr>
              <a:t>library(ggplot2)
ggplot(ChickWeight, aes(x = Time, y = weight, color = Diet)) +
  geom_line(aes(group = Chick)) +
  labs(title = "Chick Growth Over Time")</a:t>
            </a:r>
          </a:p>
          <a:p>
            <a:pPr lvl="0" indent="0" marL="0">
              <a:buNone/>
            </a:pPr>
          </a:p>
          <a:p>
            <a:pPr lvl="0" indent="0" marL="0">
              <a:buNone/>
            </a:pPr>
            <a:r>
              <a:rPr/>
              <a:t>These are examples of </a:t>
            </a:r>
            <a:r>
              <a:rPr b="1"/>
              <a:t>R code chunks</a:t>
            </a:r>
            <a:r>
              <a:rPr/>
              <a:t>. Let’s use these to insert code chunks in our document.</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5</a:t>
            </a:r>
          </a:p>
          <a:p>
            <a:pPr lvl="0"/>
            <a:r>
              <a:rPr/>
              <a:t>☐ Insert the code from the previous slide in </a:t>
            </a:r>
            <a:r>
              <a:rPr i="1"/>
              <a:t>two separate code chunks</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Adjusting the code chunks</a:t>
            </a:r>
          </a:p>
          <a:p>
            <a:pPr lvl="0" indent="0" marL="0">
              <a:buNone/>
            </a:pPr>
            <a:r>
              <a:rPr/>
              <a:t>Adjust how the code is portrayed by </a:t>
            </a:r>
            <a:r>
              <a:rPr b="1"/>
              <a:t>editing the YAML header</a:t>
            </a:r>
            <a:r>
              <a:rPr/>
              <a:t>:</a:t>
            </a:r>
          </a:p>
          <a:p>
            <a:pPr lvl="0" indent="0" marL="0">
              <a:buNone/>
            </a:pPr>
          </a:p>
          <a:p>
            <a:pPr lvl="0"/>
            <a:r>
              <a:rPr/>
              <a:t>Currently in our YAML header, we have it set to </a:t>
            </a:r>
            <a:r>
              <a:rPr>
                <a:latin typeface="Courier"/>
              </a:rPr>
              <a:t>code-fold: false</a:t>
            </a:r>
            <a:r>
              <a:rPr/>
              <a:t> which means the code is visible and not collapsible.</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Code chunks display settings</a:t>
            </a:r>
          </a:p>
          <a:p>
            <a:pPr lvl="0" indent="0" marL="0">
              <a:buNone/>
            </a:pPr>
            <a:r>
              <a:rPr/>
              <a:t>Here are some other </a:t>
            </a:r>
            <a:r>
              <a:rPr b="1"/>
              <a:t>code display settings</a:t>
            </a:r>
            <a:r>
              <a:rPr/>
              <a:t> that we can incorporate into our YAML header:</a:t>
            </a:r>
          </a:p>
          <a:p>
            <a:pPr lvl="0"/>
            <a:r>
              <a:rPr>
                <a:latin typeface="Courier"/>
              </a:rPr>
              <a:t>code-fold: true</a:t>
            </a:r>
            <a:r>
              <a:rPr/>
              <a:t> collapses the code so the reader can expand it</a:t>
            </a:r>
          </a:p>
          <a:p>
            <a:pPr lvl="0"/>
            <a:r>
              <a:rPr>
                <a:latin typeface="Courier"/>
              </a:rPr>
              <a:t>code-tools: true</a:t>
            </a:r>
            <a:r>
              <a:rPr/>
              <a:t> adds the functions “show code” at the top of the page and “copy” next to the chunks</a:t>
            </a:r>
          </a:p>
          <a:p>
            <a:pPr lvl="0"/>
            <a:r>
              <a:rPr>
                <a:latin typeface="Courier"/>
              </a:rPr>
              <a:t>echo: true</a:t>
            </a:r>
            <a:r>
              <a:rPr/>
              <a:t> both the code and the output is visible</a:t>
            </a:r>
          </a:p>
          <a:p>
            <a:pPr lvl="0" indent="0" marL="0">
              <a:buNone/>
            </a:pPr>
            <a:r>
              <a:rPr/>
              <a:t>Let’s edit the YAML header to make the code chunks </a:t>
            </a:r>
            <a:r>
              <a:rPr b="1"/>
              <a:t>collapsible</a:t>
            </a:r>
            <a:r>
              <a:rPr/>
              <a:t> and add </a:t>
            </a:r>
            <a:r>
              <a:rPr b="1"/>
              <a:t>code tools</a:t>
            </a:r>
            <a:r>
              <a:rPr/>
              <a:t>.</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6</a:t>
            </a:r>
          </a:p>
          <a:p>
            <a:pPr lvl="0" indent="0" marL="0">
              <a:buNone/>
            </a:pPr>
            <a:r>
              <a:rPr/>
              <a:t>In the </a:t>
            </a:r>
            <a:r>
              <a:rPr b="1"/>
              <a:t>YAML header</a:t>
            </a:r>
            <a:r>
              <a:rPr/>
              <a:t>, under the </a:t>
            </a:r>
            <a:r>
              <a:rPr>
                <a:latin typeface="Courier"/>
              </a:rPr>
              <a:t>html</a:t>
            </a:r>
            <a:r>
              <a:rPr/>
              <a:t> section:</a:t>
            </a:r>
          </a:p>
          <a:p>
            <a:pPr lvl="0"/>
            <a:r>
              <a:rPr/>
              <a:t>☐ Change </a:t>
            </a:r>
            <a:r>
              <a:rPr>
                <a:latin typeface="Courier"/>
              </a:rPr>
              <a:t>code-fold: false</a:t>
            </a:r>
            <a:r>
              <a:rPr/>
              <a:t> to </a:t>
            </a:r>
            <a:r>
              <a:rPr>
                <a:latin typeface="Courier"/>
              </a:rPr>
              <a:t>code-fold: true</a:t>
            </a:r>
          </a:p>
          <a:p>
            <a:pPr lvl="0"/>
            <a:r>
              <a:rPr/>
              <a:t>☐ Add </a:t>
            </a:r>
            <a:r>
              <a:rPr>
                <a:latin typeface="Courier"/>
              </a:rPr>
              <a:t>code-tools: true</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What have we learned so far?</a:t>
            </a:r>
          </a:p>
          <a:p>
            <a:pPr lvl="0" indent="0" marL="0">
              <a:buNone/>
            </a:pPr>
            <a:r>
              <a:rPr/>
              <a:t>Here’s a quick recap of what we have learned in this lesson so far:</a:t>
            </a:r>
          </a:p>
          <a:p>
            <a:pPr lvl="0" indent="0" marL="0">
              <a:buNone/>
            </a:pPr>
            <a:r>
              <a:rPr/>
              <a:t>✅Create a new Quarto Document in RStudio</a:t>
            </a:r>
          </a:p>
          <a:p>
            <a:pPr lvl="0" indent="0" marL="0">
              <a:buNone/>
            </a:pPr>
            <a:r>
              <a:rPr/>
              <a:t>✅Edit and render the Quarto Document as a website</a:t>
            </a:r>
          </a:p>
          <a:p>
            <a:pPr lvl="0" indent="0" marL="0">
              <a:buNone/>
            </a:pPr>
            <a:r>
              <a:rPr/>
              <a:t>✅Use key Quarto features like code chunks, YAML headers, and output formatting</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Pre-break quiz</a:t>
            </a:r>
          </a:p>
          <a:p>
            <a:pPr lvl="0" indent="0" marL="0">
              <a:buNone/>
            </a:pPr>
            <a:r>
              <a:rPr/>
              <a:t>Click on the following link or scan the QR code to review some items covered in this lesson so far: </a:t>
            </a:r>
            <a:r>
              <a:rPr>
                <a:hlinkClick r:id="rId2"/>
              </a:rPr>
              <a:t>Quarto Survey</a:t>
            </a:r>
          </a:p>
        </p:txBody>
      </p:sp>
      <p:pic>
        <p:nvPicPr>
          <p:cNvPr descr="images/00_particify.png" id="0" name="Picture 1"/>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Pre-break quiz</a:t>
            </a:r>
          </a:p>
          <a:p>
            <a:pPr lvl="0" indent="0" marL="1270000">
              <a:buNone/>
            </a:pPr>
            <a:r>
              <a:rPr sz="2000"/>
              <a:t>Please complete quiz labeled “OS-M3-S6-Quarto_prebreak_quiz”.</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Break! 10 minutes</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Post-break survey discussion</a:t>
            </a:r>
          </a:p>
          <a:p>
            <a:pPr lvl="0" indent="0" marL="0">
              <a:buNone/>
            </a:pPr>
          </a:p>
          <a:p>
            <a:pPr lvl="0" indent="0" marL="0">
              <a:buNone/>
            </a:pPr>
            <a:r>
              <a:rPr/>
              <a:t>What do we see in the results?</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Additional authoring features</a:t>
            </a:r>
          </a:p>
          <a:p>
            <a:pPr lvl="0" indent="0" marL="0">
              <a:buNone/>
            </a:pPr>
            <a:r>
              <a:rPr/>
              <a:t>Quarto offers additional </a:t>
            </a:r>
            <a:r>
              <a:rPr b="1"/>
              <a:t>authoring features</a:t>
            </a:r>
            <a:r>
              <a:rPr/>
              <a:t> that make it more versatile and comprehensive. These include:</a:t>
            </a:r>
          </a:p>
          <a:p>
            <a:pPr lvl="0"/>
            <a:r>
              <a:rPr/>
              <a:t>Adding </a:t>
            </a:r>
            <a:r>
              <a:rPr b="1"/>
              <a:t>links</a:t>
            </a:r>
            <a:r>
              <a:rPr/>
              <a:t> and </a:t>
            </a:r>
            <a:r>
              <a:rPr b="1"/>
              <a:t>hyperlinking</a:t>
            </a:r>
            <a:r>
              <a:rPr/>
              <a:t> text</a:t>
            </a:r>
          </a:p>
          <a:p>
            <a:pPr lvl="0"/>
            <a:r>
              <a:rPr/>
              <a:t>Embedding </a:t>
            </a:r>
            <a:r>
              <a:rPr b="1"/>
              <a:t>media</a:t>
            </a:r>
            <a:r>
              <a:rPr/>
              <a:t>, for example </a:t>
            </a:r>
            <a:r>
              <a:rPr b="1"/>
              <a:t>images</a:t>
            </a:r>
          </a:p>
          <a:p>
            <a:pPr lvl="0" indent="0" marL="1270000">
              <a:buNone/>
            </a:pPr>
            <a:r>
              <a:rPr sz="2000" b="1"/>
              <a:t>Commonly used authoring features</a:t>
            </a:r>
          </a:p>
          <a:p>
            <a:pPr lvl="0" indent="0" marL="1270000">
              <a:buNone/>
            </a:pPr>
            <a:r>
              <a:rPr sz="2000"/>
              <a:t>If you want to learn more about advanced authoring features, click </a:t>
            </a:r>
            <a:r>
              <a:rPr sz="2000">
                <a:hlinkClick r:id="rId3"/>
              </a:rPr>
              <a:t>here</a:t>
            </a:r>
            <a:r>
              <a:rPr sz="2000"/>
              <a:t> for commonly used markdown syntax for additional authoring features.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Inserting links</a:t>
            </a:r>
          </a:p>
          <a:p>
            <a:pPr lvl="0" indent="0" marL="0">
              <a:buNone/>
            </a:pPr>
            <a:r>
              <a:rPr/>
              <a:t>Link with title: </a:t>
            </a:r>
            <a:r>
              <a:rPr>
                <a:latin typeface="Courier"/>
              </a:rPr>
              <a:t>[title](link)</a:t>
            </a:r>
          </a:p>
          <a:p>
            <a:pPr lvl="0"/>
            <a:r>
              <a:rPr>
                <a:latin typeface="Courier"/>
              </a:rPr>
              <a:t>[Quarto Website](https://quarto.org)</a:t>
            </a:r>
            <a:r>
              <a:rPr/>
              <a:t> → </a:t>
            </a:r>
            <a:r>
              <a:rPr>
                <a:hlinkClick r:id="rId3"/>
              </a:rPr>
              <a:t>Quarto Website</a:t>
            </a:r>
          </a:p>
          <a:p>
            <a:pPr lvl="0"/>
            <a:r>
              <a:rPr>
                <a:latin typeface="Courier"/>
              </a:rPr>
              <a:t>[Click here to see more information on reveal.js](https://revealjs.com)</a:t>
            </a:r>
            <a:r>
              <a:rPr/>
              <a:t> → </a:t>
            </a:r>
            <a:r>
              <a:rPr>
                <a:hlinkClick r:id="rId4"/>
              </a:rPr>
              <a:t>Click here to see more information on reveal.js</a:t>
            </a:r>
          </a:p>
          <a:p>
            <a:pPr lvl="0" indent="0" marL="0">
              <a:buNone/>
            </a:pPr>
            <a:r>
              <a:rPr/>
              <a:t>Link without title: </a:t>
            </a:r>
            <a:r>
              <a:rPr>
                <a:latin typeface="Courier"/>
              </a:rPr>
              <a:t>&lt;https://link&gt;</a:t>
            </a:r>
          </a:p>
          <a:p>
            <a:pPr lvl="0"/>
            <a:r>
              <a:rPr>
                <a:latin typeface="Courier"/>
              </a:rPr>
              <a:t>&lt;https://www.markdownguide.org/&gt;</a:t>
            </a:r>
            <a:r>
              <a:rPr/>
              <a:t> → </a:t>
            </a:r>
            <a:r>
              <a:rPr>
                <a:hlinkClick r:id="rId5"/>
              </a:rPr>
              <a:t>https://www.markdownguide.org/</a:t>
            </a:r>
          </a:p>
          <a:p>
            <a:pPr lvl="0"/>
            <a:r>
              <a:rPr>
                <a:latin typeface="Courier"/>
              </a:rPr>
              <a:t>&lt;https://github.com/&gt;</a:t>
            </a:r>
            <a:r>
              <a:rPr/>
              <a:t> → </a:t>
            </a:r>
            <a:r>
              <a:rPr>
                <a:hlinkClick r:id="rId6"/>
              </a:rPr>
              <a:t>https://github.com/</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Inserting images</a:t>
            </a:r>
          </a:p>
          <a:p>
            <a:pPr lvl="0"/>
            <a:r>
              <a:rPr/>
              <a:t>Image by itself with no caption: </a:t>
            </a:r>
            <a:r>
              <a:rPr>
                <a:latin typeface="Courier"/>
              </a:rPr>
              <a:t>![](path/image.png)</a:t>
            </a:r>
          </a:p>
        </p:txBody>
      </p:sp>
      <p:pic>
        <p:nvPicPr>
          <p:cNvPr descr="images/05_Chick_Pic.png" id="0" name="Picture 1"/>
          <p:cNvPicPr>
            <a:picLocks noGrp="1" noChangeAspect="1"/>
          </p:cNvPicPr>
          <p:nvPr/>
        </p:nvPicPr>
        <p:blipFill>
          <a:blip r:embed="rId2"/>
          <a:stretch>
            <a:fillRect/>
          </a:stretch>
        </p:blipFill>
        <p:spPr bwMode="auto">
          <a:xfrm>
            <a:off x="3568700" y="698500"/>
            <a:ext cx="5105400" cy="3390900"/>
          </a:xfrm>
          <a:prstGeom prst="rect">
            <a:avLst/>
          </a:prstGeom>
          <a:noFill/>
          <a:ln w="9525">
            <a:noFill/>
            <a:headEnd/>
            <a:tailEnd/>
          </a:ln>
        </p:spPr>
      </p:pic>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a:r>
              <a:rPr/>
              <a:t>Image with a caption below it: </a:t>
            </a:r>
            <a:r>
              <a:rPr>
                <a:latin typeface="Courier"/>
              </a:rPr>
              <a:t>![caption](path/image.png)</a:t>
            </a:r>
          </a:p>
        </p:txBody>
      </p:sp>
      <p:pic>
        <p:nvPicPr>
          <p:cNvPr descr="images/05_Chick_Pic.png" id="0" name="Picture 1"/>
          <p:cNvPicPr>
            <a:picLocks noGrp="1" noChangeAspect="1"/>
          </p:cNvPicPr>
          <p:nvPr/>
        </p:nvPicPr>
        <p:blipFill>
          <a:blip r:embed="rId3"/>
          <a:stretch>
            <a:fillRect/>
          </a:stretch>
        </p:blipFill>
        <p:spPr bwMode="auto">
          <a:xfrm>
            <a:off x="3568700" y="444500"/>
            <a:ext cx="5105400" cy="33909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This is a caption about three yellow chicks in the grass.</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Inserting images</a:t>
            </a:r>
          </a:p>
          <a:p>
            <a:pPr lvl="0" indent="0" marL="0">
              <a:buNone/>
            </a:pPr>
            <a:r>
              <a:rPr/>
              <a:t>You can even add a link to an image so that when you click anywhere on the image, it redirects you to that website.</a:t>
            </a:r>
          </a:p>
          <a:p>
            <a:pPr lvl="0"/>
            <a:r>
              <a:rPr/>
              <a:t>Image with link: </a:t>
            </a:r>
            <a:r>
              <a:rPr>
                <a:latin typeface="Courier"/>
              </a:rPr>
              <a:t>[![caption](path/image.png)](link)</a:t>
            </a:r>
          </a:p>
        </p:txBody>
      </p:sp>
      <p:pic>
        <p:nvPicPr>
          <p:cNvPr descr="images/05_Chick_Pic.png" id="0" name="Picture 1">
            <a:hlinkClick r:id="rId4"/>
          </p:cNvPr>
          <p:cNvPicPr>
            <a:picLocks noGrp="1" noChangeAspect="1"/>
          </p:cNvPicPr>
          <p:nvPr/>
        </p:nvPicPr>
        <p:blipFill>
          <a:blip r:embed="rId3"/>
          <a:stretch>
            <a:fillRect/>
          </a:stretch>
        </p:blipFill>
        <p:spPr bwMode="auto">
          <a:xfrm>
            <a:off x="3568700" y="698500"/>
            <a:ext cx="5105400" cy="3390900"/>
          </a:xfrm>
          <a:prstGeom prst="rect">
            <a:avLst/>
          </a:prstGeom>
          <a:noFill/>
          <a:ln w="9525">
            <a:noFill/>
            <a:headEnd/>
            <a:tailEnd/>
          </a:ln>
        </p:spPr>
      </p:pic>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7</a:t>
            </a:r>
          </a:p>
          <a:p>
            <a:pPr lvl="0"/>
            <a:r>
              <a:rPr/>
              <a:t>☐ Click this link to download the image</a:t>
            </a:r>
          </a:p>
          <a:p>
            <a:pPr lvl="0"/>
            <a:r>
              <a:rPr/>
              <a:t>☐ Save the image to your main folder with the Quarto document files</a:t>
            </a:r>
          </a:p>
          <a:p>
            <a:pPr lvl="0"/>
            <a:r>
              <a:rPr/>
              <a:t>☐ Copy and paste the markdown text below to insert an image with a caption (edit path if needed):</a:t>
            </a:r>
          </a:p>
          <a:p>
            <a:pPr lvl="0" indent="0" marL="0">
              <a:buNone/>
            </a:pPr>
          </a:p>
          <a:p>
            <a:pPr lvl="0" indent="0">
              <a:buNone/>
            </a:pPr>
            <a:r>
              <a:rPr>
                <a:latin typeface="Courier"/>
              </a:rPr>
              <a:t>![No chicks were harmed in the making of this website.](images/05_Chick_Pic.png)</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Adding citations</a:t>
            </a:r>
          </a:p>
          <a:p>
            <a:pPr lvl="0" indent="0" marL="0">
              <a:buNone/>
            </a:pPr>
          </a:p>
          <a:p>
            <a:pPr lvl="0" indent="0" marL="0">
              <a:buNone/>
            </a:pPr>
            <a:r>
              <a:rPr/>
              <a:t>What is </a:t>
            </a:r>
            <a:r>
              <a:rPr b="1"/>
              <a:t>Zotero</a:t>
            </a:r>
            <a:r>
              <a:rPr/>
              <a:t>? A free </a:t>
            </a:r>
            <a:r>
              <a:rPr b="1"/>
              <a:t>reference management tool</a:t>
            </a:r>
            <a:r>
              <a:rPr/>
              <a:t> to collect, organize, cite, and share research sources.</a:t>
            </a:r>
          </a:p>
          <a:p>
            <a:pPr lvl="0"/>
            <a:r>
              <a:rPr/>
              <a:t>You can use </a:t>
            </a:r>
            <a:r>
              <a:rPr b="1"/>
              <a:t>Zotero</a:t>
            </a:r>
            <a:r>
              <a:rPr/>
              <a:t> in RStudio to easily insert citations into your Quarto document.</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Adding citations with Zotero</a:t>
            </a:r>
          </a:p>
          <a:p>
            <a:pPr lvl="0" indent="0" marL="0">
              <a:buNone/>
            </a:pPr>
            <a:r>
              <a:rPr/>
              <a:t>To insert a citation:</a:t>
            </a:r>
          </a:p>
        </p:txBody>
      </p:sp>
      <p:pic>
        <p:nvPicPr>
          <p:cNvPr descr="images/07_Zotero_Toolbar.png" id="0" name="Picture 1"/>
          <p:cNvPicPr>
            <a:picLocks noGrp="1" noChangeAspect="1"/>
          </p:cNvPicPr>
          <p:nvPr/>
        </p:nvPicPr>
        <p:blipFill>
          <a:blip r:embed="rId2"/>
          <a:stretch>
            <a:fillRect/>
          </a:stretch>
        </p:blipFill>
        <p:spPr bwMode="auto">
          <a:xfrm>
            <a:off x="3568700" y="2209800"/>
            <a:ext cx="5105400" cy="381000"/>
          </a:xfrm>
          <a:prstGeom prst="rect">
            <a:avLst/>
          </a:prstGeom>
          <a:noFill/>
          <a:ln w="9525">
            <a:noFill/>
            <a:headEnd/>
            <a:tailEnd/>
          </a:ln>
        </p:spPr>
      </p:pic>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Switch to the “</a:t>
            </a:r>
            <a:r>
              <a:rPr>
                <a:latin typeface="Courier"/>
              </a:rPr>
              <a:t>Visual Editor</a:t>
            </a:r>
            <a:r>
              <a:rPr/>
              <a:t>” mode</a:t>
            </a:r>
          </a:p>
          <a:p>
            <a:pPr lvl="0"/>
            <a:r>
              <a:rPr/>
              <a:t>→ Press the “</a:t>
            </a:r>
            <a:r>
              <a:rPr>
                <a:latin typeface="Courier"/>
              </a:rPr>
              <a:t>Insert</a:t>
            </a:r>
            <a:r>
              <a:rPr/>
              <a:t>” button in the toolbar and select “</a:t>
            </a:r>
            <a:r>
              <a:rPr>
                <a:latin typeface="Courier"/>
              </a:rPr>
              <a:t>Citation</a:t>
            </a:r>
            <a:r>
              <a:rPr/>
              <a:t>”</a:t>
            </a:r>
          </a:p>
          <a:p>
            <a:pPr lvl="0"/>
            <a:r>
              <a:rPr/>
              <a:t>→ In the </a:t>
            </a:r>
            <a:r>
              <a:rPr b="1"/>
              <a:t>Zotero</a:t>
            </a:r>
            <a:r>
              <a:rPr/>
              <a:t> library, select the citation and click “</a:t>
            </a:r>
            <a:r>
              <a:rPr>
                <a:latin typeface="Courier"/>
              </a:rPr>
              <a:t>Insert</a:t>
            </a:r>
            <a:r>
              <a:rPr/>
              <a:t>”</a:t>
            </a:r>
          </a:p>
          <a:p>
            <a:pPr lvl="0" indent="0" marL="0">
              <a:buNone/>
            </a:pPr>
            <a:r>
              <a:rPr/>
              <a:t>What you will notice:</a:t>
            </a:r>
          </a:p>
          <a:p>
            <a:pPr lvl="0"/>
            <a:r>
              <a:rPr>
                <a:latin typeface="Courier"/>
              </a:rPr>
              <a:t>bibliography: references.bib</a:t>
            </a:r>
            <a:r>
              <a:rPr/>
              <a:t> will be added to the YAML header</a:t>
            </a:r>
          </a:p>
          <a:p>
            <a:pPr lvl="0"/>
            <a:r>
              <a:rPr/>
              <a:t>After rendering, a </a:t>
            </a:r>
            <a:r>
              <a:rPr b="1"/>
              <a:t>reference list or bibliography</a:t>
            </a:r>
            <a:r>
              <a:rPr/>
              <a:t> will be </a:t>
            </a:r>
            <a:r>
              <a:rPr i="1"/>
              <a:t>automatically generated at the end of the document</a:t>
            </a:r>
            <a:r>
              <a:rPr/>
              <a:t> with the citations used.</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Adding citations with Zotero</a:t>
            </a:r>
          </a:p>
          <a:p>
            <a:pPr lvl="0" indent="0" marL="0">
              <a:buNone/>
            </a:pPr>
          </a:p>
          <a:p>
            <a:pPr lvl="0"/>
            <a:r>
              <a:rPr/>
              <a:t>You can select citations straight from the folders in your </a:t>
            </a:r>
            <a:r>
              <a:rPr b="1"/>
              <a:t>Zotero library</a:t>
            </a:r>
          </a:p>
          <a:p>
            <a:pPr lvl="0"/>
            <a:r>
              <a:rPr/>
              <a:t>Each citation is assigned a short citation key based on the author and year (for example, “</a:t>
            </a:r>
            <a:r>
              <a:rPr>
                <a:latin typeface="Courier"/>
              </a:rPr>
              <a:t>pauwels2015</a:t>
            </a:r>
            <a:r>
              <a:rPr/>
              <a:t>”).</a:t>
            </a:r>
          </a:p>
          <a:p>
            <a:pPr lvl="0"/>
            <a:r>
              <a:rPr/>
              <a:t>Quickly cite in your document’s text using the citation key:</a:t>
            </a:r>
          </a:p>
          <a:p>
            <a:pPr lvl="1"/>
            <a:r>
              <a:rPr/>
              <a:t>For regular citation, type @ followed by the citation key, wrapped in square brackets (for example, </a:t>
            </a:r>
            <a:r>
              <a:rPr>
                <a:latin typeface="Courier"/>
              </a:rPr>
              <a:t>[@pauwels2015]</a:t>
            </a:r>
            <a:r>
              <a:rPr/>
              <a:t>).</a:t>
            </a:r>
          </a:p>
          <a:p>
            <a:pPr lvl="1"/>
            <a:r>
              <a:rPr/>
              <a:t>For in-text citation, type @ followed by the citation key, for example </a:t>
            </a:r>
            <a:r>
              <a:rPr>
                <a:latin typeface="Courier"/>
              </a:rPr>
              <a:t>@li2016</a:t>
            </a:r>
            <a:r>
              <a:rPr/>
              <a:t>. No square brackets.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8</a:t>
            </a:r>
          </a:p>
          <a:p>
            <a:pPr lvl="0" indent="0" marL="0">
              <a:buNone/>
            </a:pPr>
            <a:r>
              <a:rPr/>
              <a:t>Let’s practice adding a citation using </a:t>
            </a:r>
            <a:r>
              <a:rPr b="1"/>
              <a:t>Zotero</a:t>
            </a:r>
            <a:r>
              <a:rPr/>
              <a:t>.</a:t>
            </a:r>
          </a:p>
          <a:p>
            <a:pPr lvl="0"/>
            <a:r>
              <a:rPr/>
              <a:t>☐ </a:t>
            </a:r>
            <a:r>
              <a:rPr>
                <a:hlinkClick r:id="rId3"/>
              </a:rPr>
              <a:t>Follow this link to an article on diets and broiler chicks</a:t>
            </a:r>
          </a:p>
          <a:p>
            <a:pPr lvl="0"/>
            <a:r>
              <a:rPr/>
              <a:t>☐ Add the citation to your Zotero Library</a:t>
            </a:r>
          </a:p>
          <a:p>
            <a:pPr lvl="0" indent="0">
              <a:buNone/>
            </a:pPr>
            <a:r>
              <a:rPr>
                <a:latin typeface="Courier"/>
              </a:rPr>
              <a:t>Diet affects chick body weight. In this study, low-energy feed made fast-growing chicks lighter, while slower-growing chicks compensated by eating more </a:t>
            </a:r>
          </a:p>
          <a:p>
            <a:pPr lvl="0"/>
            <a:r>
              <a:rPr/>
              <a:t>☐ Copy the text above</a:t>
            </a:r>
          </a:p>
          <a:p>
            <a:pPr lvl="0"/>
            <a:r>
              <a:rPr/>
              <a:t>☐ In </a:t>
            </a:r>
            <a:r>
              <a:rPr b="1"/>
              <a:t>RStudio</a:t>
            </a:r>
            <a:r>
              <a:rPr/>
              <a:t>, paste it into the Quarto docuement and place the cursor at the end of the sentence. This where in the sentence you want to place the citation.</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Practical exercise 8</a:t>
            </a:r>
          </a:p>
          <a:p>
            <a:pPr lvl="0"/>
            <a:r>
              <a:rPr/>
              <a:t>☐ In </a:t>
            </a:r>
            <a:r>
              <a:rPr b="1"/>
              <a:t>Visual Mode</a:t>
            </a:r>
            <a:r>
              <a:rPr/>
              <a:t>, click “</a:t>
            </a:r>
            <a:r>
              <a:rPr>
                <a:latin typeface="Courier"/>
              </a:rPr>
              <a:t>Insert</a:t>
            </a:r>
            <a:r>
              <a:rPr/>
              <a:t>” on the toolbar and navigate to your library in Zotero</a:t>
            </a:r>
          </a:p>
          <a:p>
            <a:pPr lvl="0"/>
            <a:r>
              <a:rPr/>
              <a:t>☐ Find the article you just added to the Zotero library and select it</a:t>
            </a:r>
          </a:p>
          <a:p>
            <a:pPr lvl="0"/>
            <a:r>
              <a:rPr/>
              <a:t>☐ Click “</a:t>
            </a:r>
            <a:r>
              <a:rPr>
                <a:latin typeface="Courier"/>
              </a:rPr>
              <a:t>Insert</a:t>
            </a:r>
            <a:r>
              <a:rPr/>
              <a:t>” to add the citation</a:t>
            </a:r>
          </a:p>
        </p:txBody>
      </p:sp>
      <p:pic>
        <p:nvPicPr>
          <p:cNvPr descr="images/09_Zotero_Insert.png" id="0" name="Picture 1"/>
          <p:cNvPicPr>
            <a:picLocks noGrp="1" noChangeAspect="1"/>
          </p:cNvPicPr>
          <p:nvPr/>
        </p:nvPicPr>
        <p:blipFill>
          <a:blip r:embed="rId3"/>
          <a:stretch>
            <a:fillRect/>
          </a:stretch>
        </p:blipFill>
        <p:spPr bwMode="auto">
          <a:xfrm>
            <a:off x="3568700" y="1993900"/>
            <a:ext cx="5105400" cy="800100"/>
          </a:xfrm>
          <a:prstGeom prst="rect">
            <a:avLst/>
          </a:prstGeom>
          <a:noFill/>
          <a:ln w="9525">
            <a:noFill/>
            <a:headEnd/>
            <a:tailEnd/>
          </a:ln>
        </p:spPr>
      </p:pic>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9</a:t>
            </a:r>
          </a:p>
          <a:p>
            <a:pPr lvl="0" indent="0" marL="0">
              <a:buNone/>
            </a:pPr>
            <a:r>
              <a:rPr/>
              <a:t>Now, let’s practice adding </a:t>
            </a:r>
            <a:r>
              <a:rPr b="1"/>
              <a:t>in-text</a:t>
            </a:r>
            <a:r>
              <a:rPr/>
              <a:t> citations!</a:t>
            </a:r>
          </a:p>
          <a:p>
            <a:pPr lvl="0"/>
            <a:r>
              <a:rPr/>
              <a:t>☐ </a:t>
            </a:r>
            <a:r>
              <a:rPr>
                <a:hlinkClick r:id="rId3"/>
              </a:rPr>
              <a:t>Follow this link to another article on diets and broiler chicks</a:t>
            </a:r>
          </a:p>
          <a:p>
            <a:pPr lvl="0"/>
            <a:r>
              <a:rPr/>
              <a:t>☐ Add the citation to your Zotero library</a:t>
            </a:r>
          </a:p>
          <a:p>
            <a:pPr lvl="0" indent="0">
              <a:buNone/>
            </a:pPr>
            <a:r>
              <a:rPr>
                <a:latin typeface="Courier"/>
              </a:rPr>
              <a:t> found that broiler chicks fed a higher nutrient-density diet gained more weight and did so more efficiently.</a:t>
            </a:r>
          </a:p>
          <a:p>
            <a:pPr lvl="0"/>
            <a:r>
              <a:rPr/>
              <a:t>☐ Copy the text above</a:t>
            </a:r>
          </a:p>
          <a:p>
            <a:pPr lvl="0"/>
            <a:r>
              <a:rPr/>
              <a:t>☐ In </a:t>
            </a:r>
            <a:r>
              <a:rPr b="1"/>
              <a:t>RStudio</a:t>
            </a:r>
            <a:r>
              <a:rPr/>
              <a:t>, paste the text then place your cursor at the beginning of the sentence</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Practical exercise 9</a:t>
            </a:r>
          </a:p>
          <a:p>
            <a:pPr lvl="0"/>
            <a:r>
              <a:rPr/>
              <a:t>☐ Ensure you are still in </a:t>
            </a:r>
            <a:r>
              <a:rPr b="1"/>
              <a:t>Visual Mode</a:t>
            </a:r>
          </a:p>
          <a:p>
            <a:pPr lvl="0"/>
            <a:r>
              <a:rPr/>
              <a:t>☐ Click “</a:t>
            </a:r>
            <a:r>
              <a:rPr>
                <a:latin typeface="Courier"/>
              </a:rPr>
              <a:t>Insert</a:t>
            </a:r>
            <a:r>
              <a:rPr/>
              <a:t>” and find this new article in the Zotero Library</a:t>
            </a:r>
          </a:p>
          <a:p>
            <a:pPr lvl="0"/>
            <a:r>
              <a:rPr/>
              <a:t>☐ Check the box next to “</a:t>
            </a:r>
            <a:r>
              <a:rPr>
                <a:latin typeface="Courier"/>
              </a:rPr>
              <a:t>In-text</a:t>
            </a:r>
            <a:r>
              <a:rPr/>
              <a:t>”</a:t>
            </a:r>
          </a:p>
        </p:txBody>
      </p:sp>
      <p:pic>
        <p:nvPicPr>
          <p:cNvPr descr="images/10_Zotero_InText.png" id="0" name="Picture 1"/>
          <p:cNvPicPr>
            <a:picLocks noGrp="1" noChangeAspect="1"/>
          </p:cNvPicPr>
          <p:nvPr/>
        </p:nvPicPr>
        <p:blipFill>
          <a:blip r:embed="rId2"/>
          <a:stretch>
            <a:fillRect/>
          </a:stretch>
        </p:blipFill>
        <p:spPr bwMode="auto">
          <a:xfrm>
            <a:off x="3568700" y="1993900"/>
            <a:ext cx="5105400" cy="787400"/>
          </a:xfrm>
          <a:prstGeom prst="rect">
            <a:avLst/>
          </a:prstGeom>
          <a:noFill/>
          <a:ln w="9525">
            <a:noFill/>
            <a:headEnd/>
            <a:tailEnd/>
          </a:ln>
        </p:spPr>
      </p:pic>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 Click “</a:t>
            </a:r>
            <a:r>
              <a:rPr>
                <a:latin typeface="Courier"/>
              </a:rPr>
              <a:t>Insert</a:t>
            </a:r>
            <a:r>
              <a:rPr/>
              <a:t>” to add an in-text citation</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Adding citations with Zotero</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buNone/>
            </a:pPr>
            <a:r>
              <a:rPr/>
              <a:t>In your output, you should now have:</a:t>
            </a:r>
          </a:p>
          <a:p>
            <a:pPr lvl="0"/>
            <a:r>
              <a:rPr/>
              <a:t>A citation</a:t>
            </a:r>
          </a:p>
          <a:p>
            <a:pPr lvl="0"/>
            <a:r>
              <a:rPr/>
              <a:t>An in-text citation</a:t>
            </a:r>
          </a:p>
          <a:p>
            <a:pPr lvl="0"/>
            <a:r>
              <a:rPr/>
              <a:t>A reference list (bibliography)</a:t>
            </a:r>
          </a:p>
        </p:txBody>
      </p:sp>
      <p:pic>
        <p:nvPicPr>
          <p:cNvPr descr="images/11_Zotero_Review.png" id="0" name="Picture 1"/>
          <p:cNvPicPr>
            <a:picLocks noGrp="1" noChangeAspect="1"/>
          </p:cNvPicPr>
          <p:nvPr/>
        </p:nvPicPr>
        <p:blipFill>
          <a:blip r:embed="rId2"/>
          <a:stretch>
            <a:fillRect/>
          </a:stretch>
        </p:blipFill>
        <p:spPr bwMode="auto">
          <a:xfrm>
            <a:off x="4648200" y="1917700"/>
            <a:ext cx="4038600" cy="1930400"/>
          </a:xfrm>
          <a:prstGeom prst="rect">
            <a:avLst/>
          </a:prstGeom>
          <a:noFill/>
          <a:ln w="9525">
            <a:noFill/>
            <a:headEnd/>
            <a:tailEnd/>
          </a:ln>
        </p:spPr>
      </p:pic>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Changing the citation style</a:t>
            </a:r>
          </a:p>
          <a:p>
            <a:pPr lvl="0" indent="0" marL="1270000">
              <a:buNone/>
            </a:pPr>
            <a:r>
              <a:rPr sz="2000"/>
              <a:t>You can change the citation style by using Citation Style Language (csl) files directly from the Zotero website. For example, putting “</a:t>
            </a:r>
            <a:r>
              <a:rPr sz="2000">
                <a:latin typeface="Courier"/>
              </a:rPr>
              <a:t>csl: https://www.zotero.org/styles/apa</a:t>
            </a:r>
            <a:r>
              <a:rPr sz="2000"/>
              <a:t>” in your YAML changes the citation style to APA.</a:t>
            </a:r>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Publishing</a:t>
            </a:r>
          </a:p>
          <a:p>
            <a:pPr lvl="0" indent="0" marL="0">
              <a:buNone/>
            </a:pPr>
            <a:r>
              <a:rPr b="1"/>
              <a:t>What is publishing with Quarto?</a:t>
            </a:r>
            <a:r>
              <a:rPr/>
              <a:t> </a:t>
            </a:r>
          </a:p>
          <a:p>
            <a:pPr lvl="0" indent="0" marL="0">
              <a:buNone/>
            </a:pPr>
            <a:r>
              <a:rPr/>
              <a:t>= the process of sharing the rendered documents or projects online so it can become accessible to others.</a:t>
            </a:r>
          </a:p>
          <a:p>
            <a:pPr lvl="0"/>
            <a:r>
              <a:rPr/>
              <a:t>You can publish to:</a:t>
            </a:r>
          </a:p>
          <a:p>
            <a:pPr lvl="1"/>
            <a:r>
              <a:rPr/>
              <a:t>GitHub Pages</a:t>
            </a:r>
          </a:p>
          <a:p>
            <a:pPr lvl="1"/>
            <a:r>
              <a:rPr/>
              <a:t>A personal website</a:t>
            </a:r>
          </a:p>
          <a:p>
            <a:pPr lvl="1"/>
            <a:r>
              <a:rPr/>
              <a:t>Quarto Pub</a:t>
            </a:r>
          </a:p>
          <a:p>
            <a:pPr lvl="0" indent="0" marL="1270000">
              <a:buNone/>
            </a:pPr>
            <a:r>
              <a:rPr sz="2000" b="1"/>
              <a:t>List of publishing services</a:t>
            </a:r>
          </a:p>
          <a:p>
            <a:pPr lvl="0" indent="0" marL="1270000">
              <a:buNone/>
            </a:pPr>
            <a:r>
              <a:rPr sz="2000"/>
              <a:t>Here is a </a:t>
            </a:r>
            <a:r>
              <a:rPr sz="2000">
                <a:hlinkClick r:id="rId3"/>
              </a:rPr>
              <a:t>link for a list of publishing services and more information</a:t>
            </a:r>
            <a:r>
              <a:rPr sz="2000"/>
              <a: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Publishing</a:t>
            </a:r>
          </a:p>
          <a:p>
            <a:pPr lvl="0" indent="0" marL="0">
              <a:buNone/>
            </a:pPr>
            <a:r>
              <a:rPr/>
              <a:t>When sharing your work, it’s important to follow established </a:t>
            </a:r>
            <a:r>
              <a:rPr b="1"/>
              <a:t>rules and standards</a:t>
            </a:r>
            <a:r>
              <a:rPr/>
              <a:t>. This includes:</a:t>
            </a:r>
          </a:p>
          <a:p>
            <a:pPr lvl="0"/>
            <a:r>
              <a:rPr/>
              <a:t>Considering the </a:t>
            </a:r>
            <a:r>
              <a:rPr b="1"/>
              <a:t>legal aspects</a:t>
            </a:r>
          </a:p>
          <a:p>
            <a:pPr lvl="0"/>
            <a:r>
              <a:rPr/>
              <a:t>Applying appropriate </a:t>
            </a:r>
            <a:r>
              <a:rPr b="1"/>
              <a:t>licenses</a:t>
            </a:r>
          </a:p>
          <a:p>
            <a:pPr lvl="0"/>
            <a:r>
              <a:rPr/>
              <a:t>Proper </a:t>
            </a:r>
            <a:r>
              <a:rPr b="1"/>
              <a:t>archiving</a:t>
            </a:r>
          </a:p>
          <a:p>
            <a:pPr lvl="0" indent="0" marL="1270000">
              <a:buNone/>
            </a:pPr>
            <a:r>
              <a:rPr sz="2000" b="1"/>
              <a:t>List of publishing services</a:t>
            </a:r>
          </a:p>
          <a:p>
            <a:pPr lvl="0" indent="0" marL="1270000">
              <a:buNone/>
            </a:pPr>
            <a:r>
              <a:rPr sz="2000"/>
              <a:t>Check out </a:t>
            </a:r>
            <a:r>
              <a:rPr sz="2000">
                <a:hlinkClick r:id="rId3"/>
              </a:rPr>
              <a:t>the LMU OSC page on sharing, copyright, best practices and more</a:t>
            </a:r>
            <a:r>
              <a:rPr sz="2000"/>
              <a: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Publishing to GitHub</a:t>
            </a:r>
          </a:p>
          <a:p>
            <a:pPr lvl="0" indent="0" marL="0">
              <a:buNone/>
            </a:pPr>
            <a:r>
              <a:rPr/>
              <a:t>A great option to share your document is </a:t>
            </a:r>
            <a:r>
              <a:rPr b="1"/>
              <a:t>publishing to GitHub</a:t>
            </a:r>
            <a:r>
              <a:rPr/>
              <a:t>.</a:t>
            </a:r>
          </a:p>
          <a:p>
            <a:pPr lvl="0"/>
            <a:r>
              <a:rPr b="1"/>
              <a:t>GitHub</a:t>
            </a:r>
            <a:r>
              <a:rPr/>
              <a:t> is a platform for hosting and sharing code and projects online</a:t>
            </a:r>
          </a:p>
          <a:p>
            <a:pPr lvl="0"/>
            <a:r>
              <a:rPr/>
              <a:t>An advantage of GitHub is it allows for </a:t>
            </a:r>
            <a:r>
              <a:rPr b="1"/>
              <a:t>version control</a:t>
            </a:r>
            <a:r>
              <a:rPr/>
              <a:t>: the ability to track and manage changes over time</a:t>
            </a:r>
          </a:p>
          <a:p>
            <a:pPr lvl="0"/>
            <a:r>
              <a:rPr/>
              <a:t>A free and widely used way to publish your Quarto document to GitHub is by using </a:t>
            </a:r>
            <a:r>
              <a:rPr b="1"/>
              <a:t>GitHub Pages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Publishing to GitHub</a:t>
            </a:r>
          </a:p>
          <a:p>
            <a:pPr lvl="0" indent="0" marL="0">
              <a:buNone/>
            </a:pPr>
            <a:r>
              <a:rPr b="1"/>
              <a:t>GitHub Pages</a:t>
            </a:r>
            <a:r>
              <a:rPr/>
              <a:t> enables you to publish content based on source code managed within a GitHub repository.</a:t>
            </a:r>
          </a:p>
          <a:p>
            <a:pPr lvl="0" indent="0" marL="0">
              <a:buNone/>
            </a:pPr>
            <a:r>
              <a:rPr b="1"/>
              <a:t>3 methods</a:t>
            </a:r>
            <a:r>
              <a:rPr/>
              <a:t> to publish a Quarto document to GitHub Pages:</a:t>
            </a:r>
          </a:p>
          <a:p>
            <a:pPr lvl="0" indent="-342900" marL="342900">
              <a:buAutoNum type="arabicPeriod"/>
            </a:pPr>
            <a:r>
              <a:rPr/>
              <a:t>Rendering your output to the </a:t>
            </a:r>
            <a:r>
              <a:rPr>
                <a:latin typeface="Courier"/>
              </a:rPr>
              <a:t>docs</a:t>
            </a:r>
            <a:r>
              <a:rPr/>
              <a:t> directory and checking it into your repository</a:t>
            </a:r>
          </a:p>
          <a:p>
            <a:pPr lvl="0" indent="-342900" marL="342900">
              <a:buAutoNum type="arabicPeriod"/>
            </a:pPr>
            <a:r>
              <a:rPr/>
              <a:t>Using the </a:t>
            </a:r>
            <a:r>
              <a:rPr>
                <a:latin typeface="Courier"/>
              </a:rPr>
              <a:t>quarto publish</a:t>
            </a:r>
            <a:r>
              <a:rPr/>
              <a:t> command</a:t>
            </a:r>
          </a:p>
          <a:p>
            <a:pPr lvl="0" indent="-342900" marL="342900">
              <a:buAutoNum type="arabicPeriod"/>
            </a:pPr>
            <a:r>
              <a:rPr/>
              <a:t>Using </a:t>
            </a:r>
            <a:r>
              <a:rPr>
                <a:latin typeface="Courier"/>
              </a:rPr>
              <a:t>GitHub Actions</a:t>
            </a:r>
            <a:r>
              <a:rPr/>
              <a:t> to auto-render and publish whenever you push changes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Publishing to GitHub</a:t>
            </a:r>
          </a:p>
          <a:p>
            <a:pPr lvl="0" indent="0" marL="0">
              <a:buNone/>
            </a:pPr>
            <a:r>
              <a:rPr/>
              <a:t>Let’s publish our document using the first method:</a:t>
            </a:r>
          </a:p>
          <a:p>
            <a:pPr lvl="0" indent="0" marL="0">
              <a:buNone/>
            </a:pPr>
            <a:r>
              <a:rPr b="1"/>
              <a:t>Render to </a:t>
            </a:r>
            <a:r>
              <a:rPr b="1">
                <a:latin typeface="Courier"/>
              </a:rPr>
              <a:t>docs</a:t>
            </a:r>
          </a:p>
        </p:txBody>
      </p:sp>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Publishing to GitHub</a:t>
            </a:r>
          </a:p>
          <a:p>
            <a:pPr lvl="0" indent="0" marL="0">
              <a:buNone/>
            </a:pPr>
            <a:r>
              <a:rPr/>
              <a:t>Work directly from the </a:t>
            </a:r>
            <a:r>
              <a:rPr b="1"/>
              <a:t>Terminal</a:t>
            </a:r>
            <a:r>
              <a:rPr/>
              <a:t> in RStudio.</a:t>
            </a:r>
          </a:p>
          <a:p>
            <a:pPr lvl="0"/>
            <a:r>
              <a:rPr/>
              <a:t>For Mac and Linux users, simply open a new Terminal by clicking “</a:t>
            </a:r>
            <a:r>
              <a:rPr>
                <a:latin typeface="Courier"/>
              </a:rPr>
              <a:t>Terminal</a:t>
            </a:r>
            <a:r>
              <a:rPr/>
              <a:t>” → then “</a:t>
            </a:r>
            <a:r>
              <a:rPr>
                <a:latin typeface="Courier"/>
              </a:rPr>
              <a:t>New Terminal</a:t>
            </a:r>
            <a:r>
              <a:rPr/>
              <a:t>”</a:t>
            </a:r>
          </a:p>
          <a:p>
            <a:pPr lvl="0"/>
            <a:r>
              <a:rPr/>
              <a:t>Windows users can connect to </a:t>
            </a:r>
            <a:r>
              <a:rPr b="1"/>
              <a:t>Git Bash</a:t>
            </a:r>
            <a:r>
              <a:rPr/>
              <a:t> with “</a:t>
            </a:r>
            <a:r>
              <a:rPr>
                <a:latin typeface="Courier"/>
              </a:rPr>
              <a:t>Terminal</a:t>
            </a:r>
            <a:r>
              <a:rPr/>
              <a:t>” → “</a:t>
            </a:r>
            <a:r>
              <a:rPr>
                <a:latin typeface="Courier"/>
              </a:rPr>
              <a:t>Terminal Options...</a:t>
            </a:r>
            <a:r>
              <a:rPr/>
              <a:t>”, set it to open with Git Bash, then open a new terminal.</a:t>
            </a:r>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12_GitBash_Terminal.png" id="0" name="Picture 1"/>
          <p:cNvPicPr>
            <a:picLocks noGrp="1" noChangeAspect="1"/>
          </p:cNvPicPr>
          <p:nvPr/>
        </p:nvPicPr>
        <p:blipFill>
          <a:blip r:embed="rId3"/>
          <a:stretch>
            <a:fillRect/>
          </a:stretch>
        </p:blipFill>
        <p:spPr bwMode="auto">
          <a:xfrm>
            <a:off x="457200" y="1968500"/>
            <a:ext cx="4038600" cy="1828800"/>
          </a:xfrm>
          <a:prstGeom prst="rect">
            <a:avLst/>
          </a:prstGeom>
          <a:noFill/>
          <a:ln w="9525">
            <a:noFill/>
            <a:headEnd/>
            <a:tailEnd/>
          </a:ln>
        </p:spPr>
      </p:pic>
      <p:pic>
        <p:nvPicPr>
          <p:cNvPr descr="images/13_GitBash_Terminal.png" id="0" name="Picture 1"/>
          <p:cNvPicPr>
            <a:picLocks noGrp="1" noChangeAspect="1"/>
          </p:cNvPicPr>
          <p:nvPr/>
        </p:nvPicPr>
        <p:blipFill>
          <a:blip r:embed="rId4"/>
          <a:stretch>
            <a:fillRect/>
          </a:stretch>
        </p:blipFill>
        <p:spPr bwMode="auto">
          <a:xfrm>
            <a:off x="4648200" y="1778000"/>
            <a:ext cx="4038600" cy="2222500"/>
          </a:xfrm>
          <a:prstGeom prst="rect">
            <a:avLst/>
          </a:prstGeom>
          <a:noFill/>
          <a:ln w="9525">
            <a:noFill/>
            <a:headEnd/>
            <a:tailEnd/>
          </a:ln>
        </p:spPr>
      </p:pic>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10</a:t>
            </a:r>
          </a:p>
          <a:p>
            <a:pPr lvl="0"/>
            <a:r>
              <a:rPr/>
              <a:t>☐ In your Quarto Document, edit the YAML by adding the following:</a:t>
            </a:r>
          </a:p>
          <a:p>
            <a:pPr lvl="0" indent="0">
              <a:buNone/>
            </a:pPr>
            <a:r>
              <a:rPr>
                <a:latin typeface="Courier"/>
              </a:rPr>
              <a:t>project:
  type: website
  output-dir: docs</a:t>
            </a:r>
          </a:p>
          <a:p>
            <a:pPr lvl="0"/>
            <a:r>
              <a:rPr/>
              <a:t>☐ Open a new Terminal (for Windows users, first set to open with Git Bash)</a:t>
            </a:r>
          </a:p>
          <a:p>
            <a:pPr lvl="0"/>
            <a:r>
              <a:rPr/>
              <a:t>☐ Change the working directory of the Terminal to the folder containing your Quarto files: do this by entering </a:t>
            </a:r>
            <a:r>
              <a:rPr>
                <a:latin typeface="Courier"/>
              </a:rPr>
              <a:t>cd</a:t>
            </a:r>
            <a:r>
              <a:rPr/>
              <a:t> followed by the file path on your device wrapped in quotations</a:t>
            </a:r>
          </a:p>
          <a:p>
            <a:pPr lvl="0" indent="0" marL="0">
              <a:buNone/>
            </a:pPr>
            <a:r>
              <a:rPr/>
              <a:t>Here is an example of setting the directory using </a:t>
            </a:r>
            <a:r>
              <a:rPr>
                <a:latin typeface="Courier"/>
              </a:rPr>
              <a:t>cd</a:t>
            </a:r>
            <a:r>
              <a:rPr/>
              <a:t>: </a:t>
            </a:r>
          </a:p>
        </p:txBody>
      </p:sp>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10</a:t>
            </a:r>
          </a:p>
          <a:p>
            <a:pPr lvl="0"/>
            <a:r>
              <a:rPr/>
              <a:t>☐ Copy the following and make a simple </a:t>
            </a:r>
            <a:r>
              <a:rPr>
                <a:latin typeface="Courier"/>
              </a:rPr>
              <a:t>_quarto.yml</a:t>
            </a:r>
            <a:r>
              <a:rPr/>
              <a:t> file by running it in the Terminal:</a:t>
            </a:r>
          </a:p>
          <a:p>
            <a:pPr lvl="0" indent="0">
              <a:buNone/>
            </a:pPr>
            <a:r>
              <a:rPr>
                <a:latin typeface="Courier"/>
              </a:rPr>
              <a:t>echo "project:
  type: website
  output-dir: docs" &gt; _quarto.yml</a:t>
            </a:r>
          </a:p>
          <a:p>
            <a:pPr lvl="0"/>
            <a:r>
              <a:rPr/>
              <a:t>☐ Next, copy the following and run it in the Terminal to add a </a:t>
            </a:r>
            <a:r>
              <a:rPr>
                <a:latin typeface="Courier"/>
              </a:rPr>
              <a:t>.nojekyll</a:t>
            </a:r>
            <a:r>
              <a:rPr/>
              <a:t> file:</a:t>
            </a:r>
          </a:p>
          <a:p>
            <a:pPr lvl="0" indent="0">
              <a:buNone/>
            </a:pPr>
            <a:r>
              <a:rPr>
                <a:latin typeface="Courier"/>
              </a:rPr>
              <a:t>touch .nojekyll</a:t>
            </a:r>
          </a:p>
          <a:p>
            <a:pPr lvl="0" indent="0" marL="1270000">
              <a:buNone/>
            </a:pPr>
            <a:r>
              <a:rPr sz="2000" b="1"/>
              <a:t>Why we add </a:t>
            </a:r>
            <a:r>
              <a:rPr sz="2000" b="1">
                <a:latin typeface="Courier"/>
              </a:rPr>
              <a:t>.nojekyll</a:t>
            </a:r>
          </a:p>
          <a:p>
            <a:pPr lvl="0" indent="0" marL="1270000">
              <a:buNone/>
            </a:pPr>
            <a:r>
              <a:rPr sz="2000"/>
              <a:t>Adding a </a:t>
            </a:r>
            <a:r>
              <a:rPr sz="2000">
                <a:latin typeface="Courier"/>
              </a:rPr>
              <a:t>.nojekyll</a:t>
            </a:r>
            <a:r>
              <a:rPr sz="2000"/>
              <a:t> file to the root of your repository tells GitHub Pages not to do additional processing of your published site using Jekyll</a:t>
            </a:r>
          </a:p>
        </p:txBody>
      </p:sp>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10</a:t>
            </a:r>
          </a:p>
          <a:p>
            <a:pPr lvl="0"/>
            <a:r>
              <a:rPr/>
              <a:t>☐ Copy and run the following in Terminal to generate HTML in the </a:t>
            </a:r>
            <a:r>
              <a:rPr>
                <a:latin typeface="Courier"/>
              </a:rPr>
              <a:t>docs/</a:t>
            </a:r>
            <a:r>
              <a:rPr/>
              <a:t> folder:</a:t>
            </a:r>
          </a:p>
          <a:p>
            <a:pPr lvl="0" indent="0">
              <a:buNone/>
            </a:pPr>
            <a:r>
              <a:rPr>
                <a:latin typeface="Courier"/>
              </a:rPr>
              <a:t>quarto render</a:t>
            </a:r>
          </a:p>
          <a:p>
            <a:pPr lvl="0"/>
            <a:r>
              <a:rPr/>
              <a:t>☐ Copy into the terminal and run the following- this initializes Git and renames “master” to “main”:</a:t>
            </a:r>
          </a:p>
          <a:p>
            <a:pPr lvl="0" indent="0">
              <a:buNone/>
            </a:pPr>
            <a:r>
              <a:rPr>
                <a:latin typeface="Courier"/>
              </a:rPr>
              <a:t>git init
git branch -M main  </a:t>
            </a:r>
          </a:p>
        </p:txBody>
      </p:sp>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10</a:t>
            </a:r>
          </a:p>
          <a:p>
            <a:pPr lvl="0"/>
            <a:r>
              <a:rPr/>
              <a:t>☐ Go to </a:t>
            </a:r>
            <a:r>
              <a:rPr>
                <a:hlinkClick r:id="rId3"/>
              </a:rPr>
              <a:t>GitHub</a:t>
            </a:r>
            <a:r>
              <a:rPr/>
              <a:t> and create a new repository</a:t>
            </a:r>
          </a:p>
          <a:p>
            <a:pPr lvl="0"/>
            <a:r>
              <a:rPr/>
              <a:t>☐ In the Terminal, connect to a local project by using “</a:t>
            </a:r>
            <a:r>
              <a:rPr>
                <a:latin typeface="Courier"/>
              </a:rPr>
              <a:t>git remote add origin</a:t>
            </a:r>
            <a:r>
              <a:rPr/>
              <a:t>” followed by the repo’s HTTPS URL (for example, “</a:t>
            </a:r>
            <a:r>
              <a:rPr>
                <a:latin typeface="Courier"/>
              </a:rPr>
              <a:t>git remote add origin https://github.com/yourname/chickweight-exercise.git</a:t>
            </a:r>
            <a:r>
              <a:rPr/>
              <a:t>”)</a:t>
            </a:r>
          </a:p>
          <a:p>
            <a:pPr lvl="0"/>
            <a:r>
              <a:rPr/>
              <a:t>☐ Copy and run following into the Terminal to render your site and push it to GitHub:</a:t>
            </a:r>
          </a:p>
          <a:p>
            <a:pPr lvl="0" indent="0">
              <a:buNone/>
            </a:pPr>
            <a:r>
              <a:rPr>
                <a:latin typeface="Courier"/>
              </a:rPr>
              <a:t>quarto render
git add docs
git commit -m "Publish site to docs/"
git push -u origin main</a:t>
            </a:r>
          </a:p>
          <a:p>
            <a:pPr lvl="0"/>
            <a:r>
              <a:rPr/>
              <a:t>☐ In your repo on </a:t>
            </a:r>
            <a:r>
              <a:rPr>
                <a:hlinkClick r:id="rId4"/>
              </a:rPr>
              <a:t>GitHub</a:t>
            </a:r>
            <a:r>
              <a:rPr/>
              <a:t>, go to Settings</a:t>
            </a:r>
          </a:p>
          <a:p>
            <a:pPr lvl="0"/>
            <a:r>
              <a:rPr/>
              <a:t>☐ Click “</a:t>
            </a:r>
            <a:r>
              <a:rPr>
                <a:latin typeface="Courier"/>
              </a:rPr>
              <a:t>Pages</a:t>
            </a:r>
            <a:r>
              <a:rPr/>
              <a:t>” to configure GitHub Pages</a:t>
            </a:r>
          </a:p>
        </p:txBody>
      </p:sp>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10</a:t>
            </a:r>
          </a:p>
          <a:p>
            <a:pPr lvl="0"/>
            <a:r>
              <a:rPr/>
              <a:t>☐ Change “</a:t>
            </a:r>
            <a:r>
              <a:rPr>
                <a:latin typeface="Courier"/>
              </a:rPr>
              <a:t>none</a:t>
            </a:r>
            <a:r>
              <a:rPr/>
              <a:t>” to “</a:t>
            </a:r>
            <a:r>
              <a:rPr>
                <a:latin typeface="Courier"/>
              </a:rPr>
              <a:t>main</a:t>
            </a:r>
            <a:r>
              <a:rPr/>
              <a:t>”</a:t>
            </a:r>
          </a:p>
          <a:p>
            <a:pPr lvl="0" indent="0" marL="0">
              <a:buNone/>
            </a:pPr>
          </a:p>
          <a:p>
            <a:pPr lvl="0"/>
            <a:r>
              <a:rPr/>
              <a:t>☐ Change “</a:t>
            </a:r>
            <a:r>
              <a:rPr>
                <a:latin typeface="Courier"/>
              </a:rPr>
              <a:t>/root</a:t>
            </a:r>
            <a:r>
              <a:rPr/>
              <a:t>” to “</a:t>
            </a:r>
            <a:r>
              <a:rPr>
                <a:latin typeface="Courier"/>
              </a:rPr>
              <a:t>/docs</a:t>
            </a:r>
            <a:r>
              <a:rPr/>
              <a:t>”</a:t>
            </a:r>
          </a:p>
          <a:p>
            <a:pPr lvl="0"/>
            <a:r>
              <a:rPr/>
              <a:t>☐ Click “</a:t>
            </a:r>
            <a:r>
              <a:rPr>
                <a:latin typeface="Courier"/>
              </a:rPr>
              <a:t>Save</a:t>
            </a:r>
            <a:r>
              <a:rPr/>
              <a:t>”</a:t>
            </a:r>
          </a:p>
          <a:p>
            <a:pPr lvl="0" indent="0" marL="0">
              <a:buNone/>
            </a:pPr>
          </a:p>
          <a:p>
            <a:pPr lvl="0"/>
            <a:r>
              <a:rPr/>
              <a:t>After 1-2 minutes, you will see that your site will be </a:t>
            </a:r>
            <a:r>
              <a:rPr b="1"/>
              <a:t>live</a:t>
            </a:r>
            <a:r>
              <a:rPr/>
              <a:t>!</a:t>
            </a:r>
          </a:p>
        </p:txBody>
      </p:sp>
    </p:spTree>
  </p:cSl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Recap</a:t>
            </a:r>
          </a:p>
          <a:p>
            <a:pPr lvl="0"/>
            <a:r>
              <a:rPr b="1"/>
              <a:t>Quarto</a:t>
            </a:r>
            <a:r>
              <a:rPr/>
              <a:t> is a powerful tool that combines text, code, and media to make documents more transparent, reproducible, and accessible.</a:t>
            </a:r>
          </a:p>
          <a:p>
            <a:pPr lvl="0"/>
            <a:r>
              <a:rPr/>
              <a:t>Within a </a:t>
            </a:r>
            <a:r>
              <a:rPr b="1"/>
              <a:t>.qmd file</a:t>
            </a:r>
            <a:r>
              <a:rPr/>
              <a:t>:</a:t>
            </a:r>
          </a:p>
          <a:p>
            <a:pPr lvl="1"/>
            <a:r>
              <a:rPr/>
              <a:t>The </a:t>
            </a:r>
            <a:r>
              <a:rPr b="1"/>
              <a:t>YAML header</a:t>
            </a:r>
            <a:r>
              <a:rPr/>
              <a:t> controls the document settings, such as how code chunks are displayed.</a:t>
            </a:r>
          </a:p>
          <a:p>
            <a:pPr lvl="1"/>
            <a:r>
              <a:rPr b="1"/>
              <a:t>Code chunks</a:t>
            </a:r>
            <a:r>
              <a:rPr/>
              <a:t> run code and show results.</a:t>
            </a:r>
          </a:p>
          <a:p>
            <a:pPr lvl="1"/>
            <a:r>
              <a:rPr b="1"/>
              <a:t>Markdown text</a:t>
            </a:r>
            <a:r>
              <a:rPr/>
              <a:t> creates the main content and can be formatted using keyboard shortcuts.</a:t>
            </a:r>
          </a:p>
          <a:p>
            <a:pPr lvl="0"/>
            <a:r>
              <a:rPr/>
              <a:t>Use Quarto directly with </a:t>
            </a:r>
            <a:r>
              <a:rPr b="1"/>
              <a:t>Zotero</a:t>
            </a:r>
            <a:r>
              <a:rPr/>
              <a:t> for inserting and managing references.</a:t>
            </a:r>
          </a:p>
          <a:p>
            <a:pPr lvl="0"/>
            <a:r>
              <a:rPr/>
              <a:t>Make your work accessible and reproducible by publishing on platforms, such as </a:t>
            </a:r>
            <a:r>
              <a:rPr b="1"/>
              <a:t>GitHub Pages</a:t>
            </a:r>
            <a:r>
              <a:rPr/>
              <a:t>, your own </a:t>
            </a:r>
            <a:r>
              <a:rPr b="1"/>
              <a:t>website</a:t>
            </a:r>
            <a:r>
              <a:rPr/>
              <a:t> or </a:t>
            </a:r>
            <a:r>
              <a:rPr b="1"/>
              <a:t>Quarto Pub</a:t>
            </a:r>
            <a:r>
              <a:rPr/>
              <a:t>.</a:t>
            </a:r>
          </a:p>
          <a:p>
            <a:pPr lvl="0" indent="0" marL="0">
              <a:buNone/>
            </a:pPr>
            <a:r>
              <a:rPr/>
              <a:t> Download the Quarto cheatsheet </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Relevance and implications</a:t>
            </a:r>
          </a:p>
          <a:p>
            <a:pPr lvl="0" indent="0" marL="0">
              <a:buNone/>
            </a:pPr>
            <a:r>
              <a:rPr/>
              <a:t>Let’s discuss how useful </a:t>
            </a:r>
            <a:r>
              <a:rPr b="1"/>
              <a:t>Quarto</a:t>
            </a:r>
            <a:r>
              <a:rPr/>
              <a:t> can be for </a:t>
            </a:r>
            <a:r>
              <a:rPr b="1"/>
              <a:t>open research</a:t>
            </a:r>
            <a:r>
              <a:rPr/>
              <a:t>. Consider the following questions:</a:t>
            </a:r>
          </a:p>
          <a:p>
            <a:pPr lvl="0" indent="-342900" marL="342900">
              <a:buAutoNum type="arabicPeriod"/>
            </a:pPr>
            <a:r>
              <a:rPr/>
              <a:t>How can using Quarto improve transparency and reproducibility in your work?</a:t>
            </a:r>
          </a:p>
          <a:p>
            <a:pPr lvl="0" indent="-342900" marL="342900">
              <a:buAutoNum type="arabicPeriod"/>
            </a:pPr>
            <a:r>
              <a:rPr/>
              <a:t>Do you see advantages in using Quarto compared to traditional tools like Word or PowerPoint?</a:t>
            </a:r>
          </a:p>
          <a:p>
            <a:pPr lvl="0" indent="-342900" marL="342900">
              <a:buAutoNum type="arabicPeriod"/>
            </a:pPr>
            <a:r>
              <a:rPr/>
              <a:t>What challenges might you face in adopting Quarto in your current workflow?</a:t>
            </a:r>
          </a:p>
        </p:txBody>
      </p:sp>
    </p:spTree>
  </p:cSl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What is the take-home message?</a:t>
            </a:r>
          </a:p>
          <a:p>
            <a:pPr lvl="0" indent="0" marL="0">
              <a:buNone/>
            </a:pPr>
            <a:r>
              <a:rPr/>
              <a:t>Let’s wrap up by identifying the </a:t>
            </a:r>
            <a:r>
              <a:rPr b="1"/>
              <a:t>key takeaway</a:t>
            </a:r>
            <a:r>
              <a:rPr/>
              <a:t> from today’s session together.</a:t>
            </a:r>
          </a:p>
          <a:p>
            <a:pPr lvl="0" indent="0" marL="0">
              <a:buNone/>
            </a:pPr>
          </a:p>
          <a:p>
            <a:pPr lvl="0" indent="0" marL="0">
              <a:buNone/>
            </a:pPr>
            <a:r>
              <a:rPr b="1"/>
              <a:t>Ask yourself</a:t>
            </a:r>
            <a:r>
              <a:rPr/>
              <a:t>: </a:t>
            </a:r>
            <a:r>
              <a:rPr i="1"/>
              <a:t>“If you had to explain to a colleague in one sentence why learning Quarto matters for research and teaching, what would you say?”</a:t>
            </a:r>
          </a:p>
        </p:txBody>
      </p:sp>
    </p:spTree>
  </p:cSl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Assignment</a:t>
            </a:r>
          </a:p>
          <a:p>
            <a:pPr lvl="0" indent="0" marL="0">
              <a:buNone/>
            </a:pPr>
            <a:r>
              <a:rPr/>
              <a:t>After learning about Quarto in today’s lesson, use this homework assignment to:</a:t>
            </a:r>
          </a:p>
          <a:p>
            <a:pPr lvl="0"/>
            <a:r>
              <a:rPr b="1"/>
              <a:t>Practice</a:t>
            </a:r>
            <a:r>
              <a:rPr/>
              <a:t> your Quarto skills</a:t>
            </a:r>
          </a:p>
          <a:p>
            <a:pPr lvl="0"/>
            <a:r>
              <a:rPr b="1"/>
              <a:t>Explore</a:t>
            </a:r>
            <a:r>
              <a:rPr/>
              <a:t> what more can be added to your documents</a:t>
            </a:r>
          </a:p>
          <a:p>
            <a:pPr lvl="0"/>
            <a:r>
              <a:rPr b="1"/>
              <a:t>Build confidence</a:t>
            </a:r>
            <a:r>
              <a:rPr/>
              <a:t> in editing YAML header, adding code chunks, and customizing the layout</a:t>
            </a:r>
          </a:p>
          <a:p>
            <a:pPr lvl="0" indent="0" marL="0">
              <a:buNone/>
            </a:pPr>
            <a:r>
              <a:rPr/>
              <a:t> Download the Quarto Activity Sheet </a:t>
            </a:r>
          </a:p>
        </p:txBody>
      </p:sp>
    </p:spTree>
  </p:cSl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To conclude: Survey/Quiz time!</a:t>
            </a:r>
          </a:p>
          <a:p>
            <a:pPr lvl="0" indent="0" marL="0">
              <a:buNone/>
            </a:pPr>
            <a:r>
              <a:rPr/>
              <a:t>Let’s end this session with a short quiz on topics covered in this lesson.</a:t>
            </a:r>
          </a:p>
          <a:p>
            <a:pPr lvl="0" indent="0" marL="0">
              <a:buNone/>
            </a:pPr>
            <a:r>
              <a:rPr/>
              <a:t>Click on the following link or scan the QR code to do one final review of this lesson: </a:t>
            </a:r>
            <a:r>
              <a:rPr>
                <a:hlinkClick r:id="rId2"/>
              </a:rPr>
              <a:t>Quarto Survey</a:t>
            </a:r>
          </a:p>
        </p:txBody>
      </p:sp>
      <p:pic>
        <p:nvPicPr>
          <p:cNvPr descr="images/00_particify.png" id="0" name="Picture 1"/>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Finishing quiz</a:t>
            </a:r>
          </a:p>
          <a:p>
            <a:pPr lvl="0" indent="0" marL="1270000">
              <a:buNone/>
            </a:pPr>
            <a:r>
              <a:rPr sz="2000"/>
              <a:t>Please complete survey labeled “OS-M3-S6-Quarto_finishing_quiz”.</a:t>
            </a:r>
          </a:p>
        </p:txBody>
      </p:sp>
    </p:spTree>
  </p:cSl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Discussion of survey results</a:t>
            </a:r>
          </a:p>
        </p:txBody>
      </p:sp>
    </p:spTree>
  </p:cSl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References</a:t>
            </a:r>
          </a:p>
          <a:p>
            <a:pPr lvl="0"/>
            <a:r>
              <a:rPr/>
              <a:t>Allaire, J., Teague, C., Scheidegger, C., Xie, Y., Dervieux, C., &amp; Woodhull, G. (2025). Quarto (Version 1.8) [Computer software]. https://doi.org/10.5281/zenodo.5960048</a:t>
            </a:r>
          </a:p>
          <a:p>
            <a:pPr lvl="0"/>
            <a:r>
              <a:rPr/>
              <a:t>Bregendahl, K., Sell, J., &amp; Zimmerman, D. (2002). Effect of low-protein diets on growth performance and body composition of broiler chicks. </a:t>
            </a:r>
            <a:r>
              <a:rPr i="1"/>
              <a:t>Poultry Science</a:t>
            </a:r>
            <a:r>
              <a:rPr/>
              <a:t>, </a:t>
            </a:r>
            <a:r>
              <a:rPr i="1"/>
              <a:t>81</a:t>
            </a:r>
            <a:r>
              <a:rPr/>
              <a:t>(8), 1156–1167. </a:t>
            </a:r>
            <a:r>
              <a:rPr>
                <a:hlinkClick r:id="rId2"/>
              </a:rPr>
              <a:t>https://doi.org/10.1093/ps/81.8.1156</a:t>
            </a:r>
          </a:p>
          <a:p>
            <a:pPr lvl="0"/>
            <a:r>
              <a:rPr/>
              <a:t>Duit, R., &amp; Treagust, D. F. (2003). Conceptual change: A powerful framework for improving science teaching and learning. </a:t>
            </a:r>
            <a:r>
              <a:rPr i="1"/>
              <a:t>International Journal of Science Education</a:t>
            </a:r>
            <a:r>
              <a:rPr/>
              <a:t>, </a:t>
            </a:r>
            <a:r>
              <a:rPr i="1"/>
              <a:t>25</a:t>
            </a:r>
            <a:r>
              <a:rPr/>
              <a:t>(6), 671–688. </a:t>
            </a:r>
            <a:r>
              <a:rPr>
                <a:hlinkClick r:id="rId3"/>
              </a:rPr>
              <a:t>https://doi.org/10.1080/09500690305016</a:t>
            </a:r>
          </a:p>
          <a:p>
            <a:pPr lvl="0"/>
            <a:r>
              <a:rPr/>
              <a:t>Forehand, M. (2010). Bloom’s taxonomy. </a:t>
            </a:r>
            <a:r>
              <a:rPr i="1"/>
              <a:t>Emerging perspectives on learning, teaching, and technology</a:t>
            </a:r>
            <a:r>
              <a:rPr/>
              <a:t>, </a:t>
            </a:r>
            <a:r>
              <a:rPr i="1"/>
              <a:t>41</a:t>
            </a:r>
            <a:r>
              <a:rPr/>
              <a:t>(4), 47-56.</a:t>
            </a:r>
          </a:p>
          <a:p>
            <a:pPr lvl="0"/>
            <a:r>
              <a:rPr/>
              <a:t>Li, J., Yuan, J., Miao, Z., Song, Z., Yang, Y., Tian, W., &amp; Guo, Y. (2016). Effect of Dietary Nutrient Density on Small Intestinal Phosphate Transport and Bone Mineralization of Broilers during the Growing Period. </a:t>
            </a:r>
            <a:r>
              <a:rPr i="1"/>
              <a:t>PLOS ONE</a:t>
            </a:r>
            <a:r>
              <a:rPr/>
              <a:t>, </a:t>
            </a:r>
            <a:r>
              <a:rPr i="1"/>
              <a:t>11</a:t>
            </a:r>
            <a:r>
              <a:rPr/>
              <a:t>(4), e0153859. </a:t>
            </a:r>
            <a:r>
              <a:rPr>
                <a:hlinkClick r:id="rId4"/>
              </a:rPr>
              <a:t>https://doi.org/10.1371/journal.pone.0153859</a:t>
            </a:r>
          </a:p>
          <a:p>
            <a:pPr lvl="0"/>
            <a:r>
              <a:rPr/>
              <a:t>Pauwels, J., Coopman, F., Cools, A., Michiels, J., Fremaut, D., De Smet, S., &amp; Janssens, G. P. J. (2015). Selection for Growth Performance in Broiler Chickens Associates with Less Diet Flexibility. </a:t>
            </a:r>
            <a:r>
              <a:rPr i="1"/>
              <a:t>PLOS ONE</a:t>
            </a:r>
            <a:r>
              <a:rPr/>
              <a:t>, </a:t>
            </a:r>
            <a:r>
              <a:rPr i="1"/>
              <a:t>10</a:t>
            </a:r>
            <a:r>
              <a:rPr/>
              <a:t>(6), e0127819. </a:t>
            </a:r>
            <a:r>
              <a:rPr>
                <a:hlinkClick r:id="rId5"/>
              </a:rPr>
              <a:t>https://doi.org/10.1371/journal.pone.0127819</a:t>
            </a:r>
          </a:p>
          <a:p>
            <a:pPr lvl="0"/>
            <a:r>
              <a:rPr/>
              <a:t>Ryba, R., Doubleday, Z. A., Dry, M. J., Semmler, C., &amp; Connell, S. D. (2021). Better Writing in Scientific Publications Builds Reader Confidence and Understanding. </a:t>
            </a:r>
            <a:r>
              <a:rPr i="1"/>
              <a:t>Frontiers in Psychology</a:t>
            </a:r>
            <a:r>
              <a:rPr/>
              <a:t>, </a:t>
            </a:r>
            <a:r>
              <a:rPr i="1"/>
              <a:t>12</a:t>
            </a:r>
            <a:r>
              <a:rPr/>
              <a:t>, 714321. </a:t>
            </a:r>
            <a:r>
              <a:rPr>
                <a:hlinkClick r:id="rId6"/>
              </a:rPr>
              <a:t>https://doi.org/10.3389/fpsyg.2021.714321</a:t>
            </a:r>
          </a:p>
          <a:p>
            <a:pPr lvl="0"/>
            <a:r>
              <a:rPr/>
              <a:t>Tierney, N. (2025). Quarto for scientists. https://qmd4sci.njtierney.com/</a:t>
            </a:r>
          </a:p>
        </p:txBody>
      </p:sp>
    </p:spTree>
  </p:cSl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Thanks! </a:t>
            </a:r>
          </a:p>
        </p:txBody>
      </p:sp>
      <p:sp>
        <p:nvSpPr>
          <p:cNvPr id="3" name="Content Placeholder 2"/>
          <p:cNvSpPr>
            <a:spLocks noGrp="1"/>
          </p:cNvSpPr>
          <p:nvPr>
            <p:ph idx="1"/>
          </p:nvPr>
        </p:nvSpPr>
        <p:spPr/>
        <p:txBody>
          <a:bodyPr/>
          <a:lstStyle/>
          <a:p>
            <a:pPr lvl="0" indent="0" marL="0">
              <a:buNone/>
            </a:pPr>
            <a:r>
              <a:rPr/>
              <a:t>See you next class :)</a:t>
            </a:r>
          </a:p>
        </p:txBody>
      </p:sp>
    </p:spTree>
  </p:cSl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Pedagogical add-on tools for instructors</a:t>
            </a:r>
          </a:p>
          <a:p>
            <a:pPr lvl="0"/>
            <a:r>
              <a:rPr/>
              <a:t>Relevant practical exercises follow each section to encourage students to learn-by-doing</a:t>
            </a:r>
          </a:p>
          <a:p>
            <a:pPr lvl="0"/>
            <a:r>
              <a:rPr/>
              <a:t>Downloadable cheatsheet as a PDF for a compact summary of all the topics covered in the session</a:t>
            </a:r>
          </a:p>
          <a:p>
            <a:pPr lvl="0"/>
            <a:r>
              <a:rPr/>
              <a:t>Downloadable activity sheet as a PDF to learn additional Quarto features, designed with slightly less guidance so that students are encouraged to apply their knowledge and skills more independently.</a:t>
            </a:r>
          </a:p>
          <a:p>
            <a:pPr lvl="0"/>
            <a:r>
              <a:rPr>
                <a:hlinkClick r:id="rId2"/>
              </a:rPr>
              <a:t>Link to advanced Quarto activities</a:t>
            </a:r>
            <a:r>
              <a:rPr/>
              <a:t> for faster learners who want to gain deeper knowledge on Quarto and its possibilities</a:t>
            </a:r>
          </a:p>
        </p:txBody>
      </p:sp>
    </p:spTree>
  </p:cSl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Additional literature for instructors</a:t>
            </a:r>
          </a:p>
          <a:p>
            <a:pPr lvl="0"/>
            <a:r>
              <a:rPr b="1"/>
              <a:t>References for content</a:t>
            </a:r>
          </a:p>
          <a:p>
            <a:pPr lvl="1"/>
            <a:r>
              <a:rPr>
                <a:hlinkClick r:id="rId2"/>
              </a:rPr>
              <a:t>https://quarto.org/docs/guide/</a:t>
            </a:r>
          </a:p>
          <a:p>
            <a:pPr lvl="0"/>
            <a:r>
              <a:rPr b="1"/>
              <a:t>References for pedagogical add-on tools</a:t>
            </a:r>
          </a:p>
          <a:p>
            <a:pPr lvl="1"/>
            <a:r>
              <a:rPr>
                <a:hlinkClick r:id="rId3"/>
              </a:rPr>
              <a:t>https://quarto.org/docs/presentations/</a:t>
            </a:r>
          </a:p>
          <a:p>
            <a:pPr lvl="1"/>
            <a:r>
              <a:rPr>
                <a:hlinkClick r:id="rId4"/>
              </a:rPr>
              <a:t>Bloom’s Taxonomy</a:t>
            </a:r>
          </a:p>
          <a:p>
            <a:pPr lvl="1"/>
            <a:r>
              <a:rPr>
                <a:hlinkClick r:id="rId5"/>
              </a:rPr>
              <a:t>Information on conceptual change theory</a:t>
            </a:r>
          </a:p>
          <a:p>
            <a:pPr lvl="0"/>
            <a:r>
              <a:rPr b="1"/>
              <a:t>Other resources</a:t>
            </a:r>
          </a:p>
          <a:p>
            <a:pPr lvl="1"/>
            <a:r>
              <a:rPr>
                <a:hlinkClick r:id="rId6"/>
              </a:rPr>
              <a:t>Video on crafting presentations with R and Quarto</a:t>
            </a:r>
          </a:p>
        </p:txBody>
      </p:sp>
    </p:spTree>
  </p:cSl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CREDiT Contribution Statement - TO DO</a:t>
            </a:r>
          </a:p>
          <a:p>
            <a:pPr lvl="0" indent="0" marL="0">
              <a:buNone/>
            </a:pPr>
            <a:r>
              <a:rPr b="1"/>
              <a:t>Elizabeth Waterfield</a:t>
            </a:r>
            <a:r>
              <a:rPr/>
              <a:t>: Conceptualization, Software, Writing - Original Draft, Visualization. </a:t>
            </a:r>
            <a:r>
              <a:rPr b="1"/>
              <a:t>Sarah von Grebmer zu Wolfsthurn</a:t>
            </a:r>
            <a:r>
              <a:rPr/>
              <a:t>: Conceptualisation, Writing - Review &amp; Editing, Project Administration, Validation. </a:t>
            </a:r>
            <a:r>
              <a:rPr b="1"/>
              <a:t>Malika Ihle</a:t>
            </a:r>
            <a:r>
              <a:rPr/>
              <a:t>: Conceptualisation, Writing - Review &amp; Editing, Supervision, Project Administration, Validation.</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literate programming with Quarto</dc:title>
  <dc:creator>Elizabeth Waterfield</dc:creator>
  <cp:keywords/>
  <dcterms:created xsi:type="dcterms:W3CDTF">2026-03-05T14:58:47Z</dcterms:created>
  <dcterms:modified xsi:type="dcterms:W3CDTF">2026-03-05T14:58:47Z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05/03/2026</vt:lpwstr>
  </property>
  <property fmtid="{D5CDD505-2E9C-101B-9397-08002B2CF9AE}" pid="6" name="date-format">
    <vt:lpwstr>DD/MM/YYYY</vt:lpwstr>
  </property>
  <property fmtid="{D5CDD505-2E9C-101B-9397-08002B2CF9AE}" pid="7" name="execute">
    <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labels">
    <vt:lpwstr/>
  </property>
  <property fmtid="{D5CDD505-2E9C-101B-9397-08002B2CF9AE}" pid="12" name="toc-title">
    <vt:lpwstr>Table of contents</vt:lpwstr>
  </property>
</Properties>
</file>