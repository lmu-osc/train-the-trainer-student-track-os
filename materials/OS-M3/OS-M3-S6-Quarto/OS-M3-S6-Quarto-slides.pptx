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notesMaster" Target="notesMasters/notesMaster1.xml" /><Relationship Id="rId96" Type="http://schemas.openxmlformats.org/officeDocument/2006/relationships/viewProps" Target="viewProps.xml" /><Relationship Id="rId95" Type="http://schemas.openxmlformats.org/officeDocument/2006/relationships/presProps" Target="presProps.xml" /><Relationship Id="rId1" Type="http://schemas.openxmlformats.org/officeDocument/2006/relationships/slideMaster" Target="slideMasters/slideMaster1.xml" /><Relationship Id="rId98" Type="http://schemas.openxmlformats.org/officeDocument/2006/relationships/tableStyles" Target="tableStyles.xml" /><Relationship Id="rId9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meaning that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This survey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Researchers often follow a copy-paste workflow, whereby the produce for example a figure with a particular program, then copy the figure over to the manuscript, perhaps in MS word. _so, the results are being explicitly moved to the document. If the results are updated, you have to recompile the figure and re-paste it into the manuscript. This workflow, as you can imagine, is more error prone since it involves a lot of manual labor.</a:t>
            </a:r>
          </a:p>
          <a:p>
            <a:pPr lvl="0" indent="0" marL="0">
              <a:buNone/>
            </a:pPr>
          </a:p>
          <a:p>
            <a:pPr lvl="0" indent="0" marL="0">
              <a:buNone/>
            </a:pPr>
            <a:r>
              <a:rPr/>
              <a:t>This is where Quarto comes in! It brings these elements together where we can type, run code, embed media, and cite literature all in one place. In other words, with Quarto, the code that generates results (tables, figures, statistics) lives inside the same document as the text of the manuscript. Here, results are generated inside the document. Analyses are computed in the same document, results and figures are updated automatically, no copy-paste approach.</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Emphasize that the purpose of Quarto is to reduce copy-paste errors or error coming from manual labour.</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 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among the group.</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 Id="rId15"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8282-3910" TargetMode="External" /><Relationship Id="rId6"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3.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4.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6.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0.png" /><Relationship Id="rId3" Type="http://schemas.openxmlformats.org/officeDocument/2006/relationships/image" Target="../media/image9.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01/06/2026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15"/>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Consultant</a:t>
            </a:r>
            <a:r>
              <a:rPr/>
              <a:t>: Schönbrodt, Felix (</a:t>
            </a:r>
            <a:r>
              <a:rPr>
                <a:hlinkClick r:id="rId5"/>
              </a:rPr>
              <a:t>0000-0002-8282-3910</a:t>
            </a:r>
            <a:r>
              <a:rPr/>
              <a:t>)</a:t>
            </a:r>
          </a:p>
          <a:p>
            <a:pPr lvl="0" indent="0" marL="0">
              <a:buNone/>
            </a:pPr>
            <a:r>
              <a:rPr b="1"/>
              <a:t>Acknowledgments</a:t>
            </a:r>
            <a:r>
              <a:rPr/>
              <a:t>: Ihle, Malika (</a:t>
            </a:r>
            <a:r>
              <a:rPr>
                <a:hlinkClick r:id="rId6"/>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when using Quarto? (Select all that apply)</a:t>
            </a:r>
          </a:p>
          <a:p>
            <a:pPr lvl="0" indent="-342900" marL="342900">
              <a:buAutoNum type="alphaLcPeriod"/>
            </a:pPr>
            <a:r>
              <a:rPr/>
              <a:t>Creating and rendering basic Quarto documents (.qmd)</a:t>
            </a:r>
          </a:p>
          <a:p>
            <a:pPr lvl="0" indent="-342900" marL="342900">
              <a:buAutoNum type="alphaLcPeriod"/>
            </a:pPr>
            <a:r>
              <a:rPr/>
              <a:t>Using YAML headers to customize document settings (e.g., title, author names, output format)</a:t>
            </a:r>
          </a:p>
          <a:p>
            <a:pPr lvl="0" indent="-342900" marL="342900">
              <a:buAutoNum type="alphaLcPeriod"/>
            </a:pPr>
            <a:r>
              <a:rPr/>
              <a:t>Embedding R or Python code chunks and viewing output</a:t>
            </a:r>
          </a:p>
          <a:p>
            <a:pPr lvl="0" indent="-342900" marL="342900">
              <a:buAutoNum type="alphaLcPeriod"/>
            </a:pPr>
            <a:r>
              <a:rPr/>
              <a:t>Producing PDF, HTML or Word documents with Quarto</a:t>
            </a:r>
          </a:p>
          <a:p>
            <a:pPr lvl="0" indent="-342900" marL="342900">
              <a:buAutoNum type="alphaLcPeriod"/>
            </a:pPr>
            <a:r>
              <a:rPr/>
              <a:t>Using Quarto in combination with version control (e.g., Git, GitHub)</a:t>
            </a:r>
          </a:p>
          <a:p>
            <a:pPr lvl="0" indent="-342900" marL="342900">
              <a:buAutoNum type="alphaLcPeriod"/>
            </a:pPr>
            <a:r>
              <a:rPr/>
              <a:t>Including citations and bibliographies via a citation manager</a:t>
            </a:r>
          </a:p>
          <a:p>
            <a:pPr lvl="0" indent="-342900" marL="342900">
              <a:buAutoNum type="alphaLcPeriod"/>
            </a:pPr>
            <a:r>
              <a:rPr/>
              <a:t>None of the above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text, analyses, results and code are combined within the same document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Step</a:t>
                      </a:r>
                    </a:p>
                  </a:txBody>
                  <a:tcPr/>
                </a:tc>
                <a:tc>
                  <a:txBody>
                    <a:bodyPr/>
                    <a:lstStyle/>
                    <a:p>
                      <a:pPr lvl="0" indent="0" marL="0">
                        <a:buNone/>
                      </a:pPr>
                      <a:r>
                        <a:rPr/>
                        <a:t>Traditional workflow</a:t>
                      </a:r>
                    </a:p>
                  </a:txBody>
                  <a:tcPr/>
                </a:tc>
                <a:tc>
                  <a:txBody>
                    <a:bodyPr/>
                    <a:lstStyle/>
                    <a:p>
                      <a:pPr lvl="0" indent="0" marL="0">
                        <a:buNone/>
                      </a:pPr>
                      <a:r>
                        <a:rPr/>
                        <a:t>Quarto workflow</a:t>
                      </a:r>
                    </a:p>
                  </a:txBody>
                  <a:tcPr/>
                </a:tc>
              </a:tr>
              <a:tr h="0">
                <a:tc>
                  <a:txBody>
                    <a:bodyPr/>
                    <a:lstStyle/>
                    <a:p>
                      <a:pPr lvl="0" indent="0" marL="0">
                        <a:buNone/>
                      </a:pPr>
                      <a:r>
                        <a:rPr/>
                        <a:t>Write text</a:t>
                      </a:r>
                    </a:p>
                  </a:txBody>
                </a:tc>
                <a:tc>
                  <a:txBody>
                    <a:bodyPr/>
                    <a:lstStyle/>
                    <a:p>
                      <a:pPr lvl="0" indent="0" marL="0">
                        <a:buNone/>
                      </a:pPr>
                      <a:r>
                        <a:rPr/>
                        <a:t>e.g., in an MS Word document</a:t>
                      </a:r>
                    </a:p>
                  </a:txBody>
                </a:tc>
                <a:tc>
                  <a:txBody>
                    <a:bodyPr/>
                    <a:lstStyle/>
                    <a:p>
                      <a:pPr lvl="0" indent="0" marL="0">
                        <a:buNone/>
                      </a:pPr>
                      <a:r>
                        <a:rPr/>
                        <a:t>Same file</a:t>
                      </a:r>
                    </a:p>
                  </a:txBody>
                </a:tc>
              </a:tr>
              <a:tr h="0">
                <a:tc>
                  <a:txBody>
                    <a:bodyPr/>
                    <a:lstStyle/>
                    <a:p>
                      <a:pPr lvl="0" indent="0" marL="0">
                        <a:buNone/>
                      </a:pPr>
                      <a:r>
                        <a:rPr/>
                        <a:t>Run analysis</a:t>
                      </a:r>
                    </a:p>
                  </a:txBody>
                </a:tc>
                <a:tc>
                  <a:txBody>
                    <a:bodyPr/>
                    <a:lstStyle/>
                    <a:p>
                      <a:pPr lvl="0" indent="0" marL="0">
                        <a:buNone/>
                      </a:pPr>
                      <a:r>
                        <a:rPr/>
                        <a:t>e.g., in a code editor</a:t>
                      </a:r>
                    </a:p>
                  </a:txBody>
                </a:tc>
                <a:tc>
                  <a:txBody>
                    <a:bodyPr/>
                    <a:lstStyle/>
                    <a:p>
                      <a:pPr lvl="0" indent="0" marL="0">
                        <a:buNone/>
                      </a:pPr>
                      <a:r>
                        <a:rPr/>
                        <a:t>Same file</a:t>
                      </a:r>
                    </a:p>
                  </a:txBody>
                </a:tc>
              </a:tr>
              <a:tr h="0">
                <a:tc>
                  <a:txBody>
                    <a:bodyPr/>
                    <a:lstStyle/>
                    <a:p>
                      <a:pPr lvl="0" indent="0" marL="0">
                        <a:buNone/>
                      </a:pPr>
                      <a:r>
                        <a:rPr/>
                        <a:t>Insert results</a:t>
                      </a:r>
                    </a:p>
                  </a:txBody>
                </a:tc>
                <a:tc>
                  <a:txBody>
                    <a:bodyPr/>
                    <a:lstStyle/>
                    <a:p>
                      <a:pPr lvl="0" indent="0" marL="0">
                        <a:buNone/>
                      </a:pPr>
                      <a:r>
                        <a:rPr/>
                        <a:t>Copy-paste results</a:t>
                      </a:r>
                    </a:p>
                  </a:txBody>
                </a:tc>
                <a:tc>
                  <a:txBody>
                    <a:bodyPr/>
                    <a:lstStyle/>
                    <a:p>
                      <a:pPr lvl="0" indent="0" marL="0">
                        <a:buNone/>
                      </a:pPr>
                      <a:r>
                        <a:rPr/>
                        <a:t>Automatic</a:t>
                      </a:r>
                    </a:p>
                  </a:txBody>
                </a:tc>
              </a:tr>
              <a:tr h="0">
                <a:tc>
                  <a:txBody>
                    <a:bodyPr/>
                    <a:lstStyle/>
                    <a:p>
                      <a:pPr lvl="0" indent="0" marL="0">
                        <a:buNone/>
                      </a:pPr>
                      <a:r>
                        <a:rPr/>
                        <a:t>Generate figure</a:t>
                      </a:r>
                    </a:p>
                  </a:txBody>
                </a:tc>
                <a:tc>
                  <a:txBody>
                    <a:bodyPr/>
                    <a:lstStyle/>
                    <a:p>
                      <a:pPr lvl="0" indent="0" marL="0">
                        <a:buNone/>
                      </a:pPr>
                      <a:r>
                        <a:rPr/>
                        <a:t>in statistical programme</a:t>
                      </a:r>
                    </a:p>
                  </a:txBody>
                </a:tc>
                <a:tc>
                  <a:txBody>
                    <a:bodyPr/>
                    <a:lstStyle/>
                    <a:p>
                      <a:pPr lvl="0" indent="0" marL="0">
                        <a:buNone/>
                      </a:pPr>
                      <a:r>
                        <a:rPr/>
                        <a:t>Same file</a:t>
                      </a:r>
                    </a:p>
                  </a:txBody>
                </a:tc>
              </a:tr>
              <a:tr h="0">
                <a:tc>
                  <a:txBody>
                    <a:bodyPr/>
                    <a:lstStyle/>
                    <a:p>
                      <a:pPr lvl="0" indent="0" marL="0">
                        <a:buNone/>
                      </a:pPr>
                      <a:r>
                        <a:rPr/>
                        <a:t>Update results</a:t>
                      </a:r>
                    </a:p>
                  </a:txBody>
                </a:tc>
                <a:tc>
                  <a:txBody>
                    <a:bodyPr/>
                    <a:lstStyle/>
                    <a:p>
                      <a:pPr lvl="0" indent="0" marL="0">
                        <a:buNone/>
                      </a:pPr>
                      <a:r>
                        <a:rPr/>
                        <a:t>Manual redo</a:t>
                      </a:r>
                    </a:p>
                  </a:txBody>
                </a:tc>
                <a:tc>
                  <a:txBody>
                    <a:bodyPr/>
                    <a:lstStyle/>
                    <a:p>
                      <a:pPr lvl="0" indent="0" marL="0">
                        <a:buNone/>
                      </a:pPr>
                      <a:r>
                        <a:rPr/>
                        <a:t>Re-run document</a:t>
                      </a:r>
                    </a:p>
                  </a:txBody>
                </a:tc>
              </a:tr>
              <a:tr h="0">
                <a:tc>
                  <a:txBody>
                    <a:bodyPr/>
                    <a:lstStyle/>
                    <a:p>
                      <a:pPr lvl="0" indent="0" marL="0">
                        <a:buNone/>
                      </a:pPr>
                      <a:r>
                        <a:rPr/>
                        <a:t>Update figure</a:t>
                      </a:r>
                    </a:p>
                  </a:txBody>
                </a:tc>
                <a:tc>
                  <a:txBody>
                    <a:bodyPr/>
                    <a:lstStyle/>
                    <a:p>
                      <a:pPr lvl="0" indent="0" marL="0">
                        <a:buNone/>
                      </a:pPr>
                      <a:r>
                        <a:rPr/>
                        <a:t>Manual redo</a:t>
                      </a:r>
                    </a:p>
                  </a:txBody>
                </a:tc>
                <a:tc>
                  <a:txBody>
                    <a:bodyPr/>
                    <a:lstStyle/>
                    <a:p>
                      <a:pPr lvl="0" indent="0" marL="0">
                        <a:buNone/>
                      </a:pPr>
                      <a:r>
                        <a:rPr/>
                        <a:t>Re-run document</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 including PDF, docx, ePub for e-book readers, pptx, and much more.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a:p>
            <a:pPr lvl="0" indent="0" marL="0">
              <a:buNone/>
            </a:pPr>
            <a:r>
              <a:rPr/>
              <a:t>. . .</a:t>
            </a:r>
          </a:p>
          <a:p>
            <a:pPr lvl="0" indent="0" marL="0">
              <a:buNone/>
            </a:pPr>
            <a:r>
              <a:rPr/>
              <a:t>It should look like this:</a:t>
            </a:r>
          </a:p>
          <a:p>
            <a:pPr lvl="0" indent="0">
              <a:buNone/>
            </a:pPr>
            <a:r>
              <a:rPr>
                <a:solidFill>
                  <a:srgbClr val="5E5E5E"/>
                </a:solidFill>
                <a:latin typeface="Courier"/>
              </a:rPr>
              <a:t>```{r}</a:t>
            </a:r>
            <a:br/>
            <a:r>
              <a:rPr>
                <a:solidFill>
                  <a:srgbClr val="4758AB"/>
                </a:solidFill>
                <a:latin typeface="Courier"/>
              </a:rPr>
              <a:t>summary</a:t>
            </a:r>
            <a:r>
              <a:rPr>
                <a:solidFill>
                  <a:srgbClr val="003B4F"/>
                </a:solidFill>
                <a:latin typeface="Courier"/>
              </a:rPr>
              <a:t>(ChickWeight)</a:t>
            </a:r>
            <a:br/>
            <a:r>
              <a:rPr>
                <a:solidFill>
                  <a:srgbClr val="5E5E5E"/>
                </a:solidFill>
                <a:latin typeface="Courier"/>
              </a:rPr>
              <a:t>```</a:t>
            </a:r>
            <a:br/>
            <a:br/>
            <a:r>
              <a:rPr>
                <a:solidFill>
                  <a:srgbClr val="5E5E5E"/>
                </a:solidFill>
                <a:latin typeface="Courier"/>
              </a:rPr>
              <a:t>```{r}</a:t>
            </a:r>
            <a:br/>
            <a:r>
              <a:rPr>
                <a:solidFill>
                  <a:srgbClr val="4758AB"/>
                </a:solidFill>
                <a:latin typeface="Courier"/>
              </a:rPr>
              <a:t>library</a:t>
            </a:r>
            <a:r>
              <a:rPr>
                <a:solidFill>
                  <a:srgbClr val="003B4F"/>
                </a:solidFill>
                <a:latin typeface="Courier"/>
              </a:rPr>
              <a:t>(ggplot2)</a:t>
            </a:r>
            <a:br/>
            <a:r>
              <a:rPr>
                <a:solidFill>
                  <a:srgbClr val="4758AB"/>
                </a:solidFill>
                <a:latin typeface="Courier"/>
              </a:rPr>
              <a:t>ggplot</a:t>
            </a:r>
            <a:r>
              <a:rPr>
                <a:solidFill>
                  <a:srgbClr val="003B4F"/>
                </a:solidFill>
                <a:latin typeface="Courier"/>
              </a:rPr>
              <a:t>(ChickWeight,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Time, </a:t>
            </a:r>
            <a:r>
              <a:rPr>
                <a:solidFill>
                  <a:srgbClr val="657422"/>
                </a:solidFill>
                <a:latin typeface="Courier"/>
              </a:rPr>
              <a:t>y =</a:t>
            </a:r>
            <a:r>
              <a:rPr>
                <a:solidFill>
                  <a:srgbClr val="003B4F"/>
                </a:solidFill>
                <a:latin typeface="Courier"/>
              </a:rPr>
              <a:t> weight, </a:t>
            </a:r>
            <a:r>
              <a:rPr>
                <a:solidFill>
                  <a:srgbClr val="657422"/>
                </a:solidFill>
                <a:latin typeface="Courier"/>
              </a:rPr>
              <a:t>color =</a:t>
            </a:r>
            <a:r>
              <a:rPr>
                <a:solidFill>
                  <a:srgbClr val="003B4F"/>
                </a:solidFill>
                <a:latin typeface="Courier"/>
              </a:rPr>
              <a:t> Diet))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group =</a:t>
            </a:r>
            <a:r>
              <a:rPr>
                <a:solidFill>
                  <a:srgbClr val="003B4F"/>
                </a:solidFill>
                <a:latin typeface="Courier"/>
              </a:rPr>
              <a:t> Chick))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"Chick Growth Over Time"</a:t>
            </a:r>
            <a:r>
              <a:rPr>
                <a:solidFill>
                  <a:srgbClr val="003B4F"/>
                </a:solidFill>
                <a:latin typeface="Courier"/>
              </a:rPr>
              <a:t>)</a:t>
            </a:r>
            <a:br/>
            <a:r>
              <a:rPr>
                <a:solidFill>
                  <a:srgbClr val="5E5E5E"/>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 Your turn!</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What’s the typical format of Quarto Markdown document?</a:t>
            </a:r>
          </a:p>
          <a:p>
            <a:pPr lvl="0" indent="-342900" marL="342900">
              <a:buAutoNum type="alphaLcPeriod"/>
            </a:pPr>
            <a:r>
              <a:rPr/>
              <a:t>.png file</a:t>
            </a:r>
          </a:p>
          <a:p>
            <a:pPr lvl="0" indent="-342900" marL="342900">
              <a:buAutoNum type="alphaLcPeriod"/>
            </a:pPr>
            <a:r>
              <a:rPr/>
              <a:t>.qmd file</a:t>
            </a:r>
          </a:p>
          <a:p>
            <a:pPr lvl="0" indent="-342900" marL="342900">
              <a:buAutoNum type="alphaLcPeriod"/>
            </a:pPr>
            <a:r>
              <a:rPr/>
              <a:t>.docx file</a:t>
            </a:r>
          </a:p>
          <a:p>
            <a:pPr lvl="0" indent="-342900" marL="342900">
              <a:buAutoNum type="alphaLcPeriod"/>
            </a:pPr>
            <a:r>
              <a:rPr/>
              <a:t>.mp3 file</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what is the YAML header?</a:t>
            </a:r>
          </a:p>
          <a:p>
            <a:pPr lvl="0" indent="-342900" marL="342900">
              <a:buAutoNum type="alphaLcPeriod"/>
            </a:pPr>
            <a:r>
              <a:rPr/>
              <a:t>Summarizes the document into a single line</a:t>
            </a:r>
          </a:p>
          <a:p>
            <a:pPr lvl="0" indent="-342900" marL="342900">
              <a:buAutoNum type="alphaLcPeriod"/>
            </a:pPr>
            <a:r>
              <a:rPr/>
              <a:t>A place inside the Quarto document to store notes</a:t>
            </a:r>
          </a:p>
          <a:p>
            <a:pPr lvl="0" indent="-342900" marL="342900">
              <a:buAutoNum type="alphaLcPeriod"/>
            </a:pPr>
            <a:r>
              <a:rPr/>
              <a:t>The title of the document</a:t>
            </a:r>
          </a:p>
          <a:p>
            <a:pPr lvl="0" indent="-342900" marL="342900">
              <a:buAutoNum type="alphaLcPeriod"/>
            </a:pPr>
            <a:r>
              <a:rPr/>
              <a:t>The “settings” of the document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which component is primarily responsible for formatting narrative text (e.g., headings, bold text, lists, and paragraphs)?</a:t>
            </a:r>
          </a:p>
          <a:p>
            <a:pPr lvl="0" indent="-342900" marL="342900">
              <a:buAutoNum type="alphaLcPeriod"/>
            </a:pPr>
            <a:r>
              <a:rPr/>
              <a:t>Markdown text</a:t>
            </a:r>
          </a:p>
          <a:p>
            <a:pPr lvl="0" indent="-342900" marL="342900">
              <a:buAutoNum type="alphaLcPeriod"/>
            </a:pPr>
            <a:r>
              <a:rPr/>
              <a:t>YAML header</a:t>
            </a:r>
          </a:p>
          <a:p>
            <a:pPr lvl="0" indent="-342900" marL="342900">
              <a:buAutoNum type="alphaLcPeriod"/>
            </a:pPr>
            <a:r>
              <a:rPr/>
              <a:t>Code chunks</a:t>
            </a:r>
          </a:p>
          <a:p>
            <a:pPr lvl="0" indent="-342900" marL="342900">
              <a:buAutoNum type="alphaLcPeriod"/>
            </a:pPr>
            <a:r>
              <a:rPr/>
              <a:t>All of the above</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document and place the cursor at the end of the sentence. This where in the sentence you want to place the citation.</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the rendered html file to:</a:t>
            </a:r>
          </a:p>
          <a:p>
            <a:pPr lvl="1"/>
            <a:r>
              <a:rPr/>
              <a:t>GitHub Pages</a:t>
            </a:r>
          </a:p>
          <a:p>
            <a:pPr lvl="1"/>
            <a:r>
              <a:rPr/>
              <a:t>A personal website</a:t>
            </a:r>
          </a:p>
          <a:p>
            <a:pPr lvl="1"/>
            <a:r>
              <a:rPr/>
              <a:t>Quarto Pub</a:t>
            </a:r>
          </a:p>
          <a:p>
            <a:pPr lvl="0"/>
            <a:r>
              <a:rPr/>
              <a:t>Note: Of course you can always render to PDF and upload that to any preprint server or your personal website. But here we will focus on publishing to GitHub Pages.</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pushing it 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now after the session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best describes Quarto?</a:t>
            </a:r>
          </a:p>
          <a:p>
            <a:pPr lvl="0" indent="-342900" marL="342900">
              <a:buAutoNum type="alphaLcPeriod"/>
            </a:pPr>
            <a:r>
              <a:rPr/>
              <a:t>quarto is a programming language</a:t>
            </a:r>
          </a:p>
          <a:p>
            <a:pPr lvl="0" indent="-342900" marL="342900">
              <a:buAutoNum type="alphaLcPeriod"/>
            </a:pPr>
            <a:r>
              <a:rPr/>
              <a:t>Quarto is a publishing system for reproducible documents</a:t>
            </a:r>
          </a:p>
          <a:p>
            <a:pPr lvl="0" indent="-342900" marL="342900">
              <a:buAutoNum type="alphaLcPeriod"/>
            </a:pPr>
            <a:r>
              <a:rPr/>
              <a:t>Quarto is a code editor</a:t>
            </a:r>
          </a:p>
          <a:p>
            <a:pPr lvl="0" indent="-342900" marL="342900">
              <a:buAutoNum type="alphaLcPeriod"/>
            </a:pPr>
            <a:r>
              <a:rPr/>
              <a:t>Quarto is a version control system</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components are combined in the authoring process of Quarto documents?</a:t>
            </a:r>
          </a:p>
          <a:p>
            <a:pPr lvl="0" indent="-342900" marL="342900">
              <a:buAutoNum type="alphaLcPeriod"/>
            </a:pPr>
            <a:r>
              <a:rPr/>
              <a:t>Only YAML</a:t>
            </a:r>
          </a:p>
          <a:p>
            <a:pPr lvl="0" indent="-342900" marL="342900">
              <a:buAutoNum type="alphaLcPeriod"/>
            </a:pPr>
            <a:r>
              <a:rPr/>
              <a:t>Only Markdown</a:t>
            </a:r>
          </a:p>
          <a:p>
            <a:pPr lvl="0" indent="-342900" marL="342900">
              <a:buAutoNum type="alphaLcPeriod"/>
            </a:pPr>
            <a:r>
              <a:rPr/>
              <a:t>Both YAML and Markdown</a:t>
            </a:r>
          </a:p>
          <a:p>
            <a:pPr lvl="0" indent="-342900" marL="342900">
              <a:buAutoNum type="alphaLcPeriod"/>
            </a:pPr>
            <a:r>
              <a:rPr/>
              <a:t>None of the above</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these are examples of Markdown text formatting? (Select all that apply)</a:t>
            </a:r>
          </a:p>
          <a:p>
            <a:pPr lvl="0" indent="-342900" marL="342900">
              <a:buAutoNum type="alphaLcPeriod"/>
            </a:pPr>
            <a:r>
              <a:rPr/>
              <a:t>Bold text</a:t>
            </a:r>
          </a:p>
          <a:p>
            <a:pPr lvl="0" indent="-342900" marL="342900">
              <a:buAutoNum type="alphaLcPeriod"/>
            </a:pPr>
            <a:r>
              <a:rPr/>
              <a:t>Code chunks</a:t>
            </a:r>
          </a:p>
          <a:p>
            <a:pPr lvl="0" indent="-342900" marL="342900">
              <a:buAutoNum type="alphaLcPeriod"/>
            </a:pPr>
            <a:r>
              <a:rPr/>
              <a:t>Hyperlinks</a:t>
            </a:r>
          </a:p>
          <a:p>
            <a:pPr lvl="0" indent="-342900" marL="342900">
              <a:buAutoNum type="alphaLcPeriod"/>
            </a:pPr>
            <a:r>
              <a:rPr/>
              <a:t>Italic text</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purpose of code chunks in Quarto documents?</a:t>
            </a:r>
          </a:p>
          <a:p>
            <a:pPr lvl="0" indent="-342900" marL="342900">
              <a:buAutoNum type="alphaLcPeriod"/>
            </a:pPr>
            <a:r>
              <a:rPr/>
              <a:t>To include executable code and results within the document</a:t>
            </a:r>
          </a:p>
          <a:p>
            <a:pPr lvl="0" indent="-342900" marL="342900">
              <a:buAutoNum type="alphaLcPeriod"/>
            </a:pPr>
            <a:r>
              <a:rPr/>
              <a:t>To hide metadata</a:t>
            </a:r>
          </a:p>
          <a:p>
            <a:pPr lvl="0" indent="-342900" marL="342900">
              <a:buAutoNum type="alphaLcPeriod"/>
            </a:pPr>
            <a:r>
              <a:rPr/>
              <a:t>To insert references at the end of the document</a:t>
            </a:r>
          </a:p>
          <a:p>
            <a:pPr lvl="0" indent="-342900" marL="342900">
              <a:buAutoNum type="alphaLcPeriod"/>
            </a:pPr>
            <a:r>
              <a:rPr/>
              <a:t>To format text in a clear and concise manner</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is including code in research documents important?</a:t>
            </a:r>
          </a:p>
          <a:p>
            <a:pPr lvl="0" indent="-342900" marL="342900">
              <a:buAutoNum type="alphaLcPeriod"/>
            </a:pPr>
            <a:r>
              <a:rPr/>
              <a:t>To make the document more difficult to read</a:t>
            </a:r>
          </a:p>
          <a:p>
            <a:pPr lvl="0" indent="-342900" marL="342900">
              <a:buAutoNum type="alphaLcPeriod"/>
            </a:pPr>
            <a:r>
              <a:rPr/>
              <a:t>To ensure only the author can reproduce results</a:t>
            </a:r>
          </a:p>
          <a:p>
            <a:pPr lvl="0" indent="-342900" marL="342900">
              <a:buAutoNum type="alphaLcPeriod"/>
            </a:pPr>
            <a:r>
              <a:rPr/>
              <a:t>To replace data collection</a:t>
            </a:r>
          </a:p>
          <a:p>
            <a:pPr lvl="0" indent="-342900" marL="342900">
              <a:buAutoNum type="alphaLcPeriod"/>
            </a:pPr>
            <a:r>
              <a:rPr/>
              <a:t>To make research reproducible and transparent</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2026-06-01T00:08:16Z</dcterms:created>
  <dcterms:modified xsi:type="dcterms:W3CDTF">2026-06-01T00:08:16Z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01/06/2026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