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notesMaster" Target="notesMasters/notesMaster1.xml" /><Relationship Id="rId89" Type="http://schemas.openxmlformats.org/officeDocument/2006/relationships/viewProps" Target="viewProps.xml" /><Relationship Id="rId88" Type="http://schemas.openxmlformats.org/officeDocument/2006/relationships/presProps" Target="presProps.xml" /><Relationship Id="rId1" Type="http://schemas.openxmlformats.org/officeDocument/2006/relationships/slideMaster" Target="slideMasters/slideMaster1.xml" /><Relationship Id="rId91" Type="http://schemas.openxmlformats.org/officeDocument/2006/relationships/tableStyles" Target="tableStyles.xml" /><Relationship Id="rId9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 Creative Commons Attribution 4.0 International (CC-BY-SA-4.0) license permits you to freely use, share, and adapt the licensed material for any purpose, including commercial use. This means you can copy, redistribute, remix, transform, and build upon the work without asking for permission.</a:t>
            </a:r>
          </a:p>
          <a:p>
            <a:pPr lvl="0" indent="0" marL="0">
              <a:buNone/>
            </a:pPr>
          </a:p>
          <a:p>
            <a:pPr lvl="0" indent="0" marL="0">
              <a:buNone/>
            </a:pPr>
            <a:r>
              <a:rPr/>
              <a:t>However, there are some important conditions you must follow. You are required to give appropriate credit to the original creator, provide a link to the license, and indicate if you made any changes to the material. Additionally, you cannot apply any legal terms or technological measures that would restrict others from using the work under the same freedoms.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speaker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first take a look at these prerequisites. These are important to complete in order to fully understand what will be covered in this submodule.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submodules. Finally, we assume that, through the previos workshops, participants have downloaded and installed R and RStudio on their local machines, and also have the desktop app for Zotero.</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submodule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submodule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first answer the question, “How can using Quarto solve common challenges in research?” Research can be messy and scattered sometimes, especially when you want to use different elements like text, code, and media. This is where Quarto comes in! It brings these elements together where we can type, run code, embed media, and cite literature all in one place. On the left, we see the raw source with markup and code mixed in, which is harder to scan. On the right, Quarto renders the same content into readable text and a clear result, making it much easier to understand at a glance.</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This slide demonstrates how Quarto separates source from presentation. The left side shows what the author writes, while the right side shows what the reader sees as a rendered Quarto output.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submodule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a:t>
            </a:r>
          </a:p>
          <a:p>
            <a:pPr lvl="0" indent="0" marL="0">
              <a:buNone/>
            </a:pPr>
          </a:p>
          <a:p>
            <a:pPr lvl="0" indent="0" marL="0">
              <a:buNone/>
            </a:pPr>
            <a:r>
              <a:rPr/>
              <a:t>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opensource.org/license/mit" TargetMode="External" /><Relationship Id="rId6" Type="http://schemas.openxmlformats.org/officeDocument/2006/relationships/hyperlink" Target="https://www.lmu.de/psyedu/de/personen/kontaktseite/malika-ihle-1f381483.html" TargetMode="External" /><Relationship Id="rId7" Type="http://schemas.openxmlformats.org/officeDocument/2006/relationships/hyperlink" Target="https://ox.ukrn.org/" TargetMode="External" /><Relationship Id="rId8" Type="http://schemas.openxmlformats.org/officeDocument/2006/relationships/hyperlink" Target="https://github.com/Kennyanthro" TargetMode="External" /><Relationship Id="rId9" Type="http://schemas.openxmlformats.org/officeDocument/2006/relationships/hyperlink" Target="https://duzun.me/tips/git" TargetMode="External" /><Relationship Id="rId10" Type="http://schemas.openxmlformats.org/officeDocument/2006/relationships/hyperlink" Target="https://x.com/MorphobeakGeek" TargetMode="External" /><Relationship Id="rId11" Type="http://schemas.openxmlformats.org/officeDocument/2006/relationships/hyperlink" Target="https://www.lmu.de/psyedu/de/personen/kontaktseite/malika-ihle-1f381483.html" TargetMode="External" /><Relationship Id="rId12" Type="http://schemas.openxmlformats.org/officeDocument/2006/relationships/hyperlink" Target="https://orcid.org/my-orcid?orcid=0000-0002-6413-3895" TargetMode="External" /><Relationship Id="rId13" Type="http://schemas.openxmlformats.org/officeDocument/2006/relationships/hyperlink" Target="https://www.osc.uni-muenchen.de/index.html" TargetMode="External" /><Relationship Id="rId14"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my-orcid?orcid=0009-0006-3725-6730" TargetMode="External" /><Relationship Id="rId4" Type="http://schemas.openxmlformats.org/officeDocument/2006/relationships/hyperlink" Target="https://orcid.org/my-orcid?orcid=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62360222" TargetMode="External" /><Relationship Id="rId3" Type="http://schemas.openxmlformats.org/officeDocument/2006/relationships/image" Target="../media/image1.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quarto.org/"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2.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3.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06396725" TargetMode="External" /><Relationship Id="rId3" Type="http://schemas.openxmlformats.org/officeDocument/2006/relationships/image" Target="../media/image1.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quarto.org/docs/authoring/markdown-basics.html"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9.xml" /><Relationship Id="rId3" Type="http://schemas.openxmlformats.org/officeDocument/2006/relationships/image" Target="../media/image5.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0.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5.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27819" TargetMode="External" /></Relationships>
</file>

<file path=ppt/slides/_rels/slide5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7.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quarto.org/docs/publishing/index.html"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lmu-osc.github.io/code-publishing/intro.html"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5.xml" /><Relationship Id="rId4" Type="http://schemas.openxmlformats.org/officeDocument/2006/relationships/image" Target="../media/image11.png" /><Relationship Id="rId3" Type="http://schemas.openxmlformats.org/officeDocument/2006/relationships/image" Target="../media/image10.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62360222" TargetMode="External" /><Relationship Id="rId3" Type="http://schemas.openxmlformats.org/officeDocument/2006/relationships/image" Target="../media/image1.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Elizabeth Waterfield</a:t>
            </a:r>
          </a:p>
        </p:txBody>
      </p:sp>
      <p:sp>
        <p:nvSpPr>
          <p:cNvPr id="4" name="Date Placeholder 3"/>
          <p:cNvSpPr>
            <a:spLocks noGrp="1"/>
          </p:cNvSpPr>
          <p:nvPr>
            <p:ph idx="10" sz="half" type="dt"/>
          </p:nvPr>
        </p:nvSpPr>
        <p:spPr/>
        <p:txBody>
          <a:bodyPr/>
          <a:lstStyle/>
          <a:p>
            <a:pPr lvl="0" indent="0" marL="0">
              <a:buNone/>
            </a:pPr>
            <a:r>
              <a:rPr/>
              <a:t>05/02/2026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a:t>
            </a:r>
            <a:r>
              <a:rPr/>
              <a:t> (original repository). It was subsequently adapted by </a:t>
            </a:r>
            <a:r>
              <a:rPr>
                <a:hlinkClick r:id="rId6"/>
              </a:rPr>
              <a:t>Malika Ihle</a:t>
            </a:r>
            <a:r>
              <a:rPr/>
              <a:t> during her time at </a:t>
            </a:r>
            <a:r>
              <a:rPr>
                <a:hlinkClick r:id="rId7"/>
              </a:rPr>
              <a:t>Reproducible Research Oxford</a:t>
            </a:r>
            <a:r>
              <a:rPr/>
              <a:t>, with the contributions of </a:t>
            </a:r>
            <a:r>
              <a:rPr>
                <a:hlinkClick r:id="rId8"/>
              </a:rPr>
              <a:t>Adam Kenny</a:t>
            </a:r>
            <a:r>
              <a:rPr/>
              <a:t>. The overview image is from </a:t>
            </a:r>
            <a:r>
              <a:rPr>
                <a:hlinkClick r:id="rId9"/>
              </a:rPr>
              <a:t>Dumitru Uzun</a:t>
            </a:r>
            <a:r>
              <a:rPr/>
              <a:t>. The exercice is based on the research of </a:t>
            </a:r>
            <a:r>
              <a:rPr>
                <a:hlinkClick r:id="rId10"/>
              </a:rPr>
              <a:t>Jen Bright</a:t>
            </a:r>
            <a:r>
              <a:rPr/>
              <a:t> who also kindly provided the gifs used in the exercice. It is now maintained by </a:t>
            </a:r>
            <a:r>
              <a:rPr>
                <a:hlinkClick r:id="rId11"/>
              </a:rPr>
              <a:t>Malika Ihle</a:t>
            </a:r>
            <a:r>
              <a:rPr/>
              <a:t> and </a:t>
            </a:r>
            <a:r>
              <a:rPr>
                <a:hlinkClick r:id="rId12"/>
              </a:rPr>
              <a:t>Sarah von Grebmer zu Wolfsthurn</a:t>
            </a:r>
            <a:r>
              <a:rPr/>
              <a:t> at the </a:t>
            </a:r>
            <a:r>
              <a:rPr>
                <a:hlinkClick r:id="rId13"/>
              </a:rPr>
              <a:t>LMU Open Science Center</a:t>
            </a:r>
            <a:r>
              <a:rPr/>
              <a:t>. This current work by Elizabeth Waterfield, Sarah von Grebmer zu Wolfsthurn and Malika Ihle is licensed under a CC-BY-SA-4.0 </a:t>
            </a:r>
            <a:r>
              <a:rPr>
                <a:hlinkClick r:id="rId14"/>
              </a:rPr>
              <a:t>Creative Commons Attribution 4.0 International SA License</a:t>
            </a:r>
            <a:r>
              <a:rPr/>
              <a:t> licence.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Waterfield, Elizabeth ( </a:t>
            </a:r>
            <a:r>
              <a:rPr>
                <a:hlinkClick r:id="rId3"/>
              </a:rPr>
              <a:t>0009-0006-3725-6730</a:t>
            </a:r>
            <a:r>
              <a:rPr/>
              <a:t>)</a:t>
            </a:r>
          </a:p>
          <a:p>
            <a:pPr lvl="0" indent="0" marL="0">
              <a:buNone/>
            </a:pPr>
            <a:r>
              <a:rPr b="1"/>
              <a:t>Reviewer</a:t>
            </a:r>
            <a:r>
              <a:rPr/>
              <a:t>: von Grebmer zu Wolfsthurn, Sarah ( </a:t>
            </a:r>
            <a:r>
              <a:rPr>
                <a:hlinkClick r:id="rId4"/>
              </a:rPr>
              <a:t>0000-0002-6413-3895</a:t>
            </a:r>
            <a:r>
              <a:rPr/>
              <a:t>)</a:t>
            </a:r>
          </a:p>
          <a:p>
            <a:pPr lvl="0" indent="0" marL="0">
              <a:buNone/>
            </a:pPr>
            <a:r>
              <a:rPr b="1"/>
              <a:t>Acknowledgments</a:t>
            </a:r>
            <a:r>
              <a:rPr/>
              <a:t>: Ihle, Malika (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Quarto</a:t>
            </a:r>
          </a:p>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Before we start: Survey time!</a:t>
            </a:r>
          </a:p>
          <a:p>
            <a:pPr lvl="0" indent="0" marL="0">
              <a:buNone/>
            </a:pPr>
            <a:r>
              <a:rPr/>
              <a:t>Click on the following link or scan the QR code to test your prior Quarto knowledge: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Starting Survey</a:t>
            </a:r>
          </a:p>
          <a:p>
            <a:pPr lvl="0" indent="0" marL="1270000">
              <a:buNone/>
            </a:pPr>
            <a:r>
              <a:rPr sz="2000"/>
              <a:t>Please complete survey labeled “OS-M3-S6-Quarto_starting_survey”.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p>
          <a:p>
            <a:pPr lvl="0"/>
            <a:r>
              <a:rPr b="1"/>
              <a:t>YAML header</a:t>
            </a:r>
          </a:p>
          <a:p>
            <a:pPr lvl="0"/>
            <a:r>
              <a:rPr b="1"/>
              <a:t>Code chunks</a:t>
            </a:r>
          </a:p>
          <a:p>
            <a:pPr lvl="0"/>
            <a:r>
              <a:rPr b="1"/>
              <a:t>Quarto markdown text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type="arabicPeriod"/>
            </a:pPr>
            <a:r>
              <a:rPr b="1"/>
              <a:t>Readability</a:t>
            </a:r>
            <a:r>
              <a:rPr/>
              <a:t>: Research is more </a:t>
            </a:r>
            <a:r>
              <a:rPr b="1"/>
              <a:t>accessible</a:t>
            </a:r>
            <a:r>
              <a:rPr/>
              <a:t> when results, explanations, and code are presented in a way that is easy to read and understand.</a:t>
            </a:r>
          </a:p>
          <a:p>
            <a:pPr lvl="0" indent="0" marL="0">
              <a:buNone/>
            </a:pPr>
            <a:r>
              <a:rPr/>
              <a:t>Take a look at these 2 examples. Which side is easier to read?</a:t>
            </a:r>
          </a:p>
          <a:p>
            <a:pPr lvl="0" indent="0" marL="0">
              <a:buNone/>
            </a:pPr>
            <a:r>
              <a:rPr i="1"/>
              <a:t>Side A</a:t>
            </a:r>
          </a:p>
          <a:p>
            <a:pPr lvl="0" indent="0">
              <a:buNone/>
            </a:pPr>
            <a:r>
              <a:rPr>
                <a:latin typeface="Courier"/>
              </a:rPr>
              <a:t>With **Quarto**, combine into *one single document*:
- text 
- media
- code
For example, easily calculate and display the difference between two sets:
```r
set1 &lt;- c(6.8, 7.0, 6.9)
set2 &lt;- c(7.6, 7.9, 7.8)
mean(set2) - mean(set1)
```</a:t>
            </a:r>
          </a:p>
          <a:p>
            <a:pPr lvl="0" indent="0" marL="0">
              <a:buNone/>
            </a:pPr>
            <a:r>
              <a:rPr i="1"/>
              <a:t>Side B</a:t>
            </a:r>
          </a:p>
          <a:p>
            <a:pPr lvl="0" indent="0" marL="0">
              <a:buNone/>
            </a:pPr>
            <a:r>
              <a:rPr/>
              <a:t>With </a:t>
            </a:r>
            <a:r>
              <a:rPr b="1"/>
              <a:t>Quarto</a:t>
            </a:r>
            <a:r>
              <a:rPr/>
              <a:t>, combine into </a:t>
            </a:r>
            <a:r>
              <a:rPr i="1"/>
              <a:t>one single document</a:t>
            </a:r>
            <a:r>
              <a:rPr/>
              <a:t>:</a:t>
            </a:r>
          </a:p>
          <a:p>
            <a:pPr lvl="0"/>
            <a:r>
              <a:rPr/>
              <a:t>text</a:t>
            </a:r>
          </a:p>
          <a:p>
            <a:pPr lvl="0"/>
            <a:r>
              <a:rPr/>
              <a:t>media</a:t>
            </a:r>
          </a:p>
          <a:p>
            <a:pPr lvl="0"/>
            <a:r>
              <a:rPr/>
              <a:t>code</a:t>
            </a:r>
          </a:p>
          <a:p>
            <a:pPr lvl="0" indent="0" marL="0">
              <a:buNone/>
            </a:pPr>
            <a:r>
              <a:rPr/>
              <a:t>For example, easily calculate and display the difference between two sets:</a:t>
            </a:r>
          </a:p>
          <a:p>
            <a:pPr lvl="0" indent="0">
              <a:buNone/>
            </a:pPr>
            <a:r>
              <a:rPr>
                <a:solidFill>
                  <a:srgbClr val="003B4F"/>
                </a:solidFill>
                <a:latin typeface="Courier"/>
              </a:rPr>
              <a:t>set1 &lt;- </a:t>
            </a:r>
            <a:r>
              <a:rPr>
                <a:solidFill>
                  <a:srgbClr val="4758AB"/>
                </a:solidFill>
                <a:latin typeface="Courier"/>
              </a:rPr>
              <a:t>c</a:t>
            </a:r>
            <a:r>
              <a:rPr>
                <a:solidFill>
                  <a:srgbClr val="003B4F"/>
                </a:solidFill>
                <a:latin typeface="Courier"/>
              </a:rPr>
              <a:t>(</a:t>
            </a:r>
            <a:r>
              <a:rPr>
                <a:solidFill>
                  <a:srgbClr val="AD0000"/>
                </a:solidFill>
                <a:latin typeface="Courier"/>
              </a:rPr>
              <a:t>6.8</a:t>
            </a:r>
            <a:r>
              <a:rPr>
                <a:solidFill>
                  <a:srgbClr val="003B4F"/>
                </a:solidFill>
                <a:latin typeface="Courier"/>
              </a:rPr>
              <a:t>, </a:t>
            </a:r>
            <a:r>
              <a:rPr>
                <a:solidFill>
                  <a:srgbClr val="AD0000"/>
                </a:solidFill>
                <a:latin typeface="Courier"/>
              </a:rPr>
              <a:t>7.0</a:t>
            </a:r>
            <a:r>
              <a:rPr>
                <a:solidFill>
                  <a:srgbClr val="003B4F"/>
                </a:solidFill>
                <a:latin typeface="Courier"/>
              </a:rPr>
              <a:t>, </a:t>
            </a:r>
            <a:r>
              <a:rPr>
                <a:solidFill>
                  <a:srgbClr val="AD0000"/>
                </a:solidFill>
                <a:latin typeface="Courier"/>
              </a:rPr>
              <a:t>6.9</a:t>
            </a:r>
            <a:r>
              <a:rPr>
                <a:solidFill>
                  <a:srgbClr val="003B4F"/>
                </a:solidFill>
                <a:latin typeface="Courier"/>
              </a:rPr>
              <a:t>)</a:t>
            </a:r>
            <a:br/>
            <a:r>
              <a:rPr>
                <a:solidFill>
                  <a:srgbClr val="003B4F"/>
                </a:solidFill>
                <a:latin typeface="Courier"/>
              </a:rPr>
              <a:t>set2 &lt;- </a:t>
            </a:r>
            <a:r>
              <a:rPr>
                <a:solidFill>
                  <a:srgbClr val="4758AB"/>
                </a:solidFill>
                <a:latin typeface="Courier"/>
              </a:rPr>
              <a:t>c</a:t>
            </a:r>
            <a:r>
              <a:rPr>
                <a:solidFill>
                  <a:srgbClr val="003B4F"/>
                </a:solidFill>
                <a:latin typeface="Courier"/>
              </a:rPr>
              <a:t>(</a:t>
            </a:r>
            <a:r>
              <a:rPr>
                <a:solidFill>
                  <a:srgbClr val="AD0000"/>
                </a:solidFill>
                <a:latin typeface="Courier"/>
              </a:rPr>
              <a:t>7.6</a:t>
            </a:r>
            <a:r>
              <a:rPr>
                <a:solidFill>
                  <a:srgbClr val="003B4F"/>
                </a:solidFill>
                <a:latin typeface="Courier"/>
              </a:rPr>
              <a:t>, </a:t>
            </a:r>
            <a:r>
              <a:rPr>
                <a:solidFill>
                  <a:srgbClr val="AD0000"/>
                </a:solidFill>
                <a:latin typeface="Courier"/>
              </a:rPr>
              <a:t>7.9</a:t>
            </a:r>
            <a:r>
              <a:rPr>
                <a:solidFill>
                  <a:srgbClr val="003B4F"/>
                </a:solidFill>
                <a:latin typeface="Courier"/>
              </a:rPr>
              <a:t>, </a:t>
            </a:r>
            <a:r>
              <a:rPr>
                <a:solidFill>
                  <a:srgbClr val="AD0000"/>
                </a:solidFill>
                <a:latin typeface="Courier"/>
              </a:rPr>
              <a:t>7.8</a:t>
            </a:r>
            <a:r>
              <a:rPr>
                <a:solidFill>
                  <a:srgbClr val="003B4F"/>
                </a:solidFill>
                <a:latin typeface="Courier"/>
              </a:rPr>
              <a:t>)</a:t>
            </a:r>
            <a:br/>
            <a:br/>
            <a:r>
              <a:rPr>
                <a:solidFill>
                  <a:srgbClr val="4758AB"/>
                </a:solidFill>
                <a:latin typeface="Courier"/>
              </a:rPr>
              <a:t>mean</a:t>
            </a:r>
            <a:r>
              <a:rPr>
                <a:solidFill>
                  <a:srgbClr val="003B4F"/>
                </a:solidFill>
                <a:latin typeface="Courier"/>
              </a:rPr>
              <a:t>(set2)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(set1)</a:t>
            </a:r>
          </a:p>
          <a:p>
            <a:pPr lvl="0" indent="0">
              <a:buNone/>
            </a:pPr>
            <a:r>
              <a:rPr>
                <a:latin typeface="Courier"/>
              </a:rPr>
              <a:t>[1] 0.8666667</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 in Quarto</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modes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Quarto document</a:t>
            </a:r>
          </a:p>
          <a:p>
            <a:pPr lvl="0" indent="0" marL="0">
              <a:buNone/>
            </a:pPr>
            <a:r>
              <a:rPr/>
              <a:t>These are the steps to </a:t>
            </a:r>
            <a:r>
              <a:rPr b="1"/>
              <a:t>create a Quarto Document</a:t>
            </a:r>
            <a:r>
              <a:rPr/>
              <a:t> in RStudio:</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a Quarto document</a:t>
            </a:r>
          </a:p>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Text formatting</a:t>
            </a:r>
          </a:p>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Markdown text</a:t>
            </a:r>
          </a:p>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The callout box</a:t>
            </a:r>
          </a:p>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Inserting a callout box</a:t>
            </a:r>
          </a:p>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a:t>
            </a:r>
          </a:p>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Adjusting the code chunks</a:t>
            </a:r>
          </a:p>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 display settings</a:t>
            </a:r>
          </a:p>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have we learned so far?</a:t>
            </a:r>
          </a:p>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Pre-break quiz</a:t>
            </a:r>
          </a:p>
          <a:p>
            <a:pPr lvl="0" indent="0" marL="0">
              <a:buNone/>
            </a:pPr>
            <a:r>
              <a:rPr/>
              <a:t>Click on the following link or scan the QR code to review some items covered in this lesson so far: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Pre-break quiz</a:t>
            </a:r>
          </a:p>
          <a:p>
            <a:pPr lvl="0" indent="0" marL="1270000">
              <a:buNone/>
            </a:pPr>
            <a:r>
              <a:rPr sz="2000"/>
              <a:t>Please complete quiz labeled “OS-M3-S6-Quarto_prebreak_quiz”.</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a:t>
            </a:r>
          </a:p>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docuement and place the cursor at the end of the sentence. This where in the sentence you want to place the citation.</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8</a:t>
            </a:r>
          </a:p>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to:</a:t>
            </a:r>
          </a:p>
          <a:p>
            <a:pPr lvl="1"/>
            <a:r>
              <a:rPr/>
              <a:t>GitHub Pages</a:t>
            </a:r>
          </a:p>
          <a:p>
            <a:pPr lvl="1"/>
            <a:r>
              <a:rPr/>
              <a:t>A personal website</a:t>
            </a:r>
          </a:p>
          <a:p>
            <a:pPr lvl="1"/>
            <a:r>
              <a:rPr/>
              <a:t>Quarto Pub</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Rendering your output to the </a:t>
            </a:r>
            <a:r>
              <a:rPr>
                <a:latin typeface="Courier"/>
              </a:rPr>
              <a:t>docs</a:t>
            </a:r>
            <a:r>
              <a:rPr/>
              <a:t> directory and checking it into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To conclude: Survey/Quiz time!</a:t>
            </a:r>
          </a:p>
          <a:p>
            <a:pPr lvl="0" indent="0" marL="0">
              <a:buNone/>
            </a:pPr>
            <a:r>
              <a:rPr/>
              <a:t>Let’s end this session with a short quiz on topics covered in this lesson.</a:t>
            </a:r>
          </a:p>
          <a:p>
            <a:pPr lvl="0" indent="0" marL="0">
              <a:buNone/>
            </a:pPr>
            <a:r>
              <a:rPr/>
              <a:t>Click on the following link or scan the QR code to do one final review of this lesson: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Finishing quiz</a:t>
            </a:r>
          </a:p>
          <a:p>
            <a:pPr lvl="0" indent="0" marL="1270000">
              <a:buNone/>
            </a:pPr>
            <a:r>
              <a:rPr sz="2000"/>
              <a:t>Please complete survey labeled “OS-M3-S6-Quarto_finishing_quiz”.</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Contribution Statement - TO DO</a:t>
            </a:r>
          </a:p>
          <a:p>
            <a:pPr lvl="0" indent="0" marL="0">
              <a:buNone/>
            </a:pPr>
            <a:r>
              <a:rPr b="1"/>
              <a:t>Elizabeth Waterfield</a:t>
            </a:r>
            <a:r>
              <a:rPr/>
              <a:t>: Conceptualization, Software, Writing - Original Draft, Visualization. </a:t>
            </a:r>
            <a:r>
              <a:rPr b="1"/>
              <a:t>Sarah von Grebmer zu Wolfsthurn</a:t>
            </a:r>
            <a:r>
              <a:rPr/>
              <a:t>: Conceptualisation, Writing - Review &amp; Editing, Project Administration, Validation. </a:t>
            </a:r>
            <a:r>
              <a:rPr b="1"/>
              <a:t>Malika Ihle</a:t>
            </a:r>
            <a:r>
              <a:rPr/>
              <a:t>: Conceptualisation, Writing - Review &amp; Editing, Supervision, Project Administration, Validation.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2026-02-05T16:10:16Z</dcterms:created>
  <dcterms:modified xsi:type="dcterms:W3CDTF">2026-02-05T16:10:16Z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05/02/2026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