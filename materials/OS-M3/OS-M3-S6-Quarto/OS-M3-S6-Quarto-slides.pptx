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notesMaster" Target="notesMasters/notesMaster1.xml" /><Relationship Id="rId96" Type="http://schemas.openxmlformats.org/officeDocument/2006/relationships/viewProps" Target="viewProps.xml" /><Relationship Id="rId95" Type="http://schemas.openxmlformats.org/officeDocument/2006/relationships/presProps" Target="presProps.xml" /><Relationship Id="rId1" Type="http://schemas.openxmlformats.org/officeDocument/2006/relationships/slideMaster" Target="slideMasters/slideMaster1.xml" /><Relationship Id="rId98" Type="http://schemas.openxmlformats.org/officeDocument/2006/relationships/tableStyles" Target="tableStyles.xml" /><Relationship Id="rId9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meaning that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 Id="rId15"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8282-391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4.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6.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0.png" /><Relationship Id="rId3" Type="http://schemas.openxmlformats.org/officeDocument/2006/relationships/image" Target="../media/image9.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22/07/2026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15"/>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Consultant</a:t>
            </a:r>
            <a:r>
              <a:rPr/>
              <a:t>: Schönbrodt, Felix (</a:t>
            </a:r>
            <a:r>
              <a:rPr>
                <a:hlinkClick r:id="rId5"/>
              </a:rPr>
              <a:t>0000-0002-8282-3910</a:t>
            </a:r>
            <a:r>
              <a:rPr/>
              <a:t>)</a:t>
            </a:r>
          </a:p>
          <a:p>
            <a:pPr lvl="0" indent="0" marL="0">
              <a:buNone/>
            </a:pPr>
            <a:r>
              <a:rPr b="1"/>
              <a:t>Acknowledgments</a:t>
            </a:r>
            <a:r>
              <a:rPr/>
              <a:t>: Ihle, Malika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text, analyses, results and code are combined within the same document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Step</a:t>
                      </a:r>
                    </a:p>
                  </a:txBody>
                  <a:tcPr/>
                </a:tc>
                <a:tc>
                  <a:txBody>
                    <a:bodyPr/>
                    <a:lstStyle/>
                    <a:p>
                      <a:pPr lvl="0" indent="0" marL="0">
                        <a:buNone/>
                      </a:pPr>
                      <a:r>
                        <a:rPr/>
                        <a:t>Traditional workflow</a:t>
                      </a:r>
                    </a:p>
                  </a:txBody>
                  <a:tcPr/>
                </a:tc>
                <a:tc>
                  <a:txBody>
                    <a:bodyPr/>
                    <a:lstStyle/>
                    <a:p>
                      <a:pPr lvl="0" indent="0" marL="0">
                        <a:buNone/>
                      </a:pPr>
                      <a:r>
                        <a:rPr/>
                        <a:t>Quarto workflow</a:t>
                      </a:r>
                    </a:p>
                  </a:txBody>
                  <a:tcPr/>
                </a:tc>
              </a:tr>
              <a:tr h="0">
                <a:tc>
                  <a:txBody>
                    <a:bodyPr/>
                    <a:lstStyle/>
                    <a:p>
                      <a:pPr lvl="0" indent="0" marL="0">
                        <a:buNone/>
                      </a:pPr>
                      <a:r>
                        <a:rPr/>
                        <a:t>Write text</a:t>
                      </a:r>
                    </a:p>
                  </a:txBody>
                </a:tc>
                <a:tc>
                  <a:txBody>
                    <a:bodyPr/>
                    <a:lstStyle/>
                    <a:p>
                      <a:pPr lvl="0" indent="0" marL="0">
                        <a:buNone/>
                      </a:pPr>
                      <a:r>
                        <a:rPr/>
                        <a:t>e.g., in an MS Word document</a:t>
                      </a:r>
                    </a:p>
                  </a:txBody>
                </a:tc>
                <a:tc>
                  <a:txBody>
                    <a:bodyPr/>
                    <a:lstStyle/>
                    <a:p>
                      <a:pPr lvl="0" indent="0" marL="0">
                        <a:buNone/>
                      </a:pPr>
                      <a:r>
                        <a:rPr/>
                        <a:t>Same file</a:t>
                      </a:r>
                    </a:p>
                  </a:txBody>
                </a:tc>
              </a:tr>
              <a:tr h="0">
                <a:tc>
                  <a:txBody>
                    <a:bodyPr/>
                    <a:lstStyle/>
                    <a:p>
                      <a:pPr lvl="0" indent="0" marL="0">
                        <a:buNone/>
                      </a:pPr>
                      <a:r>
                        <a:rPr/>
                        <a:t>Run analysis</a:t>
                      </a:r>
                    </a:p>
                  </a:txBody>
                </a:tc>
                <a:tc>
                  <a:txBody>
                    <a:bodyPr/>
                    <a:lstStyle/>
                    <a:p>
                      <a:pPr lvl="0" indent="0" marL="0">
                        <a:buNone/>
                      </a:pPr>
                      <a:r>
                        <a:rPr/>
                        <a:t>e.g., in a code editor</a:t>
                      </a:r>
                    </a:p>
                  </a:txBody>
                </a:tc>
                <a:tc>
                  <a:txBody>
                    <a:bodyPr/>
                    <a:lstStyle/>
                    <a:p>
                      <a:pPr lvl="0" indent="0" marL="0">
                        <a:buNone/>
                      </a:pPr>
                      <a:r>
                        <a:rPr/>
                        <a:t>Same file</a:t>
                      </a:r>
                    </a:p>
                  </a:txBody>
                </a:tc>
              </a:tr>
              <a:tr h="0">
                <a:tc>
                  <a:txBody>
                    <a:bodyPr/>
                    <a:lstStyle/>
                    <a:p>
                      <a:pPr lvl="0" indent="0" marL="0">
                        <a:buNone/>
                      </a:pPr>
                      <a:r>
                        <a:rPr/>
                        <a:t>Insert results</a:t>
                      </a:r>
                    </a:p>
                  </a:txBody>
                </a:tc>
                <a:tc>
                  <a:txBody>
                    <a:bodyPr/>
                    <a:lstStyle/>
                    <a:p>
                      <a:pPr lvl="0" indent="0" marL="0">
                        <a:buNone/>
                      </a:pPr>
                      <a:r>
                        <a:rPr/>
                        <a:t>Copy-paste results</a:t>
                      </a:r>
                    </a:p>
                  </a:txBody>
                </a:tc>
                <a:tc>
                  <a:txBody>
                    <a:bodyPr/>
                    <a:lstStyle/>
                    <a:p>
                      <a:pPr lvl="0" indent="0" marL="0">
                        <a:buNone/>
                      </a:pPr>
                      <a:r>
                        <a:rPr/>
                        <a:t>Automatic</a:t>
                      </a:r>
                    </a:p>
                  </a:txBody>
                </a:tc>
              </a:tr>
              <a:tr h="0">
                <a:tc>
                  <a:txBody>
                    <a:bodyPr/>
                    <a:lstStyle/>
                    <a:p>
                      <a:pPr lvl="0" indent="0" marL="0">
                        <a:buNone/>
                      </a:pPr>
                      <a:r>
                        <a:rPr/>
                        <a:t>Generate figure</a:t>
                      </a:r>
                    </a:p>
                  </a:txBody>
                </a:tc>
                <a:tc>
                  <a:txBody>
                    <a:bodyPr/>
                    <a:lstStyle/>
                    <a:p>
                      <a:pPr lvl="0" indent="0" marL="0">
                        <a:buNone/>
                      </a:pPr>
                      <a:r>
                        <a:rPr/>
                        <a:t>in statistical programme</a:t>
                      </a:r>
                    </a:p>
                  </a:txBody>
                </a:tc>
                <a:tc>
                  <a:txBody>
                    <a:bodyPr/>
                    <a:lstStyle/>
                    <a:p>
                      <a:pPr lvl="0" indent="0" marL="0">
                        <a:buNone/>
                      </a:pPr>
                      <a:r>
                        <a:rPr/>
                        <a:t>Same file</a:t>
                      </a:r>
                    </a:p>
                  </a:txBody>
                </a:tc>
              </a:tr>
              <a:tr h="0">
                <a:tc>
                  <a:txBody>
                    <a:bodyPr/>
                    <a:lstStyle/>
                    <a:p>
                      <a:pPr lvl="0" indent="0" marL="0">
                        <a:buNone/>
                      </a:pPr>
                      <a:r>
                        <a:rPr/>
                        <a:t>Update results</a:t>
                      </a:r>
                    </a:p>
                  </a:txBody>
                </a:tc>
                <a:tc>
                  <a:txBody>
                    <a:bodyPr/>
                    <a:lstStyle/>
                    <a:p>
                      <a:pPr lvl="0" indent="0" marL="0">
                        <a:buNone/>
                      </a:pPr>
                      <a:r>
                        <a:rPr/>
                        <a:t>Manual redo</a:t>
                      </a:r>
                    </a:p>
                  </a:txBody>
                </a:tc>
                <a:tc>
                  <a:txBody>
                    <a:bodyPr/>
                    <a:lstStyle/>
                    <a:p>
                      <a:pPr lvl="0" indent="0" marL="0">
                        <a:buNone/>
                      </a:pPr>
                      <a:r>
                        <a:rPr/>
                        <a:t>Re-run document</a:t>
                      </a:r>
                    </a:p>
                  </a:txBody>
                </a:tc>
              </a:tr>
              <a:tr h="0">
                <a:tc>
                  <a:txBody>
                    <a:bodyPr/>
                    <a:lstStyle/>
                    <a:p>
                      <a:pPr lvl="0" indent="0" marL="0">
                        <a:buNone/>
                      </a:pPr>
                      <a:r>
                        <a:rPr/>
                        <a:t>Update figure</a:t>
                      </a:r>
                    </a:p>
                  </a:txBody>
                </a:tc>
                <a:tc>
                  <a:txBody>
                    <a:bodyPr/>
                    <a:lstStyle/>
                    <a:p>
                      <a:pPr lvl="0" indent="0" marL="0">
                        <a:buNone/>
                      </a:pPr>
                      <a:r>
                        <a:rPr/>
                        <a:t>Manual redo</a:t>
                      </a:r>
                    </a:p>
                  </a:txBody>
                </a:tc>
                <a:tc>
                  <a:txBody>
                    <a:bodyPr/>
                    <a:lstStyle/>
                    <a:p>
                      <a:pPr lvl="0" indent="0" marL="0">
                        <a:buNone/>
                      </a:pPr>
                      <a:r>
                        <a:rPr/>
                        <a:t>Re-run document</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 Your turn!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2026-07-22T10:11:53Z</dcterms:created>
  <dcterms:modified xsi:type="dcterms:W3CDTF">2026-07-22T10:11:53Z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22/07/2026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