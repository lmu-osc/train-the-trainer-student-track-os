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i="1"/>
              <a:t>Instructor Notes</a:t>
            </a:r>
            <a:r>
              <a:rPr/>
              <a:t> Instructor notes provide teaching support but are not intended to be spoken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the pre-submodule survey serves to examine students’ prior knowledge about the submodule’s topic. - Use free survey software such as particify or formR) to establish this. You can use the example survey, edit it or create your 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From SvG: add speaker notes to this slide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Core theoretical introduction of submodule topic. - 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students should work in groups/pairs/on their own for at least 55 minutes of the lesson (+ a 15 minute break).</a:t>
            </a:r>
          </a:p>
          <a:p>
            <a:pPr lvl="0" indent="0" marL="0">
              <a:buNone/>
            </a:pPr>
          </a:p>
          <a:p>
            <a:pPr lvl="0" indent="0" marL="0">
              <a:buNone/>
            </a:pPr>
            <a:r>
              <a:rPr/>
              <a:t>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a:t>
            </a:r>
          </a:p>
          <a:p>
            <a:pPr lvl="0" indent="0" marL="0">
              <a:buNone/>
            </a:pPr>
          </a:p>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 - Examples:</a:t>
            </a:r>
          </a:p>
          <a:p>
            <a:pPr lvl="0" indent="0" marL="0">
              <a:buNone/>
            </a:pPr>
          </a:p>
          <a:p>
            <a:pPr lvl="0" indent="0">
              <a:buNone/>
            </a:pPr>
            <a:r>
              <a:rPr>
                <a:latin typeface="Courier"/>
              </a:rPr>
              <a:t>-   Students will **describe** the process of photosynthesis or
-   Students will **construct**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Base yourself on conceptual change theory and examine existing concepts in relation to some key terms. - Re-examine formation of new concepts at the end of the lesson. - WYSIWYM is an acronym for “What You Say is What You Mean” which means that whatever you see in your document will be what you see even when you save or render the document as PDF or as HTML. - 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Ensure students know where their Quarto project folder is located on their device. This will make it easier for them to find files in later tasks. Encourage them to save the document right after creating it, so they can intentionally choose the folder location (e.g., Desktop, a dedicated course folder, etc.).</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YAML header is the section at the very top, wrapped in three dashes (—). It holds the document’s settings, like the title, author, date, and output format. - Below that, we use Markdown to write the actual content which are things like headings, bullet points, bold or italic text. </a:t>
            </a:r>
            <a:r>
              <a:rPr i="1"/>
              <a:t>Instructor Notes</a:t>
            </a:r>
            <a:r>
              <a:rPr/>
              <a:t> - Reminding students on the meanings of YAML Header and Markdown will be helpful especially to those with very little prior knowledge for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Remember that the YAML Header goes at the top of the document in both Source and Visual Modes. - 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a:p>
            <a:pPr lvl="0" indent="0" marL="0">
              <a:buNone/>
            </a:pPr>
          </a:p>
          <a:p>
            <a:pPr lvl="0" indent="0" marL="0">
              <a:buNone/>
            </a:pPr>
            <a:r>
              <a:rPr i="1"/>
              <a:t>Instructor Note</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 Markdown,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Callout boxes are a way to highlight important information in your document. They stand out visually, so readers immediately notice them. You can use them to emphasize tips, warnings, examples, or key takeaways. </a:t>
            </a:r>
            <a:r>
              <a:rPr i="1"/>
              <a:t>Instructor Notes</a:t>
            </a:r>
            <a:r>
              <a:rPr/>
              <a:t> -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 </a:t>
            </a:r>
            <a:r>
              <a:rPr i="1"/>
              <a:t>Instructor Notes</a:t>
            </a:r>
            <a:r>
              <a:rPr/>
              <a:t> - using {r} to start the Code Chunk indicates that the coding language that we’re using is R. This is relevant for this lesson as students will be using R Studio and possession pof some background knowledge in R is assumed.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gives us several options for controlling how code appears in our documents. For example, we can choose whether to show or hide the code itself, whether readers can fold code open and closed, or whether only the results are shown. - Currently in our YAML, we have it set to </a:t>
            </a:r>
            <a:r>
              <a:rPr>
                <a:latin typeface="Courier"/>
              </a:rPr>
              <a:t>code-fold: false</a:t>
            </a:r>
            <a:r>
              <a:rPr/>
              <a:t> which means the code is displayed as in the image.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i="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This pre-break survey serves to examine students’ current understanding of key concepts of the submodule - Use free survey software such as or other survey software (Menti, particify, formR) to establish the following questions.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 benefit of using Quarto is the ability to easily add media, such as images, to your documents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the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Columns are useful when you want to organize content side by side instead of in a long vertical flow. For e.g.,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It is possible to add citations in Source mode, but it is easier and more efficient to do it in Visual mdoe.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Notes</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When you click the drop-down arrow by Terminal, the options may look different than what’s in the image in this slide but the “Terminal Options…” will be at the end (you may have to scroll a bit). -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copying &amp; pasting with keyboard shortcuts do not work the same in Git Bash. Right-clicking and selecting Paste is an easy option. - Sometimes in Git Bash/Terminal, just copying &amp; pasting will run the command, but sometimes you need to hit Enter.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Advanced Intro to Quarto Activity PDF.</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End lesson on clear take-home message that are interactively compiled by students. - Encourage students to share one sentence take-home messages. You can collect them verbally or in a shared doc/board.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here. </a:t>
            </a:r>
            <a:r>
              <a:rPr i="1"/>
              <a:t>Instructor Note</a:t>
            </a:r>
            <a:r>
              <a:rPr/>
              <a:t> - Aim: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hyperlink" Target="https://www.menti.com/al367833ss3g"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3.xml" /><Relationship Id="rId3"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4.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6.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7.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github.com"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25/01/2026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b="1"/>
              <a:t>Elizabeth Waterfield</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a:p>
            <a:pPr lvl="0" indent="0" marL="0">
              <a:buNone/>
            </a:pPr>
            <a:r>
              <a:rPr/>
              <a:t> </a:t>
            </a:r>
          </a:p>
          <a:p>
            <a:pPr lvl="0" indent="0" marL="0">
              <a:buNone/>
            </a:pPr>
            <a:r>
              <a:rPr/>
              <a:t>This work by Elizabeth Waterfield, Sara Lil Middleton and Sarah von Grebmer zu Wolfsthurn is licensed under a CC-BY 4.0 </a:t>
            </a:r>
            <a:r>
              <a:rPr>
                <a:hlinkClick r:id="rId2"/>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r>
              <a:rPr b="1"/>
              <a:t>Where are we at?</a:t>
            </a:r>
            <a:r>
              <a:rPr/>
              <a:t>   Click on the following link or scan the QR code to test your prior Quarto knowledge: </a:t>
            </a:r>
            <a:r>
              <a:rPr>
                <a:hlinkClick r:id="rId3"/>
              </a:rPr>
              <a:t>Quarto Survey</a:t>
            </a:r>
          </a:p>
          <a:p>
            <a:pPr lvl="0" indent="0" marL="0">
              <a:buNone/>
            </a:pPr>
            <a:r>
              <a:rPr/>
              <a:t>From SvG: Add link from particify https://ars.particify.de/login instead - menti has a limit on how many people can participate - we should make an account with our OSC email address and add QR code - in class people may not be able to click</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b="1"/>
              <a:t>What can we take from this?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a:t>From SvG: Add this when slides are final</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b="1"/>
              <a:t>Quarto</a:t>
            </a:r>
            <a:r>
              <a:rPr/>
              <a:t> makes it easy to analyze, share and reproduce.</a:t>
            </a:r>
          </a:p>
          <a:p>
            <a:pPr lvl="0" indent="0" marL="0">
              <a:buNone/>
            </a:pPr>
            <a:r>
              <a:rPr/>
              <a:t>From SvG: Maybe add here analyse and reproduce what..? And also - for this slide - do you think this overlaps with the key terms and definitions slide below?</a:t>
            </a:r>
          </a:p>
          <a:p>
            <a:pPr lvl="0" indent="0" marL="0">
              <a:buNone/>
            </a:pPr>
            <a:r>
              <a:rPr/>
              <a:t>It’s a powerful tool for producing transparent, reproducible, and accessible work that can be freely shared, viewed, and reused by others.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Setting up a Quarto Document</a:t>
            </a:r>
          </a:p>
          <a:p>
            <a:pPr lvl="0"/>
            <a:r>
              <a:rPr/>
              <a:t>Authoring</a:t>
            </a:r>
          </a:p>
          <a:p>
            <a:pPr lvl="0"/>
            <a:r>
              <a:rPr/>
              <a:t>Code Chunks</a:t>
            </a:r>
          </a:p>
          <a:p>
            <a:pPr lvl="0"/>
            <a:r>
              <a:rPr/>
              <a:t>Adding Citations</a:t>
            </a:r>
          </a:p>
          <a:p>
            <a:pPr lvl="0"/>
            <a:r>
              <a:rPr/>
              <a:t>Publishing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learning goals</a:t>
            </a:r>
          </a:p>
          <a:p>
            <a:pPr lvl="0"/>
            <a:r>
              <a:rPr/>
              <a:t>You will learn how to </a:t>
            </a:r>
            <a:r>
              <a:rPr b="1"/>
              <a:t>create</a:t>
            </a:r>
            <a:r>
              <a:rPr/>
              <a:t>, </a:t>
            </a:r>
            <a:r>
              <a:rPr b="1"/>
              <a:t>edit</a:t>
            </a:r>
            <a:r>
              <a:rPr/>
              <a:t>, and </a:t>
            </a:r>
            <a:r>
              <a:rPr b="1"/>
              <a:t>render</a:t>
            </a:r>
            <a:r>
              <a:rPr/>
              <a:t> Quarto documents</a:t>
            </a:r>
          </a:p>
          <a:p>
            <a:pPr lvl="0"/>
            <a:r>
              <a:rPr/>
              <a:t>You will understand how to </a:t>
            </a:r>
            <a:r>
              <a:rPr b="1"/>
              <a:t>use</a:t>
            </a:r>
            <a:r>
              <a:rPr/>
              <a:t> key Quarto features (code chunks, YAML headers, citations, and output formatting)</a:t>
            </a:r>
          </a:p>
          <a:p>
            <a:pPr lvl="0"/>
            <a:r>
              <a:rPr/>
              <a:t>You will gain confidence in </a:t>
            </a:r>
            <a:r>
              <a:rPr b="1"/>
              <a:t>preparing</a:t>
            </a:r>
            <a:r>
              <a:rPr/>
              <a:t> and </a:t>
            </a:r>
            <a:r>
              <a:rPr b="1"/>
              <a:t>teaching</a:t>
            </a:r>
            <a:r>
              <a:rPr/>
              <a:t> Quarto effectively to students</a:t>
            </a:r>
          </a:p>
          <a:p>
            <a:pPr lvl="0" indent="0" marL="0">
              <a:buNone/>
            </a:pPr>
            <a:r>
              <a:rPr/>
              <a:t>From SvG: Unsure about the last learning goal - remember that these are ready-to-use materials for the classroom, so the last learning goal is not really relevant for students? What else are you trying to get across in this slide 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a:t>
            </a:r>
          </a:p>
          <a:p>
            <a:pPr lvl="0" indent="0" marL="0">
              <a:buNone/>
            </a:pPr>
            <a:r>
              <a:rPr b="1"/>
              <a:t>What is Quarto?</a:t>
            </a:r>
            <a:r>
              <a:rPr/>
              <a:t> An open-source scientific and publishing system that combines text, code and media to create easily shareable documents such as websites, slides, reports, and much more.</a:t>
            </a:r>
          </a:p>
          <a:p>
            <a:pPr lvl="0" indent="0" marL="0">
              <a:buNone/>
            </a:pPr>
            <a:r>
              <a:rPr/>
              <a:t>From SvG: Did you want to add a hyperlink to their website here?</a:t>
            </a:r>
          </a:p>
          <a:p>
            <a:pPr lvl="0" indent="0" marL="0">
              <a:buNone/>
            </a:pPr>
            <a:r>
              <a:rPr b="1"/>
              <a:t>What is Rendering?</a:t>
            </a:r>
            <a:r>
              <a:rPr/>
              <a:t> The process where Quarto runs the code, combines it with the text, and creates a final output.</a:t>
            </a:r>
          </a:p>
          <a:p>
            <a:pPr lvl="0" indent="0" marL="0">
              <a:buNone/>
            </a:pPr>
            <a:r>
              <a:rPr/>
              <a:t>A Quarto Markdown document is saved as a </a:t>
            </a:r>
            <a:r>
              <a:rPr b="1"/>
              <a:t>.qmd file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(II)</a:t>
            </a:r>
          </a:p>
          <a:p>
            <a:pPr lvl="0" indent="0" marL="0">
              <a:buNone/>
            </a:pPr>
            <a:r>
              <a:rPr b="1"/>
              <a:t>Components of a .qmd file</a:t>
            </a:r>
          </a:p>
          <a:p>
            <a:pPr lvl="0"/>
            <a:r>
              <a:rPr b="1"/>
              <a:t>YAML header</a:t>
            </a:r>
            <a:r>
              <a:rPr/>
              <a:t>- the section at the top of the Quarto document that controls settings like the title, output format, and author.</a:t>
            </a:r>
          </a:p>
          <a:p>
            <a:pPr lvl="0"/>
            <a:r>
              <a:rPr b="1"/>
              <a:t>code chunks</a:t>
            </a:r>
            <a:r>
              <a:rPr/>
              <a:t>- sections of the document that contains code (from R or Python, for example) that are used for showing results such as tables, plots, or calculations</a:t>
            </a:r>
          </a:p>
          <a:p>
            <a:pPr lvl="0"/>
            <a:r>
              <a:rPr b="1"/>
              <a:t>Quarto Markdown</a:t>
            </a:r>
            <a:r>
              <a:rPr/>
              <a:t>- combines text, codes, and formatting to create the actual content of the document</a:t>
            </a:r>
          </a:p>
          <a:p>
            <a:pPr lvl="0" indent="0" marL="0">
              <a:buNone/>
            </a:pPr>
            <a:r>
              <a:rPr/>
              <a:t>You can write Quarto documents in </a:t>
            </a:r>
            <a:r>
              <a:rPr b="1"/>
              <a:t>Source mode</a:t>
            </a:r>
            <a:r>
              <a:rPr/>
              <a:t> or </a:t>
            </a:r>
            <a:r>
              <a:rPr b="1"/>
              <a:t>Visual mode</a:t>
            </a:r>
            <a:r>
              <a:rPr/>
              <a:t> in RStudio.</a:t>
            </a:r>
          </a:p>
          <a:p>
            <a:pPr lvl="0"/>
            <a:r>
              <a:rPr b="1"/>
              <a:t>Source mode</a:t>
            </a:r>
            <a:r>
              <a:rPr/>
              <a:t> - you write directly in plain text/Markdown Syntax, allowing for more control and it’s closer to raw code</a:t>
            </a:r>
          </a:p>
          <a:p>
            <a:pPr lvl="0"/>
            <a:r>
              <a:rPr b="1"/>
              <a:t>Visual mode</a:t>
            </a:r>
            <a:r>
              <a:rPr/>
              <a:t> - gives a WYSIWYM-style interface which easier for beginners, but sometimes hides syntax.</a:t>
            </a:r>
          </a:p>
          <a:p>
            <a:pPr lvl="0"/>
            <a:r>
              <a:rPr/>
              <a:t>This is part of the </a:t>
            </a:r>
            <a:r>
              <a:rPr b="1"/>
              <a:t>authoring process</a:t>
            </a:r>
            <a:r>
              <a:rPr/>
              <a:t>, and it allows you to format the text, add code, and build your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default format is html</a:t>
            </a:r>
          </a:p>
          <a:p>
            <a:pPr lvl="0"/>
            <a:r>
              <a:rPr/>
              <a:t>The output format can also be changed by editing the YAML header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Repeat the steps to create a new Quarto Document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a:t>
            </a:r>
          </a:p>
          <a:p>
            <a:pPr lvl="0" indent="0" marL="0">
              <a:buNone/>
            </a:pPr>
            <a:r>
              <a:rPr/>
              <a:t>There are two ways to render in Quarto:</a:t>
            </a:r>
          </a:p>
          <a:p>
            <a:pPr lvl="0"/>
            <a:r>
              <a:rPr b="1"/>
              <a:t>Manual rendering</a:t>
            </a:r>
            <a:r>
              <a:rPr/>
              <a:t>: having to click on the “Render” each time you want to see the output</a:t>
            </a:r>
          </a:p>
          <a:p>
            <a:pPr lvl="0"/>
            <a:r>
              <a:rPr b="1"/>
              <a:t>Render on Save</a:t>
            </a:r>
            <a:r>
              <a:rPr/>
              <a:t>: Quarto will automatically re-render the document each time you click “Save”</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Manual Render and Render on Save at the top of your workspace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a:t>
            </a:r>
          </a:p>
          <a:p>
            <a:pPr lvl="0" indent="0" marL="0">
              <a:buNone/>
            </a:pPr>
            <a:r>
              <a:rPr/>
              <a:t>This is the process of writing and structuring the Quarto document.</a:t>
            </a:r>
          </a:p>
          <a:p>
            <a:pPr lvl="0" indent="0" marL="0">
              <a:buNone/>
            </a:pPr>
            <a:r>
              <a:rPr b="1"/>
              <a:t>YAML Header + Markdown = Authoring</a:t>
            </a:r>
          </a:p>
          <a:p>
            <a:pPr lvl="0" indent="0" marL="0">
              <a:buNone/>
            </a:pPr>
            <a:r>
              <a:rPr/>
              <a:t>To practice authoring in Quarto, let’s start with setting the YAML header and adding text in </a:t>
            </a:r>
            <a:r>
              <a:rPr b="1"/>
              <a:t>Source</a:t>
            </a:r>
            <a:r>
              <a:rPr/>
              <a:t> mode.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Copy &amp;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shortcuts</a:t>
            </a:r>
          </a:p>
          <a:p>
            <a:pPr lvl="0" indent="0" marL="1270000">
              <a:buNone/>
            </a:pPr>
            <a:r>
              <a:rPr sz="2000"/>
              <a:t>Here is a link for the full list of markdown shortcuts for formatting!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(III)</a:t>
            </a:r>
          </a:p>
          <a:p>
            <a:pPr lvl="0" indent="0">
              <a:buNone/>
            </a:pPr>
            <a:r>
              <a:rPr>
                <a:solidFill>
                  <a:srgbClr val="003B4F"/>
                </a:solidFill>
                <a:latin typeface="Courier"/>
              </a:rPr>
              <a:t>Have you ever been curious about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(IV)</a:t>
            </a:r>
          </a:p>
          <a:p>
            <a:pPr lvl="0" indent="0" marL="0">
              <a:buNone/>
            </a:pPr>
            <a:r>
              <a:rPr/>
              <a:t>Highlighting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(V)</a:t>
            </a:r>
          </a:p>
          <a:p>
            <a:pPr lvl="0" indent="0" marL="0">
              <a:buNone/>
            </a:pPr>
            <a:r>
              <a:rPr b="1"/>
              <a:t>Adding a Callout Box</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&amp; paste this markdown text into your Quarto document to add this callout note box.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a:t>
            </a:r>
          </a:p>
          <a:p>
            <a:pPr lvl="0" indent="0" marL="0">
              <a:buNone/>
            </a:pPr>
            <a:r>
              <a:rPr b="1"/>
              <a:t>Inserting Code</a:t>
            </a:r>
          </a:p>
          <a:p>
            <a:pPr lvl="0" indent="0" marL="0">
              <a:buNone/>
            </a:pPr>
            <a:r>
              <a:rPr/>
              <a:t>Two ways to insert code chunks:</a:t>
            </a:r>
          </a:p>
          <a:p>
            <a:pPr lvl="0"/>
            <a:r>
              <a:rPr/>
              <a:t>Manually type 3 back ticks ``` then {r} to start a coding chunk, enter your code, then end it with 3 back ticks</a:t>
            </a:r>
          </a:p>
          <a:p>
            <a:pPr lvl="0" indent="0" marL="0">
              <a:buNone/>
            </a:pPr>
            <a:r>
              <a:rPr b="1"/>
              <a:t>OR</a:t>
            </a:r>
          </a:p>
          <a:p>
            <a:pPr lvl="0"/>
            <a:r>
              <a:rPr/>
              <a:t>Use the keyboard shortcut Ctrl + Alt + I (Windows/Linux) or Cmd + Option + I (Mac) to insert a code chunk</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b="1"/>
              <a:t>Inserting Code</a:t>
            </a: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in </a:t>
            </a:r>
            <a:r>
              <a:rPr b="1"/>
              <a:t>two separate code chunks</a:t>
            </a:r>
          </a:p>
          <a:p>
            <a:pPr lvl="0"/>
            <a:r>
              <a:rPr/>
              <a:t>☐ Render the output and see what you get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a:t>Adjust how the code is portrayed by editing the YAML header:</a:t>
            </a:r>
          </a:p>
          <a:p>
            <a:pPr lvl="0" indent="0" marL="0">
              <a:buNone/>
            </a:pPr>
          </a:p>
          <a:p>
            <a:pPr lvl="0"/>
            <a:r>
              <a:rPr>
                <a:latin typeface="Courier"/>
              </a:rPr>
              <a:t>code-fold: false</a:t>
            </a:r>
            <a:r>
              <a:rPr/>
              <a:t> - the code is visible and not collapsible (as seen here)</a:t>
            </a:r>
          </a:p>
          <a:p>
            <a:pPr lvl="0"/>
            <a:r>
              <a:rPr>
                <a:latin typeface="Courier"/>
              </a:rPr>
              <a:t>code-fold: true</a:t>
            </a:r>
            <a:r>
              <a:rPr/>
              <a:t> - collapses the code so the reader can expand it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(III)</a:t>
            </a:r>
          </a:p>
          <a:p>
            <a:pPr lvl="0" indent="0" marL="0">
              <a:buNone/>
            </a:pPr>
            <a:r>
              <a:rPr/>
              <a:t>Adjust how the code is portrayed by editing the YAML header:</a:t>
            </a:r>
          </a:p>
          <a:p>
            <a:pPr lvl="0" indent="0" marL="0">
              <a:buNone/>
            </a:pPr>
          </a:p>
          <a:p>
            <a:pPr lvl="0"/>
            <a:r>
              <a:rPr>
                <a:latin typeface="Courier"/>
              </a:rPr>
              <a:t>code-tools: true</a:t>
            </a:r>
            <a:r>
              <a:rPr/>
              <a:t> - adds the functions “show code” at the top of the page and “copy” next to the chunks</a:t>
            </a:r>
          </a:p>
          <a:p>
            <a:pPr lvl="0"/>
            <a:r>
              <a:rPr>
                <a:latin typeface="Courier"/>
              </a:rPr>
              <a:t>echo: true</a:t>
            </a:r>
            <a:r>
              <a:rPr/>
              <a:t> - both the code and the output is visible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(IV)</a:t>
            </a:r>
          </a:p>
          <a:p>
            <a:pPr lvl="0" indent="0" marL="0">
              <a:buNone/>
            </a:pPr>
            <a:r>
              <a:rPr/>
              <a:t>Let’s edit the YAML header to make the code chunks </a:t>
            </a:r>
            <a:r>
              <a:rPr b="1"/>
              <a:t>collapsible</a:t>
            </a:r>
            <a:r>
              <a:rPr/>
              <a:t> and add </a:t>
            </a:r>
            <a:r>
              <a:rPr b="1"/>
              <a:t>code tools</a:t>
            </a:r>
            <a:r>
              <a:rPr/>
              <a:t>.</a:t>
            </a:r>
          </a:p>
          <a:p>
            <a:pPr lvl="0" indent="0" marL="0">
              <a:buNone/>
            </a:pPr>
            <a:r>
              <a:rPr b="1"/>
              <a:t>Practical exercise 6</a:t>
            </a:r>
          </a:p>
          <a:p>
            <a:pPr lvl="0"/>
            <a:r>
              <a:rPr/>
              <a:t>☐ In the YAML, change </a:t>
            </a:r>
            <a:r>
              <a:rPr>
                <a:latin typeface="Courier"/>
              </a:rPr>
              <a:t>code-fold: false</a:t>
            </a:r>
            <a:r>
              <a:rPr/>
              <a:t> to </a:t>
            </a:r>
            <a:r>
              <a:rPr>
                <a:latin typeface="Courier"/>
              </a:rPr>
              <a:t>code-fold: true</a:t>
            </a:r>
          </a:p>
          <a:p>
            <a:pPr lvl="0"/>
            <a:r>
              <a:rPr/>
              <a:t>☐ Add </a:t>
            </a:r>
            <a:r>
              <a:rPr>
                <a:latin typeface="Courier"/>
              </a:rPr>
              <a:t>code-tools: true</a:t>
            </a:r>
          </a:p>
          <a:p>
            <a:pPr lvl="0"/>
            <a:r>
              <a:rPr/>
              <a:t>☐ Render the document to see the changes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What’s the name of Quarto Markdown document</a:t>
            </a:r>
            <a:r>
              <a:rPr/>
              <a:t>?</a:t>
            </a:r>
          </a:p>
          <a:p>
            <a:pPr lvl="0" indent="-342900" marL="342900">
              <a:buAutoNum type="alphaLcPeriod"/>
            </a:pPr>
            <a:r>
              <a:rPr/>
              <a:t>.png file</a:t>
            </a:r>
          </a:p>
          <a:p>
            <a:pPr lvl="0" indent="-342900" marL="342900">
              <a:buAutoNum type="alphaLcPeriod"/>
            </a:pPr>
            <a:r>
              <a:rPr/>
              <a:t>.qmd file ✅</a:t>
            </a:r>
          </a:p>
          <a:p>
            <a:pPr lvl="0" indent="-342900" marL="342900">
              <a:buAutoNum type="alphaLcPeriod"/>
            </a:pPr>
            <a:r>
              <a:rPr/>
              <a:t>.doc file</a:t>
            </a:r>
          </a:p>
          <a:p>
            <a:pPr lvl="0" indent="-342900" marL="342900">
              <a:buAutoNum type="alphaLcPeriod"/>
            </a:pPr>
            <a:r>
              <a:rPr/>
              <a:t>.mp3 file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YAML header?</a:t>
            </a:r>
          </a:p>
          <a:p>
            <a:pPr lvl="0" indent="-342900" marL="342900">
              <a:buAutoNum type="alphaLcPeriod"/>
            </a:pPr>
            <a:r>
              <a:rPr/>
              <a:t>summarizes the document into a single line</a:t>
            </a:r>
          </a:p>
          <a:p>
            <a:pPr lvl="0" indent="-342900" marL="342900">
              <a:buAutoNum type="alphaLcPeriod"/>
            </a:pPr>
            <a:r>
              <a:rPr/>
              <a:t>this is where you store notes and reminders</a:t>
            </a:r>
          </a:p>
          <a:p>
            <a:pPr lvl="0" indent="-342900" marL="342900">
              <a:buAutoNum type="alphaLcPeriod"/>
            </a:pPr>
            <a:r>
              <a:rPr/>
              <a:t>it’s like the “settings” of the document ✅</a:t>
            </a:r>
          </a:p>
          <a:p>
            <a:pPr lvl="0" indent="-342900" marL="342900">
              <a:buAutoNum type="alphaLcPeriod"/>
            </a:pPr>
            <a:r>
              <a:rPr/>
              <a:t>just the title of the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is used to format content (like paragraphs and bullet points)?</a:t>
            </a:r>
          </a:p>
          <a:p>
            <a:pPr lvl="0" indent="-342900" marL="342900">
              <a:buAutoNum type="alphaLcPeriod"/>
            </a:pPr>
            <a:r>
              <a:rPr/>
              <a:t>Code chunks</a:t>
            </a:r>
          </a:p>
          <a:p>
            <a:pPr lvl="0" indent="-342900" marL="342900">
              <a:buAutoNum type="alphaLcPeriod"/>
            </a:pPr>
            <a:r>
              <a:rPr/>
              <a:t>YAML header</a:t>
            </a:r>
          </a:p>
          <a:p>
            <a:pPr lvl="0" indent="-342900" marL="342900">
              <a:buAutoNum type="alphaLcPeriod"/>
            </a:pPr>
            <a:r>
              <a:rPr/>
              <a:t>Markdown text ✅</a:t>
            </a:r>
          </a:p>
          <a:p>
            <a:pPr lvl="0" indent="-342900" marL="342900">
              <a:buAutoNum type="alphaLcPeriod"/>
            </a:pPr>
            <a:r>
              <a:rPr/>
              <a:t>All of the above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are the 2 components of the Authoring process?</a:t>
            </a:r>
          </a:p>
          <a:p>
            <a:pPr lvl="0" indent="0" marL="0">
              <a:buNone/>
            </a:pPr>
            <a:r>
              <a:rPr b="1"/>
              <a:t>How to create a code chunk in a Quarto Document?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links and hyperlinking text,</a:t>
            </a:r>
          </a:p>
          <a:p>
            <a:pPr lvl="0"/>
            <a:r>
              <a:rPr/>
              <a:t>embedding media,</a:t>
            </a:r>
          </a:p>
          <a:p>
            <a:pPr lvl="0"/>
            <a:r>
              <a:rPr/>
              <a:t>creating multi-column layouts,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[title] (link)</a:t>
            </a:r>
          </a:p>
          <a:p>
            <a:pPr lvl="0"/>
            <a:r>
              <a:rPr/>
              <a:t>[ Quarto Website ] ( https://quarto.org/ ) → </a:t>
            </a:r>
            <a:r>
              <a:rPr>
                <a:hlinkClick r:id="rId3"/>
              </a:rPr>
              <a:t>Quarto Website</a:t>
            </a:r>
          </a:p>
          <a:p>
            <a:pPr lvl="0"/>
            <a:r>
              <a:rPr/>
              <a:t>[Reveal.js Documentation] (https://revealjs.com/) → </a:t>
            </a:r>
            <a:r>
              <a:rPr>
                <a:hlinkClick r:id="rId4"/>
              </a:rPr>
              <a:t>Reveal.js Documentation</a:t>
            </a:r>
          </a:p>
          <a:p>
            <a:pPr lvl="0" indent="0" marL="0">
              <a:buNone/>
            </a:pPr>
            <a:r>
              <a:rPr/>
              <a:t>link without title: &lt; https:// link &gt;</a:t>
            </a:r>
          </a:p>
          <a:p>
            <a:pPr lvl="0"/>
            <a:r>
              <a:rPr/>
              <a:t>&lt; https://www.markdownguide.org/ &gt; → </a:t>
            </a:r>
            <a:r>
              <a:rPr>
                <a:hlinkClick r:id="rId5"/>
              </a:rPr>
              <a:t>https://www.markdownguide.org/</a:t>
            </a:r>
          </a:p>
          <a:p>
            <a:pPr lvl="0"/>
            <a:r>
              <a:rPr/>
              <a:t>&lt; https://github.com/ &gt;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a:t>
            </a:r>
          </a:p>
          <a:p>
            <a:pPr lvl="0"/>
            <a:r>
              <a:rPr/>
              <a:t>No caption: ! [ ] ( path/image.png )</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a:t>
            </a:r>
          </a:p>
          <a:p>
            <a:pPr lvl="0"/>
            <a:r>
              <a:rPr/>
              <a:t>With caption: ! [ caption ] ( path/image.png )</a:t>
            </a:r>
          </a:p>
        </p:txBody>
      </p:sp>
      <p:pic>
        <p:nvPicPr>
          <p:cNvPr descr="images/chickpic1.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(III)</a:t>
            </a:r>
          </a:p>
          <a:p>
            <a:pPr lvl="0"/>
            <a:r>
              <a:rPr/>
              <a:t>with link: [ ! [ caption ] ( path/image.png ) ] ( link )</a:t>
            </a:r>
          </a:p>
        </p:txBody>
      </p:sp>
      <p:pic>
        <p:nvPicPr>
          <p:cNvPr descr="images/chickpic1.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images (IV)</a:t>
            </a:r>
          </a:p>
          <a:p>
            <a:pPr lvl="0" indent="0" marL="0">
              <a:buNone/>
            </a:pPr>
          </a:p>
          <a:p>
            <a:pPr lvl="0" indent="0">
              <a:buNone/>
            </a:pPr>
            <a:r>
              <a:rPr>
                <a:solidFill>
                  <a:srgbClr val="AD0000"/>
                </a:solidFill>
                <a:latin typeface="Courier"/>
              </a:rPr>
              <a:t>![No chicks were harmed in the making of this lesson.](images/chickpic1.png)</a:t>
            </a:r>
          </a:p>
          <a:p>
            <a:pPr lvl="0" indent="0" marL="0">
              <a:buNone/>
            </a:pPr>
          </a:p>
          <a:p>
            <a:pPr lvl="0" indent="0" marL="0">
              <a:buNone/>
            </a:pPr>
            <a:r>
              <a:rPr b="1"/>
              <a:t>Practical exercise 7</a:t>
            </a:r>
          </a:p>
          <a:p>
            <a:pPr lvl="0"/>
            <a:r>
              <a:rPr/>
              <a:t>☐ Click this link to download the image</a:t>
            </a:r>
          </a:p>
          <a:p>
            <a:pPr lvl="0"/>
            <a:r>
              <a:rPr/>
              <a:t>☐ Save the image to the main folder of the Quarto document files</a:t>
            </a:r>
          </a:p>
          <a:p>
            <a:pPr lvl="0"/>
            <a:r>
              <a:rPr/>
              <a:t>☐ Copy &amp; paste the markdown text to insert an image with a caption (edit path if needed)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 on the slide</a:t>
            </a:r>
          </a:p>
          <a:p>
            <a:pPr lvl="0" indent="0" marL="0">
              <a:buNone/>
            </a:pPr>
            <a:r>
              <a:rPr/>
              <a:t>You can change the layout of a section using </a:t>
            </a:r>
            <a:r>
              <a:rPr b="1"/>
              <a:t>columns</a:t>
            </a:r>
            <a:r>
              <a:rPr/>
              <a:t>:</a:t>
            </a:r>
          </a:p>
          <a:p>
            <a:pPr lvl="0"/>
            <a:r>
              <a:rPr/>
              <a:t>Start the column layout by writing “</a:t>
            </a:r>
            <a:r>
              <a:rPr>
                <a:latin typeface="Courier"/>
              </a:rPr>
              <a:t>:::::: columns</a:t>
            </a:r>
            <a:r>
              <a:rPr/>
              <a:t>”</a:t>
            </a:r>
          </a:p>
          <a:p>
            <a:pPr lvl="0"/>
            <a:r>
              <a:rPr/>
              <a:t>Begin the first column with “</a:t>
            </a:r>
            <a:r>
              <a:rPr>
                <a:latin typeface="Courier"/>
              </a:rPr>
              <a:t>::: column</a:t>
            </a:r>
            <a:r>
              <a:rPr/>
              <a:t>”</a:t>
            </a:r>
          </a:p>
          <a:p>
            <a:pPr lvl="0"/>
            <a:r>
              <a:rPr/>
              <a:t>Add content and end it with “</a:t>
            </a:r>
            <a:r>
              <a:rPr>
                <a:latin typeface="Courier"/>
              </a:rPr>
              <a:t>:::</a:t>
            </a:r>
            <a:r>
              <a:rPr/>
              <a:t>”</a:t>
            </a:r>
          </a:p>
          <a:p>
            <a:pPr lvl="0"/>
            <a:r>
              <a:rPr/>
              <a:t>Begin second coloumn with “</a:t>
            </a:r>
            <a:r>
              <a:rPr>
                <a:latin typeface="Courier"/>
              </a:rPr>
              <a:t>::: column</a:t>
            </a:r>
            <a:r>
              <a:rPr/>
              <a:t>”</a:t>
            </a:r>
          </a:p>
          <a:p>
            <a:pPr lvl="0"/>
            <a:r>
              <a:rPr/>
              <a:t>Add content and end it with “</a:t>
            </a:r>
            <a:r>
              <a:rPr>
                <a:latin typeface="Courier"/>
              </a:rPr>
              <a:t>:::</a:t>
            </a:r>
            <a:r>
              <a:rPr/>
              <a:t>”</a:t>
            </a:r>
          </a:p>
          <a:p>
            <a:pPr lvl="0"/>
            <a:r>
              <a:rPr/>
              <a:t>End section with a final “</a:t>
            </a:r>
            <a:r>
              <a:rPr>
                <a:latin typeface="Courier"/>
              </a:rPr>
              <a:t>::::::</a:t>
            </a:r>
            <a:r>
              <a:rPr/>
              <a:t>”</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image and bullet points with columns</a:t>
            </a:r>
          </a:p>
          <a:p>
            <a:pPr lvl="0" indent="0" marL="0">
              <a:buNone/>
            </a:pPr>
            <a:r>
              <a:rPr/>
              <a:t>Let’s use columns to add bullet points next to an image.</a:t>
            </a:r>
          </a:p>
          <a:p>
            <a:pPr lvl="0" indent="0" marL="0">
              <a:buNone/>
            </a:pPr>
            <a:r>
              <a:rPr b="1"/>
              <a:t>Practical exercise 8</a:t>
            </a:r>
          </a:p>
          <a:p>
            <a:pPr lvl="0"/>
            <a:r>
              <a:rPr/>
              <a:t>☐ Click this link to download the image</a:t>
            </a:r>
          </a:p>
          <a:p>
            <a:pPr lvl="0"/>
            <a:r>
              <a:rPr/>
              <a:t>☐ Save the image to the main folder of the Quarto document files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&amp; paste the markdown text to add an image with bullet points using columns (edit path if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b="1"/>
              <a:t>Zotero</a:t>
            </a:r>
            <a:r>
              <a:rPr/>
              <a:t> is a free reference management tool to collect, organize, cite, and share research sources.</a:t>
            </a:r>
          </a:p>
          <a:p>
            <a:pPr lvl="0" indent="0" marL="0">
              <a:buNone/>
            </a:pPr>
            <a:r>
              <a:rPr/>
              <a:t>You can use </a:t>
            </a:r>
            <a:r>
              <a:rPr b="1"/>
              <a:t>Zotero</a:t>
            </a:r>
            <a:r>
              <a:rPr/>
              <a:t> in RStudio to easily insert citations into your Quarto document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switch to the “Visual Editor” mode,</a:t>
            </a:r>
          </a:p>
          <a:p>
            <a:pPr lvl="0"/>
            <a:r>
              <a:rPr/>
              <a:t>add </a:t>
            </a:r>
            <a:r>
              <a:rPr>
                <a:latin typeface="Courier"/>
              </a:rPr>
              <a:t>bibliography: references.bib</a:t>
            </a:r>
            <a:r>
              <a:rPr/>
              <a:t> in the YAML header,</a:t>
            </a:r>
          </a:p>
          <a:p>
            <a:pPr lvl="0"/>
            <a:r>
              <a:rPr/>
              <a:t>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zotero2.png" id="0" name="Picture 1"/>
          <p:cNvPicPr>
            <a:picLocks noGrp="1" noChangeAspect="1"/>
          </p:cNvPicPr>
          <p:nvPr/>
        </p:nvPicPr>
        <p:blipFill>
          <a:blip r:embed="rId3"/>
          <a:stretch>
            <a:fillRect/>
          </a:stretch>
        </p:blipFill>
        <p:spPr bwMode="auto">
          <a:xfrm>
            <a:off x="1574800" y="1193800"/>
            <a:ext cx="1803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select citations straight from your library and folders in Zotero</a:t>
            </a:r>
          </a:p>
          <a:p>
            <a:pPr lvl="0"/>
            <a:r>
              <a:rPr/>
              <a:t>Each citation is assigned a short citation key based on the author and year (e.g., pauwels2015).</a:t>
            </a:r>
          </a:p>
          <a:p>
            <a:pPr lvl="0"/>
            <a:r>
              <a:rPr/>
              <a:t>You can quickly cite it in your document by typing @ followed by the citation key.</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practice adding a citation:</a:t>
            </a:r>
          </a:p>
          <a:p>
            <a:pPr lvl="0" indent="0" marL="0">
              <a:buNone/>
            </a:pPr>
            <a:r>
              <a:rPr b="1"/>
              <a:t>Practical exercise 9</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the text above and place the cursor at the end of the sentence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10</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and then click Insert</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add another citation to practice adding </a:t>
            </a:r>
            <a:r>
              <a:rPr b="1"/>
              <a:t>in-text</a:t>
            </a:r>
            <a:r>
              <a:rPr/>
              <a:t> citations:</a:t>
            </a:r>
          </a:p>
          <a:p>
            <a:pPr lvl="0" indent="0" marL="0">
              <a:buNone/>
            </a:pPr>
            <a:r>
              <a:rPr b="1"/>
              <a:t>Practical exercise 11</a:t>
            </a:r>
          </a:p>
          <a:p>
            <a:pPr lvl="0"/>
            <a:r>
              <a:rPr/>
              <a:t>☐ </a:t>
            </a:r>
            <a:r>
              <a:rPr>
                <a:hlinkClick r:id="rId3"/>
              </a:rPr>
              <a:t>Follow this link to another article on diets and broiler chicks</a:t>
            </a:r>
          </a:p>
          <a:p>
            <a:pPr lvl="0"/>
            <a:r>
              <a:rPr/>
              <a:t>☐ Add the citation to your Zotero Library</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12</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 and</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changing the citation style</a:t>
            </a:r>
            <a:r>
              <a:rPr sz="2000"/>
              <a:t> You can change the citation style by using csl files directly from the Zotero website. For e.g., putting “</a:t>
            </a:r>
            <a:r>
              <a:rPr sz="2000">
                <a:latin typeface="Courier"/>
              </a:rPr>
              <a:t>csl: https://www.zotero.org/styles/apa</a:t>
            </a:r>
            <a:r>
              <a:rPr sz="2000"/>
              <a:t>” in your YAML changes the citation style to APA.</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It’s the process of sharing the rendered documents or projects online so it can become accessible to others.</a:t>
            </a:r>
          </a:p>
          <a:p>
            <a:pPr lvl="0" indent="0" marL="0">
              <a:buNone/>
            </a:pPr>
            <a:r>
              <a:rPr/>
              <a:t>You can publish to:</a:t>
            </a:r>
          </a:p>
          <a:p>
            <a:pPr lvl="0"/>
            <a:r>
              <a:rPr/>
              <a:t>GitHub Pages</a:t>
            </a:r>
          </a:p>
          <a:p>
            <a:pPr lvl="0"/>
            <a:r>
              <a:rPr/>
              <a:t>Quarto Pub</a:t>
            </a:r>
          </a:p>
          <a:p>
            <a:pPr lvl="0"/>
            <a:r>
              <a:rPr/>
              <a:t>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a:t>
            </a:r>
          </a:p>
          <a:p>
            <a:pPr lvl="0" indent="0" marL="0">
              <a:buNone/>
            </a:pPr>
            <a:r>
              <a:rPr/>
              <a:t>A great option to share your document is publishing to </a:t>
            </a:r>
            <a:r>
              <a:rPr b="1"/>
              <a:t>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 to the </a:t>
            </a:r>
            <a:r>
              <a:rPr>
                <a:latin typeface="Courier"/>
              </a:rPr>
              <a:t>docs</a:t>
            </a:r>
            <a:r>
              <a:rPr/>
              <a:t> directory and checking it into your repository</a:t>
            </a:r>
          </a:p>
          <a:p>
            <a:pPr lvl="0" indent="-342900" marL="342900">
              <a:buAutoNum type="arabicPeriod"/>
            </a:pPr>
            <a:r>
              <a:rPr/>
              <a:t>Use the </a:t>
            </a:r>
            <a:r>
              <a:rPr>
                <a:latin typeface="Courier"/>
              </a:rPr>
              <a:t>quarto publish</a:t>
            </a:r>
            <a:r>
              <a:rPr/>
              <a:t> command</a:t>
            </a:r>
          </a:p>
          <a:p>
            <a:pPr lvl="0" indent="-342900" marL="342900">
              <a:buAutoNum type="arabicPeriod"/>
            </a:pPr>
            <a:r>
              <a:rPr/>
              <a:t>Use GitHub Actions to auto-render and publish whenever you push changes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(III)</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(IV)</a:t>
            </a:r>
          </a:p>
          <a:p>
            <a:pPr lvl="0" indent="0" marL="0">
              <a:buNone/>
            </a:pPr>
            <a:r>
              <a:rPr b="1"/>
              <a:t>Practical exercise 13</a:t>
            </a:r>
          </a:p>
          <a:p>
            <a:pPr lvl="0"/>
            <a:r>
              <a:rPr/>
              <a:t>☐ In your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a:t>
            </a:r>
          </a:p>
          <a:p>
            <a:pPr lvl="0" indent="0" marL="0">
              <a:buNone/>
            </a:pPr>
            <a:r>
              <a:rPr b="1"/>
              <a:t>Practical exercise 14</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&amp; pasting the above in the Terminal</a:t>
            </a:r>
          </a:p>
          <a:p>
            <a:pPr lvl="0" indent="0">
              <a:buNone/>
            </a:pPr>
            <a:r>
              <a:rPr>
                <a:solidFill>
                  <a:srgbClr val="003B4F"/>
                </a:solidFill>
                <a:latin typeface="Courier"/>
              </a:rPr>
              <a:t>touch .nojekyll</a:t>
            </a:r>
          </a:p>
          <a:p>
            <a:pPr lvl="0"/>
            <a:r>
              <a:rPr/>
              <a:t>☐ Copy &amp; paste the above into the Terminal to add a </a:t>
            </a:r>
            <a:r>
              <a:rPr>
                <a:latin typeface="Courier"/>
              </a:rPr>
              <a:t>.nojekyll</a:t>
            </a:r>
            <a:r>
              <a:rPr/>
              <a:t> file</a:t>
            </a:r>
          </a:p>
          <a:p>
            <a:pPr lvl="0" indent="0" marL="1270000">
              <a:buNone/>
            </a:pPr>
            <a:r>
              <a:rPr sz="2000" b="1"/>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Practical exercise 14</a:t>
            </a:r>
          </a:p>
          <a:p>
            <a:pPr lvl="0" indent="0">
              <a:buNone/>
            </a:pPr>
            <a:r>
              <a:rPr>
                <a:solidFill>
                  <a:srgbClr val="003B4F"/>
                </a:solidFill>
                <a:latin typeface="Courier"/>
              </a:rPr>
              <a:t>quarto render</a:t>
            </a:r>
          </a:p>
          <a:p>
            <a:pPr lvl="0"/>
            <a:r>
              <a:rPr/>
              <a:t>☐ Copy &amp;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&amp; paste the above into Terminal to initialize Git and rename “master” to “main”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a:t>
            </a:r>
          </a:p>
          <a:p>
            <a:pPr lvl="0" indent="0" marL="0">
              <a:buNone/>
            </a:pPr>
            <a:r>
              <a:rPr b="1"/>
              <a:t>Practical exercise 15</a:t>
            </a:r>
          </a:p>
          <a:p>
            <a:pPr lvl="0"/>
            <a:r>
              <a:rPr/>
              <a:t>☐ In </a:t>
            </a:r>
            <a:r>
              <a:rPr>
                <a:hlinkClick r:id="rId3"/>
              </a:rPr>
              <a:t>GitHub</a:t>
            </a:r>
            <a:r>
              <a:rPr/>
              <a:t>, create a new repo</a:t>
            </a:r>
          </a:p>
          <a:p>
            <a:pPr lvl="0"/>
            <a:r>
              <a:rPr/>
              <a:t>☐ In Terminal, add remote by using “</a:t>
            </a:r>
            <a:r>
              <a:rPr>
                <a:latin typeface="Courier"/>
              </a:rPr>
              <a:t>git remote add origin</a:t>
            </a:r>
            <a:r>
              <a:rPr/>
              <a:t>” + the repo’s HTTPS URL (e.g.,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&amp; paste the above into Terminal to render your site and push it to GitHub</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(VII)</a:t>
            </a:r>
          </a:p>
          <a:p>
            <a:pPr lvl="0"/>
            <a:r>
              <a:rPr/>
              <a:t>☐ In your repo on </a:t>
            </a:r>
            <a:r>
              <a:rPr>
                <a:hlinkClick r:id="rId2"/>
              </a:rPr>
              <a:t>GitHub</a:t>
            </a:r>
            <a:r>
              <a:rPr/>
              <a:t>, go to Settings</a:t>
            </a:r>
          </a:p>
          <a:p>
            <a:pPr lvl="0"/>
            <a:r>
              <a:rPr/>
              <a:t>☐ Click “Pages”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3.png" id="0" name="Picture 1"/>
          <p:cNvPicPr>
            <a:picLocks noGrp="1" noChangeAspect="1"/>
          </p:cNvPicPr>
          <p:nvPr/>
        </p:nvPicPr>
        <p:blipFill>
          <a:blip r:embed="rId2"/>
          <a:stretch>
            <a:fillRect/>
          </a:stretch>
        </p:blipFill>
        <p:spPr bwMode="auto">
          <a:xfrm>
            <a:off x="457200" y="1803400"/>
            <a:ext cx="4038600" cy="2159000"/>
          </a:xfrm>
          <a:prstGeom prst="rect">
            <a:avLst/>
          </a:prstGeom>
          <a:noFill/>
          <a:ln w="9525">
            <a:noFill/>
            <a:headEnd/>
            <a:tailEnd/>
          </a:ln>
        </p:spPr>
      </p:pic>
      <p:pic>
        <p:nvPicPr>
          <p:cNvPr descr="images/gitpages4.png" id="0" name="Picture 1"/>
          <p:cNvPicPr>
            <a:picLocks noGrp="1" noChangeAspect="1"/>
          </p:cNvPicPr>
          <p:nvPr/>
        </p:nvPicPr>
        <p:blipFill>
          <a:blip r:embed="rId3"/>
          <a:stretch>
            <a:fillRect/>
          </a:stretch>
        </p:blipFill>
        <p:spPr bwMode="auto">
          <a:xfrm>
            <a:off x="4648200" y="1917700"/>
            <a:ext cx="4038600" cy="19431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After 1-2 minutes, you will see that your site is </a:t>
            </a:r>
            <a:r>
              <a:rPr b="1"/>
              <a:t>live</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a:t>From SvG: Would this differ from the take home messages?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b="1"/>
              <a:t>“If you had to explain to a colleague in one sentence why learning Quarto matters for research and teaching, what would you say?”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buNone/>
            </a:pPr>
            <a:r>
              <a:rPr b="1"/>
              <a:t>What is your level of familiarity with Quarto before this lesson?</a:t>
            </a:r>
            <a:r>
              <a:rPr/>
              <a:t> a) I’ve never used it b) I’ve heard of it but never tried it c) I’ve experimented a little d) I use it occasionally e) I use it frequently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r>
              <a:rPr/>
              <a:t> a) A programming language b) A publishing system for reproducible documents ✅ c) A code editor d) A type of version control system</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r>
              <a:rPr/>
              <a:t> a) Only YAML b) Only Markdown c) Neither d) YAML and Markdown together ✅</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modes can be used to create a Quarto document?</a:t>
            </a:r>
            <a:r>
              <a:rPr/>
              <a:t> a) Source mode b) Visual mode c) Both ✅ d) Neither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switching between Source and Visual modes?</a:t>
            </a:r>
          </a:p>
          <a:p>
            <a:pPr lvl="0" indent="0" marL="0">
              <a:buNone/>
            </a:pPr>
            <a:r>
              <a:rPr b="1"/>
              <a:t>Which of these are examples of Markdown text formatting? (Select all that apply)</a:t>
            </a:r>
            <a:r>
              <a:rPr/>
              <a:t> a) Bold text ✅ b) Italic text ✅ c) Adding code chunks d) Adding hyperlinks ✅</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should you use text formatting in Quarto documents?</a:t>
            </a:r>
            <a:r>
              <a:rPr/>
              <a:t> a) For aesthetics only b) To improve clarity and emphasis ✅ c) To make the file larger d) To change the coding language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When would you consider using multi-column layouts?</a:t>
            </a:r>
            <a:r>
              <a:rPr/>
              <a:t> a) To shorten the document b) To make information more visually organized ✅ c) To add footnotes only d) To increase file size</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r>
              <a:rPr/>
              <a:t> a) To include executable code and results within the document ✅ b) To store references c) To format text d) To hide metadata</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YAML options relate to how code chunks are displayed?</a:t>
            </a:r>
            <a:r>
              <a:rPr/>
              <a:t> a) echo: true ✅ b) code-fold: false ✅ c) title: “My Document” d) format: html</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r>
              <a:rPr/>
              <a:t> a) To make the document more difficult to read b) To ensure only the author can reproduce results c) To replace data collection d) To make research reproducible and transparent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are common publishing options for Quarto projects? (Select all that apply)</a:t>
            </a:r>
            <a:r>
              <a:rPr/>
              <a:t> a) GitHub Pages ✅ b) Quarto Pub ✅ c) Social media platforms d) Personal websites ✅</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benefit of publishing your Quarto documents?</a:t>
            </a:r>
            <a:r>
              <a:rPr/>
              <a:t> a) They make your computer run faster b) They allow offline editing only c) They become accessible to others for sharing and collaboration ✅ d) They automatically write the code for you</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a:p>
            <a:pPr lvl="0" indent="0" marL="0">
              <a:buNone/>
            </a:pPr>
            <a:r>
              <a:rPr/>
              <a:t>From SvG: Add references here</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a:p>
            <a:pPr lvl="0" indent="0" marL="0">
              <a:buNone/>
            </a:pPr>
            <a:r>
              <a:rPr/>
              <a:t>From SvG: Still to do right?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a:p>
            <a:pPr lvl="0" indent="0" marL="0">
              <a:buNone/>
            </a:pPr>
            <a:r>
              <a:rPr/>
              <a:t>From SvG: Still to do right?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2026-01-25T23:24:54Z</dcterms:created>
  <dcterms:modified xsi:type="dcterms:W3CDTF">2026-01-25T23:24:54Z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25/01/2026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