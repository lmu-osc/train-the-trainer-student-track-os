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From SvG: add speaker notes to this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i="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possession pof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here. </a:t>
            </a:r>
            <a:r>
              <a:rPr i="1"/>
              <a:t>Instructor Note</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www.menti.com/al367833ss3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3.xml" /><Relationship Id="rId3"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7.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github.com"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22/01/2026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3"/>
              </a:rPr>
              <a:t>Quarto Survey</a:t>
            </a:r>
          </a:p>
          <a:p>
            <a:pPr lvl="0" indent="0" marL="0">
              <a:buNone/>
            </a:pPr>
            <a:r>
              <a:rPr/>
              <a:t>From SvG: Add link from particify https://ars.particify.de/login instead - menti has a limit on how many people can participate - we should make an account with our OSC email address and add QR code - in class people may not be able to click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b="1"/>
              <a:t>Quarto</a:t>
            </a:r>
            <a:r>
              <a:rPr/>
              <a:t> makes it easy to analyze, share and reproduce.</a:t>
            </a:r>
          </a:p>
          <a:p>
            <a:pPr lvl="0" indent="0" marL="0">
              <a:buNone/>
            </a:pPr>
            <a:r>
              <a:rPr/>
              <a:t>From SvG: Maybe add here analyse and reproduce what..? And also - for this slide - do you think this overlaps with the key terms and definitions slide below?</a:t>
            </a:r>
          </a:p>
          <a:p>
            <a:pPr lvl="0" indent="0" marL="0">
              <a:buNone/>
            </a:pPr>
            <a:r>
              <a:rPr/>
              <a:t>It’s a powerful tool for producing transparent, reproducible, and accessible work that can be freely shared, viewed, and reused by others.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You will learn how to </a:t>
            </a:r>
            <a:r>
              <a:rPr b="1"/>
              <a:t>create</a:t>
            </a:r>
            <a:r>
              <a:rPr/>
              <a:t>, </a:t>
            </a:r>
            <a:r>
              <a:rPr b="1"/>
              <a:t>edit</a:t>
            </a:r>
            <a:r>
              <a:rPr/>
              <a:t>, and </a:t>
            </a:r>
            <a:r>
              <a:rPr b="1"/>
              <a:t>render</a:t>
            </a:r>
            <a:r>
              <a:rPr/>
              <a:t> Quarto documents</a:t>
            </a:r>
          </a:p>
          <a:p>
            <a:pPr lvl="0"/>
            <a:r>
              <a:rPr/>
              <a:t>You will understand how to </a:t>
            </a:r>
            <a:r>
              <a:rPr b="1"/>
              <a:t>use</a:t>
            </a:r>
            <a:r>
              <a:rPr/>
              <a:t> key Quarto features (code chunks, YAML headers, citations, and output formatting)</a:t>
            </a:r>
          </a:p>
          <a:p>
            <a:pPr lvl="0"/>
            <a:r>
              <a:rPr/>
              <a:t>You will gain confidence in </a:t>
            </a:r>
            <a:r>
              <a:rPr b="1"/>
              <a:t>preparing</a:t>
            </a:r>
            <a:r>
              <a:rPr/>
              <a:t> and </a:t>
            </a:r>
            <a:r>
              <a:rPr b="1"/>
              <a:t>teaching</a:t>
            </a:r>
            <a:r>
              <a:rPr/>
              <a:t> Quarto effectively to students</a:t>
            </a:r>
          </a:p>
          <a:p>
            <a:pPr lvl="0" indent="0" marL="0">
              <a:buNone/>
            </a:pPr>
            <a:r>
              <a:rPr/>
              <a:t>From SvG: Unsure about the last learning goal - remember that these are ready-to-use materials for the classroom, so the last learning goal is not really relevant for students? What else are you trying to get across in this slide 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a:t>From SvG: Did you want to add a hyperlink to their website here?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(II)</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(III)</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(IV)</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(V)</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this markdown text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in </a:t>
            </a:r>
            <a:r>
              <a:rPr b="1"/>
              <a:t>two separate code chunks</a:t>
            </a:r>
          </a:p>
          <a:p>
            <a:pPr lvl="0"/>
            <a:r>
              <a:rPr/>
              <a:t>☐ Render the output and see what you get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(III)</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(IV)</a:t>
            </a:r>
          </a:p>
          <a:p>
            <a:pPr lvl="0" indent="0" marL="0">
              <a:buNone/>
            </a:pPr>
            <a:r>
              <a:rPr/>
              <a:t>Let’s edit the YAML header to make the code chunks </a:t>
            </a:r>
            <a:r>
              <a:rPr b="1"/>
              <a:t>collapsible</a:t>
            </a:r>
            <a:r>
              <a:rPr/>
              <a:t> and add </a:t>
            </a:r>
            <a:r>
              <a:rPr b="1"/>
              <a:t>code tools</a:t>
            </a:r>
            <a:r>
              <a:rPr/>
              <a:t>.</a:t>
            </a:r>
          </a:p>
          <a:p>
            <a:pPr lvl="0" indent="0" marL="0">
              <a:buNone/>
            </a:pPr>
            <a:r>
              <a:rPr b="1"/>
              <a:t>Practical exercise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a:p>
            <a:pPr lvl="0" indent="0" marL="0">
              <a:buNone/>
            </a:pPr>
            <a:r>
              <a:rPr b="1"/>
              <a:t>How to create a code chunk in a Quarto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3"/>
              </a:rPr>
              <a:t>Quarto Website</a:t>
            </a:r>
          </a:p>
          <a:p>
            <a:pPr lvl="0"/>
            <a:r>
              <a:rPr/>
              <a:t>[Reveal.js Documentation] (https://revealjs.com/) → </a:t>
            </a:r>
            <a:r>
              <a:rPr>
                <a:hlinkClick r:id="rId4"/>
              </a:rPr>
              <a:t>Reveal.js Documentation</a:t>
            </a:r>
          </a:p>
          <a:p>
            <a:pPr lvl="0" indent="0" marL="0">
              <a:buNone/>
            </a:pPr>
            <a:r>
              <a:rPr/>
              <a:t>link without title: &lt; https:// link &gt;</a:t>
            </a:r>
          </a:p>
          <a:p>
            <a:pPr lvl="0"/>
            <a:r>
              <a:rPr/>
              <a:t>&lt; https://www.markdownguide.org/ &gt; → </a:t>
            </a:r>
            <a:r>
              <a:rPr>
                <a:hlinkClick r:id="rId5"/>
              </a:rPr>
              <a:t>https://www.markdownguide.org/</a:t>
            </a:r>
          </a:p>
          <a:p>
            <a:pPr lvl="0"/>
            <a:r>
              <a:rPr/>
              <a:t>&lt; https://github.com/ &gt;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a:t>
            </a:r>
          </a:p>
          <a:p>
            <a:pPr lvl="0"/>
            <a:r>
              <a:rPr/>
              <a:t>With caption: ! [ caption ] ( path/image.png )</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(III)</a:t>
            </a:r>
          </a:p>
          <a:p>
            <a:pPr lvl="0"/>
            <a:r>
              <a:rPr/>
              <a:t>with link: [ ! [ caption ] ( path/image.png ) ] ( link )</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 (IV)</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Practical exercise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Begin the first column with “</a:t>
            </a:r>
            <a:r>
              <a:rPr>
                <a:latin typeface="Courier"/>
              </a:rPr>
              <a:t>::: column</a:t>
            </a:r>
            <a:r>
              <a:rPr/>
              <a:t>”</a:t>
            </a:r>
          </a:p>
          <a:p>
            <a:pPr lvl="0"/>
            <a:r>
              <a:rPr/>
              <a:t>Add content and end it with “</a:t>
            </a:r>
            <a:r>
              <a:rPr>
                <a:latin typeface="Courier"/>
              </a:rPr>
              <a:t>:::</a:t>
            </a:r>
            <a:r>
              <a:rPr/>
              <a:t>”</a:t>
            </a:r>
          </a:p>
          <a:p>
            <a:pPr lvl="0"/>
            <a:r>
              <a:rPr/>
              <a:t>Begin second coloumn with “</a:t>
            </a:r>
            <a:r>
              <a:rPr>
                <a:latin typeface="Courier"/>
              </a:rPr>
              <a:t>::: column</a:t>
            </a:r>
            <a:r>
              <a:rPr/>
              <a:t>”</a:t>
            </a:r>
          </a:p>
          <a:p>
            <a:pPr lvl="0"/>
            <a:r>
              <a:rPr/>
              <a:t>Add content and end it with “</a:t>
            </a:r>
            <a:r>
              <a:rPr>
                <a:latin typeface="Courier"/>
              </a:rPr>
              <a:t>:::</a:t>
            </a:r>
            <a:r>
              <a:rPr/>
              <a:t>”</a:t>
            </a:r>
          </a:p>
          <a:p>
            <a:pPr lvl="0"/>
            <a:r>
              <a:rPr/>
              <a:t>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image and bullet points with columns</a:t>
            </a:r>
          </a:p>
          <a:p>
            <a:pPr lvl="0" indent="0" marL="0">
              <a:buNone/>
            </a:pPr>
            <a:r>
              <a:rPr/>
              <a:t>Let’s use columns to add bullet points next to an image.</a:t>
            </a:r>
          </a:p>
          <a:p>
            <a:pPr lvl="0" indent="0" marL="0">
              <a:buNone/>
            </a:pPr>
            <a:r>
              <a:rPr b="1"/>
              <a:t>Practical exercise 8</a:t>
            </a:r>
          </a:p>
          <a:p>
            <a:pPr lvl="0"/>
            <a:r>
              <a:rPr/>
              <a:t>☐ Click this link to download the image</a:t>
            </a:r>
          </a:p>
          <a:p>
            <a:pPr lvl="0"/>
            <a:r>
              <a:rPr/>
              <a:t>☐ Save the image to the main folder of the Quarto document files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3"/>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Practical exercise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10</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Practical exercise 11</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12</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changing the citation style</a:t>
            </a:r>
            <a:r>
              <a:rPr sz="2000"/>
              <a:t> 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(III)</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(IV)</a:t>
            </a:r>
          </a:p>
          <a:p>
            <a:pPr lvl="0" indent="0" marL="0">
              <a:buNone/>
            </a:pPr>
            <a:r>
              <a:rPr b="1"/>
              <a:t>Practical exercise 13</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a:t>
            </a:r>
          </a:p>
          <a:p>
            <a:pPr lvl="0" indent="0" marL="0">
              <a:buNone/>
            </a:pPr>
            <a:r>
              <a:rPr b="1"/>
              <a:t>Practical exercise 14</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Practical exercise 14</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a:t>
            </a:r>
          </a:p>
          <a:p>
            <a:pPr lvl="0" indent="0" marL="0">
              <a:buNone/>
            </a:pPr>
            <a:r>
              <a:rPr b="1"/>
              <a:t>Practical exercise 15</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(VII)</a:t>
            </a:r>
          </a:p>
          <a:p>
            <a:pPr lvl="0"/>
            <a:r>
              <a:rPr/>
              <a:t>☐ In your repo on </a:t>
            </a:r>
            <a:r>
              <a:rPr>
                <a:hlinkClick r:id="rId2"/>
              </a:rPr>
              <a:t>GitHub</a:t>
            </a:r>
            <a:r>
              <a:rPr/>
              <a:t>, go to Settings</a:t>
            </a:r>
          </a:p>
          <a:p>
            <a:pPr lvl="0"/>
            <a:r>
              <a:rPr/>
              <a:t>☐ Click “Pages”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a:t>From SvG: Would this differ from the take home messages?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b="1"/>
              <a:t>What is your level of familiarity with Quarto before this lesson?</a:t>
            </a:r>
            <a:r>
              <a:rPr/>
              <a:t> a) I’ve never used it b) I’ve heard of it but never tried it c) I’ve experimented a little d) I use it occasionally e) I use it frequently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r>
              <a:rPr/>
              <a:t> a) A programming language b) A publishing system for reproducible documents ✅ c) A code editor d) A type of version control system</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r>
              <a:rPr/>
              <a:t> a) Only YAML b) Only Markdown c) Neither d) YAML and Markdown together ✅</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r>
              <a:rPr/>
              <a:t> a) Source mode b) Visual mode c) Both ✅ d) Neither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a:p>
            <a:pPr lvl="0" indent="0" marL="0">
              <a:buNone/>
            </a:pPr>
            <a:r>
              <a:rPr b="1"/>
              <a:t>Which of these are examples of Markdown text formatting? (Select all that apply)</a:t>
            </a:r>
            <a:r>
              <a:rPr/>
              <a:t> a) Bold text ✅ b) Italic text ✅ c) Adding code chunks d) Adding hyperlinks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r>
              <a:rPr/>
              <a:t> a) For aesthetics only b) To improve clarity and emphasis ✅ c) To make the file larger d) To change the coding language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r>
              <a:rPr/>
              <a:t> a) To shorten the document b) To make information more visually organized ✅ c) To add footnotes only d) To increase file size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r>
              <a:rPr/>
              <a:t> a) To include executable code and results within the document ✅ b) To store references c) To format text d) To hide metadata</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r>
              <a:rPr/>
              <a:t> a) echo: true ✅ b) code-fold: false ✅ c) title: “My Document” d) format: html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r>
              <a:rPr/>
              <a:t> a) GitHub Pages ✅ b) Quarto Pub ✅ c) Social media platforms d) Personal websites ✅</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a:p>
            <a:pPr lvl="0" indent="0" marL="0">
              <a:buNone/>
            </a:pPr>
            <a:r>
              <a:rPr/>
              <a:t>From SvG: Add references here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a:p>
            <a:pPr lvl="0" indent="0" marL="0">
              <a:buNone/>
            </a:pPr>
            <a:r>
              <a:rPr/>
              <a:t>From SvG: Still to do right?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2026-01-22T15:24:01Z</dcterms:created>
  <dcterms:modified xsi:type="dcterms:W3CDTF">2026-01-22T15:24:01Z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