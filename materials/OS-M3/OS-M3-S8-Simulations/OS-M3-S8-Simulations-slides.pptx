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notesMaster" Target="notesMasters/notesMaster1.xml" /><Relationship Id="rId46" Type="http://schemas.openxmlformats.org/officeDocument/2006/relationships/viewProps" Target="viewProps.xml" /><Relationship Id="rId45" Type="http://schemas.openxmlformats.org/officeDocument/2006/relationships/presProps" Target="presProps.xml" /><Relationship Id="rId1" Type="http://schemas.openxmlformats.org/officeDocument/2006/relationships/slideMaster" Target="slideMasters/slideMaster1.xml" /><Relationship Id="rId48" Type="http://schemas.openxmlformats.org/officeDocument/2006/relationships/tableStyles" Target="tableStyles.xml" /><Relationship Id="rId4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b="1"/>
              <a:t>Instructor Notes</a:t>
            </a:r>
            <a:r>
              <a:rPr/>
              <a:t>:</a:t>
            </a:r>
          </a:p>
          <a:p>
            <a:pPr lvl="0" indent="0" marL="0">
              <a:buNone/>
            </a:pPr>
          </a:p>
          <a:p>
            <a:pPr lvl="0"/>
            <a:r>
              <a:rPr b="1"/>
              <a:t>Aim</a:t>
            </a:r>
            <a:r>
              <a:rPr/>
              <a:t>: The pre-submodule survey serves to examine learners’ prior knowledge about simulations and power analysis, and familiarity with R.</a:t>
            </a:r>
          </a:p>
          <a:p>
            <a:pPr lvl="0" indent="0" marL="0">
              <a:buNone/>
            </a:pPr>
          </a:p>
          <a:p>
            <a:pPr lvl="0"/>
            <a:r>
              <a:rPr/>
              <a:t>Set a low-stakes, supportive tone before beginning the survey. Emphasise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this part of the session. At this stage, you’re not expected to fully understand or master all of these points. Think of them as a roadmap rather than a checklist; they show where we’re headed, not what you already need to know. As we move through the session, we’ll revisit these goals in smaller sections. You can use these goals to keep track of your learning, notice what feels clear, and identify areas where you might want to ask questions later.</a:t>
            </a:r>
          </a:p>
          <a:p>
            <a:pPr lvl="0" indent="0" marL="0">
              <a:buNone/>
            </a:pPr>
          </a:p>
          <a:p>
            <a:pPr lvl="0" indent="0" marL="0">
              <a:buNone/>
            </a:pPr>
            <a:r>
              <a:rPr/>
              <a:t>As our first learning goal,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goal is then to practice simulations by performing the simulation process using a fictional experiment. This will help demonstrate each step in a more tangible way.</a:t>
            </a:r>
          </a:p>
          <a:p>
            <a:pPr lvl="0" indent="0" marL="0">
              <a:buNone/>
            </a:pPr>
          </a:p>
          <a:p>
            <a:pPr lvl="0" indent="0" marL="0">
              <a:buNone/>
            </a:pPr>
            <a:r>
              <a:rPr/>
              <a:t>Our next learning goals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goals will be revisited throughout the session for reflection and self-assessment. Avoid explaining each goal in detail here; instead, frame them as guiding anchors that will be unpacked gradually through activities and tutorials.</a:t>
            </a:r>
          </a:p>
          <a:p>
            <a:pPr lvl="0" indent="0" marL="0">
              <a:buNone/>
            </a:pPr>
          </a:p>
          <a:p>
            <a:pPr lvl="0" indent="0" marL="0">
              <a:buNone/>
            </a:pPr>
            <a:r>
              <a:rPr b="1"/>
              <a:t>Accessibility Tip:</a:t>
            </a:r>
            <a:r>
              <a:rPr/>
              <a:t> Read the learning goals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goal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goal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goal.</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goal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goals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submodule. Please answer honestly based on how confident you feel now.</a:t>
            </a:r>
          </a:p>
          <a:p>
            <a:pPr lvl="0" indent="0" marL="0">
              <a:buNone/>
            </a:pPr>
          </a:p>
          <a:p>
            <a:pPr lvl="0" indent="0" marL="0">
              <a:buNone/>
            </a:pPr>
            <a:r>
              <a:rPr b="1"/>
              <a:t>Instructor Notes</a:t>
            </a:r>
            <a:r>
              <a:rPr/>
              <a:t>: The purpose is to compare pre- and post-submodule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goal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Emphasise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www.osc.uni-muenchen.de/about_us/coordinator/index.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9-0000-0305-9751" TargetMode="External" /><Relationship Id="rId4" Type="http://schemas.openxmlformats.org/officeDocument/2006/relationships/hyperlink" Target="https://orcid.org/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www.psychologie.hhu.de/arbeitsgruppen/allgemeine-psychologie-und-arbeitspsychologie/gpower"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a:t>
            </a:r>
          </a:p>
        </p:txBody>
      </p:sp>
      <p:sp>
        <p:nvSpPr>
          <p:cNvPr id="4" name="Date Placeholder 3"/>
          <p:cNvSpPr>
            <a:spLocks noGrp="1"/>
          </p:cNvSpPr>
          <p:nvPr>
            <p:ph idx="10" sz="half" type="dt"/>
          </p:nvPr>
        </p:nvSpPr>
        <p:spPr/>
        <p:txBody>
          <a:bodyPr/>
          <a:lstStyle/>
          <a:p>
            <a:pPr lvl="0" indent="0" marL="0">
              <a:buNone/>
            </a:pPr>
            <a:r>
              <a:rPr/>
              <a:t>22/06/2026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Sarah von Grebmer zu Wolfsthurn and Malika Ihle is licensed under a CC-BY-SA 4.0 </a:t>
            </a:r>
            <a:r>
              <a:rPr>
                <a:hlinkClick r:id="rId8"/>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Sharma, Tejaswini (</a:t>
            </a:r>
            <a:r>
              <a:rPr>
                <a:hlinkClick r:id="rId3"/>
              </a:rPr>
              <a:t>0009-0000-0305-9751</a:t>
            </a:r>
            <a:r>
              <a:rPr/>
              <a:t>)</a:t>
            </a:r>
          </a:p>
          <a:p>
            <a:pPr lvl="0" indent="0" marL="0">
              <a:buNone/>
            </a:pPr>
            <a:r>
              <a:rPr b="1"/>
              <a:t>Reviewer</a:t>
            </a:r>
            <a:r>
              <a:rPr/>
              <a:t>: Von Grebmer zu Wolfsthurn, Sarah (</a:t>
            </a:r>
            <a:r>
              <a:rPr>
                <a:hlinkClick r:id="rId4"/>
              </a:rPr>
              <a:t>0000-0002-6413-3895</a:t>
            </a:r>
            <a:r>
              <a:rPr/>
              <a:t>)</a:t>
            </a:r>
          </a:p>
          <a:p>
            <a:pPr lvl="0" indent="0" marL="0">
              <a:buNone/>
            </a:pPr>
            <a:r>
              <a:rPr b="1"/>
              <a:t>Consultant</a:t>
            </a:r>
            <a:r>
              <a:rPr/>
              <a:t>: Ihle, Malika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buNone/>
            </a:pPr>
          </a:p>
          <a:p>
            <a:pPr lvl="0" indent="0" marL="0">
              <a:buNone/>
            </a:pPr>
            <a:r>
              <a:rPr b="1"/>
              <a:t>Let us find out where are you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are simulations?</a:t>
            </a:r>
          </a:p>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0" marL="0">
              <a:buNone/>
            </a:pPr>
            <a:r>
              <a:rPr/>
              <a:t> </a:t>
            </a:r>
          </a:p>
          <a:p>
            <a:pPr lvl="0" indent="0" marL="0">
              <a:buNone/>
            </a:pPr>
            <a:r>
              <a:rPr b="1"/>
              <a:t>What ideas have you come up with during the previous activity?</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are simulations used in research?</a:t>
            </a:r>
          </a:p>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power analysis?</a:t>
            </a:r>
          </a:p>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0" marL="0">
              <a:buNone/>
            </a:pPr>
            <a:r>
              <a:rPr/>
              <a:t> </a:t>
            </a:r>
          </a:p>
          <a:p>
            <a:pPr lvl="0" indent="0" marL="0">
              <a:buNone/>
            </a:pPr>
            <a:r>
              <a:rPr b="1"/>
              <a:t>What ideas have you come up with during the previous activity?</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power analysis used in research?</a:t>
            </a:r>
          </a:p>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Performing a power analysis</a:t>
            </a:r>
          </a:p>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simulation process</a:t>
            </a:r>
          </a:p>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 Check-in</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to you?</a:t>
            </a:r>
          </a:p>
          <a:p>
            <a:pPr lvl="0" indent="0" marL="0">
              <a:buNone/>
            </a:pPr>
          </a:p>
          <a:p>
            <a:pPr lvl="0" indent="0" marL="0">
              <a:buNone/>
            </a:pPr>
            <a:r>
              <a:rPr/>
              <a:t>Can you imagine using simulations for </a:t>
            </a:r>
            <a:r>
              <a:rPr b="1"/>
              <a:t>your</a:t>
            </a:r>
            <a:r>
              <a:rPr/>
              <a:t> work/projects/studies?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 </a:t>
            </a:r>
            <a:r>
              <a:rPr>
                <a:hlinkClick r:id="rId5"/>
              </a:rPr>
              <a:t>https://doi.org/10.2307/3802582</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 - UNINISHED</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dc:creator>
  <cp:keywords/>
  <dcterms:created xsi:type="dcterms:W3CDTF">2026-06-22T00:14:46Z</dcterms:created>
  <dcterms:modified xsi:type="dcterms:W3CDTF">2026-06-22T00:14:46Z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22/06/2026</vt:lpwstr>
  </property>
  <property fmtid="{D5CDD505-2E9C-101B-9397-08002B2CF9AE}" pid="8" name="date-format">
    <vt:lpwstr>DD/MM/YYYY</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toc-title">
    <vt:lpwstr>Table of contents</vt:lpwstr>
  </property>
</Properties>
</file>