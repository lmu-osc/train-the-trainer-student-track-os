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5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notesMaster" Target="notesMasters/notesMaster1.xml" /><Relationship Id="rId54" Type="http://schemas.openxmlformats.org/officeDocument/2006/relationships/viewProps" Target="viewProps.xml" /><Relationship Id="rId53" Type="http://schemas.openxmlformats.org/officeDocument/2006/relationships/presProps" Target="presProps.xml" /><Relationship Id="rId1" Type="http://schemas.openxmlformats.org/officeDocument/2006/relationships/slideMaster" Target="slideMasters/slideMaster1.xml" /><Relationship Id="rId56" Type="http://schemas.openxmlformats.org/officeDocument/2006/relationships/tableStyles" Target="tableStyles.xml" /><Relationship Id="rId55"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These are the </a:t>
            </a:r>
            <a:r>
              <a:rPr b="1"/>
              <a:t>speaker notes</a:t>
            </a:r>
            <a:r>
              <a:rPr/>
              <a:t>. You will a script for the presenter for every slide. In presentation mode, your audience will not be able to see these speaker notes, they are only visible to the presenter.</a:t>
            </a:r>
          </a:p>
          <a:p>
            <a:pPr lvl="0" indent="0" marL="0">
              <a:buNone/>
            </a:pPr>
          </a:p>
          <a:p>
            <a:pPr lvl="0" indent="0" marL="0">
              <a:buNone/>
            </a:pPr>
            <a:r>
              <a:rPr b="1"/>
              <a:t>Instructor Notes</a:t>
            </a:r>
            <a:r>
              <a:rPr/>
              <a:t>: There are also </a:t>
            </a:r>
            <a:r>
              <a:rPr b="1"/>
              <a:t>instructor notes</a:t>
            </a:r>
            <a:r>
              <a:rPr/>
              <a:t>. For some slides, there will be pedagogical tips, suggestons for acitivities and troubleshooting tips for issues your audience might run into. You can find these notes underneath the speaker notes.</a:t>
            </a:r>
          </a:p>
          <a:p>
            <a:pPr lvl="0" indent="0" marL="0">
              <a:buNone/>
            </a:pPr>
          </a:p>
          <a:p>
            <a:pPr lvl="0" indent="0" marL="0">
              <a:buNone/>
            </a:pPr>
            <a:r>
              <a:rPr b="1"/>
              <a:t>Acessibility Tips</a:t>
            </a:r>
            <a:r>
              <a:rPr/>
              <a:t>: Where applicable, this is a space to add any tips you may have to facilitate the accessibility of your slides and activities.</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These are the prerequisites for this submodule. Before you get started on this submodule with your audience, you need to ensure that the audience fulfills these criteria. Outline any essential prerequisites (software, tools, other submodules etc.) here in table format. If you prefer bullet points to list the prerequisites, delete the table and use bullet points instead.</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This first slide is dedicated to clarifying questions from the previous submodule and/or to discuss assignments. - Additional slides may need to be added depending on the nature of the homework assignments. - Critical for the learning process to ensure that students are on the same page and have been able to achieve the learning goals of the previous workshop. - Not applicable if this set of slides corresponds to the first submodule of a new module.</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The pre-submodule survey serves to examine students’ prior knowledge about the submodule’s topic. - Use free survey software such as particify or formR to establish the following questions (shown on separate slides).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Briefly examine the answers given to each question interactively with the group. - Use visuals from the survey to highlight specific answers.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Place the topic of the current submodule within a broader context. - Remind students what you are working towards and what the bigger picture is.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Formulate specific, action-oriented goals learning goals which are measurable and observable in line with Bloom’s taxonomy (Anderson et al., 2001; Bloom et al., 1956) - Place an emphasis on the </a:t>
            </a:r>
            <a:r>
              <a:rPr b="1"/>
              <a:t>verbs</a:t>
            </a:r>
            <a:r>
              <a:rPr/>
              <a:t> of the learning goals and choose verbs that align with the skills you want to develop or assess. - Examples: - Students will </a:t>
            </a:r>
            <a:r>
              <a:rPr b="1"/>
              <a:t>describe</a:t>
            </a:r>
            <a:r>
              <a:rPr/>
              <a:t> the process of photosynthesis or - Students will </a:t>
            </a:r>
            <a:r>
              <a:rPr b="1"/>
              <a:t>construct</a:t>
            </a:r>
            <a:r>
              <a:rPr/>
              <a:t> a diagram illustrating the process of photosynthesis</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slide here. </a:t>
            </a:r>
            <a:r>
              <a:rPr b="1"/>
              <a:t>Instructor Notes</a:t>
            </a:r>
            <a:r>
              <a:rPr/>
              <a:t>: Base yourself on conceptual change theory and examine existing concepts in relation to some key terms. Re-examine the formation of new concepts at the end of the lesson.</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Add script for the slide here. </a:t>
            </a:r>
            <a:r>
              <a:rPr b="1"/>
              <a:t>Instructor Notes</a:t>
            </a:r>
            <a:r>
              <a:rPr/>
              <a:t>:  - </a:t>
            </a:r>
            <a:r>
              <a:rPr b="1"/>
              <a:t>Aim</a:t>
            </a:r>
            <a:r>
              <a:rPr/>
              <a:t>: Core theoretical introduction of submodule topic. - For a 90-minute lesson, the instructor should try to “lecture” for only 20 minutes, students should work in groups/pairs/on their own for at least 55 minutes of the lesson (+ a 15 minute break). - Pair theoretical aspects with practical exercises and group discussions according to the Think-Pair-Share style and according to Cognitive Load Theory (Sweller, 1980). - Use multiple slides for this part.</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Design more practical exercises for students to apply the new skills in practice. - Depending on the topic, the exercises should be in accordance with the learning objective(s). - Add a description of the task, as well as a checklist as an overview of that your students need to be doing.</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This pre-break survey serves to examine students’ current understanding of key concepts of the submodule - Use free survey software such as particify or formR to establish the following questions (shown on separate slides)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To clarify concepts and aspects that are not yet understood - Highlight specific answers given during the survey</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Design more practical exercises for students to apply the new skills in practice. - Depending on the topic, the exercises should be in accordance with the learning objective(s). - Add a description of the task, as well as a checklist as an overview of that your students need to be doing.</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To work out the relevance of the topic to your students. - In an interactive setting, discuss how the new skills could be applied in practise with specific examples. - Examine downfalls and practical obstacles.</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presentation here. </a:t>
            </a:r>
            <a:r>
              <a:rPr b="1"/>
              <a:t>Instructor Notes</a:t>
            </a:r>
            <a:r>
              <a:rPr/>
              <a:t>:  - </a:t>
            </a:r>
            <a:r>
              <a:rPr b="1"/>
              <a:t>Aim</a:t>
            </a:r>
            <a:r>
              <a:rPr/>
              <a:t>: Explain the homework assignment and the rationale behind the homework. - Examine whether/how it will be assessed - Mention scoring rubrics, if applicable - Design a peer-review system for assignments to place students in role of reviewer and author</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End lesson on clear take-home message that are interactively compiled by students.</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 </a:t>
            </a:r>
            <a:r>
              <a:rPr b="1"/>
              <a:t>Aim</a:t>
            </a:r>
            <a:r>
              <a:rPr/>
              <a:t>: This post-submodule survey serves to examine students’ current knowledge about the sumodule’s topic. - Use free survey software such as particify or formR to establish the following questions (shown on separate slides) - Use identical questions as in the pre-submodule survey to be able to directly compare</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Instructer Notes</a:t>
            </a:r>
            <a:r>
              <a:rPr/>
              <a:t>:  - </a:t>
            </a:r>
            <a:r>
              <a:rPr b="1"/>
              <a:t>Aim</a:t>
            </a:r>
            <a:r>
              <a:rPr/>
              <a:t>: Briefly examine the answers given to each question interactively with the group. - Compare and highlight specific differences in answers between pre- and post-survey answers</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Speaker Notes</a:t>
            </a:r>
            <a:r>
              <a:rPr/>
              <a:t>: Script for the slide here. </a:t>
            </a:r>
            <a:r>
              <a:rPr b="1"/>
              <a:t>Instructor Notes</a:t>
            </a:r>
            <a:r>
              <a:rPr/>
              <a:t>: Highlight particularly relevant reading for your students in bold.</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hyperlink" Target="https://creativecommons.org/licenses/by/4.0/deed.en"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2.xml" /><Relationship Id="rId3" Type="http://schemas.openxmlformats.org/officeDocument/2006/relationships/hyperlink" Target="https://quarto.org"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quarto.org/docs/" TargetMode="External" /><Relationship Id="rId3" Type="http://schemas.openxmlformats.org/officeDocument/2006/relationships/hyperlink" Target="https://revealjs.com/" TargetMode="External" /><Relationship Id="rId4" Type="http://schemas.openxmlformats.org/officeDocument/2006/relationships/hyperlink" Target="https://www.markdownguide.org/" TargetMode="External" /><Relationship Id="rId5" Type="http://schemas.openxmlformats.org/officeDocument/2006/relationships/hyperlink" Target="https://github.com/" TargetMode="Externa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reativecommons.org/licenses/by/4.0/" TargetMode="Externa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Master Template Slides: Title of submodule</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LMU Open Science Center</a:t>
            </a:r>
          </a:p>
        </p:txBody>
      </p:sp>
      <p:sp>
        <p:nvSpPr>
          <p:cNvPr id="4" name="Date Placeholder 3"/>
          <p:cNvSpPr>
            <a:spLocks noGrp="1"/>
          </p:cNvSpPr>
          <p:nvPr>
            <p:ph idx="10" sz="half" type="dt"/>
          </p:nvPr>
        </p:nvSpPr>
        <p:spPr/>
        <p:txBody>
          <a:bodyPr/>
          <a:lstStyle/>
          <a:p>
            <a:pPr lvl="0" indent="0" marL="0">
              <a:buNone/>
            </a:pPr>
            <a:r>
              <a:rPr/>
              <a:t>28/01/2026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Contribution statement and licence</a:t>
            </a:r>
          </a:p>
          <a:p>
            <a:pPr lvl="0" indent="0" marL="0">
              <a:buNone/>
            </a:pPr>
          </a:p>
          <a:p>
            <a:pPr lvl="0" indent="0" marL="0">
              <a:buNone/>
            </a:pPr>
            <a:r>
              <a:rPr b="1"/>
              <a:t>Creator</a:t>
            </a:r>
            <a:r>
              <a:rPr/>
              <a:t>: Name, first name orcid</a:t>
            </a:r>
          </a:p>
          <a:p>
            <a:pPr lvl="0" indent="0" marL="0">
              <a:buNone/>
            </a:pPr>
            <a:r>
              <a:rPr b="1"/>
              <a:t>Reviewer</a:t>
            </a:r>
            <a:r>
              <a:rPr/>
              <a:t>: Name, first name orcid</a:t>
            </a:r>
          </a:p>
          <a:p>
            <a:pPr lvl="0" indent="0" marL="0">
              <a:buNone/>
            </a:pPr>
            <a:r>
              <a:rPr b="1"/>
              <a:t>Acknowledgments</a:t>
            </a:r>
            <a:r>
              <a:rPr/>
              <a:t>: Name, first name orcid</a:t>
            </a:r>
          </a:p>
          <a:p>
            <a:pPr lvl="0" indent="0" marL="0">
              <a:buNone/>
            </a:pPr>
            <a:r>
              <a:rPr/>
              <a:t> </a:t>
            </a:r>
          </a:p>
          <a:p>
            <a:pPr lvl="0" indent="0" marL="0">
              <a:buNone/>
            </a:pPr>
            <a:r>
              <a:rPr/>
              <a:t>This work by XXXX XXXX, Sara Lil Middleton and Sarah von Grebmer zu Wolfsthurn is licensed under a CC-BY 4.0 </a:t>
            </a:r>
            <a:r>
              <a:rPr>
                <a:hlinkClick r:id="rId3"/>
              </a:rPr>
              <a:t>Creative Commons Attribution 4.0 International License</a:t>
            </a:r>
            <a:r>
              <a:rPr/>
              <a: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Prerequisites</a:t>
            </a:r>
          </a:p>
          <a:p>
            <a:pPr lvl="0" indent="0" marL="1270000">
              <a:buNone/>
            </a:pPr>
            <a:r>
              <a:rPr sz="2000" b="1"/>
              <a:t>Important</a:t>
            </a:r>
          </a:p>
          <a:p>
            <a:pPr lvl="0" indent="0" marL="1270000">
              <a:buNone/>
            </a:pPr>
            <a:r>
              <a:rPr sz="2000"/>
              <a:t>Before completing this submodule, please carefully read about the prerequisites.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Prerequisite</a:t>
                      </a:r>
                    </a:p>
                  </a:txBody>
                  <a:tcPr/>
                </a:tc>
                <a:tc>
                  <a:txBody>
                    <a:bodyPr/>
                    <a:lstStyle/>
                    <a:p>
                      <a:pPr lvl="0" indent="0" marL="0">
                        <a:buNone/>
                      </a:pPr>
                      <a:r>
                        <a:rPr/>
                        <a:t>Description</a:t>
                      </a:r>
                    </a:p>
                  </a:txBody>
                  <a:tcPr/>
                </a:tc>
                <a:tc>
                  <a:txBody>
                    <a:bodyPr/>
                    <a:lstStyle/>
                    <a:p>
                      <a:pPr lvl="0" indent="0" marL="0">
                        <a:buNone/>
                      </a:pPr>
                      <a:r>
                        <a:rPr/>
                        <a:t>Link/Where to find it</a:t>
                      </a:r>
                    </a:p>
                  </a:txBody>
                  <a:tcPr/>
                </a:tc>
              </a:tr>
              <a:tr h="0">
                <a:tc>
                  <a:txBody>
                    <a:bodyPr/>
                    <a:lstStyle/>
                    <a:p>
                      <a:pPr lvl="0" indent="0" marL="0">
                        <a:buNone/>
                      </a:pPr>
                      <a:r>
                        <a:rPr/>
                        <a:t>Topic Name</a:t>
                      </a:r>
                    </a:p>
                  </a:txBody>
                </a:tc>
                <a:tc>
                  <a:txBody>
                    <a:bodyPr/>
                    <a:lstStyle/>
                    <a:p>
                      <a:pPr lvl="0" indent="0" marL="0">
                        <a:buNone/>
                      </a:pPr>
                      <a:r>
                        <a:rPr/>
                        <a:t>Basic intro to X</a:t>
                      </a:r>
                    </a:p>
                  </a:txBody>
                </a:tc>
                <a:tc>
                  <a:txBody>
                    <a:bodyPr/>
                    <a:lstStyle/>
                    <a:p>
                      <a:pPr lvl="0" indent="0" marL="0">
                        <a:buNone/>
                      </a:pPr>
                      <a:r>
                        <a:rPr/>
                        <a:t>Module + Submodule</a:t>
                      </a:r>
                    </a:p>
                  </a:txBody>
                </a:tc>
              </a:tr>
              <a:tr h="0">
                <a:tc>
                  <a:txBody>
                    <a:bodyPr/>
                    <a:lstStyle/>
                    <a:p>
                      <a:pPr lvl="0" indent="0" marL="0">
                        <a:buNone/>
                      </a:pPr>
                      <a:r>
                        <a:rPr/>
                        <a:t>Software Name</a:t>
                      </a:r>
                    </a:p>
                  </a:txBody>
                </a:tc>
                <a:tc>
                  <a:txBody>
                    <a:bodyPr/>
                    <a:lstStyle/>
                    <a:p>
                      <a:pPr lvl="0" indent="0" marL="0">
                        <a:buNone/>
                      </a:pPr>
                      <a:r>
                        <a:rPr/>
                        <a:t>Configuring the environment</a:t>
                      </a:r>
                    </a:p>
                  </a:txBody>
                </a:tc>
                <a:tc>
                  <a:txBody>
                    <a:bodyPr/>
                    <a:lstStyle/>
                    <a:p>
                      <a:pPr lvl="0" indent="0" marL="0">
                        <a:buNone/>
                      </a:pPr>
                      <a:r>
                        <a:rPr>
                          <a:hlinkClick r:id="rId3"/>
                        </a:rPr>
                        <a:t>Download Link</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Questions from previous submodule</a:t>
            </a:r>
          </a:p>
          <a:p>
            <a:pPr lvl="0"/>
            <a:r>
              <a:rPr b="1"/>
              <a:t>Aim</a:t>
            </a:r>
            <a:r>
              <a:rPr/>
              <a:t>: This first slide is dedicated to clarifying questions from the previous submodule and/or to discuss assignments.</a:t>
            </a:r>
          </a:p>
          <a:p>
            <a:pPr lvl="0"/>
            <a:r>
              <a:rPr/>
              <a:t>Additional slides may need to be added depending on the nature of the homework assignments.</a:t>
            </a:r>
          </a:p>
          <a:p>
            <a:pPr lvl="0"/>
            <a:r>
              <a:rPr/>
              <a:t>Critical for the learning process to ensure that students are on the same page and have been able to achieve the learning goals of the previous workshop.</a:t>
            </a:r>
          </a:p>
          <a:p>
            <a:pPr lvl="0"/>
            <a:r>
              <a:rPr/>
              <a:t>Not applicable if this set of slides corresponds to the first submodule of a new module.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Before we start: Survey time!</a:t>
            </a:r>
          </a:p>
          <a:p>
            <a:pPr lvl="0"/>
            <a:r>
              <a:rPr b="1"/>
              <a:t>Aim</a:t>
            </a:r>
            <a:r>
              <a:rPr/>
              <a:t>: The pre-submodule survey serves to examine students’ prior knowledge about the submodule’s topic.</a:t>
            </a:r>
          </a:p>
          <a:p>
            <a:pPr lvl="0"/>
            <a:r>
              <a:rPr/>
              <a:t>Use free survey software such as particify or formR to establish the following questions (shown on separate slides).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What is your level of familiarity with [Topic] (e.g., basic concepts, terminology, or tools)?</a:t>
            </a:r>
          </a:p>
          <a:p>
            <a:pPr lvl="0" indent="-342900" marL="342900">
              <a:buAutoNum type="alphaLcPeriod"/>
            </a:pPr>
            <a:r>
              <a:rPr/>
              <a:t>I have never heard of it before.</a:t>
            </a:r>
          </a:p>
          <a:p>
            <a:pPr lvl="0" indent="-342900" marL="342900">
              <a:buAutoNum type="alphaLcPeriod"/>
            </a:pPr>
            <a:r>
              <a:rPr/>
              <a:t>I have heard of it but have never worked with it.</a:t>
            </a:r>
          </a:p>
          <a:p>
            <a:pPr lvl="0" indent="-342900" marL="342900">
              <a:buAutoNum type="alphaLcPeriod"/>
            </a:pPr>
            <a:r>
              <a:rPr/>
              <a:t>I have basic understanding and experience with it.</a:t>
            </a:r>
          </a:p>
          <a:p>
            <a:pPr lvl="0" indent="-342900" marL="342900">
              <a:buAutoNum type="alphaLcPeriod"/>
            </a:pPr>
            <a:r>
              <a:rPr/>
              <a:t>I am very familiar and have worked with it extensively.</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Which of the following concepts or skills do you feel most confident about in relation to [Topic]? (Select all that apply)</a:t>
            </a:r>
          </a:p>
          <a:p>
            <a:pPr lvl="0" indent="-342900" marL="342900">
              <a:buAutoNum type="alphaLcPeriod"/>
            </a:pPr>
            <a:r>
              <a:rPr/>
              <a:t>Concept 1</a:t>
            </a:r>
          </a:p>
          <a:p>
            <a:pPr lvl="0" indent="-342900" marL="342900">
              <a:buAutoNum type="alphaLcPeriod"/>
            </a:pPr>
            <a:r>
              <a:rPr/>
              <a:t>Concept 2</a:t>
            </a:r>
          </a:p>
          <a:p>
            <a:pPr lvl="0" indent="-342900" marL="342900">
              <a:buAutoNum type="alphaLcPeriod"/>
            </a:pPr>
            <a:r>
              <a:rPr/>
              <a:t>Concept 3</a:t>
            </a:r>
          </a:p>
          <a:p>
            <a:pPr lvl="0" indent="-342900" marL="342900">
              <a:buAutoNum type="alphaLcPeriod"/>
            </a:pPr>
            <a:r>
              <a:rPr/>
              <a:t>Concept 4</a:t>
            </a:r>
          </a:p>
          <a:p>
            <a:pPr lvl="0" indent="-342900" marL="342900">
              <a:buAutoNum type="alphaLcPeriod"/>
            </a:pPr>
            <a:r>
              <a:rPr/>
              <a:t>I am not sure about any of these concepts.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On a scale of 1 to 5, how comfortable are you with using [specific tool/technology] related to [Topic]? (1 = Not comfortable at all, 5 = Very comfortable)</a:t>
            </a:r>
          </a:p>
          <a:p>
            <a:pPr lvl="0" indent="-342900" marL="342900">
              <a:buAutoNum type="alphaLcPeriod"/>
            </a:pPr>
            <a:r>
              <a:rPr/>
              <a:t>1</a:t>
            </a:r>
          </a:p>
          <a:p>
            <a:pPr lvl="0" indent="-342900" marL="342900">
              <a:buAutoNum type="alphaLcPeriod"/>
            </a:pPr>
            <a:r>
              <a:rPr/>
              <a:t>2</a:t>
            </a:r>
          </a:p>
          <a:p>
            <a:pPr lvl="0" indent="-342900" marL="342900">
              <a:buAutoNum type="alphaLcPeriod"/>
            </a:pPr>
            <a:r>
              <a:rPr/>
              <a:t>3</a:t>
            </a:r>
          </a:p>
          <a:p>
            <a:pPr lvl="0" indent="-342900" marL="342900">
              <a:buAutoNum type="alphaLcPeriod"/>
            </a:pPr>
            <a:r>
              <a:rPr/>
              <a:t>4</a:t>
            </a:r>
          </a:p>
          <a:p>
            <a:pPr lvl="0" indent="-342900" marL="342900">
              <a:buAutoNum type="alphaLcPeriod"/>
            </a:pPr>
            <a:r>
              <a:rPr/>
              <a:t>5</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Discussion of survey results</a:t>
            </a:r>
          </a:p>
          <a:p>
            <a:pPr lvl="0"/>
            <a:r>
              <a:rPr b="1"/>
              <a:t>Aim”</a:t>
            </a:r>
            <a:r>
              <a:rPr/>
              <a:t>: Briefly examine the answers given to each question interactively with the group.</a:t>
            </a:r>
          </a:p>
          <a:p>
            <a:pPr lvl="0"/>
            <a:r>
              <a:rPr/>
              <a:t>Use visuals from the survey to highlight specific answers.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Where are we at?</a:t>
            </a:r>
          </a:p>
          <a:p>
            <a:pPr lvl="0" indent="0" marL="0">
              <a:buNone/>
            </a:pPr>
            <a:r>
              <a:rPr b="1"/>
              <a:t>Previously</a:t>
            </a:r>
            <a:r>
              <a:rPr/>
              <a:t>:</a:t>
            </a:r>
          </a:p>
          <a:p>
            <a:pPr lvl="0"/>
            <a:r>
              <a:rPr/>
              <a:t>Point 1</a:t>
            </a:r>
          </a:p>
          <a:p>
            <a:pPr lvl="0"/>
            <a:r>
              <a:rPr/>
              <a:t>Point 2</a:t>
            </a:r>
          </a:p>
          <a:p>
            <a:pPr lvl="0" indent="0" marL="0">
              <a:buNone/>
            </a:pPr>
            <a:r>
              <a:rPr b="1"/>
              <a:t>Next</a:t>
            </a:r>
            <a:r>
              <a:rPr/>
              <a:t>:</a:t>
            </a:r>
          </a:p>
          <a:p>
            <a:pPr lvl="0"/>
            <a:r>
              <a:rPr/>
              <a:t>Point 1</a:t>
            </a:r>
          </a:p>
          <a:p>
            <a:pPr lvl="0"/>
            <a:r>
              <a:rPr/>
              <a:t>Point 2</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Covered in this session</a:t>
            </a:r>
          </a:p>
          <a:p>
            <a:pPr lvl="0"/>
            <a:r>
              <a:rPr b="1"/>
              <a:t>Aim</a:t>
            </a:r>
            <a:r>
              <a:rPr/>
              <a:t>: This slides serves as an overview of the topics that are discussed, presented as bullet point:</a:t>
            </a:r>
          </a:p>
          <a:p>
            <a:pPr lvl="0"/>
            <a:r>
              <a:rPr/>
              <a:t>Topic 1</a:t>
            </a:r>
          </a:p>
          <a:p>
            <a:pPr lvl="0"/>
            <a:r>
              <a:rPr/>
              <a:t>Topic 2</a:t>
            </a:r>
          </a:p>
          <a:p>
            <a:pPr lvl="0"/>
            <a:r>
              <a:rPr/>
              <a:t>Topic 3</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Learning goals</a:t>
            </a:r>
          </a:p>
          <a:p>
            <a:pPr lvl="0"/>
            <a:r>
              <a:rPr b="1"/>
              <a:t>Aim</a:t>
            </a:r>
            <a:r>
              <a:rPr/>
              <a:t>: Formulate specific, action-oriented goals learning goals which are measurable and observable in line with Bloom’s taxonomy (Anderson et al., 2001; Bloom et al., 1956)</a:t>
            </a:r>
          </a:p>
          <a:p>
            <a:pPr lvl="0"/>
            <a:r>
              <a:rPr/>
              <a:t>Place an emphasis on the </a:t>
            </a:r>
            <a:r>
              <a:rPr b="1"/>
              <a:t>verbs</a:t>
            </a:r>
            <a:r>
              <a:rPr/>
              <a:t> of the learning goals and choose verbs that align with the skills you want to develop or assess.</a:t>
            </a:r>
          </a:p>
          <a:p>
            <a:pPr lvl="0"/>
            <a:r>
              <a:rPr/>
              <a:t>Examples:</a:t>
            </a:r>
          </a:p>
          <a:p>
            <a:pPr lvl="1"/>
            <a:r>
              <a:rPr/>
              <a:t>Students will </a:t>
            </a:r>
            <a:r>
              <a:rPr b="1"/>
              <a:t>describe</a:t>
            </a:r>
            <a:r>
              <a:rPr/>
              <a:t> the process of photosynthesis or</a:t>
            </a:r>
          </a:p>
          <a:p>
            <a:pPr lvl="1"/>
            <a:r>
              <a:rPr/>
              <a:t>Students will </a:t>
            </a:r>
            <a:r>
              <a:rPr b="1"/>
              <a:t>construct</a:t>
            </a:r>
            <a:r>
              <a:rPr/>
              <a:t> a diagram illustrating the process of photosynthesis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Key terms and definitions</a:t>
            </a:r>
          </a:p>
          <a:p>
            <a:pPr lvl="0"/>
            <a:r>
              <a:rPr b="1"/>
              <a:t>Aim</a:t>
            </a:r>
            <a:r>
              <a:rPr/>
              <a:t>: Introduce key terms and definitions that students will come across throughout the session. </a:t>
            </a:r>
          </a:p>
          <a:p>
            <a:pPr lvl="0"/>
            <a:r>
              <a:rPr b="1"/>
              <a:t>Key Term 1</a:t>
            </a:r>
            <a:r>
              <a:rPr/>
              <a:t>: Definition</a:t>
            </a:r>
          </a:p>
          <a:p>
            <a:pPr lvl="0"/>
            <a:r>
              <a:rPr b="1"/>
              <a:t>Key Term 2</a:t>
            </a:r>
            <a:r>
              <a:rPr/>
              <a:t>: Definition</a:t>
            </a:r>
          </a:p>
          <a:p>
            <a:pPr lvl="0"/>
            <a:r>
              <a:rPr b="1"/>
              <a:t>Key Term 3</a:t>
            </a:r>
            <a:r>
              <a:rPr/>
              <a:t>: Definition</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Introduction of submodule topic</a:t>
            </a:r>
          </a:p>
          <a:p>
            <a:pPr lvl="0"/>
            <a:r>
              <a:rPr b="1"/>
              <a:t>Aim</a:t>
            </a:r>
            <a:r>
              <a:rPr/>
              <a:t>: Core theoretical introduction of submodule topic.</a:t>
            </a:r>
          </a:p>
          <a:p>
            <a:pPr lvl="0"/>
            <a:r>
              <a:rPr/>
              <a:t>Pair theoretical aspects with practical exercises and group discussions according to the Think-Pair-Share style and according to Cognitive Load Theory (Sweller, 1980).</a:t>
            </a:r>
          </a:p>
          <a:p>
            <a:pPr lvl="0"/>
            <a:r>
              <a:rPr/>
              <a:t>Use multiple slides for this part.</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Submodule content slide</a:t>
            </a:r>
          </a:p>
          <a:p>
            <a:pPr lvl="0"/>
            <a:r>
              <a:rPr b="1"/>
              <a:t>Aim</a:t>
            </a:r>
            <a:r>
              <a:rPr/>
              <a:t>: Present relevant content</a:t>
            </a:r>
          </a:p>
          <a:p>
            <a:pPr lvl="0"/>
            <a:r>
              <a:rPr/>
              <a:t>Highlight particularly important aspects with Quarto call-out boxes, for example:</a:t>
            </a:r>
          </a:p>
          <a:p>
            <a:pPr lvl="0" indent="0" marL="1270000">
              <a:buNone/>
            </a:pPr>
            <a:r>
              <a:rPr sz="2000" b="1"/>
              <a:t>Important with Title</a:t>
            </a:r>
          </a:p>
          <a:p>
            <a:pPr lvl="0" indent="0" marL="1270000">
              <a:buNone/>
            </a:pPr>
            <a:r>
              <a:rPr sz="2000"/>
              <a:t>This is an example of a callout box to highlight particularly important information.</a:t>
            </a:r>
          </a:p>
          <a:p>
            <a:pPr lvl="0" indent="0" marL="1270000">
              <a:buNone/>
            </a:pPr>
            <a:r>
              <a:rPr sz="2000" b="1"/>
              <a:t>Tip with Title</a:t>
            </a:r>
          </a:p>
          <a:p>
            <a:pPr lvl="0" indent="0" marL="1270000">
              <a:buNone/>
            </a:pPr>
            <a:r>
              <a:rPr sz="2000"/>
              <a:t>This is an example of a callout box to give important tips.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1</a:t>
            </a:r>
          </a:p>
          <a:p>
            <a:pPr lvl="0"/>
            <a:r>
              <a:rPr b="1"/>
              <a:t>Aim</a:t>
            </a:r>
            <a:r>
              <a:rPr/>
              <a:t>: Design more practical exercises for students to apply the new skills in practice.</a:t>
            </a:r>
          </a:p>
          <a:p>
            <a:pPr lvl="0"/>
            <a:r>
              <a:rPr/>
              <a:t>Depending on the topic, the exercises should be in accordance with the learning objective(s).</a:t>
            </a:r>
          </a:p>
          <a:p>
            <a:pPr lvl="0"/>
            <a:r>
              <a:rPr/>
              <a:t>Add a description of the task, as well as a checklist as an overview of that your students need to be doing.</a:t>
            </a:r>
          </a:p>
          <a:p>
            <a:pPr lvl="0"/>
            <a:r>
              <a:rPr/>
              <a:t>☒ Step 1</a:t>
            </a:r>
          </a:p>
          <a:p>
            <a:pPr lvl="0"/>
            <a:r>
              <a:rPr/>
              <a:t>☐ Step 2</a:t>
            </a:r>
          </a:p>
          <a:p>
            <a:pPr lvl="0"/>
            <a:r>
              <a:rPr/>
              <a:t>☐ Step 3</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Pre-break survey</a:t>
            </a:r>
          </a:p>
          <a:p>
            <a:pPr lvl="0"/>
            <a:r>
              <a:rPr b="1"/>
              <a:t>Aim</a:t>
            </a:r>
            <a:r>
              <a:rPr/>
              <a:t>: This pre-break survey serves to examine students’ current understanding of key concepts of the submodule</a:t>
            </a:r>
          </a:p>
          <a:p>
            <a:pPr lvl="0"/>
            <a:r>
              <a:rPr/>
              <a:t>Use free survey software such as or other survey software (particify, formR) to establish the following questions (shown on separate slides)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Which species is the largest type of penguin</a:t>
            </a:r>
            <a:r>
              <a:rPr/>
              <a:t>?</a:t>
            </a:r>
          </a:p>
          <a:p>
            <a:pPr lvl="0" indent="-342900" marL="342900">
              <a:buAutoNum type="alphaLcPeriod"/>
            </a:pPr>
            <a:r>
              <a:rPr/>
              <a:t>Chinstrap Penguin</a:t>
            </a:r>
          </a:p>
          <a:p>
            <a:pPr lvl="0" indent="-342900" marL="342900">
              <a:buAutoNum type="alphaLcPeriod"/>
            </a:pPr>
            <a:r>
              <a:rPr/>
              <a:t>Emperor Penguin ✅</a:t>
            </a:r>
          </a:p>
          <a:p>
            <a:pPr lvl="0" indent="-342900" marL="342900">
              <a:buAutoNum type="alphaLcPeriod"/>
            </a:pPr>
            <a:r>
              <a:rPr/>
              <a:t>Adélie Penguin</a:t>
            </a:r>
          </a:p>
          <a:p>
            <a:pPr lvl="0" indent="-342900" marL="342900">
              <a:buAutoNum type="alphaLcPeriod"/>
            </a:pPr>
            <a:r>
              <a:rPr/>
              <a:t>King Penguin</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What is the key biological feature that helps penguins swim efficiently?</a:t>
            </a:r>
          </a:p>
          <a:p>
            <a:pPr lvl="0" indent="-342900" marL="342900">
              <a:buAutoNum type="alphaLcPeriod"/>
            </a:pPr>
            <a:r>
              <a:rPr/>
              <a:t>Hollow bones for buoyancy</a:t>
            </a:r>
          </a:p>
          <a:p>
            <a:pPr lvl="0" indent="-342900" marL="342900">
              <a:buAutoNum type="alphaLcPeriod"/>
            </a:pPr>
            <a:r>
              <a:rPr/>
              <a:t>Webbed feet for paddling</a:t>
            </a:r>
          </a:p>
          <a:p>
            <a:pPr lvl="0" indent="-342900" marL="342900">
              <a:buAutoNum type="alphaLcPeriod"/>
            </a:pPr>
            <a:r>
              <a:rPr/>
              <a:t>Waterproof feathers and flipper-like wings ✅</a:t>
            </a:r>
          </a:p>
          <a:p>
            <a:pPr lvl="0" indent="-342900" marL="342900">
              <a:buAutoNum type="alphaLcPeriod"/>
            </a:pPr>
            <a:r>
              <a:rPr/>
              <a:t>Gills to breathe underwater</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Break! 15 minutes</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Post-break survey discussion</a:t>
            </a:r>
          </a:p>
          <a:p>
            <a:pPr lvl="0"/>
            <a:r>
              <a:rPr b="1"/>
              <a:t>Aim</a:t>
            </a:r>
            <a:r>
              <a:rPr/>
              <a:t>: To clarify concepts and aspects that are not yet understood</a:t>
            </a:r>
          </a:p>
          <a:p>
            <a:pPr lvl="0"/>
            <a:r>
              <a:rPr/>
              <a:t>Highlight specific answers given during the survey</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2</a:t>
            </a:r>
          </a:p>
          <a:p>
            <a:pPr lvl="0"/>
            <a:r>
              <a:rPr b="1"/>
              <a:t>Aim</a:t>
            </a:r>
            <a:r>
              <a:rPr/>
              <a:t>: Design more practical exercises for students to apply the new skills in practice.</a:t>
            </a:r>
          </a:p>
          <a:p>
            <a:pPr lvl="0"/>
            <a:r>
              <a:rPr/>
              <a:t>Depending on the topic, the exercises should be in accordance with the learning objective(s).</a:t>
            </a:r>
          </a:p>
          <a:p>
            <a:pPr lvl="0"/>
            <a:r>
              <a:rPr/>
              <a:t>Add a description of the task, as well as a checklist as an overview of that your students need to be doing.</a:t>
            </a:r>
          </a:p>
          <a:p>
            <a:pPr lvl="0"/>
            <a:r>
              <a:rPr/>
              <a:t>☒ Step 1</a:t>
            </a:r>
          </a:p>
          <a:p>
            <a:pPr lvl="0"/>
            <a:r>
              <a:rPr/>
              <a:t>☐ Step 2</a:t>
            </a:r>
          </a:p>
          <a:p>
            <a:pPr lvl="0"/>
            <a:r>
              <a:rPr/>
              <a:t>☐ Step 3</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Relevance and implications</a:t>
            </a:r>
          </a:p>
          <a:p>
            <a:pPr lvl="0"/>
            <a:r>
              <a:rPr b="1"/>
              <a:t>Aim</a:t>
            </a:r>
            <a:r>
              <a:rPr/>
              <a:t>: To work out the relevance of the topic to your students.</a:t>
            </a:r>
          </a:p>
          <a:p>
            <a:pPr lvl="0"/>
            <a:r>
              <a:rPr/>
              <a:t>In an interactive setting, discuss how the new skills could be applied in practise with specific examples.</a:t>
            </a:r>
          </a:p>
          <a:p>
            <a:pPr lvl="0"/>
            <a:r>
              <a:rPr/>
              <a:t>Examine downfalls and practical obstacles.</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Assignment</a:t>
            </a:r>
          </a:p>
          <a:p>
            <a:pPr lvl="0"/>
            <a:r>
              <a:rPr b="1"/>
              <a:t>Aim</a:t>
            </a:r>
            <a:r>
              <a:rPr/>
              <a:t>: Explain the homework assignment and the rationale behind the homework.</a:t>
            </a:r>
          </a:p>
          <a:p>
            <a:pPr lvl="0"/>
            <a:r>
              <a:rPr/>
              <a:t>Examine whether/how it will be assessed</a:t>
            </a:r>
          </a:p>
          <a:p>
            <a:pPr lvl="0"/>
            <a:r>
              <a:rPr/>
              <a:t>Mention scoring rubrics, if applicable</a:t>
            </a:r>
          </a:p>
          <a:p>
            <a:pPr lvl="0"/>
            <a:r>
              <a:rPr/>
              <a:t>Design a peer-review system for assignments to place students in role of reviewer and author</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Take-home message</a:t>
            </a:r>
          </a:p>
          <a:p>
            <a:pPr lvl="0"/>
            <a:r>
              <a:rPr b="1"/>
              <a:t>Aim</a:t>
            </a:r>
            <a:r>
              <a:rPr/>
              <a:t>: End lesson on clear take-home message that are interactively compiled by students.</a:t>
            </a:r>
          </a:p>
          <a:p>
            <a:pPr lvl="0" indent="0" marL="1270000">
              <a:buNone/>
            </a:pPr>
            <a:r>
              <a:rPr sz="2000" b="1"/>
              <a:t>Tip with Title</a:t>
            </a:r>
          </a:p>
          <a:p>
            <a:pPr lvl="0" indent="0" marL="1270000">
              <a:buNone/>
            </a:pPr>
            <a:r>
              <a:rPr sz="2000"/>
              <a:t>Add one practical tips or take-home message.</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To conclude: Survey time!</a:t>
            </a:r>
          </a:p>
          <a:p>
            <a:pPr lvl="0"/>
            <a:r>
              <a:rPr b="1"/>
              <a:t>Aim</a:t>
            </a:r>
            <a:r>
              <a:rPr/>
              <a:t>: This post-submodule survey serves to examine students’ current knowledge about the sumodule’s topic.</a:t>
            </a:r>
          </a:p>
          <a:p>
            <a:pPr lvl="0"/>
            <a:r>
              <a:rPr/>
              <a:t>Use free survey software such as particify or formR to establish the following questions (shown on separate slides)</a:t>
            </a:r>
          </a:p>
          <a:p>
            <a:pPr lvl="0"/>
            <a:r>
              <a:rPr/>
              <a:t>Use identical questions as in the pre-submodule survey to be able to directly compare</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What is your level of familiarity with [Topic] (e.g., basic concepts, terminology, or tools)?</a:t>
            </a:r>
          </a:p>
          <a:p>
            <a:pPr lvl="0" indent="-342900" marL="342900">
              <a:buAutoNum type="alphaLcPeriod"/>
            </a:pPr>
            <a:r>
              <a:rPr/>
              <a:t>I have never heard of it before.</a:t>
            </a:r>
          </a:p>
          <a:p>
            <a:pPr lvl="0" indent="-342900" marL="342900">
              <a:buAutoNum type="alphaLcPeriod"/>
            </a:pPr>
            <a:r>
              <a:rPr/>
              <a:t>I have heard of it but have never worked with it.</a:t>
            </a:r>
          </a:p>
          <a:p>
            <a:pPr lvl="0" indent="-342900" marL="342900">
              <a:buAutoNum type="alphaLcPeriod"/>
            </a:pPr>
            <a:r>
              <a:rPr/>
              <a:t>I have basic understanding and experience with it.</a:t>
            </a:r>
          </a:p>
          <a:p>
            <a:pPr lvl="0" indent="-342900" marL="342900">
              <a:buAutoNum type="alphaLcPeriod"/>
            </a:pPr>
            <a:r>
              <a:rPr/>
              <a:t>I am very familiar and have worked with it extensively.</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Which of the following concepts or skills do you feel most confident about in relation to [Topic]? (Select all that apply)</a:t>
            </a:r>
          </a:p>
          <a:p>
            <a:pPr lvl="0" indent="-342900" marL="342900">
              <a:buAutoNum type="alphaLcPeriod"/>
            </a:pPr>
            <a:r>
              <a:rPr/>
              <a:t>Concept 1</a:t>
            </a:r>
          </a:p>
          <a:p>
            <a:pPr lvl="0" indent="-342900" marL="342900">
              <a:buAutoNum type="alphaLcPeriod"/>
            </a:pPr>
            <a:r>
              <a:rPr/>
              <a:t>Concept 2</a:t>
            </a:r>
          </a:p>
          <a:p>
            <a:pPr lvl="0" indent="-342900" marL="342900">
              <a:buAutoNum type="alphaLcPeriod"/>
            </a:pPr>
            <a:r>
              <a:rPr/>
              <a:t>Concept 3</a:t>
            </a:r>
          </a:p>
          <a:p>
            <a:pPr lvl="0" indent="-342900" marL="342900">
              <a:buAutoNum type="alphaLcPeriod"/>
            </a:pPr>
            <a:r>
              <a:rPr/>
              <a:t>Concept 4</a:t>
            </a:r>
          </a:p>
          <a:p>
            <a:pPr lvl="0" indent="-342900" marL="342900">
              <a:buAutoNum type="alphaLcPeriod"/>
            </a:pPr>
            <a:r>
              <a:rPr/>
              <a:t>I am not sure about any of these concepts.</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On a scale of 1 to 5, how comfortable are you with using [specific tool/technology] related to [Topic]? (1 = Not comfortable at all, 5 = Very comfortable)</a:t>
            </a:r>
          </a:p>
          <a:p>
            <a:pPr lvl="0" indent="-342900" marL="342900">
              <a:buAutoNum type="alphaLcPeriod"/>
            </a:pPr>
            <a:r>
              <a:rPr/>
              <a:t>1</a:t>
            </a:r>
          </a:p>
          <a:p>
            <a:pPr lvl="0" indent="-342900" marL="342900">
              <a:buAutoNum type="alphaLcPeriod"/>
            </a:pPr>
            <a:r>
              <a:rPr/>
              <a:t>2</a:t>
            </a:r>
          </a:p>
          <a:p>
            <a:pPr lvl="0" indent="-342900" marL="342900">
              <a:buAutoNum type="alphaLcPeriod"/>
            </a:pPr>
            <a:r>
              <a:rPr/>
              <a:t>3</a:t>
            </a:r>
          </a:p>
          <a:p>
            <a:pPr lvl="0" indent="-342900" marL="342900">
              <a:buAutoNum type="alphaLcPeriod"/>
            </a:pPr>
            <a:r>
              <a:rPr/>
              <a:t>4</a:t>
            </a:r>
          </a:p>
          <a:p>
            <a:pPr lvl="0" indent="-342900" marL="342900">
              <a:buAutoNum type="alphaLcPeriod"/>
            </a:pPr>
            <a:r>
              <a:rPr/>
              <a:t>5</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Discussion of survey results</a:t>
            </a:r>
          </a:p>
          <a:p>
            <a:pPr lvl="0"/>
            <a:r>
              <a:rPr b="1"/>
              <a:t>Aim</a:t>
            </a:r>
            <a:r>
              <a:rPr/>
              <a:t>: Briefly examine the answers given to each question interactively with the group.</a:t>
            </a:r>
          </a:p>
          <a:p>
            <a:pPr lvl="0"/>
            <a:r>
              <a:rPr/>
              <a:t>Compare and highlight specific differences in answers between pre- and post-survey answers</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References</a:t>
            </a:r>
          </a:p>
          <a:p>
            <a:pPr lvl="0"/>
            <a:r>
              <a:rPr/>
              <a:t>Provide literature you refer to throughout this lesson.</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Thanks! </a:t>
            </a:r>
          </a:p>
        </p:txBody>
      </p:sp>
      <p:sp>
        <p:nvSpPr>
          <p:cNvPr id="3" name="Content Placeholder 2"/>
          <p:cNvSpPr>
            <a:spLocks noGrp="1"/>
          </p:cNvSpPr>
          <p:nvPr>
            <p:ph idx="1"/>
          </p:nvPr>
        </p:nvSpPr>
        <p:spPr/>
        <p:txBody>
          <a:bodyPr/>
          <a:lstStyle/>
          <a:p>
            <a:pPr lvl="0" indent="0" marL="0">
              <a:buNone/>
            </a:pPr>
            <a:r>
              <a:rPr/>
              <a:t>See you next class :)</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Pedagogical add-on tools for instructors</a:t>
            </a:r>
          </a:p>
          <a:p>
            <a:pPr lvl="0"/>
            <a:r>
              <a:rPr/>
              <a:t>This section is dedicated to ideas on how to incorporate pedagogical tools into teaching for this specific submodule topic. This could mean:</a:t>
            </a:r>
          </a:p>
          <a:p>
            <a:pPr lvl="1"/>
            <a:r>
              <a:rPr/>
              <a:t>Information about the scientific evidence on the theory of the pedagogical add-on tool and the evidence for its efficacy.</a:t>
            </a:r>
          </a:p>
          <a:p>
            <a:pPr lvl="1"/>
            <a:r>
              <a:rPr/>
              <a:t>Discussion/reflection on how tools can be incorporated into the teaching for this particular content.</a:t>
            </a:r>
          </a:p>
          <a:p>
            <a:pPr lvl="1"/>
            <a:r>
              <a:rPr/>
              <a:t>Extra exercises for faster students.</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Additional literature for instructors</a:t>
            </a:r>
          </a:p>
          <a:p>
            <a:pPr lvl="0"/>
            <a:r>
              <a:rPr/>
              <a:t>References for content</a:t>
            </a:r>
          </a:p>
          <a:p>
            <a:pPr lvl="0"/>
            <a:r>
              <a:rPr/>
              <a:t>References for pedagogical add-on tools</a:t>
            </a:r>
            <a:br/>
          </a:p>
          <a:p>
            <a:pPr lvl="0"/>
            <a:r>
              <a:rPr/>
              <a:t>Other resources (videos etc.)</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Formatting elements for instructors</a:t>
            </a:r>
          </a:p>
        </p:txBody>
      </p:sp>
      <p:sp>
        <p:nvSpPr>
          <p:cNvPr id="3" name="Content Placeholder 2"/>
          <p:cNvSpPr>
            <a:spLocks noGrp="1"/>
          </p:cNvSpPr>
          <p:nvPr>
            <p:ph idx="1"/>
          </p:nvPr>
        </p:nvSpPr>
        <p:spPr/>
        <p:txBody>
          <a:bodyPr/>
          <a:lstStyle/>
          <a:p>
            <a:pPr lvl="0"/>
            <a:r>
              <a:rPr b="1"/>
              <a:t>Aim</a:t>
            </a:r>
            <a:r>
              <a:rPr/>
              <a:t>: This section contains templates for different formatting elements, which can be modified and adapted for the instructor’s individual purposes.</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Text with example links</a:t>
            </a:r>
          </a:p>
          <a:p>
            <a:pPr lvl="0"/>
            <a:r>
              <a:rPr>
                <a:hlinkClick r:id="rId2"/>
              </a:rPr>
              <a:t>Quarto Documentation</a:t>
            </a:r>
          </a:p>
          <a:p>
            <a:pPr lvl="0"/>
            <a:r>
              <a:rPr>
                <a:hlinkClick r:id="rId3"/>
              </a:rPr>
              <a:t>Reveal.js Documentation</a:t>
            </a:r>
          </a:p>
          <a:p>
            <a:pPr lvl="0"/>
            <a:r>
              <a:rPr>
                <a:hlinkClick r:id="rId4"/>
              </a:rPr>
              <a:t>Markdown Guide</a:t>
            </a:r>
          </a:p>
          <a:p>
            <a:pPr lvl="0"/>
            <a:r>
              <a:rPr>
                <a:hlinkClick r:id="rId5"/>
              </a:rPr>
              <a:t>GitHub</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Basic text formatting</a:t>
            </a:r>
          </a:p>
          <a:p>
            <a:pPr lvl="0"/>
            <a:r>
              <a:rPr b="1"/>
              <a:t>Bold:</a:t>
            </a:r>
            <a:r>
              <a:rPr/>
              <a:t> </a:t>
            </a:r>
            <a:r>
              <a:rPr>
                <a:latin typeface="Courier"/>
              </a:rPr>
              <a:t>**bold**</a:t>
            </a:r>
            <a:r>
              <a:rPr/>
              <a:t> → </a:t>
            </a:r>
            <a:r>
              <a:rPr b="1"/>
              <a:t>bold</a:t>
            </a:r>
          </a:p>
          <a:p>
            <a:pPr lvl="0"/>
            <a:r>
              <a:rPr i="1"/>
              <a:t>Italic:</a:t>
            </a:r>
            <a:r>
              <a:rPr/>
              <a:t> </a:t>
            </a:r>
            <a:r>
              <a:rPr>
                <a:latin typeface="Courier"/>
              </a:rPr>
              <a:t>*italic*</a:t>
            </a:r>
            <a:r>
              <a:rPr/>
              <a:t> → </a:t>
            </a:r>
            <a:r>
              <a:rPr i="1"/>
              <a:t>italic</a:t>
            </a:r>
          </a:p>
          <a:p>
            <a:pPr lvl="0"/>
            <a:r>
              <a:rPr strike="sngStrike"/>
              <a:t>Strikethrough:</a:t>
            </a:r>
            <a:r>
              <a:rPr/>
              <a:t> </a:t>
            </a:r>
            <a:r>
              <a:rPr>
                <a:latin typeface="Courier"/>
              </a:rPr>
              <a:t>~~text~~</a:t>
            </a:r>
            <a:r>
              <a:rPr/>
              <a:t> → </a:t>
            </a:r>
            <a:r>
              <a:rPr strike="sngStrike"/>
              <a:t>text</a:t>
            </a:r>
          </a:p>
          <a:p>
            <a:pPr lvl="0"/>
            <a:r>
              <a:rPr>
                <a:latin typeface="Courier"/>
              </a:rPr>
              <a:t>Inline code:</a:t>
            </a:r>
            <a:r>
              <a:rPr/>
              <a:t> </a:t>
            </a:r>
            <a:r>
              <a:rPr>
                <a:latin typeface="Courier"/>
              </a:rPr>
              <a:t>`code`</a:t>
            </a:r>
            <a:r>
              <a:rPr/>
              <a:t> → </a:t>
            </a:r>
            <a:r>
              <a:rPr>
                <a:latin typeface="Courier"/>
              </a:rPr>
              <a:t>code</a:t>
            </a:r>
          </a:p>
          <a:p>
            <a:pPr lvl="0" indent="0" marL="1270000"/>
            <a:r>
              <a:rPr sz="2000"/>
              <a:t>Blockquote: </a:t>
            </a:r>
            <a:r>
              <a:rPr sz="2000">
                <a:latin typeface="Courier"/>
              </a:rPr>
              <a:t>&gt; Quote</a:t>
            </a:r>
            <a:r>
              <a:rPr sz="2000"/>
              <a:t> →</a:t>
            </a:r>
            <a:br/>
            <a:r>
              <a:rPr sz="2000"/>
              <a:t>“This is a quote”</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Figure with caption</a:t>
            </a:r>
          </a:p>
          <a:p>
            <a:pPr lvl="0"/>
            <a:r>
              <a:rPr/>
              <a:t>Centered image and caption below in italics</a:t>
            </a:r>
          </a:p>
          <a:p>
            <a:pPr lvl="0" indent="0" marL="0">
              <a:buNone/>
            </a:pPr>
          </a:p>
          <a:p>
            <a:pPr lvl="0" indent="0" marL="0">
              <a:buNone/>
            </a:pPr>
            <a:r>
              <a:rPr/>
              <a:t>This is a Penguin.</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Figure with bullet points</a:t>
            </a:r>
          </a:p>
          <a:p>
            <a:pPr lvl="0" indent="0" marL="0">
              <a:buNone/>
            </a:pPr>
          </a:p>
          <a:p>
            <a:pPr lvl="0"/>
            <a:r>
              <a:rPr/>
              <a:t>First bullet point</a:t>
            </a:r>
          </a:p>
          <a:p>
            <a:pPr lvl="0"/>
            <a:r>
              <a:rPr/>
              <a:t>Second bullet point</a:t>
            </a:r>
          </a:p>
          <a:p>
            <a:pPr lvl="0"/>
            <a:r>
              <a:rPr/>
              <a:t>Third bullet point</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Side-by-side figures</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Stacked figures with text</a:t>
            </a:r>
          </a:p>
          <a:p>
            <a:pPr lvl="0" indent="0" marL="0">
              <a:buNone/>
            </a:pPr>
          </a:p>
          <a:p>
            <a:pPr lvl="0"/>
            <a:r>
              <a:rPr/>
              <a:t>First bullet point</a:t>
            </a:r>
          </a:p>
          <a:p>
            <a:pPr lvl="0"/>
            <a:r>
              <a:rPr/>
              <a:t>Second bullet point</a:t>
            </a:r>
          </a:p>
          <a:p>
            <a:pPr lvl="0"/>
            <a:r>
              <a:rPr/>
              <a:t>Third bullet point</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Two-column text slide</a:t>
            </a:r>
          </a:p>
          <a:p>
            <a:pPr lvl="0" indent="0" marL="0">
              <a:buNone/>
            </a:pPr>
            <a:r>
              <a:rPr b="1"/>
              <a:t>Column 1</a:t>
            </a:r>
          </a:p>
          <a:p>
            <a:pPr lvl="0" indent="0" marL="0">
              <a:buNone/>
            </a:pPr>
            <a:r>
              <a:rPr/>
              <a:t>Lorem ipsum dolor sit amet, consectetur adipiscing elit.</a:t>
            </a:r>
            <a:br/>
            <a:r>
              <a:rPr/>
              <a:t>Vivamus lacinia odio vitae vestibulum vestibulum.</a:t>
            </a:r>
            <a:br/>
            <a:r>
              <a:rPr/>
              <a:t>Cras venenatis euismod malesuada.</a:t>
            </a:r>
          </a:p>
          <a:p>
            <a:pPr lvl="0" indent="0" marL="0">
              <a:buNone/>
            </a:pPr>
            <a:r>
              <a:rPr b="1"/>
              <a:t>Column 2</a:t>
            </a:r>
          </a:p>
          <a:p>
            <a:pPr lvl="0" indent="0" marL="0">
              <a:buNone/>
            </a:pPr>
            <a:r>
              <a:rPr/>
              <a:t>Sed do eiusmod tempor incididunt ut labore et dolore magna aliqua.</a:t>
            </a:r>
            <a:br/>
            <a:r>
              <a:rPr/>
              <a:t>Ut enim ad minim veniam, quis nostrud exercitation ullamco laboris.</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Three-column text slide</a:t>
            </a:r>
          </a:p>
          <a:p>
            <a:pPr lvl="0" indent="0" marL="0">
              <a:buNone/>
            </a:pPr>
            <a:r>
              <a:rPr b="1"/>
              <a:t>Column 1</a:t>
            </a:r>
          </a:p>
          <a:p>
            <a:pPr lvl="0" indent="0" marL="0">
              <a:buNone/>
            </a:pPr>
            <a:r>
              <a:rPr/>
              <a:t>Lorem ipsum dolor sit amet, consectetur adipiscing elit.</a:t>
            </a:r>
            <a:br/>
            <a:r>
              <a:rPr/>
              <a:t>Vivamus lacinia odio vitae vestibulum vestibulum.</a:t>
            </a:r>
          </a:p>
          <a:p>
            <a:pPr lvl="0" indent="0" marL="0">
              <a:buNone/>
            </a:pPr>
            <a:r>
              <a:rPr b="1"/>
              <a:t>Column 2</a:t>
            </a:r>
          </a:p>
          <a:p>
            <a:pPr lvl="0" indent="0" marL="0">
              <a:buNone/>
            </a:pPr>
            <a:r>
              <a:rPr/>
              <a:t>Sed do eiusmod tempor incididunt ut labore et dolore magna aliqua.</a:t>
            </a:r>
            <a:br/>
            <a:r>
              <a:rPr/>
              <a:t>Ut enim ad minim veniam, quis nostrud exercitation ullamco laboris.</a:t>
            </a:r>
          </a:p>
          <a:p>
            <a:pPr lvl="0" indent="0" marL="0">
              <a:buNone/>
            </a:pPr>
            <a:r>
              <a:rPr b="1"/>
              <a:t>Column 3</a:t>
            </a:r>
          </a:p>
          <a:p>
            <a:pPr lvl="0" indent="0" marL="0">
              <a:buNone/>
            </a:pPr>
            <a:r>
              <a:rPr/>
              <a:t>Duis aute irure dolor in reprehenderit in voluptate velit esse cillum dolore eu fugiat nulla pariatur.</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Simple table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Column 1</a:t>
                      </a:r>
                    </a:p>
                  </a:txBody>
                  <a:tcPr/>
                </a:tc>
                <a:tc>
                  <a:txBody>
                    <a:bodyPr/>
                    <a:lstStyle/>
                    <a:p>
                      <a:pPr lvl="0" indent="0" marL="0">
                        <a:buNone/>
                      </a:pPr>
                      <a:r>
                        <a:rPr/>
                        <a:t>Column 2</a:t>
                      </a:r>
                    </a:p>
                  </a:txBody>
                  <a:tcPr/>
                </a:tc>
                <a:tc>
                  <a:txBody>
                    <a:bodyPr/>
                    <a:lstStyle/>
                    <a:p>
                      <a:pPr lvl="0" indent="0" marL="0">
                        <a:buNone/>
                      </a:pPr>
                      <a:r>
                        <a:rPr/>
                        <a:t>Column 3</a:t>
                      </a:r>
                    </a:p>
                  </a:txBody>
                  <a:tcPr/>
                </a:tc>
              </a:tr>
              <a:tr h="0">
                <a:tc>
                  <a:txBody>
                    <a:bodyPr/>
                    <a:lstStyle/>
                    <a:p>
                      <a:pPr lvl="0" indent="0" marL="0">
                        <a:buNone/>
                      </a:pPr>
                      <a:r>
                        <a:rPr/>
                        <a:t>Row 1 Cell</a:t>
                      </a:r>
                    </a:p>
                  </a:txBody>
                </a:tc>
                <a:tc>
                  <a:txBody>
                    <a:bodyPr/>
                    <a:lstStyle/>
                    <a:p>
                      <a:pPr lvl="0" indent="0" marL="0">
                        <a:buNone/>
                      </a:pPr>
                      <a:r>
                        <a:rPr/>
                        <a:t>Row 1 Cell</a:t>
                      </a:r>
                    </a:p>
                  </a:txBody>
                </a:tc>
                <a:tc>
                  <a:txBody>
                    <a:bodyPr/>
                    <a:lstStyle/>
                    <a:p>
                      <a:pPr lvl="0" indent="0" marL="0">
                        <a:buNone/>
                      </a:pPr>
                      <a:r>
                        <a:rPr/>
                        <a:t>Row 1 Cell</a:t>
                      </a:r>
                    </a:p>
                  </a:txBody>
                </a:tc>
              </a:tr>
              <a:tr h="0">
                <a:tc>
                  <a:txBody>
                    <a:bodyPr/>
                    <a:lstStyle/>
                    <a:p>
                      <a:pPr lvl="0" indent="0" marL="0">
                        <a:buNone/>
                      </a:pPr>
                      <a:r>
                        <a:rPr/>
                        <a:t>Row 2 Cell</a:t>
                      </a:r>
                    </a:p>
                  </a:txBody>
                </a:tc>
                <a:tc>
                  <a:txBody>
                    <a:bodyPr/>
                    <a:lstStyle/>
                    <a:p>
                      <a:pPr lvl="0" indent="0" marL="0">
                        <a:buNone/>
                      </a:pPr>
                      <a:r>
                        <a:rPr/>
                        <a:t>Row 2 Cell</a:t>
                      </a:r>
                    </a:p>
                  </a:txBody>
                </a:tc>
                <a:tc>
                  <a:txBody>
                    <a:bodyPr/>
                    <a:lstStyle/>
                    <a:p>
                      <a:pPr lvl="0" indent="0" marL="0">
                        <a:buNone/>
                      </a:pPr>
                      <a:r>
                        <a:rPr/>
                        <a:t>Row 2 Cell</a:t>
                      </a:r>
                    </a:p>
                  </a:txBody>
                </a:tc>
              </a:tr>
              <a:tr h="0">
                <a:tc>
                  <a:txBody>
                    <a:bodyPr/>
                    <a:lstStyle/>
                    <a:p>
                      <a:pPr lvl="0" indent="0" marL="0">
                        <a:buNone/>
                      </a:pPr>
                      <a:r>
                        <a:rPr/>
                        <a:t>Row 3 Cell</a:t>
                      </a:r>
                    </a:p>
                  </a:txBody>
                </a:tc>
                <a:tc>
                  <a:txBody>
                    <a:bodyPr/>
                    <a:lstStyle/>
                    <a:p>
                      <a:pPr lvl="0" indent="0" marL="0">
                        <a:buNone/>
                      </a:pPr>
                      <a:r>
                        <a:rPr/>
                        <a:t>Row 3 Cell</a:t>
                      </a:r>
                    </a:p>
                  </a:txBody>
                </a:tc>
                <a:tc>
                  <a:txBody>
                    <a:bodyPr/>
                    <a:lstStyle/>
                    <a:p>
                      <a:pPr lvl="0" indent="0" marL="0">
                        <a:buNone/>
                      </a:pPr>
                      <a:r>
                        <a:rPr/>
                        <a:t>Row 3 Cell</a:t>
                      </a:r>
                    </a:p>
                  </a:txBody>
                </a:tc>
              </a:tr>
              <a:tr h="0">
                <a:tc>
                  <a:txBody>
                    <a:bodyPr/>
                    <a:lstStyle/>
                    <a:p>
                      <a:pPr lvl="0" indent="0" marL="0">
                        <a:buNone/>
                      </a:pPr>
                      <a:r>
                        <a:rPr/>
                        <a:t>Row 4 Cell</a:t>
                      </a:r>
                    </a:p>
                  </a:txBody>
                </a:tc>
                <a:tc>
                  <a:txBody>
                    <a:bodyPr/>
                    <a:lstStyle/>
                    <a:p>
                      <a:pPr lvl="0" indent="0" marL="0">
                        <a:buNone/>
                      </a:pPr>
                      <a:r>
                        <a:rPr/>
                        <a:t>Row 4 Cell</a:t>
                      </a:r>
                    </a:p>
                  </a:txBody>
                </a:tc>
                <a:tc>
                  <a:txBody>
                    <a:bodyPr/>
                    <a:lstStyle/>
                    <a:p>
                      <a:pPr lvl="0" indent="0" marL="0">
                        <a:buNone/>
                      </a:pPr>
                      <a:r>
                        <a:rPr/>
                        <a:t>Row 4 Cell</a:t>
                      </a:r>
                    </a:p>
                  </a:txBody>
                </a:tc>
              </a:tr>
            </a:tbl>
          </a:graphicData>
        </a:graphic>
      </p:graphicFrame>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Complex table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Column 1</a:t>
                      </a:r>
                    </a:p>
                  </a:txBody>
                  <a:tcPr/>
                </a:tc>
                <a:tc>
                  <a:txBody>
                    <a:bodyPr/>
                    <a:lstStyle/>
                    <a:p>
                      <a:pPr lvl="0" indent="0" marL="0">
                        <a:buNone/>
                      </a:pPr>
                      <a:r>
                        <a:rPr/>
                        <a:t>Column 2</a:t>
                      </a:r>
                    </a:p>
                  </a:txBody>
                  <a:tcPr/>
                </a:tc>
                <a:tc>
                  <a:txBody>
                    <a:bodyPr/>
                    <a:lstStyle/>
                    <a:p>
                      <a:pPr lvl="0" indent="0" marL="0">
                        <a:buNone/>
                      </a:pPr>
                      <a:r>
                        <a:rPr/>
                        <a:t>Column 3</a:t>
                      </a:r>
                    </a:p>
                  </a:txBody>
                  <a:tcPr/>
                </a:tc>
              </a:tr>
              <a:tr h="0">
                <a:tc>
                  <a:txBody>
                    <a:bodyPr/>
                    <a:lstStyle/>
                    <a:p>
                      <a:pPr lvl="0" indent="0" marL="0">
                        <a:buNone/>
                      </a:pPr>
                      <a:r>
                        <a:rPr/>
                        <a:t>Row 1 Cell</a:t>
                      </a:r>
                    </a:p>
                  </a:txBody>
                </a:tc>
                <a:tc>
                  <a:txBody>
                    <a:bodyPr/>
                    <a:lstStyle/>
                    <a:p>
                      <a:pPr lvl="0" indent="0" marL="0">
                        <a:buNone/>
                      </a:pPr>
                      <a:r>
                        <a:rPr/>
                        <a:t>Row 1 Cell</a:t>
                      </a:r>
                    </a:p>
                  </a:txBody>
                </a:tc>
                <a:tc>
                  <a:txBody>
                    <a:bodyPr/>
                    <a:lstStyle/>
                    <a:p>
                      <a:pPr lvl="0" indent="0" marL="0">
                        <a:buNone/>
                      </a:pPr>
                      <a:r>
                        <a:rPr/>
                        <a:t>Row 1 Cell</a:t>
                      </a:r>
                    </a:p>
                  </a:txBody>
                </a:tc>
              </a:tr>
              <a:tr h="0">
                <a:tc>
                  <a:txBody>
                    <a:bodyPr/>
                    <a:lstStyle/>
                    <a:p>
                      <a:pPr lvl="0" indent="0" marL="0">
                        <a:buNone/>
                      </a:pPr>
                      <a:r>
                        <a:rPr/>
                        <a:t>Row 2 Cell</a:t>
                      </a:r>
                    </a:p>
                  </a:txBody>
                </a:tc>
                <a:tc>
                  <a:txBody>
                    <a:bodyPr/>
                    <a:lstStyle/>
                    <a:p>
                      <a:pPr lvl="0" indent="0" marL="0">
                        <a:buNone/>
                      </a:pPr>
                      <a:r>
                        <a:rPr/>
                        <a:t>Row 2 Cell</a:t>
                      </a:r>
                    </a:p>
                  </a:txBody>
                </a:tc>
                <a:tc>
                  <a:txBody>
                    <a:bodyPr/>
                    <a:lstStyle/>
                    <a:p>
                      <a:pPr lvl="0" indent="0" marL="0">
                        <a:buNone/>
                      </a:pPr>
                      <a:r>
                        <a:rPr/>
                        <a:t>Row 2 Cell</a:t>
                      </a:r>
                    </a:p>
                  </a:txBody>
                </a:tc>
              </a:tr>
              <a:tr h="0">
                <a:tc>
                  <a:txBody>
                    <a:bodyPr/>
                    <a:lstStyle/>
                    <a:p>
                      <a:pPr lvl="0" indent="0" marL="0">
                        <a:buNone/>
                      </a:pPr>
                      <a:r>
                        <a:rPr/>
                        <a:t>Row 3 Cell</a:t>
                      </a:r>
                    </a:p>
                  </a:txBody>
                </a:tc>
                <a:tc>
                  <a:txBody>
                    <a:bodyPr/>
                    <a:lstStyle/>
                    <a:p>
                      <a:pPr lvl="0" indent="0" marL="0">
                        <a:buNone/>
                      </a:pPr>
                      <a:r>
                        <a:rPr/>
                        <a:t>Row 3 Cell</a:t>
                      </a:r>
                    </a:p>
                  </a:txBody>
                </a:tc>
                <a:tc>
                  <a:txBody>
                    <a:bodyPr/>
                    <a:lstStyle/>
                    <a:p>
                      <a:pPr lvl="0" indent="0" marL="0">
                        <a:buNone/>
                      </a:pPr>
                      <a:r>
                        <a:rPr/>
                        <a:t>Row 3 Cell</a:t>
                      </a:r>
                    </a:p>
                  </a:txBody>
                </a:tc>
              </a:tr>
              <a:tr h="0">
                <a:tc>
                  <a:txBody>
                    <a:bodyPr/>
                    <a:lstStyle/>
                    <a:p>
                      <a:pPr lvl="0" indent="0" marL="0">
                        <a:buNone/>
                      </a:pPr>
                      <a:r>
                        <a:rPr/>
                        <a:t>Row 4 Cell</a:t>
                      </a:r>
                    </a:p>
                  </a:txBody>
                </a:tc>
                <a:tc>
                  <a:txBody>
                    <a:bodyPr/>
                    <a:lstStyle/>
                    <a:p>
                      <a:pPr lvl="0" indent="0" marL="0">
                        <a:buNone/>
                      </a:pPr>
                      <a:r>
                        <a:rPr/>
                        <a:t>Row 4 Cell</a:t>
                      </a:r>
                    </a:p>
                  </a:txBody>
                </a:tc>
                <a:tc>
                  <a:txBody>
                    <a:bodyPr/>
                    <a:lstStyle/>
                    <a:p>
                      <a:pPr lvl="0" indent="0" marL="0">
                        <a:buNone/>
                      </a:pPr>
                      <a:r>
                        <a:rPr/>
                        <a:t>Row 4 Cell</a:t>
                      </a:r>
                    </a:p>
                  </a:txBody>
                </a:tc>
              </a:tr>
            </a:tbl>
          </a:graphicData>
        </a:graphic>
      </p:graphicFrame>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Task list</a:t>
            </a:r>
          </a:p>
          <a:p>
            <a:pPr lvl="0"/>
            <a:r>
              <a:rPr/>
              <a:t>☒ Done</a:t>
            </a:r>
          </a:p>
          <a:p>
            <a:pPr lvl="0"/>
            <a:r>
              <a:rPr/>
              <a:t>☐ To do</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Embedding videos</a:t>
            </a:r>
          </a:p>
          <a:p>
            <a:pPr lvl="0" indent="0" marL="0">
              <a:buNone/>
            </a:pPr>
            <a:r>
              <a:rPr/>
              <a:t> </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Code blocks</a:t>
            </a:r>
          </a:p>
          <a:p>
            <a:pPr lvl="0" indent="0">
              <a:buNone/>
            </a:pPr>
            <a:r>
              <a:rPr>
                <a:solidFill>
                  <a:srgbClr val="5E5E5E"/>
                </a:solidFill>
                <a:latin typeface="Courier"/>
              </a:rPr>
              <a:t># A basic R code chunk</a:t>
            </a:r>
            <a:br/>
            <a:r>
              <a:rPr>
                <a:solidFill>
                  <a:srgbClr val="003B4F"/>
                </a:solidFill>
                <a:latin typeface="Courier"/>
              </a:rPr>
              <a:t>x &lt;- </a:t>
            </a:r>
            <a:r>
              <a:rPr>
                <a:solidFill>
                  <a:srgbClr val="AD0000"/>
                </a:solidFill>
                <a:latin typeface="Courier"/>
              </a:rPr>
              <a:t>1</a:t>
            </a:r>
            <a:r>
              <a:rPr>
                <a:solidFill>
                  <a:srgbClr val="5E5E5E"/>
                </a:solidFill>
                <a:latin typeface="Courier"/>
              </a:rPr>
              <a:t>:</a:t>
            </a:r>
            <a:r>
              <a:rPr>
                <a:solidFill>
                  <a:srgbClr val="AD0000"/>
                </a:solidFill>
                <a:latin typeface="Courier"/>
              </a:rPr>
              <a:t>10</a:t>
            </a:r>
            <a:br/>
            <a:r>
              <a:rPr>
                <a:solidFill>
                  <a:srgbClr val="4758AB"/>
                </a:solidFill>
                <a:latin typeface="Courier"/>
              </a:rPr>
              <a:t>mean</a:t>
            </a:r>
            <a:r>
              <a:rPr>
                <a:solidFill>
                  <a:srgbClr val="003B4F"/>
                </a:solidFill>
                <a:latin typeface="Courier"/>
              </a:rPr>
              <a:t>(x)</a:t>
            </a:r>
          </a:p>
          <a:p>
            <a:pPr lvl="0" indent="0">
              <a:buNone/>
            </a:pPr>
            <a:r>
              <a:rPr>
                <a:latin typeface="Courier"/>
              </a:rPr>
              <a:t>[1] 5.5</a:t>
            </a:r>
          </a:p>
          <a:p>
            <a:pPr lvl="0" indent="0">
              <a:buNone/>
            </a:pPr>
            <a:r>
              <a:rPr>
                <a:solidFill>
                  <a:srgbClr val="5E5E5E"/>
                </a:solidFill>
                <a:latin typeface="Courier"/>
              </a:rPr>
              <a:t># A simple plot</a:t>
            </a:r>
            <a:br/>
            <a:r>
              <a:rPr>
                <a:solidFill>
                  <a:srgbClr val="4758AB"/>
                </a:solidFill>
                <a:latin typeface="Courier"/>
              </a:rPr>
              <a:t>hist</a:t>
            </a:r>
            <a:r>
              <a:rPr>
                <a:solidFill>
                  <a:srgbClr val="003B4F"/>
                </a:solidFill>
                <a:latin typeface="Courier"/>
              </a:rPr>
              <a:t>(</a:t>
            </a:r>
            <a:r>
              <a:rPr>
                <a:solidFill>
                  <a:srgbClr val="4758AB"/>
                </a:solidFill>
                <a:latin typeface="Courier"/>
              </a:rPr>
              <a:t>rnorm</a:t>
            </a:r>
            <a:r>
              <a:rPr>
                <a:solidFill>
                  <a:srgbClr val="003B4F"/>
                </a:solidFill>
                <a:latin typeface="Courier"/>
              </a:rPr>
              <a:t>(</a:t>
            </a:r>
            <a:r>
              <a:rPr>
                <a:solidFill>
                  <a:srgbClr val="AD0000"/>
                </a:solidFill>
                <a:latin typeface="Courier"/>
              </a:rPr>
              <a:t>100</a:t>
            </a:r>
            <a:r>
              <a:rPr>
                <a:solidFill>
                  <a:srgbClr val="003B4F"/>
                </a:solidFill>
                <a:latin typeface="Courier"/>
              </a:rPr>
              <a:t>), </a:t>
            </a:r>
            <a:r>
              <a:rPr>
                <a:solidFill>
                  <a:srgbClr val="657422"/>
                </a:solidFill>
                <a:latin typeface="Courier"/>
              </a:rPr>
              <a:t>main =</a:t>
            </a:r>
            <a:r>
              <a:rPr>
                <a:solidFill>
                  <a:srgbClr val="003B4F"/>
                </a:solidFill>
                <a:latin typeface="Courier"/>
              </a:rPr>
              <a:t> </a:t>
            </a:r>
            <a:r>
              <a:rPr>
                <a:solidFill>
                  <a:srgbClr val="20794D"/>
                </a:solidFill>
                <a:latin typeface="Courier"/>
              </a:rPr>
              <a:t>"Histogram of Random Normals"</a:t>
            </a:r>
            <a:r>
              <a:rPr>
                <a:solidFill>
                  <a:srgbClr val="003B4F"/>
                </a:solidFill>
                <a:latin typeface="Courier"/>
              </a:rPr>
              <a:t>)</a:t>
            </a:r>
          </a:p>
        </p:txBody>
      </p:sp>
      <p:pic>
        <p:nvPicPr>
          <p:cNvPr descr="OS-template-slides_files/figure-pptx/unnamed-chunk-1-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License</a:t>
            </a:r>
          </a:p>
          <a:p>
            <a:pPr lvl="0"/>
            <a:r>
              <a:rPr/>
              <a:t>This slide should contain information about the license details of this current set of slides.</a:t>
            </a:r>
          </a:p>
          <a:p>
            <a:pPr lvl="0"/>
            <a:r>
              <a:rPr/>
              <a:t>The default for the created materials is </a:t>
            </a:r>
            <a:r>
              <a:rPr>
                <a:hlinkClick r:id="rId2"/>
              </a:rPr>
              <a:t>CC-BY-SA 4.0</a:t>
            </a:r>
          </a:p>
          <a:p>
            <a:pPr lvl="1"/>
            <a:r>
              <a:rPr/>
              <a:t>= Creative Commons license that allows others to </a:t>
            </a:r>
            <a:r>
              <a:rPr b="1"/>
              <a:t>share, adapt, and build upon</a:t>
            </a:r>
            <a:r>
              <a:rPr/>
              <a:t> the original work</a:t>
            </a:r>
          </a:p>
          <a:p>
            <a:pPr lvl="1"/>
            <a:r>
              <a:rPr b="1"/>
              <a:t>only</a:t>
            </a:r>
            <a:r>
              <a:rPr/>
              <a:t> if they attribute the creator and also share their new work under the </a:t>
            </a:r>
            <a:r>
              <a:rPr b="1"/>
              <a:t>same terms</a:t>
            </a:r>
          </a:p>
          <a:p>
            <a:pPr lvl="1"/>
            <a:r>
              <a:rPr/>
              <a:t>allows for both </a:t>
            </a:r>
            <a:r>
              <a:rPr b="1"/>
              <a:t>commercial and non-commercial</a:t>
            </a:r>
            <a:r>
              <a:rPr/>
              <a:t> use of the licensed material</a:t>
            </a:r>
          </a:p>
          <a:p>
            <a:pPr lvl="0"/>
            <a:r>
              <a:rPr/>
              <a:t>Components of attributions:</a:t>
            </a:r>
          </a:p>
          <a:p>
            <a:pPr lvl="1"/>
            <a:r>
              <a:rPr>
                <a:latin typeface="Courier"/>
              </a:rPr>
              <a:t>Title</a:t>
            </a:r>
          </a:p>
          <a:p>
            <a:pPr lvl="1"/>
            <a:r>
              <a:rPr>
                <a:latin typeface="Courier"/>
              </a:rPr>
              <a:t>Author</a:t>
            </a:r>
          </a:p>
          <a:p>
            <a:pPr lvl="1"/>
            <a:r>
              <a:rPr>
                <a:latin typeface="Courier"/>
              </a:rPr>
              <a:t>Source</a:t>
            </a:r>
          </a:p>
          <a:p>
            <a:pPr lvl="1"/>
            <a:r>
              <a:rPr>
                <a:latin typeface="Courier"/>
              </a:rPr>
              <a:t>License</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CREDiT Contribution Statement</a:t>
            </a:r>
          </a:p>
          <a:p>
            <a:pPr lvl="0" indent="0" marL="0">
              <a:buNone/>
            </a:pPr>
            <a:r>
              <a:rPr/>
              <a:t>Possible roles using the CRediT contribition system or the Zenodo Contribution System:</a:t>
            </a:r>
          </a:p>
          <a:p>
            <a:pPr lvl="0" indent="0" marL="0">
              <a:buNone/>
            </a:pPr>
            <a:r>
              <a:rPr b="1"/>
              <a:t>Name main content creator</a:t>
            </a:r>
            <a:r>
              <a:rPr/>
              <a:t>: Conceptualization, Software, Writing - Original Draft, Visualization. </a:t>
            </a:r>
            <a:r>
              <a:rPr b="1"/>
              <a:t>Sara Lil Middleton</a:t>
            </a:r>
            <a:r>
              <a:rPr/>
              <a:t>: Writing - Review &amp; Editing, Supervision. </a:t>
            </a:r>
            <a:r>
              <a:rPr b="1"/>
              <a:t>Sarah von Grebmer zu Wolfsthurn</a:t>
            </a:r>
            <a:r>
              <a:rPr/>
              <a:t>: Conceptualisation, Writing - Review &amp; Editing, Supervision, Project Administration, Validation.</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 Template Slides: Title of submodule</dc:title>
  <dc:creator>LMU Open Science Center</dc:creator>
  <cp:keywords/>
  <dcterms:created xsi:type="dcterms:W3CDTF">2026-01-28T15:56:06Z</dcterms:created>
  <dcterms:modified xsi:type="dcterms:W3CDTF">2026-01-28T15:56:06Z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28/01/2026</vt:lpwstr>
  </property>
  <property fmtid="{D5CDD505-2E9C-101B-9397-08002B2CF9AE}" pid="6" name="date-format">
    <vt:lpwstr>DD/MM/YYYY</vt:lpwstr>
  </property>
  <property fmtid="{D5CDD505-2E9C-101B-9397-08002B2CF9AE}" pid="7" name="execute">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toc-title">
    <vt:lpwstr>Table of contents</vt:lpwstr>
  </property>
</Properties>
</file>