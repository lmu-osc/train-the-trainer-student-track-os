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09" r:id="rId2"/>
    <p:sldId id="310" r:id="rId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E95D4-AD82-4D17-9F59-A65058191F77}" type="datetimeFigureOut">
              <a:rPr lang="en-DE" smtClean="0"/>
              <a:t>11/08/2026</a:t>
            </a:fld>
            <a:endParaRPr lang="en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048EC-9ABF-495D-97AC-28F09E147255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6529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67fd160d5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g367fd160d50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g367fd160d50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3298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680B61-CDE6-4CF4-9ABA-A1CF73590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8A7BA9-6B0F-49CD-A906-41A33E979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B69E99-CABD-4E66-BC5D-5B39CBE5E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7023-85E0-4445-84A3-394AB2119C4F}" type="datetimeFigureOut">
              <a:rPr lang="en-DE" smtClean="0"/>
              <a:t>11/08/2026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8DA7BD-0EB5-499E-88ED-899C03C28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9EC5BC-3F7E-450E-ADD9-6C210B4E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BD125-C8F8-4429-8867-FF334CECD817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5701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28633-078D-472F-B7D0-744A5F87E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8EE188-A4A6-4202-9E4A-1F0A29048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B7343B-E1A4-4D90-A0F4-D29F96AF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7023-85E0-4445-84A3-394AB2119C4F}" type="datetimeFigureOut">
              <a:rPr lang="en-DE" smtClean="0"/>
              <a:t>11/08/2026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FCB4EB-8458-4C13-ABF7-A84291AAE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E652FC-67DC-4F53-BAC4-BAAB9F225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BD125-C8F8-4429-8867-FF334CECD817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1489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82BCD-6AA8-4F60-B0D3-FEB90BA7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AF0D05-A0DC-498F-AF88-3572B4F29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A68402-C1A8-4A8B-8E37-4A7C83A6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7023-85E0-4445-84A3-394AB2119C4F}" type="datetimeFigureOut">
              <a:rPr lang="en-DE" smtClean="0"/>
              <a:t>11/08/2026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188272-1D53-47AF-A5DE-DFCD1FC37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BE6C53-D59A-4513-B880-CB0A0705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BD125-C8F8-4429-8867-FF334CECD817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57082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395F3B-AB79-4956-8AC8-E29396AE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84A39B-013F-4003-865D-A95CF5DA3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1E04B58-33D7-4162-9B96-9B33FB38F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D585C2-D2E9-45D0-BF01-887F50B40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7023-85E0-4445-84A3-394AB2119C4F}" type="datetimeFigureOut">
              <a:rPr lang="en-DE" smtClean="0"/>
              <a:t>11/08/2026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7B0917-1BA3-4C05-8DA4-3CA0F521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5CE000-AC64-4087-AF1D-3FC50F994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BD125-C8F8-4429-8867-FF334CECD817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7748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A43991-0D6D-4C2C-8E8C-F557F1B16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F5C43-88F9-4B12-B4D9-51049E249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31C8D42-219E-4043-9876-41B26BC9A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D6D479A-54E3-401F-BA28-81AF2E353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D6333BC-01FD-46A9-B442-1D39D8F917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DE3B650-9110-4BC5-9F2A-30A2F29C4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7023-85E0-4445-84A3-394AB2119C4F}" type="datetimeFigureOut">
              <a:rPr lang="en-DE" smtClean="0"/>
              <a:t>11/08/2026</a:t>
            </a:fld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FCD9063-8419-4C84-B63C-C25611699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FE991E2-3A65-4247-89B2-367F198E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BD125-C8F8-4429-8867-FF334CECD817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80085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B7B58A-CFED-48A1-8214-BDBE67995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F8DBF9-F04B-4B97-8ECB-29015C03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7023-85E0-4445-84A3-394AB2119C4F}" type="datetimeFigureOut">
              <a:rPr lang="en-DE" smtClean="0"/>
              <a:t>11/08/2026</a:t>
            </a:fld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3E10F7-CB71-4CAB-B8EC-D52595D6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E524287-16EE-445D-9CA9-3251E849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BD125-C8F8-4429-8867-FF334CECD817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12728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2E32116-F2F1-4968-844A-F39D12288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7023-85E0-4445-84A3-394AB2119C4F}" type="datetimeFigureOut">
              <a:rPr lang="en-DE" smtClean="0"/>
              <a:t>11/08/2026</a:t>
            </a:fld>
            <a:endParaRPr lang="en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4ED6357-C6BB-4D22-A785-ABF7720E2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508683-45F2-44DE-A460-9BC7B8F3C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BD125-C8F8-4429-8867-FF334CECD817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54556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782C61-42FD-42C8-8CA8-56C4EBD2F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2894D6-FDE0-4A79-A8D6-263262917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F2617B-D92E-47A7-9B1C-BE4079687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323A34-43EC-4BED-B0C5-FAD409BC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7023-85E0-4445-84A3-394AB2119C4F}" type="datetimeFigureOut">
              <a:rPr lang="en-DE" smtClean="0"/>
              <a:t>11/08/2026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A9867A-2372-47E1-829E-AC7FBD6B1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7EF331-92C4-4CAC-B184-4F99181D9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BD125-C8F8-4429-8867-FF334CECD817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1579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65CF33-3603-4A9F-AC9D-670BF651D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BBBF178-DA8A-49C6-9C06-ED3C460782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AA4ADD1-8E5A-4594-90F3-E8E3CA5B4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D92D562-9354-475E-9B19-0B7C51104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7023-85E0-4445-84A3-394AB2119C4F}" type="datetimeFigureOut">
              <a:rPr lang="en-DE" smtClean="0"/>
              <a:t>11/08/2026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A23B317-F459-4763-80F4-D0C9743C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B7ABF7-02D9-4719-A3E7-C2C1867B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BD125-C8F8-4429-8867-FF334CECD817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34434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67AE8E-CF9E-4252-BF01-9BF44F1E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FC5EA56-2733-4716-9B58-38F9CC054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7322C5-7E01-4CA6-82AC-6FE9DB23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7023-85E0-4445-84A3-394AB2119C4F}" type="datetimeFigureOut">
              <a:rPr lang="en-DE" smtClean="0"/>
              <a:t>11/08/2026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B86215-D3BA-45D0-8893-B1F1E3F0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FC2618-FD46-4E17-88DE-D82ED5429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BD125-C8F8-4429-8867-FF334CECD817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9810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61F6BB6-2655-42A6-A47C-AEA0B633D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4C7E0B-7AF1-477C-BB92-AE039DE57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01395A-6DF2-4813-B2B1-B79CCAA7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C7023-85E0-4445-84A3-394AB2119C4F}" type="datetimeFigureOut">
              <a:rPr lang="en-DE" smtClean="0"/>
              <a:t>11/08/2026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41F677-32EC-4B20-9F97-134B6F33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B749CB-34F4-469E-9F8F-C3F9727BE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BD125-C8F8-4429-8867-FF334CECD817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96675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593A5ED-4E5E-4726-AD6A-9356FDDF5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7C723F-B392-43CA-AB35-99EA8A2C1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BEC282-86AA-404F-B73B-6673393C40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C7023-85E0-4445-84A3-394AB2119C4F}" type="datetimeFigureOut">
              <a:rPr lang="en-DE" smtClean="0"/>
              <a:t>11/08/2026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70035B-F5A6-4E9D-B2F3-05ED2F0F1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54B48B-4513-4457-A666-655FBE6BA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BD125-C8F8-4429-8867-FF334CECD817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3112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67fd160d50_1_0"/>
          <p:cNvSpPr txBox="1"/>
          <p:nvPr/>
        </p:nvSpPr>
        <p:spPr>
          <a:xfrm>
            <a:off x="0" y="370943"/>
            <a:ext cx="12192000" cy="40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67"/>
              <a:buFont typeface="Arial"/>
              <a:buNone/>
            </a:pPr>
            <a:r>
              <a:rPr lang="en-US" b="1">
                <a:solidFill>
                  <a:srgbClr val="00883A"/>
                </a:solidFill>
                <a:ea typeface="Calibri"/>
                <a:cs typeface="Calibri"/>
                <a:sym typeface="Calibri"/>
              </a:rPr>
              <a:t>Open Science im Forschungskreislauf</a:t>
            </a:r>
            <a:endParaRPr b="1" i="0" u="none" strike="noStrike" cap="none">
              <a:solidFill>
                <a:srgbClr val="00000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67fd160d50_1_0"/>
          <p:cNvSpPr/>
          <p:nvPr/>
        </p:nvSpPr>
        <p:spPr>
          <a:xfrm>
            <a:off x="501875" y="1830400"/>
            <a:ext cx="11395500" cy="48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i="0" u="none" strike="noStrike" cap="none">
              <a:solidFill>
                <a:schemeClr val="dk1"/>
              </a:solidFill>
            </a:endParaRPr>
          </a:p>
        </p:txBody>
      </p:sp>
      <p:grpSp>
        <p:nvGrpSpPr>
          <p:cNvPr id="338" name="Google Shape;338;g367fd160d50_1_0"/>
          <p:cNvGrpSpPr/>
          <p:nvPr/>
        </p:nvGrpSpPr>
        <p:grpSpPr>
          <a:xfrm>
            <a:off x="3574378" y="2013972"/>
            <a:ext cx="4540112" cy="4060500"/>
            <a:chOff x="777913" y="1708"/>
            <a:chExt cx="4540112" cy="4060500"/>
          </a:xfrm>
        </p:grpSpPr>
        <p:sp>
          <p:nvSpPr>
            <p:cNvPr id="339" name="Google Shape;339;g367fd160d50_1_0"/>
            <p:cNvSpPr/>
            <p:nvPr/>
          </p:nvSpPr>
          <p:spPr>
            <a:xfrm>
              <a:off x="3560197" y="10416"/>
              <a:ext cx="830400" cy="83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g367fd160d50_1_0"/>
            <p:cNvSpPr txBox="1"/>
            <p:nvPr/>
          </p:nvSpPr>
          <p:spPr>
            <a:xfrm>
              <a:off x="3560197" y="10416"/>
              <a:ext cx="830400" cy="83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3500" tIns="63500" rIns="63500" bIns="635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Font typeface="Calibri"/>
                <a:buNone/>
              </a:pPr>
              <a:r>
                <a:rPr lang="en-US">
                  <a:solidFill>
                    <a:schemeClr val="dk1"/>
                  </a:solidFill>
                </a:rPr>
                <a:t> </a:t>
              </a:r>
              <a:endParaRPr/>
            </a:p>
          </p:txBody>
        </p:sp>
        <p:sp>
          <p:nvSpPr>
            <p:cNvPr id="341" name="Google Shape;341;g367fd160d50_1_0"/>
            <p:cNvSpPr/>
            <p:nvPr/>
          </p:nvSpPr>
          <p:spPr>
            <a:xfrm>
              <a:off x="1017708" y="1708"/>
              <a:ext cx="4060500" cy="406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1122" y="20805"/>
                  </a:moveTo>
                  <a:lnTo>
                    <a:pt x="101122" y="20805"/>
                  </a:lnTo>
                  <a:cubicBezTo>
                    <a:pt x="107237" y="27221"/>
                    <a:pt x="111766" y="34978"/>
                    <a:pt x="114347" y="43457"/>
                  </a:cubicBezTo>
                  <a:lnTo>
                    <a:pt x="117451" y="42745"/>
                  </a:lnTo>
                  <a:lnTo>
                    <a:pt x="113035" y="47818"/>
                  </a:lnTo>
                  <a:lnTo>
                    <a:pt x="106567" y="45244"/>
                  </a:lnTo>
                  <a:lnTo>
                    <a:pt x="109671" y="44532"/>
                  </a:lnTo>
                  <a:lnTo>
                    <a:pt x="109671" y="44532"/>
                  </a:lnTo>
                  <a:cubicBezTo>
                    <a:pt x="107291" y="36890"/>
                    <a:pt x="103180" y="29900"/>
                    <a:pt x="97658" y="24107"/>
                  </a:cubicBezTo>
                  <a:close/>
                </a:path>
              </a:pathLst>
            </a:custGeom>
            <a:solidFill>
              <a:srgbClr val="185334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g367fd160d50_1_0"/>
            <p:cNvSpPr/>
            <p:nvPr/>
          </p:nvSpPr>
          <p:spPr>
            <a:xfrm>
              <a:off x="4487625" y="1616769"/>
              <a:ext cx="830400" cy="83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g367fd160d50_1_0"/>
            <p:cNvSpPr txBox="1"/>
            <p:nvPr/>
          </p:nvSpPr>
          <p:spPr>
            <a:xfrm>
              <a:off x="4487625" y="1616769"/>
              <a:ext cx="830400" cy="83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3500" tIns="63500" rIns="63500" bIns="635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Font typeface="Calibri"/>
                <a:buNone/>
              </a:pPr>
              <a:r>
                <a:rPr lang="en-US">
                  <a:solidFill>
                    <a:schemeClr val="dk1"/>
                  </a:solidFill>
                </a:rPr>
                <a:t> </a:t>
              </a:r>
              <a:endParaRPr/>
            </a:p>
          </p:txBody>
        </p:sp>
        <p:sp>
          <p:nvSpPr>
            <p:cNvPr id="344" name="Google Shape;344;g367fd160d50_1_0"/>
            <p:cNvSpPr/>
            <p:nvPr/>
          </p:nvSpPr>
          <p:spPr>
            <a:xfrm>
              <a:off x="1017708" y="1708"/>
              <a:ext cx="4060500" cy="406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5367" y="72717"/>
                  </a:moveTo>
                  <a:lnTo>
                    <a:pt x="115367" y="72717"/>
                  </a:lnTo>
                  <a:cubicBezTo>
                    <a:pt x="113383" y="81356"/>
                    <a:pt x="109405" y="89410"/>
                    <a:pt x="103752" y="96236"/>
                  </a:cubicBezTo>
                  <a:lnTo>
                    <a:pt x="106057" y="98433"/>
                  </a:lnTo>
                  <a:lnTo>
                    <a:pt x="99390" y="97544"/>
                  </a:lnTo>
                  <a:lnTo>
                    <a:pt x="97974" y="90729"/>
                  </a:lnTo>
                  <a:lnTo>
                    <a:pt x="100279" y="92926"/>
                  </a:lnTo>
                  <a:lnTo>
                    <a:pt x="100279" y="92926"/>
                  </a:lnTo>
                  <a:cubicBezTo>
                    <a:pt x="105344" y="86729"/>
                    <a:pt x="108912" y="79447"/>
                    <a:pt x="110703" y="71646"/>
                  </a:cubicBezTo>
                  <a:close/>
                </a:path>
              </a:pathLst>
            </a:custGeom>
            <a:solidFill>
              <a:srgbClr val="185334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g367fd160d50_1_0"/>
            <p:cNvSpPr/>
            <p:nvPr/>
          </p:nvSpPr>
          <p:spPr>
            <a:xfrm>
              <a:off x="3560197" y="3223122"/>
              <a:ext cx="830400" cy="83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g367fd160d50_1_0"/>
            <p:cNvSpPr txBox="1"/>
            <p:nvPr/>
          </p:nvSpPr>
          <p:spPr>
            <a:xfrm>
              <a:off x="3560197" y="3223122"/>
              <a:ext cx="830400" cy="83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3500" tIns="63500" rIns="63500" bIns="635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Font typeface="Calibri"/>
                <a:buNone/>
              </a:pPr>
              <a:r>
                <a:rPr lang="en-US">
                  <a:solidFill>
                    <a:schemeClr val="dk1"/>
                  </a:solidFill>
                </a:rPr>
                <a:t> </a:t>
              </a:r>
              <a:endParaRPr/>
            </a:p>
          </p:txBody>
        </p:sp>
        <p:sp>
          <p:nvSpPr>
            <p:cNvPr id="347" name="Google Shape;347;g367fd160d50_1_0"/>
            <p:cNvSpPr/>
            <p:nvPr/>
          </p:nvSpPr>
          <p:spPr>
            <a:xfrm>
              <a:off x="1017708" y="1708"/>
              <a:ext cx="4060500" cy="406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75687" y="114600"/>
                  </a:moveTo>
                  <a:cubicBezTo>
                    <a:pt x="66727" y="117175"/>
                    <a:pt x="57271" y="117504"/>
                    <a:pt x="48153" y="115560"/>
                  </a:cubicBezTo>
                  <a:lnTo>
                    <a:pt x="47274" y="118621"/>
                  </a:lnTo>
                  <a:lnTo>
                    <a:pt x="44974" y="112301"/>
                  </a:lnTo>
                  <a:lnTo>
                    <a:pt x="50358" y="107888"/>
                  </a:lnTo>
                  <a:lnTo>
                    <a:pt x="49478" y="110949"/>
                  </a:lnTo>
                  <a:lnTo>
                    <a:pt x="49478" y="110949"/>
                  </a:lnTo>
                  <a:cubicBezTo>
                    <a:pt x="57729" y="112652"/>
                    <a:pt x="66269" y="112327"/>
                    <a:pt x="74366" y="110001"/>
                  </a:cubicBezTo>
                  <a:close/>
                </a:path>
              </a:pathLst>
            </a:custGeom>
            <a:solidFill>
              <a:srgbClr val="185334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g367fd160d50_1_0"/>
            <p:cNvSpPr/>
            <p:nvPr/>
          </p:nvSpPr>
          <p:spPr>
            <a:xfrm>
              <a:off x="1705341" y="3223122"/>
              <a:ext cx="830400" cy="83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g367fd160d50_1_0"/>
            <p:cNvSpPr txBox="1"/>
            <p:nvPr/>
          </p:nvSpPr>
          <p:spPr>
            <a:xfrm>
              <a:off x="1705341" y="3223122"/>
              <a:ext cx="830400" cy="83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3500" tIns="63500" rIns="63500" bIns="635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Font typeface="Calibri"/>
                <a:buNone/>
              </a:pPr>
              <a:r>
                <a:rPr lang="en-US">
                  <a:solidFill>
                    <a:schemeClr val="dk1"/>
                  </a:solidFill>
                </a:rPr>
                <a:t> </a:t>
              </a:r>
              <a:endParaRPr/>
            </a:p>
          </p:txBody>
        </p:sp>
        <p:sp>
          <p:nvSpPr>
            <p:cNvPr id="350" name="Google Shape;350;g367fd160d50_1_0"/>
            <p:cNvSpPr/>
            <p:nvPr/>
          </p:nvSpPr>
          <p:spPr>
            <a:xfrm>
              <a:off x="1017708" y="1708"/>
              <a:ext cx="4060500" cy="406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8878" y="99195"/>
                  </a:moveTo>
                  <a:lnTo>
                    <a:pt x="18878" y="99195"/>
                  </a:lnTo>
                  <a:cubicBezTo>
                    <a:pt x="12763" y="92779"/>
                    <a:pt x="8234" y="85022"/>
                    <a:pt x="5653" y="76543"/>
                  </a:cubicBezTo>
                  <a:lnTo>
                    <a:pt x="2549" y="77255"/>
                  </a:lnTo>
                  <a:lnTo>
                    <a:pt x="6965" y="72182"/>
                  </a:lnTo>
                  <a:lnTo>
                    <a:pt x="13433" y="74756"/>
                  </a:lnTo>
                  <a:lnTo>
                    <a:pt x="10329" y="75468"/>
                  </a:lnTo>
                  <a:lnTo>
                    <a:pt x="10329" y="75468"/>
                  </a:lnTo>
                  <a:cubicBezTo>
                    <a:pt x="12709" y="83110"/>
                    <a:pt x="16820" y="90100"/>
                    <a:pt x="22342" y="95893"/>
                  </a:cubicBezTo>
                  <a:close/>
                </a:path>
              </a:pathLst>
            </a:custGeom>
            <a:solidFill>
              <a:srgbClr val="185334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g367fd160d50_1_0"/>
            <p:cNvSpPr/>
            <p:nvPr/>
          </p:nvSpPr>
          <p:spPr>
            <a:xfrm>
              <a:off x="777913" y="1616769"/>
              <a:ext cx="830400" cy="83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g367fd160d50_1_0"/>
            <p:cNvSpPr txBox="1"/>
            <p:nvPr/>
          </p:nvSpPr>
          <p:spPr>
            <a:xfrm>
              <a:off x="777913" y="1616769"/>
              <a:ext cx="830400" cy="83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3500" tIns="63500" rIns="63500" bIns="635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Font typeface="Calibri"/>
                <a:buNone/>
              </a:pPr>
              <a:r>
                <a:rPr lang="en-US">
                  <a:solidFill>
                    <a:schemeClr val="dk1"/>
                  </a:solidFill>
                </a:rPr>
                <a:t> </a:t>
              </a:r>
              <a:endParaRPr/>
            </a:p>
          </p:txBody>
        </p:sp>
        <p:sp>
          <p:nvSpPr>
            <p:cNvPr id="353" name="Google Shape;353;g367fd160d50_1_0"/>
            <p:cNvSpPr/>
            <p:nvPr/>
          </p:nvSpPr>
          <p:spPr>
            <a:xfrm>
              <a:off x="1017708" y="1708"/>
              <a:ext cx="4060500" cy="406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4633" y="47283"/>
                  </a:moveTo>
                  <a:lnTo>
                    <a:pt x="4633" y="47283"/>
                  </a:lnTo>
                  <a:cubicBezTo>
                    <a:pt x="6617" y="38644"/>
                    <a:pt x="10595" y="30590"/>
                    <a:pt x="16248" y="23764"/>
                  </a:cubicBezTo>
                  <a:lnTo>
                    <a:pt x="13943" y="21567"/>
                  </a:lnTo>
                  <a:lnTo>
                    <a:pt x="20610" y="22456"/>
                  </a:lnTo>
                  <a:lnTo>
                    <a:pt x="22026" y="29271"/>
                  </a:lnTo>
                  <a:lnTo>
                    <a:pt x="19721" y="27074"/>
                  </a:lnTo>
                  <a:lnTo>
                    <a:pt x="19721" y="27074"/>
                  </a:lnTo>
                  <a:cubicBezTo>
                    <a:pt x="14656" y="33271"/>
                    <a:pt x="11088" y="40553"/>
                    <a:pt x="9297" y="48354"/>
                  </a:cubicBezTo>
                  <a:close/>
                </a:path>
              </a:pathLst>
            </a:custGeom>
            <a:solidFill>
              <a:srgbClr val="185334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g367fd160d50_1_0"/>
            <p:cNvSpPr/>
            <p:nvPr/>
          </p:nvSpPr>
          <p:spPr>
            <a:xfrm>
              <a:off x="1705341" y="10416"/>
              <a:ext cx="830400" cy="83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g367fd160d50_1_0"/>
            <p:cNvSpPr txBox="1"/>
            <p:nvPr/>
          </p:nvSpPr>
          <p:spPr>
            <a:xfrm>
              <a:off x="1705341" y="10416"/>
              <a:ext cx="830400" cy="83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3500" tIns="63500" rIns="63500" bIns="635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0"/>
                <a:buFont typeface="Calibri"/>
                <a:buNone/>
              </a:pPr>
              <a:r>
                <a:rPr lang="en-US">
                  <a:solidFill>
                    <a:schemeClr val="dk1"/>
                  </a:solidFill>
                </a:rPr>
                <a:t> </a:t>
              </a:r>
              <a:endParaRPr/>
            </a:p>
          </p:txBody>
        </p:sp>
        <p:sp>
          <p:nvSpPr>
            <p:cNvPr id="356" name="Google Shape;356;g367fd160d50_1_0"/>
            <p:cNvSpPr/>
            <p:nvPr/>
          </p:nvSpPr>
          <p:spPr>
            <a:xfrm>
              <a:off x="1017708" y="1708"/>
              <a:ext cx="4060500" cy="406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44313" y="5400"/>
                  </a:moveTo>
                  <a:lnTo>
                    <a:pt x="44313" y="5400"/>
                  </a:lnTo>
                  <a:cubicBezTo>
                    <a:pt x="53273" y="2825"/>
                    <a:pt x="62729" y="2496"/>
                    <a:pt x="71847" y="4440"/>
                  </a:cubicBezTo>
                  <a:lnTo>
                    <a:pt x="72726" y="1379"/>
                  </a:lnTo>
                  <a:lnTo>
                    <a:pt x="75026" y="7699"/>
                  </a:lnTo>
                  <a:lnTo>
                    <a:pt x="69642" y="12112"/>
                  </a:lnTo>
                  <a:lnTo>
                    <a:pt x="70522" y="9051"/>
                  </a:lnTo>
                  <a:lnTo>
                    <a:pt x="70522" y="9051"/>
                  </a:lnTo>
                  <a:cubicBezTo>
                    <a:pt x="62271" y="7348"/>
                    <a:pt x="53731" y="7673"/>
                    <a:pt x="45634" y="9999"/>
                  </a:cubicBezTo>
                  <a:close/>
                </a:path>
              </a:pathLst>
            </a:custGeom>
            <a:solidFill>
              <a:srgbClr val="185334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7" name="Google Shape;357;g367fd160d50_1_0"/>
          <p:cNvSpPr txBox="1"/>
          <p:nvPr/>
        </p:nvSpPr>
        <p:spPr>
          <a:xfrm>
            <a:off x="6503627" y="2049488"/>
            <a:ext cx="239132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Formulate hypotheses and make analysis plan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358" name="Google Shape;358;g367fd160d50_1_0"/>
          <p:cNvSpPr txBox="1"/>
          <p:nvPr/>
        </p:nvSpPr>
        <p:spPr>
          <a:xfrm>
            <a:off x="7476986" y="3875954"/>
            <a:ext cx="18147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Collect data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359" name="Google Shape;359;g367fd160d50_1_0"/>
          <p:cNvSpPr txBox="1"/>
          <p:nvPr/>
        </p:nvSpPr>
        <p:spPr>
          <a:xfrm>
            <a:off x="6612889" y="5500200"/>
            <a:ext cx="15927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Analyze data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360" name="Google Shape;360;g367fd160d50_1_0"/>
          <p:cNvSpPr txBox="1"/>
          <p:nvPr/>
        </p:nvSpPr>
        <p:spPr>
          <a:xfrm>
            <a:off x="3614542" y="5392478"/>
            <a:ext cx="2180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Interpret and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report results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361" name="Google Shape;361;g367fd160d50_1_0"/>
          <p:cNvSpPr txBox="1"/>
          <p:nvPr/>
        </p:nvSpPr>
        <p:spPr>
          <a:xfrm>
            <a:off x="3151569" y="2245144"/>
            <a:ext cx="2464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Replicate results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362" name="Google Shape;362;g367fd160d50_1_0"/>
          <p:cNvSpPr txBox="1"/>
          <p:nvPr/>
        </p:nvSpPr>
        <p:spPr>
          <a:xfrm>
            <a:off x="1440459" y="3884134"/>
            <a:ext cx="27363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Publish and disseminate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363" name="Google Shape;363;g367fd160d50_1_0"/>
          <p:cNvSpPr txBox="1"/>
          <p:nvPr/>
        </p:nvSpPr>
        <p:spPr>
          <a:xfrm>
            <a:off x="8796756" y="2139505"/>
            <a:ext cx="1917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rgbClr val="37A76F"/>
                </a:solidFill>
              </a:rPr>
              <a:t>Preregistration</a:t>
            </a:r>
            <a:endParaRPr b="1" i="1" dirty="0">
              <a:solidFill>
                <a:srgbClr val="37A76F"/>
              </a:solidFill>
            </a:endParaRPr>
          </a:p>
        </p:txBody>
      </p:sp>
      <p:sp>
        <p:nvSpPr>
          <p:cNvPr id="364" name="Google Shape;364;g367fd160d50_1_0"/>
          <p:cNvSpPr txBox="1"/>
          <p:nvPr/>
        </p:nvSpPr>
        <p:spPr>
          <a:xfrm>
            <a:off x="7959709" y="4377337"/>
            <a:ext cx="22887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>
                <a:solidFill>
                  <a:srgbClr val="37A76F"/>
                </a:solidFill>
              </a:rPr>
              <a:t>Open Lab Notebook</a:t>
            </a:r>
            <a:endParaRPr/>
          </a:p>
        </p:txBody>
      </p:sp>
      <p:sp>
        <p:nvSpPr>
          <p:cNvPr id="365" name="Google Shape;365;g367fd160d50_1_0"/>
          <p:cNvSpPr txBox="1"/>
          <p:nvPr/>
        </p:nvSpPr>
        <p:spPr>
          <a:xfrm>
            <a:off x="7912180" y="3063831"/>
            <a:ext cx="28761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rgbClr val="37A76F"/>
                </a:solidFill>
              </a:rPr>
              <a:t>Registered Report </a:t>
            </a:r>
            <a:br>
              <a:rPr lang="en-US" b="1" i="1" dirty="0">
                <a:solidFill>
                  <a:srgbClr val="37A76F"/>
                </a:solidFill>
              </a:rPr>
            </a:br>
            <a:r>
              <a:rPr lang="en-US" b="1" i="1" dirty="0">
                <a:solidFill>
                  <a:srgbClr val="37A76F"/>
                </a:solidFill>
              </a:rPr>
              <a:t>(phase 1)</a:t>
            </a:r>
            <a:endParaRPr dirty="0"/>
          </a:p>
        </p:txBody>
      </p:sp>
      <p:sp>
        <p:nvSpPr>
          <p:cNvPr id="366" name="Google Shape;366;g367fd160d50_1_0"/>
          <p:cNvSpPr txBox="1"/>
          <p:nvPr/>
        </p:nvSpPr>
        <p:spPr>
          <a:xfrm>
            <a:off x="6428825" y="5908514"/>
            <a:ext cx="2268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rgbClr val="37A76F"/>
                </a:solidFill>
              </a:rPr>
              <a:t>Open Analysis Code</a:t>
            </a:r>
            <a:endParaRPr dirty="0"/>
          </a:p>
        </p:txBody>
      </p:sp>
      <p:sp>
        <p:nvSpPr>
          <p:cNvPr id="367" name="Google Shape;367;g367fd160d50_1_0"/>
          <p:cNvSpPr txBox="1"/>
          <p:nvPr/>
        </p:nvSpPr>
        <p:spPr>
          <a:xfrm>
            <a:off x="1825269" y="5415026"/>
            <a:ext cx="13263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>
                <a:solidFill>
                  <a:srgbClr val="37A76F"/>
                </a:solidFill>
              </a:rPr>
              <a:t>Open Data</a:t>
            </a:r>
            <a:endParaRPr/>
          </a:p>
        </p:txBody>
      </p:sp>
      <p:sp>
        <p:nvSpPr>
          <p:cNvPr id="368" name="Google Shape;368;g367fd160d50_1_0"/>
          <p:cNvSpPr txBox="1"/>
          <p:nvPr/>
        </p:nvSpPr>
        <p:spPr>
          <a:xfrm>
            <a:off x="1782630" y="5854079"/>
            <a:ext cx="18318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>
                <a:solidFill>
                  <a:srgbClr val="37A76F"/>
                </a:solidFill>
              </a:rPr>
              <a:t>Open Materials</a:t>
            </a:r>
            <a:endParaRPr/>
          </a:p>
        </p:txBody>
      </p:sp>
      <p:sp>
        <p:nvSpPr>
          <p:cNvPr id="369" name="Google Shape;369;g367fd160d50_1_0"/>
          <p:cNvSpPr txBox="1"/>
          <p:nvPr/>
        </p:nvSpPr>
        <p:spPr>
          <a:xfrm>
            <a:off x="1973607" y="3551006"/>
            <a:ext cx="15009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rgbClr val="37A76F"/>
                </a:solidFill>
              </a:rPr>
              <a:t>Open Access</a:t>
            </a:r>
            <a:endParaRPr dirty="0"/>
          </a:p>
        </p:txBody>
      </p:sp>
      <p:sp>
        <p:nvSpPr>
          <p:cNvPr id="370" name="Google Shape;370;g367fd160d50_1_0"/>
          <p:cNvSpPr txBox="1"/>
          <p:nvPr/>
        </p:nvSpPr>
        <p:spPr>
          <a:xfrm>
            <a:off x="2010590" y="4696675"/>
            <a:ext cx="21603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rgbClr val="37A76F"/>
                </a:solidFill>
              </a:rPr>
              <a:t>Registered Report (phase 2)</a:t>
            </a:r>
            <a:endParaRPr b="1" i="1" dirty="0">
              <a:solidFill>
                <a:srgbClr val="37A76F"/>
              </a:solidFill>
            </a:endParaRPr>
          </a:p>
        </p:txBody>
      </p:sp>
      <p:sp>
        <p:nvSpPr>
          <p:cNvPr id="371" name="Google Shape;371;g367fd160d50_1_0"/>
          <p:cNvSpPr txBox="1"/>
          <p:nvPr/>
        </p:nvSpPr>
        <p:spPr>
          <a:xfrm>
            <a:off x="2559294" y="1975358"/>
            <a:ext cx="212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rgbClr val="37A76F"/>
                </a:solidFill>
              </a:rPr>
              <a:t>Replication study</a:t>
            </a:r>
            <a:endParaRPr b="1" i="1" dirty="0">
              <a:solidFill>
                <a:srgbClr val="37A76F"/>
              </a:solidFill>
            </a:endParaRPr>
          </a:p>
        </p:txBody>
      </p:sp>
      <p:sp>
        <p:nvSpPr>
          <p:cNvPr id="372" name="Google Shape;372;g367fd160d50_1_0"/>
          <p:cNvSpPr txBox="1"/>
          <p:nvPr/>
        </p:nvSpPr>
        <p:spPr>
          <a:xfrm>
            <a:off x="8796756" y="1771452"/>
            <a:ext cx="16719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rgbClr val="37A76F"/>
                </a:solidFill>
              </a:rPr>
              <a:t>Power analysis</a:t>
            </a:r>
            <a:endParaRPr b="1" i="1" dirty="0">
              <a:solidFill>
                <a:srgbClr val="37A7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06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Image result for COS logo open science">
            <a:extLst>
              <a:ext uri="{FF2B5EF4-FFF2-40B4-BE49-F238E27FC236}">
                <a16:creationId xmlns:a16="http://schemas.microsoft.com/office/drawing/2014/main" id="{55CF947F-F00E-4C75-A044-37D4EA7CD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931" y="1446237"/>
            <a:ext cx="3292700" cy="19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C1BBB97E-9A46-4D3A-A66D-35E92F30E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368" y="3244209"/>
            <a:ext cx="4254230" cy="934339"/>
          </a:xfrm>
          <a:prstGeom prst="rect">
            <a:avLst/>
          </a:prstGeom>
        </p:spPr>
      </p:pic>
      <p:pic>
        <p:nvPicPr>
          <p:cNvPr id="5" name="Picture 9">
            <a:extLst>
              <a:ext uri="{FF2B5EF4-FFF2-40B4-BE49-F238E27FC236}">
                <a16:creationId xmlns:a16="http://schemas.microsoft.com/office/drawing/2014/main" id="{CE73A928-A715-4103-B04A-2056D776A5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483" y="1421477"/>
            <a:ext cx="3919441" cy="934339"/>
          </a:xfrm>
          <a:prstGeom prst="rect">
            <a:avLst/>
          </a:prstGeom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0826CD4D-749E-436D-91F8-00A21D55C6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800" y="4863891"/>
            <a:ext cx="6311632" cy="1014812"/>
          </a:xfrm>
          <a:prstGeom prst="rect">
            <a:avLst/>
          </a:prstGeom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46EC7DF0-D33B-4F2D-AB78-58D8E07607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142" y="4000177"/>
            <a:ext cx="4644500" cy="863714"/>
          </a:xfrm>
          <a:prstGeom prst="rect">
            <a:avLst/>
          </a:prstGeom>
        </p:spPr>
      </p:pic>
      <p:pic>
        <p:nvPicPr>
          <p:cNvPr id="8" name="Picture 2" descr="Image result for Center for open science">
            <a:extLst>
              <a:ext uri="{FF2B5EF4-FFF2-40B4-BE49-F238E27FC236}">
                <a16:creationId xmlns:a16="http://schemas.microsoft.com/office/drawing/2014/main" id="{AE064219-E0DB-4C40-BEB1-FC0F534F33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1" t="20695"/>
          <a:stretch/>
        </p:blipFill>
        <p:spPr bwMode="auto">
          <a:xfrm>
            <a:off x="5405800" y="2577406"/>
            <a:ext cx="1380399" cy="1333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686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61</Words>
  <Application>Microsoft Office PowerPoint</Application>
  <PresentationFormat>Breitbild</PresentationFormat>
  <Paragraphs>24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Sarah von Grebmer</dc:creator>
  <cp:lastModifiedBy>Sarah von Grebmer</cp:lastModifiedBy>
  <cp:revision>2</cp:revision>
  <dcterms:created xsi:type="dcterms:W3CDTF">2026-08-11T12:11:37Z</dcterms:created>
  <dcterms:modified xsi:type="dcterms:W3CDTF">2026-08-11T13:12:14Z</dcterms:modified>
</cp:coreProperties>
</file>