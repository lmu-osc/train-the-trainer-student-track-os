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notesMaster" Target="notesMasters/notesMaster1.xml" /><Relationship Id="rId104" Type="http://schemas.openxmlformats.org/officeDocument/2006/relationships/viewProps" Target="viewProps.xml" /><Relationship Id="rId103" Type="http://schemas.openxmlformats.org/officeDocument/2006/relationships/presProps" Target="presProps.xml" /><Relationship Id="rId1" Type="http://schemas.openxmlformats.org/officeDocument/2006/relationships/slideMaster" Target="slideMasters/slideMaster1.xml" /><Relationship Id="rId106" Type="http://schemas.openxmlformats.org/officeDocument/2006/relationships/tableStyles" Target="tableStyles.xml" /><Relationship Id="rId10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speaker notes.</a:t>
            </a:r>
          </a:p>
          <a:p>
            <a:pPr lvl="0" indent="0" marL="0">
              <a:buNone/>
            </a:pPr>
          </a:p>
          <a:p>
            <a:pPr lvl="0" indent="0" marL="0">
              <a:buNone/>
            </a:pPr>
            <a:r>
              <a:rPr b="1"/>
              <a:t>Acessibility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These are the prerequisites for this submodule. Before you get started on this submodule with your audience, you need to ensure that the audience fulfills these criteria. Outline any essential prerequisites (software, tools, other submodules etc.) here in table format. If you prefer bullet points to list the prerequisites, delete the table and use bullet points instead.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first slide is dedicated to clarifying questions from the previous submodule and/or to discuss assignments. - Additional slides may need to be added depending on the nature of the homework assignments. - Critical for the learning process to ensure that students are on the same page and have been able to achieve the learning goals of the previous workshop. - 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The pre-submodule survey serves to examine students’ prior knowledge about the submodule’s topic. - Use free survey software such as particify or formR to establish the following questions (shown on separate slides).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Briefly examine the answers given to each question interactively with the group. - 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Place the topic of the current submodule within a broader context. - Remind students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Formulate specific, action-oriented goals learning goals which are measurable and observable in line with Bloom’s taxonomy (Anderson et al., 2001; Bloom et al., 1956) - Place an emphasis on the </a:t>
            </a:r>
            <a:r>
              <a:rPr b="1"/>
              <a:t>verbs</a:t>
            </a:r>
            <a:r>
              <a:rPr/>
              <a:t> of the learning goals and choose verbs that align with the skills you want to develop or assess. - Examples: - Students will </a:t>
            </a:r>
            <a:r>
              <a:rPr b="1"/>
              <a:t>describe</a:t>
            </a:r>
            <a:r>
              <a:rPr/>
              <a:t> the process of photosynthesis or - Students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Base yourself on conceptual change theory and examine existing concepts in relation to some key terms. Re-examine the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On successful execution, students should see no output from these commands.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On successful execution, students should see no output from these commands.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On successful execution, students should see no output from these commands.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On successful execution, students should see no output from these commands.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On successful execution, students should see no output from these commands.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On successful execution, students should see no output from these commands.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 Projects simplify working with multiple files - A project is a folder on your computer that contains all files related to a specific analysis project and a shortcut that allows you to open the project directly in RStudio. </a:t>
            </a:r>
            <a:r>
              <a:rPr b="1"/>
              <a:t>Instructor Notes</a:t>
            </a:r>
            <a:r>
              <a:rPr/>
              <a:t>: </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Add here.</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Design more practical exercises for students to apply the new skills in practice. - Depending on the topic, the exercises should be in accordance with the learning objective(s). - Add a description of the task, as well as a checklist as an overview of that your students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pre-break survey serves to examine students’ current understanding of key concepts of the submodule - Use free survey software such as particify or formR to establish the following questions (shown on separate slides)</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To clarify concepts and aspects that are not yet understood - Highlight specific answers given during the survey</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Design more practical exercises for students to apply the new skills in practice. - Depending on the topic, the exercises should be in accordance with the learning objective(s). - Add a description of the task, as well as a checklist as an overview of that your students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To work out the relevance of the topic to your students. - In an interactive setting, discuss how the new skills could be applied in practise with specific examples. -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presentation here. </a:t>
            </a:r>
            <a:r>
              <a:rPr b="1"/>
              <a:t>Instructor Notes</a:t>
            </a:r>
            <a:r>
              <a:rPr/>
              <a:t>:  - </a:t>
            </a:r>
            <a:r>
              <a:rPr b="1"/>
              <a:t>Aim</a:t>
            </a:r>
            <a:r>
              <a:rPr/>
              <a:t>: Explain the homework assignment and the rationale behind the homework. - Examine whether/how it will be assessed - Mention scoring rubrics, if applicable - Design a peer-review system for assignments to place students in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End lesson on clear take-home message that are interactively compiled by students.</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post-submodule survey serves to examine students’ current knowledge about the sumodule’s topic. - Use free survey software such as particify or formR to establish the following questions (shown on separate slides) - Use identical questions as in the pre-submodule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Instructer Notes</a:t>
            </a:r>
            <a:r>
              <a:rPr/>
              <a:t>:  - </a:t>
            </a:r>
            <a:r>
              <a:rPr b="1"/>
              <a:t>Aim</a:t>
            </a:r>
            <a:r>
              <a:rPr/>
              <a:t>: Briefly examine the answers given to each question interactively with the group. - 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Highlight particularly relevant reading for your students in bold.</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orcid.org/0000-0002-6413-3895" TargetMode="External" /><Relationship Id="rId4" Type="http://schemas.openxmlformats.org/officeDocument/2006/relationships/hyperlink" Target="https://github.com/mikecroucher" TargetMode="External" /><Relationship Id="rId5" Type="http://schemas.openxmlformats.org/officeDocument/2006/relationships/hyperlink" Target="https://creativecommons.org/licenses/by-sa/4.0/deed.en" TargetMode="External" /><Relationship Id="rId6" Type="http://schemas.openxmlformats.org/officeDocument/2006/relationships/hyperlink" Target="https://www.osc.uni-muenchen.de/about_us/coordinator/index.html" TargetMode="External" /><Relationship Id="rId7" Type="http://schemas.openxmlformats.org/officeDocument/2006/relationships/hyperlink" Target="https://creativecommons.org/licenses/by/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hyperlink" Target="https://github.com/join"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hyperlink" Target="https://osf.io/dcqt9"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 Id="rId3" Type="http://schemas.openxmlformats.org/officeDocument/2006/relationships/image" Target="../media/image1.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hyperlink" Target="http://git-scm.com/downloads"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hyperlink" Target="http://git-scm.com/downloads"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hyperlink" Target="github.com"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0.xml" /><Relationship Id="rId3" Type="http://schemas.openxmlformats.org/officeDocument/2006/relationships/image" Target="../media/image2.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hyperlink" Target="https://smallstep.com/blog/ssh-agent-explained/" TargetMode="Externa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7.xml" /><Relationship Id="rId3" Type="http://schemas.openxmlformats.org/officeDocument/2006/relationships/image" Target="../media/image4.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8.xml" /><Relationship Id="rId3" Type="http://schemas.openxmlformats.org/officeDocument/2006/relationships/image" Target="../media/image5.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0.xml" /><Relationship Id="rId3" Type="http://schemas.openxmlformats.org/officeDocument/2006/relationships/image" Target="../media/image7.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3.xml" /><Relationship Id="rId3" Type="http://schemas.openxmlformats.org/officeDocument/2006/relationships/image" Target="../media/image8.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4.xml" /><Relationship Id="rId3" Type="http://schemas.openxmlformats.org/officeDocument/2006/relationships/image" Target="../media/image9.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5.xml" /><Relationship Id="rId3" Type="http://schemas.openxmlformats.org/officeDocument/2006/relationships/image" Target="../media/image10.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6.xml" /><Relationship Id="rId3" Type="http://schemas.openxmlformats.org/officeDocument/2006/relationships/image" Target="../media/image11.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7.xml" /><Relationship Id="rId3" Type="http://schemas.openxmlformats.org/officeDocument/2006/relationships/image" Target="../media/image12.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8.xml" /><Relationship Id="rId3" Type="http://schemas.openxmlformats.org/officeDocument/2006/relationships/image" Target="../media/image13.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1.xml" /><Relationship Id="rId3" Type="http://schemas.openxmlformats.org/officeDocument/2006/relationships/image" Target="../media/image14.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2.xml" /><Relationship Id="rId3" Type="http://schemas.openxmlformats.org/officeDocument/2006/relationships/image" Target="../media/image15.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5.xml" /><Relationship Id="rId3" Type="http://schemas.openxmlformats.org/officeDocument/2006/relationships/image" Target="../media/image17.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version control with Git in RStudio</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LMU Open Science Center</a:t>
            </a:r>
          </a:p>
        </p:txBody>
      </p:sp>
      <p:sp>
        <p:nvSpPr>
          <p:cNvPr id="4" name="Date Placeholder 3"/>
          <p:cNvSpPr>
            <a:spLocks noGrp="1"/>
          </p:cNvSpPr>
          <p:nvPr>
            <p:ph idx="10" sz="half" type="dt"/>
          </p:nvPr>
        </p:nvSpPr>
        <p:spPr/>
        <p:txBody>
          <a:bodyPr/>
          <a:lstStyle/>
          <a:p>
            <a:pPr lvl="0" indent="0" marL="0">
              <a:buNone/>
            </a:pPr>
            <a:r>
              <a:rPr/>
              <a:t>01/10/2025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 and licence</a:t>
            </a:r>
          </a:p>
          <a:p>
            <a:pPr lvl="0" indent="0" marL="0">
              <a:buNone/>
            </a:pPr>
          </a:p>
          <a:p>
            <a:pPr lvl="0" indent="0" marL="0">
              <a:buNone/>
            </a:pPr>
            <a:r>
              <a:rPr b="1"/>
              <a:t>Creator</a:t>
            </a:r>
            <a:r>
              <a:rPr/>
              <a:t>: Von Grebmer zu Wolfsthurn, Sarah (ORCID Logo </a:t>
            </a:r>
            <a:r>
              <a:rPr>
                <a:hlinkClick r:id="rId3"/>
              </a:rPr>
              <a:t>ORCID 0000-0002-6413-3895</a:t>
            </a:r>
            <a:r>
              <a:rPr/>
              <a:t>)</a:t>
            </a:r>
          </a:p>
          <a:p>
            <a:pPr lvl="0" indent="0" marL="0">
              <a:buNone/>
            </a:pPr>
            <a:r>
              <a:rPr b="1"/>
              <a:t>Reviewer</a:t>
            </a:r>
            <a:r>
              <a:rPr/>
              <a:t>: Name, first name (ORCID Logo orcid)</a:t>
            </a:r>
          </a:p>
          <a:p>
            <a:pPr lvl="0" indent="0" marL="0">
              <a:buNone/>
            </a:pPr>
            <a:r>
              <a:rPr b="1"/>
              <a:t>Consultant</a:t>
            </a:r>
            <a:r>
              <a:rPr/>
              <a:t>: Name, first name (ORCID Logo orcid)</a:t>
            </a:r>
          </a:p>
          <a:p>
            <a:pPr lvl="0" indent="0" marL="0">
              <a:buNone/>
            </a:pPr>
          </a:p>
          <a:p>
            <a:pPr lvl="0" indent="0" marL="0">
              <a:buNone/>
            </a:pPr>
            <a:r>
              <a:rPr/>
              <a:t>This work was originally created by </a:t>
            </a:r>
            <a:r>
              <a:rPr>
                <a:hlinkClick r:id="rId4"/>
              </a:rPr>
              <a:t>Mike Croucher</a:t>
            </a:r>
            <a:r>
              <a:rPr/>
              <a:t> under a CC-BY-SA 4.0 </a:t>
            </a:r>
            <a:r>
              <a:rPr>
                <a:hlinkClick r:id="rId5"/>
              </a:rPr>
              <a:t>Creative Commons Attribution 4.0 International License</a:t>
            </a:r>
            <a:r>
              <a:rPr/>
              <a:t>. It was subsequently adapted by </a:t>
            </a:r>
            <a:r>
              <a:rPr>
                <a:hlinkClick r:id="rId6"/>
              </a:rPr>
              <a:t>Malika Ihle</a:t>
            </a:r>
            <a:r>
              <a:rPr/>
              <a:t> during her time at Reproducible Research Oxford. This current work by Sarah von Grebmer zu Wolfsthurn, Sara Lil Middleton and Malika Ihle is licensed under a CC-BY 4.0 </a:t>
            </a:r>
            <a:r>
              <a:rPr>
                <a:hlinkClick r:id="rId7"/>
              </a:rPr>
              <a:t>Creative Commons Attribution 4.0 International License</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R</a:t>
                      </a:r>
                    </a:p>
                  </a:txBody>
                </a:tc>
                <a:tc>
                  <a:txBody>
                    <a:bodyPr/>
                    <a:lstStyle/>
                    <a:p>
                      <a:pPr lvl="0" indent="0" marL="0">
                        <a:buNone/>
                      </a:pPr>
                      <a:r>
                        <a:rPr/>
                        <a:t>Introduction to R - Part I</a:t>
                      </a:r>
                    </a:p>
                  </a:txBody>
                </a:tc>
                <a:tc>
                  <a:txBody>
                    <a:bodyPr/>
                    <a:lstStyle/>
                    <a:p>
                      <a:pPr lvl="0" indent="0" marL="0">
                        <a:buNone/>
                      </a:pPr>
                      <a:r>
                        <a:rPr/>
                        <a:t>Module + Submodule</a:t>
                      </a:r>
                    </a:p>
                  </a:txBody>
                </a:tc>
              </a:tr>
              <a:tr h="0">
                <a:tc>
                  <a:txBody>
                    <a:bodyPr/>
                    <a:lstStyle/>
                    <a:p>
                      <a:pPr lvl="0" indent="0" marL="0">
                        <a:buNone/>
                      </a:pPr>
                      <a:r>
                        <a:rPr/>
                        <a:t>R</a:t>
                      </a:r>
                    </a:p>
                  </a:txBody>
                </a:tc>
                <a:tc>
                  <a:txBody>
                    <a:bodyPr/>
                    <a:lstStyle/>
                    <a:p>
                      <a:pPr lvl="0" indent="0" marL="0">
                        <a:buNone/>
                      </a:pPr>
                      <a:r>
                        <a:rPr/>
                        <a:t>Introduction to R - Part II</a:t>
                      </a:r>
                    </a:p>
                  </a:txBody>
                </a:tc>
                <a:tc>
                  <a:txBody>
                    <a:bodyPr/>
                    <a:lstStyle/>
                    <a:p>
                      <a:pPr lvl="0" indent="0" marL="0">
                        <a:buNone/>
                      </a:pPr>
                      <a:r>
                        <a:rPr/>
                        <a:t>Module + Submodule</a:t>
                      </a:r>
                    </a:p>
                  </a:txBody>
                </a:tc>
              </a:tr>
              <a:tr h="0">
                <a:tc>
                  <a:txBody>
                    <a:bodyPr/>
                    <a:lstStyle/>
                    <a:p>
                      <a:pPr lvl="0" indent="0" marL="0">
                        <a:buNone/>
                      </a:pPr>
                      <a:r>
                        <a:rPr/>
                        <a:t>GitHub account</a:t>
                      </a:r>
                    </a:p>
                  </a:txBody>
                </a:tc>
                <a:tc>
                  <a:txBody>
                    <a:bodyPr/>
                    <a:lstStyle/>
                    <a:p>
                      <a:pPr lvl="0" indent="0" marL="0">
                        <a:buNone/>
                      </a:pPr>
                      <a:r>
                        <a:rPr/>
                        <a:t>Free account for GitHub platform</a:t>
                      </a:r>
                    </a:p>
                  </a:txBody>
                </a:tc>
                <a:tc>
                  <a:txBody>
                    <a:bodyPr/>
                    <a:lstStyle/>
                    <a:p>
                      <a:pPr lvl="0" indent="0" marL="0">
                        <a:buNone/>
                      </a:pPr>
                      <a:r>
                        <a:rPr/>
                        <a:t>Download from </a:t>
                      </a:r>
                      <a:r>
                        <a:rPr>
                          <a:hlinkClick r:id="rId3"/>
                        </a:rPr>
                        <a:t>https://github.com/join</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Introductory video</a:t>
            </a:r>
          </a:p>
          <a:p>
            <a:pPr lvl="0" indent="0" marL="0">
              <a:buNone/>
            </a:pPr>
            <a:r>
              <a:rPr/>
              <a:t>Before starting this session, please watch the following video on OSF. </a:t>
            </a:r>
            <a:r>
              <a:rPr>
                <a:hlinkClick r:id="rId3"/>
              </a:rPr>
              <a:t>Click here to watch the video</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a:r>
              <a:rPr b="1"/>
              <a:t>Aim</a:t>
            </a:r>
            <a:r>
              <a:rPr/>
              <a:t>: The pre-submodule survey serves to examine students’ prior knowledge about the submodule’s topic.</a:t>
            </a:r>
          </a:p>
          <a:p>
            <a:pPr lvl="0"/>
            <a:r>
              <a:rPr/>
              <a:t>Use free survey software such as particify or formR to establish the following questions (shown on separate slides).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Use visuals from the survey to highlight specific answers.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a:r>
              <a:rPr b="1"/>
              <a:t>Aim</a:t>
            </a:r>
            <a:r>
              <a:rPr/>
              <a:t>: Place the topic of the current submodule within a broader context.</a:t>
            </a:r>
          </a:p>
          <a:p>
            <a:pPr lvl="0"/>
            <a:r>
              <a:rPr/>
              <a:t>Remind students what you are working towards and what the bigger picture is.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a:t>Installing and configuring Git</a:t>
            </a:r>
          </a:p>
          <a:p>
            <a:pPr lvl="0"/>
            <a:r>
              <a:rPr/>
              <a:t>Version control with Git from within RStudio</a:t>
            </a:r>
          </a:p>
          <a:p>
            <a:pPr lvl="0"/>
            <a:r>
              <a:rPr/>
              <a:t>Reproducible workflows with RProjects</a:t>
            </a:r>
          </a:p>
          <a:p>
            <a:pPr lvl="0"/>
            <a:r>
              <a:rPr/>
              <a:t>Backing up your work on the GitHub server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Install</a:t>
            </a:r>
            <a:r>
              <a:rPr/>
              <a:t> and </a:t>
            </a:r>
            <a:r>
              <a:rPr b="1"/>
              <a:t>configure</a:t>
            </a:r>
            <a:r>
              <a:rPr/>
              <a:t> Git</a:t>
            </a:r>
          </a:p>
          <a:p>
            <a:pPr lvl="0"/>
            <a:r>
              <a:rPr b="1"/>
              <a:t>Set up</a:t>
            </a:r>
            <a:r>
              <a:rPr/>
              <a:t> the connection between your computer and GitHub</a:t>
            </a:r>
          </a:p>
          <a:p>
            <a:pPr lvl="0"/>
            <a:r>
              <a:rPr b="1"/>
              <a:t>Create</a:t>
            </a:r>
            <a:r>
              <a:rPr/>
              <a:t> an RProject under version control</a:t>
            </a:r>
          </a:p>
          <a:p>
            <a:pPr lvl="0"/>
            <a:r>
              <a:rPr b="1"/>
              <a:t>Make</a:t>
            </a:r>
            <a:r>
              <a:rPr/>
              <a:t> changes within RStudio and </a:t>
            </a:r>
            <a:r>
              <a:rPr b="1"/>
              <a:t>commit</a:t>
            </a:r>
            <a:r>
              <a:rPr/>
              <a:t> changes locally</a:t>
            </a:r>
          </a:p>
          <a:p>
            <a:pPr lvl="0"/>
            <a:r>
              <a:rPr b="1"/>
              <a:t>Connect</a:t>
            </a:r>
            <a:r>
              <a:rPr/>
              <a:t> local and remote repositories for your work</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Reproducible workflows</a:t>
            </a:r>
            <a:r>
              <a:rPr/>
              <a:t>: Structured process ensuring that the methods can be consistently replicated by others using the same approach, data and tools</a:t>
            </a:r>
          </a:p>
          <a:p>
            <a:pPr lvl="0"/>
            <a:r>
              <a:rPr b="1"/>
              <a:t>R Project</a:t>
            </a:r>
            <a:r>
              <a:rPr/>
              <a:t>: Way to store all files related to one R project in one place (R scripts, files, workspace, history ..)</a:t>
            </a:r>
          </a:p>
          <a:p>
            <a:pPr lvl="0"/>
            <a:r>
              <a:rPr b="1"/>
              <a:t>Version control</a:t>
            </a:r>
            <a:r>
              <a:rPr/>
              <a:t>: System that records changes to files over time</a:t>
            </a:r>
          </a:p>
          <a:p>
            <a:pPr lvl="0"/>
            <a:r>
              <a:rPr b="1"/>
              <a:t>Git</a:t>
            </a:r>
            <a:r>
              <a:rPr/>
              <a:t>: Version control system that tracks and manages changes to files and code</a:t>
            </a:r>
          </a:p>
          <a:p>
            <a:pPr lvl="0"/>
            <a:r>
              <a:rPr b="1"/>
              <a:t>GitHub</a:t>
            </a:r>
            <a:r>
              <a:rPr/>
              <a:t>: Cloud-based version control platform for hosting Git repositories which includes collaboration features</a:t>
            </a:r>
          </a:p>
          <a:p>
            <a:pPr lvl="0"/>
            <a:r>
              <a:rPr b="1"/>
              <a:t>Repositories</a:t>
            </a:r>
            <a:r>
              <a:rPr/>
              <a:t>: Git terminology for a storage space for all project files tracked by Git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Git: What is it?</a:t>
            </a:r>
          </a:p>
          <a:p>
            <a:pPr lvl="0" indent="0" marL="0">
              <a:buNone/>
            </a:pPr>
            <a:r>
              <a:rPr b="1"/>
              <a:t>Git</a:t>
            </a:r>
            <a:r>
              <a:rPr/>
              <a:t> is a free and </a:t>
            </a:r>
            <a:r>
              <a:rPr b="1"/>
              <a:t>open source software</a:t>
            </a:r>
            <a:r>
              <a:rPr/>
              <a:t>. With Git, you can:</a:t>
            </a:r>
          </a:p>
          <a:p>
            <a:pPr lvl="0"/>
            <a:r>
              <a:rPr b="1"/>
              <a:t>Track changes</a:t>
            </a:r>
            <a:r>
              <a:rPr/>
              <a:t> to files across directories over time, seeing what was changed, when and by whom</a:t>
            </a:r>
          </a:p>
          <a:p>
            <a:pPr lvl="0"/>
            <a:r>
              <a:rPr b="1"/>
              <a:t>Collaborate</a:t>
            </a:r>
            <a:r>
              <a:rPr/>
              <a:t> efficiently within a team as multiple people can work on the same directories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GitHub: What is it?</a:t>
            </a:r>
          </a:p>
          <a:p>
            <a:pPr lvl="0" indent="0" marL="0">
              <a:buNone/>
            </a:pPr>
            <a:r>
              <a:rPr b="1"/>
              <a:t>GitHub</a:t>
            </a:r>
            <a:r>
              <a:rPr/>
              <a:t> is a </a:t>
            </a:r>
            <a:r>
              <a:rPr b="1"/>
              <a:t>cloud-based version control platform</a:t>
            </a:r>
            <a:r>
              <a:rPr/>
              <a:t> that uses Git to track changes an hosts Git repositories.</a:t>
            </a:r>
          </a:p>
          <a:p>
            <a:pPr lvl="0"/>
            <a:r>
              <a:rPr/>
              <a:t>Allows multiple people to </a:t>
            </a:r>
            <a:r>
              <a:rPr b="1"/>
              <a:t>collaborate</a:t>
            </a:r>
            <a:r>
              <a:rPr/>
              <a:t> on the same project</a:t>
            </a:r>
          </a:p>
          <a:p>
            <a:pPr lvl="0"/>
            <a:r>
              <a:rPr/>
              <a:t>Collaborators can </a:t>
            </a:r>
            <a:r>
              <a:rPr b="1"/>
              <a:t>share</a:t>
            </a:r>
            <a:r>
              <a:rPr/>
              <a:t> repositories, code etc. and ask for </a:t>
            </a:r>
            <a:r>
              <a:rPr b="1"/>
              <a:t>feedback</a:t>
            </a:r>
            <a:r>
              <a:rPr/>
              <a:t>, initiate discussions and point out bugs and issues</a:t>
            </a:r>
          </a:p>
          <a:p>
            <a:pPr lvl="0"/>
            <a:r>
              <a:rPr/>
              <a:t>GitHub </a:t>
            </a:r>
            <a:r>
              <a:rPr b="1"/>
              <a:t>stores</a:t>
            </a:r>
            <a:r>
              <a:rPr/>
              <a:t> all files remotely, making it accessible from anywhere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Git - GitHub workflow</a:t>
            </a:r>
          </a:p>
        </p:txBody>
      </p:sp>
      <p:pic>
        <p:nvPicPr>
          <p:cNvPr descr="https://raw.githubusercontent.com/lmu-osc/Introduction-RStudio-Git-GitHub/main/assets/GitHub-remote.png" id="0" name="Picture 1"/>
          <p:cNvPicPr>
            <a:picLocks noGrp="1" noChangeAspect="1"/>
          </p:cNvPicPr>
          <p:nvPr/>
        </p:nvPicPr>
        <p:blipFill>
          <a:blip r:embed="rId3"/>
          <a:stretch>
            <a:fillRect/>
          </a:stretch>
        </p:blipFill>
        <p:spPr bwMode="auto">
          <a:xfrm>
            <a:off x="3568700" y="977900"/>
            <a:ext cx="5105400" cy="28448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Windows</a:t>
            </a:r>
          </a:p>
          <a:p>
            <a:pPr lvl="0" indent="0" marL="0">
              <a:buNone/>
            </a:pPr>
            <a:r>
              <a:rPr/>
              <a:t>To install Git on Windows:</a:t>
            </a:r>
          </a:p>
          <a:p>
            <a:pPr lvl="0"/>
            <a:r>
              <a:rPr/>
              <a:t>Download Git from </a:t>
            </a:r>
            <a:r>
              <a:rPr>
                <a:hlinkClick r:id="rId3"/>
              </a:rPr>
              <a:t>http://git-scm.com/downloads</a:t>
            </a:r>
          </a:p>
          <a:p>
            <a:pPr lvl="0"/>
            <a:r>
              <a:rPr/>
              <a:t>Download and run .exe file</a:t>
            </a:r>
          </a:p>
          <a:p>
            <a:pPr lvl="0"/>
            <a:r>
              <a:rPr/>
              <a:t>Accept all the default settings and keep clicking ‘next’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MacOS</a:t>
            </a:r>
          </a:p>
          <a:p>
            <a:pPr lvl="0" indent="0" marL="0">
              <a:buNone/>
            </a:pPr>
            <a:r>
              <a:rPr/>
              <a:t>To install Git on MacOS:</a:t>
            </a:r>
          </a:p>
          <a:p>
            <a:pPr lvl="0"/>
            <a:r>
              <a:rPr/>
              <a:t>Download Git from </a:t>
            </a:r>
            <a:r>
              <a:rPr>
                <a:hlinkClick r:id="rId3"/>
              </a:rPr>
              <a:t>http://git-scm.com/downloads</a:t>
            </a:r>
          </a:p>
          <a:p>
            <a:pPr lvl="0"/>
            <a:r>
              <a:rPr/>
              <a:t>Select first option suggestsing to install git through installing homebrew</a:t>
            </a:r>
          </a:p>
          <a:p>
            <a:pPr lvl="0"/>
            <a:r>
              <a:rPr/>
              <a:t>Paste the line of command provided in their instructions in your terminal</a:t>
            </a:r>
          </a:p>
          <a:p>
            <a:pPr lvl="0"/>
            <a:r>
              <a:rPr/>
              <a:t>Accept the prompts appearing the terminal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Ubuntu</a:t>
            </a:r>
          </a:p>
          <a:p>
            <a:pPr lvl="0" indent="0" marL="0">
              <a:buNone/>
            </a:pPr>
            <a:r>
              <a:rPr/>
              <a:t>To install Git on Ubuntu:</a:t>
            </a:r>
          </a:p>
          <a:p>
            <a:pPr lvl="0" indent="0">
              <a:buNone/>
            </a:pPr>
            <a:r>
              <a:rPr>
                <a:latin typeface="Courier"/>
              </a:rPr>
              <a:t>sudo apt-get install git-core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Configuring Git</a:t>
            </a:r>
          </a:p>
          <a:p>
            <a:pPr lvl="0" indent="0" marL="0">
              <a:buNone/>
            </a:pPr>
            <a:r>
              <a:rPr b="1"/>
              <a:t>Step 1</a:t>
            </a:r>
            <a:r>
              <a:rPr/>
              <a:t>: By default, Git is used through the </a:t>
            </a:r>
            <a:r>
              <a:rPr b="1"/>
              <a:t>command line</a:t>
            </a:r>
            <a:r>
              <a:rPr/>
              <a:t> interface, but can be used through RStudio (later in this session).</a:t>
            </a:r>
          </a:p>
          <a:p>
            <a:pPr lvl="0"/>
            <a:r>
              <a:rPr b="1"/>
              <a:t>Windows</a:t>
            </a:r>
            <a:r>
              <a:rPr/>
              <a:t>: Open Git Bash (start menu -&gt; Git Bash)</a:t>
            </a:r>
          </a:p>
          <a:p>
            <a:pPr lvl="0"/>
            <a:r>
              <a:rPr b="1"/>
              <a:t>MacOS</a:t>
            </a:r>
            <a:r>
              <a:rPr/>
              <a:t>: Open the Terminal app</a:t>
            </a:r>
          </a:p>
          <a:p>
            <a:pPr lvl="0"/>
            <a:r>
              <a:rPr b="1"/>
              <a:t>Linux</a:t>
            </a:r>
            <a:r>
              <a:rPr/>
              <a:t>: Open your distribution’s terminal emulator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Configuring Git</a:t>
            </a:r>
          </a:p>
          <a:p>
            <a:pPr lvl="0" indent="0" marL="0">
              <a:buNone/>
            </a:pPr>
            <a:r>
              <a:rPr b="1"/>
              <a:t>Step 2</a:t>
            </a:r>
            <a:r>
              <a:rPr/>
              <a:t>: Next, enter the following commands with your email one after the other (hitting ENTER after each command):</a:t>
            </a:r>
          </a:p>
          <a:p>
            <a:pPr lvl="0" indent="0">
              <a:buNone/>
            </a:pPr>
            <a:r>
              <a:rPr>
                <a:latin typeface="Courier"/>
              </a:rPr>
              <a:t>git config --global user.email "you@youremail.com"
git config --global user.name "Your Name"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Securing the connection between your computer and GitHub</a:t>
            </a:r>
          </a:p>
          <a:p>
            <a:pPr lvl="0" indent="0" marL="0">
              <a:buNone/>
            </a:pPr>
            <a:r>
              <a:rPr/>
              <a:t>You need to identify yourself and your machine to GitHub before interacting with GitHub repositories.</a:t>
            </a:r>
          </a:p>
          <a:p>
            <a:pPr lvl="0"/>
            <a:r>
              <a:rPr b="1"/>
              <a:t>SSH keys</a:t>
            </a:r>
            <a:r>
              <a:rPr/>
              <a:t> are a common way to manifest your identification to GitHub</a:t>
            </a:r>
          </a:p>
          <a:p>
            <a:pPr lvl="0" indent="0" marL="1270000">
              <a:buNone/>
            </a:pPr>
            <a:r>
              <a:rPr sz="2000" b="1"/>
              <a:t>Important</a:t>
            </a:r>
          </a:p>
          <a:p>
            <a:pPr lvl="0" indent="0" marL="1270000">
              <a:buNone/>
            </a:pPr>
            <a:r>
              <a:rPr sz="2000" b="1"/>
              <a:t>SSH keys</a:t>
            </a:r>
            <a:r>
              <a:rPr sz="2000"/>
              <a:t> come in pairs, a public key that gets shared with services like GitHub, and a private key that is stored only on your computer. If the keys match, you’re granted access. Setting up the SSH key has to be executed once per GitHub account and for </a:t>
            </a:r>
            <a:r>
              <a:rPr sz="2000" b="1"/>
              <a:t>each</a:t>
            </a:r>
            <a:r>
              <a:rPr sz="2000"/>
              <a:t> computer you will use to connect to GitHub.</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1</a:t>
            </a:r>
            <a:r>
              <a:rPr/>
              <a:t>: Before generating a new SSH key pair, check for existing key in your .ssh directory.</a:t>
            </a:r>
          </a:p>
          <a:p>
            <a:pPr lvl="0"/>
            <a:r>
              <a:rPr b="1"/>
              <a:t>Windows</a:t>
            </a:r>
            <a:r>
              <a:rPr/>
              <a:t>: Open Git Bash (start menu &gt; Git Bash)</a:t>
            </a:r>
          </a:p>
          <a:p>
            <a:pPr lvl="0"/>
            <a:r>
              <a:rPr b="1"/>
              <a:t>MacOS</a:t>
            </a:r>
            <a:r>
              <a:rPr/>
              <a:t>: Open Terminal App</a:t>
            </a:r>
          </a:p>
          <a:p>
            <a:pPr lvl="0"/>
            <a:r>
              <a:rPr b="1"/>
              <a:t>Linux</a:t>
            </a:r>
            <a:r>
              <a:rPr/>
              <a:t>: Open your distribution’s (or any other) terminal emulator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2</a:t>
            </a:r>
            <a:r>
              <a:rPr/>
              <a:t>: Enter the following command to list the content of the ssh directory:</a:t>
            </a:r>
          </a:p>
          <a:p>
            <a:pPr lvl="0" indent="0">
              <a:buNone/>
            </a:pPr>
            <a:r>
              <a:rPr>
                <a:latin typeface="Courier"/>
              </a:rPr>
              <a:t>ls ~/.ssh</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3</a:t>
            </a:r>
            <a:r>
              <a:rPr/>
              <a:t>: If there are existing ssh keys, they are named one of the following:</a:t>
            </a:r>
          </a:p>
          <a:p>
            <a:pPr lvl="0" indent="0">
              <a:buNone/>
            </a:pPr>
            <a:r>
              <a:rPr>
                <a:latin typeface="Courier"/>
              </a:rPr>
              <a:t>id_rsa.pub
id_ecdsa.pub
id_ed25519.pub</a:t>
            </a:r>
          </a:p>
          <a:p>
            <a:pPr lvl="0" indent="0" marL="1270000">
              <a:buNone/>
            </a:pPr>
            <a:r>
              <a:rPr sz="2000" b="1"/>
              <a:t>Important</a:t>
            </a:r>
          </a:p>
          <a:p>
            <a:pPr lvl="0" indent="0" marL="1270000">
              <a:buNone/>
            </a:pPr>
            <a:r>
              <a:rPr sz="2000"/>
              <a:t>If you already have an SSH key pair, you can skip the section on how to generate a new SSH key pair. If you don’t have an existing public and private key pair (which is to be expected!), or if you receive an error that ~/.ssh doesn’t exist, that this file location doesn’t exist, or that you can’t access this folder, go ahead and generate a new SSH key pair.</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1</a:t>
            </a:r>
            <a:r>
              <a:rPr/>
              <a:t>: In the command line, type the following (replacing the email here with your </a:t>
            </a:r>
            <a:r>
              <a:rPr i="1"/>
              <a:t>own</a:t>
            </a:r>
            <a:r>
              <a:rPr/>
              <a:t> email) to create a new SSH key pair with your email as a label.</a:t>
            </a:r>
          </a:p>
          <a:p>
            <a:pPr lvl="0" indent="0">
              <a:buNone/>
            </a:pPr>
            <a:r>
              <a:rPr>
                <a:latin typeface="Courier"/>
              </a:rPr>
              <a:t>ssh-keygen -t ed25519 -C "your_email@email.com"</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2</a:t>
            </a:r>
            <a:r>
              <a:rPr/>
              <a:t>: When prompted to </a:t>
            </a:r>
            <a:r>
              <a:rPr i="1"/>
              <a:t>Enter a file in which to save key</a:t>
            </a:r>
            <a:r>
              <a:rPr/>
              <a:t>, press ENTER to accept the default file location. That should give you this prompt:</a:t>
            </a:r>
          </a:p>
          <a:p>
            <a:pPr lvl="0" indent="0">
              <a:buNone/>
            </a:pPr>
            <a:r>
              <a:rPr>
                <a:latin typeface="Courier"/>
              </a:rPr>
              <a:t>Generating public/private ed25519 key pair.  
Enter file in which to save the key (/Users/username/.ssh/id_ed25519):</a:t>
            </a:r>
          </a:p>
          <a:p>
            <a:pPr lvl="0" indent="0" marL="1270000">
              <a:buNone/>
            </a:pPr>
            <a:r>
              <a:rPr sz="2000" b="1"/>
              <a:t>Tip</a:t>
            </a:r>
          </a:p>
          <a:p>
            <a:pPr lvl="0" indent="0" marL="1270000">
              <a:buNone/>
            </a:pPr>
            <a:r>
              <a:rPr sz="2000"/>
              <a:t>Pay close attention to spacing and capital letters while typing.</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3</a:t>
            </a:r>
            <a:r>
              <a:rPr/>
              <a:t>: Next, you are asked to provide a passphrase in the terminal. Protecting your keys with a password is optional but highly recommended. Press ENTER after confirming your password.</a:t>
            </a:r>
          </a:p>
          <a:p>
            <a:pPr lvl="0" indent="0">
              <a:buNone/>
            </a:pPr>
            <a:r>
              <a:rPr>
                <a:latin typeface="Courier"/>
              </a:rPr>
              <a:t>Enter passphrase (empty for no passphrase):  
Enter same passphrase again:</a:t>
            </a:r>
          </a:p>
          <a:p>
            <a:pPr lvl="0" indent="0" marL="1270000">
              <a:buNone/>
            </a:pPr>
            <a:r>
              <a:rPr sz="2000" b="1"/>
              <a:t>Warning</a:t>
            </a:r>
          </a:p>
          <a:p>
            <a:pPr lvl="0" indent="0" marL="1270000">
              <a:buNone/>
            </a:pPr>
            <a:r>
              <a:rPr sz="2000"/>
              <a:t>when you type passwords in the command line, </a:t>
            </a:r>
            <a:r>
              <a:rPr sz="2000" b="1"/>
              <a:t>nothing</a:t>
            </a:r>
            <a:r>
              <a:rPr sz="2000"/>
              <a:t> is displayed, not even ***, you are however still typing in the background.</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4</a:t>
            </a:r>
            <a:r>
              <a:rPr/>
              <a:t>: When the key generation is complete, you should see the following confirmation:</a:t>
            </a:r>
          </a:p>
          <a:p>
            <a:pPr lvl="0" indent="0">
              <a:buNone/>
            </a:pPr>
            <a:r>
              <a:rPr>
                <a:latin typeface="Courier"/>
              </a:rPr>
              <a:t>Your identification has been saved in /Users/username/.ssh/id_ed25519.
Your public key has been saved in /Users/username/.ssh/id_ed25519.pub.
The key fingerprint is:
SHA256:6nr/zo0g7Bz7WMRwy34maBhQy1UZyX47gT+egRdlIhs your_email@email.com
The key's randomart image is:
+--[ED25519 256]--+
|    .o++         |
|   o oF . o      |
|  . o+ =.+.      |
|   .  + += .     |
|    .  +S++      |
|   . ..oB=       |
|    . ++*=.      |
|     o.==* o     |
|    .o.o+** .    |
+----[SHA256]-----+</a:t>
            </a:r>
          </a:p>
          <a:p>
            <a:pPr lvl="0" indent="0" marL="1270000">
              <a:buNone/>
            </a:pPr>
            <a:r>
              <a:rPr sz="2000" b="1"/>
              <a:t>Note</a:t>
            </a:r>
          </a:p>
          <a:p>
            <a:pPr lvl="0" indent="0" marL="1270000">
              <a:buNone/>
            </a:pPr>
            <a:r>
              <a:rPr sz="2000"/>
              <a:t>Done! You have successfully </a:t>
            </a:r>
            <a:r>
              <a:rPr sz="2000" b="1"/>
              <a:t>created your public SSH key</a:t>
            </a:r>
            <a:r>
              <a:rPr sz="2000"/>
              <a: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1</a:t>
            </a:r>
            <a:r>
              <a:rPr/>
              <a:t>: Tell GitHub about your new public key. In the terminal, please hit ENTER after typing:</a:t>
            </a:r>
          </a:p>
          <a:p>
            <a:pPr lvl="0" indent="0">
              <a:buNone/>
            </a:pPr>
            <a:r>
              <a:rPr>
                <a:latin typeface="Courier"/>
              </a:rPr>
              <a:t>cat ~/.ssh/id_ed25519.pub</a:t>
            </a:r>
          </a:p>
          <a:p>
            <a:pPr lvl="0" indent="0" marL="1270000">
              <a:buNone/>
            </a:pPr>
            <a:r>
              <a:rPr sz="2000" b="1"/>
              <a:t>Important</a:t>
            </a:r>
          </a:p>
          <a:p>
            <a:pPr lvl="0" indent="0" marL="1270000">
              <a:buNone/>
            </a:pPr>
            <a:r>
              <a:rPr sz="2000"/>
              <a:t>Be careful: do not copy the content of your </a:t>
            </a:r>
            <a:r>
              <a:rPr sz="2000" i="1"/>
              <a:t>private</a:t>
            </a:r>
            <a:r>
              <a:rPr sz="2000"/>
              <a:t> key, but your </a:t>
            </a:r>
            <a:r>
              <a:rPr sz="2000" b="1"/>
              <a:t>public</a:t>
            </a:r>
            <a:r>
              <a:rPr sz="2000"/>
              <a:t> key. Your public key ends with .pub.</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2</a:t>
            </a:r>
            <a:r>
              <a:rPr/>
              <a:t>: The output should be something like:</a:t>
            </a:r>
          </a:p>
          <a:p>
            <a:pPr lvl="0" indent="0">
              <a:buNone/>
            </a:pPr>
            <a:r>
              <a:rPr>
                <a:latin typeface="Courier"/>
              </a:rPr>
              <a:t># The output looks like this. The characters after ssh-ed25519 will be different for you, however.
ssh-ed25519 AAAAC3NzaC1lZDI1NTE5AAAAIFEKiimOpcayfHhlbjmnIBAUX74FY/o20k9yFA16XOLm your_email@email.com</a:t>
            </a:r>
          </a:p>
          <a:p>
            <a:pPr lvl="0" indent="0" marL="0">
              <a:buNone/>
            </a:pPr>
            <a:r>
              <a:rPr/>
              <a:t> ::: {.callout-warning} Copy the contents of the output to your clipboard. :::</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3</a:t>
            </a:r>
            <a:r>
              <a:rPr/>
              <a:t>:</a:t>
            </a:r>
          </a:p>
          <a:p>
            <a:pPr lvl="0"/>
            <a:r>
              <a:rPr/>
              <a:t>Login to </a:t>
            </a:r>
            <a:r>
              <a:rPr>
                <a:hlinkClick r:id="rId3"/>
              </a:rPr>
              <a:t>github.com</a:t>
            </a:r>
          </a:p>
          <a:p>
            <a:pPr lvl="0"/>
            <a:r>
              <a:rPr/>
              <a:t>Navigate to your account settings by clicking on your profile photo (top right) and selecting Settings</a:t>
            </a:r>
          </a:p>
          <a:p>
            <a:pPr lvl="0"/>
            <a:r>
              <a:rPr/>
              <a:t>Click on SSH and GPG keys (left sidebar)</a:t>
            </a:r>
          </a:p>
          <a:p>
            <a:pPr lvl="0"/>
            <a:r>
              <a:rPr/>
              <a:t>Click on the green button ‘New SSH key’ or ‘Add SSH key’.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the SSH key to GitHub account</a:t>
            </a:r>
          </a:p>
        </p:txBody>
      </p:sp>
      <p:pic>
        <p:nvPicPr>
          <p:cNvPr descr="https://raw.githubusercontent.com/lmu-osc/Introduction-RStudio-Git-GitHub/main/assets/ssh-key.png" id="0" name="Picture 1"/>
          <p:cNvPicPr>
            <a:picLocks noGrp="1" noChangeAspect="1"/>
          </p:cNvPicPr>
          <p:nvPr/>
        </p:nvPicPr>
        <p:blipFill>
          <a:blip r:embed="rId3"/>
          <a:stretch>
            <a:fillRect/>
          </a:stretch>
        </p:blipFill>
        <p:spPr bwMode="auto">
          <a:xfrm>
            <a:off x="3568700" y="609600"/>
            <a:ext cx="5105400" cy="35687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the SSH key to GitHub account</a:t>
            </a:r>
          </a:p>
          <a:p>
            <a:pPr lvl="0" indent="0" marL="0">
              <a:buNone/>
            </a:pPr>
            <a:r>
              <a:rPr b="1"/>
              <a:t>Step 4</a:t>
            </a:r>
            <a:r>
              <a:rPr/>
              <a:t>:</a:t>
            </a:r>
          </a:p>
          <a:p>
            <a:pPr lvl="0"/>
            <a:r>
              <a:rPr/>
              <a:t>In the “Title” field, add a descriptive label for the new key, e.g. something that would identify the device you just connected</a:t>
            </a:r>
          </a:p>
          <a:p>
            <a:pPr lvl="0"/>
            <a:r>
              <a:rPr/>
              <a:t>For example, if you’re using a personal laptop, you might call this key “Personal MacBook Air”.</a:t>
            </a:r>
          </a:p>
          <a:p>
            <a:pPr lvl="0"/>
            <a:r>
              <a:rPr/>
              <a:t>Paste the contents of your clipboard into the Key text box</a:t>
            </a:r>
          </a:p>
          <a:p>
            <a:pPr lvl="0"/>
            <a:r>
              <a:rPr/>
              <a:t>Hit the green ‘Add key’ button to save. Enter your GitHub password if prompted.</a:t>
            </a:r>
          </a:p>
        </p:txBody>
      </p:sp>
      <p:pic>
        <p:nvPicPr>
          <p:cNvPr descr="https://raw.githubusercontent.com/lmu-osc/Introduction-RStudio-Git-GitHub/main/assets/add-ssh-key.png" id="0" name="Picture 1"/>
          <p:cNvPicPr>
            <a:picLocks noGrp="1" noChangeAspect="1"/>
          </p:cNvPicPr>
          <p:nvPr/>
        </p:nvPicPr>
        <p:blipFill>
          <a:blip r:embed="rId2"/>
          <a:stretch>
            <a:fillRect/>
          </a:stretch>
        </p:blipFill>
        <p:spPr bwMode="auto">
          <a:xfrm>
            <a:off x="3568700" y="977900"/>
            <a:ext cx="5105400" cy="28321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{.notes} </a:t>
            </a:r>
            <a:r>
              <a:rPr b="1"/>
              <a:t>Speaker Notes</a:t>
            </a:r>
            <a:r>
              <a:rPr/>
              <a:t>: Add script for slide here. </a:t>
            </a:r>
            <a:r>
              <a:rPr b="1"/>
              <a:t>Instructor Notes</a:t>
            </a:r>
            <a:r>
              <a:rPr/>
              <a:t>: Add here.</a:t>
            </a:r>
            <a:br/>
            <a:r>
              <a:rPr/>
              <a: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a:t>
            </a:r>
            <a:r>
              <a:rPr b="1" i="1"/>
              <a:t>ssh-agent</a:t>
            </a:r>
          </a:p>
          <a:p>
            <a:pPr lvl="0" indent="0" marL="0">
              <a:buNone/>
            </a:pPr>
            <a:r>
              <a:rPr/>
              <a:t>Managing your ssh keys is done via the </a:t>
            </a:r>
            <a:r>
              <a:rPr>
                <a:hlinkClick r:id="rId3"/>
              </a:rPr>
              <a:t>ssh-agent</a:t>
            </a:r>
            <a:r>
              <a:rPr/>
              <a:t> software.</a:t>
            </a:r>
          </a:p>
          <a:p>
            <a:pPr lvl="0" indent="0" marL="1270000">
              <a:buNone/>
            </a:pPr>
            <a:r>
              <a:rPr sz="2000" b="1"/>
              <a:t>Note</a:t>
            </a:r>
          </a:p>
          <a:p>
            <a:pPr lvl="0" indent="0" marL="1270000">
              <a:buNone/>
            </a:pPr>
            <a:r>
              <a:rPr sz="2000"/>
              <a:t>Depending on your system, the following might not be necessary. On most GNU/Linux distributions, your key will be automatically added to the ssh-agent after the first time you enter it. If you keep getting asked for your key each time you want to clone or push to a GitHub repository, you can follow the instructions on the next slides.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ssh-agent</a:t>
            </a:r>
          </a:p>
          <a:p>
            <a:pPr lvl="0" indent="0" marL="0">
              <a:buNone/>
            </a:pPr>
            <a:r>
              <a:rPr b="1"/>
              <a:t>Step 1</a:t>
            </a:r>
            <a:r>
              <a:rPr/>
              <a:t>: In the command line, start the ssh-agent with this command:</a:t>
            </a:r>
          </a:p>
          <a:p>
            <a:pPr lvl="0" indent="0">
              <a:buNone/>
            </a:pPr>
            <a:r>
              <a:rPr>
                <a:latin typeface="Courier"/>
              </a:rPr>
              <a:t>eval "$(ssh-agent -s)"</a:t>
            </a:r>
          </a:p>
          <a:p>
            <a:pPr lvl="0" indent="0" marL="0">
              <a:buNone/>
            </a:pPr>
            <a:r>
              <a:rPr/>
              <a:t>This should give you this:</a:t>
            </a:r>
          </a:p>
          <a:p>
            <a:pPr lvl="0" indent="0">
              <a:buNone/>
            </a:pPr>
            <a:r>
              <a:rPr>
                <a:latin typeface="Courier"/>
              </a:rPr>
              <a:t>Agent pid 59566</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ssh-agent</a:t>
            </a:r>
          </a:p>
          <a:p>
            <a:pPr lvl="0" indent="0" marL="0">
              <a:buNone/>
            </a:pPr>
            <a:r>
              <a:rPr b="1"/>
              <a:t>Step 2</a:t>
            </a:r>
            <a:r>
              <a:rPr/>
              <a:t>: Add your key to the ssh-agent by typing the entirety of this command:</a:t>
            </a:r>
          </a:p>
          <a:p>
            <a:pPr lvl="0" indent="0">
              <a:buNone/>
            </a:pPr>
            <a:r>
              <a:rPr>
                <a:latin typeface="Courier"/>
              </a:rPr>
              <a:t>ssh-add ~/.ssh/id_ed25519</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Testing the GitHub connection</a:t>
            </a:r>
          </a:p>
          <a:p>
            <a:pPr lvl="0" indent="0" marL="0">
              <a:buNone/>
            </a:pPr>
            <a:r>
              <a:rPr b="1"/>
              <a:t>Step 1</a:t>
            </a:r>
            <a:r>
              <a:rPr/>
              <a:t>: “Ask” GitHub at the command line if our connection is acceptable with the following code:</a:t>
            </a:r>
          </a:p>
          <a:p>
            <a:pPr lvl="0" indent="0">
              <a:buNone/>
            </a:pPr>
            <a:r>
              <a:rPr>
                <a:latin typeface="Courier"/>
              </a:rPr>
              <a:t>ssh -T git@github.com</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Testing the GitHub connection</a:t>
            </a:r>
          </a:p>
          <a:p>
            <a:pPr lvl="0" indent="0" marL="0">
              <a:buNone/>
            </a:pPr>
            <a:r>
              <a:rPr b="1"/>
              <a:t>Step 2</a:t>
            </a:r>
            <a:r>
              <a:rPr/>
              <a:t>: When asked about </a:t>
            </a:r>
            <a:r>
              <a:rPr i="1"/>
              <a:t>fingerprinting</a:t>
            </a:r>
            <a:r>
              <a:rPr/>
              <a:t>, type </a:t>
            </a:r>
            <a:r>
              <a:rPr i="1"/>
              <a:t>yes</a:t>
            </a:r>
            <a:r>
              <a:rPr/>
              <a:t>, then press ENTER to receive this output:</a:t>
            </a:r>
          </a:p>
          <a:p>
            <a:pPr lvl="0" indent="0">
              <a:buNone/>
            </a:pPr>
            <a:r>
              <a:rPr>
                <a:latin typeface="Courier"/>
              </a:rPr>
              <a:t>&gt; Hi USERNAME! You've successfully authenticated, but GitHub does not
&gt; provide shell access.</a:t>
            </a:r>
          </a:p>
          <a:p>
            <a:pPr lvl="0" indent="0" marL="0">
              <a:buNone/>
            </a:pPr>
            <a:r>
              <a:rPr/>
              <a:t> </a:t>
            </a:r>
          </a:p>
          <a:p>
            <a:pPr lvl="0" indent="0" marL="1270000">
              <a:buNone/>
            </a:pPr>
            <a:r>
              <a:rPr sz="2000" b="1"/>
              <a:t>Important</a:t>
            </a:r>
          </a:p>
          <a:p>
            <a:pPr lvl="0" indent="0" marL="1270000">
              <a:buNone/>
            </a:pPr>
            <a:r>
              <a:rPr sz="2000"/>
              <a:t>This is it! You have set up a new SSH key pair and successfully let GitHub know your identity to connect your computer to your GitHub account. These steps will only have to be repeated when you change computers. Let the fun begin!</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RStudio Projects: What is it?</a:t>
            </a:r>
          </a:p>
          <a:p>
            <a:pPr lvl="0" indent="0" marL="0">
              <a:buNone/>
            </a:pPr>
            <a:r>
              <a:rPr b="1"/>
              <a:t>Local folder</a:t>
            </a:r>
            <a:r>
              <a:rPr/>
              <a:t> used to organize your work within a self-contained R storage.</a:t>
            </a:r>
          </a:p>
          <a:p>
            <a:pPr lvl="0"/>
            <a:r>
              <a:rPr/>
              <a:t>Contains all files related to project: R scripts, source files, location of the R working directory, RStudio workspace …</a:t>
            </a:r>
          </a:p>
          <a:p>
            <a:pPr lvl="0"/>
            <a:r>
              <a:rPr/>
              <a:t>Includes shortcut to open the project directly in RStudio</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1</a:t>
            </a:r>
            <a:r>
              <a:rPr/>
              <a:t>: Create a new project in RStudio as follows: </a:t>
            </a:r>
            <a:r>
              <a:rPr i="1"/>
              <a:t>File -&gt; New Project -&gt; New Directory</a:t>
            </a:r>
          </a:p>
        </p:txBody>
      </p:sp>
      <p:pic>
        <p:nvPicPr>
          <p:cNvPr descr="https://raw.githubusercontent.com/lmu-osc/Introduction-RStudio-Git-GitHub/main/assets/project_screen1.png" id="0" name="Picture 1"/>
          <p:cNvPicPr>
            <a:picLocks noGrp="1" noChangeAspect="1"/>
          </p:cNvPicPr>
          <p:nvPr/>
        </p:nvPicPr>
        <p:blipFill>
          <a:blip r:embed="rId3"/>
          <a:stretch>
            <a:fillRect/>
          </a:stretch>
        </p:blipFill>
        <p:spPr bwMode="auto">
          <a:xfrm>
            <a:off x="3568700" y="596900"/>
            <a:ext cx="5105400" cy="35814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2</a:t>
            </a:r>
            <a:r>
              <a:rPr/>
              <a:t>: In the New Project Wizard screen, click on </a:t>
            </a:r>
            <a:r>
              <a:rPr b="1"/>
              <a:t>New project</a:t>
            </a:r>
            <a:r>
              <a:rPr/>
              <a:t>:</a:t>
            </a:r>
          </a:p>
        </p:txBody>
      </p:sp>
      <p:pic>
        <p:nvPicPr>
          <p:cNvPr descr="assets/01_create_new_Rproject.png" id="0" name="Picture 1"/>
          <p:cNvPicPr>
            <a:picLocks noGrp="1" noChangeAspect="1"/>
          </p:cNvPicPr>
          <p:nvPr/>
        </p:nvPicPr>
        <p:blipFill>
          <a:blip r:embed="rId3"/>
          <a:stretch>
            <a:fillRect/>
          </a:stretch>
        </p:blipFill>
        <p:spPr bwMode="auto">
          <a:xfrm>
            <a:off x="3568700" y="838200"/>
            <a:ext cx="5105400" cy="31242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3</a:t>
            </a:r>
            <a:r>
              <a:rPr/>
              <a:t>: Give your project a name (e.g.’my_first_test_repo’) and ensure that create a git repository is ticked. Next, click on </a:t>
            </a:r>
            <a:r>
              <a:rPr b="1"/>
              <a:t>Create Project</a:t>
            </a:r>
            <a:r>
              <a:rPr/>
              <a:t>.</a:t>
            </a:r>
          </a:p>
        </p:txBody>
      </p:sp>
      <p:pic>
        <p:nvPicPr>
          <p:cNvPr descr="https://raw.githubusercontent.com/lmu-osc/Introduction-RStudio-Git-GitHub/main/assets/project_screen3.png" id="0" name="Picture 1"/>
          <p:cNvPicPr>
            <a:picLocks noGrp="1" noChangeAspect="1"/>
          </p:cNvPicPr>
          <p:nvPr/>
        </p:nvPicPr>
        <p:blipFill>
          <a:blip r:embed="rId2"/>
          <a:stretch>
            <a:fillRect/>
          </a:stretch>
        </p:blipFill>
        <p:spPr bwMode="auto">
          <a:xfrm>
            <a:off x="3568700" y="558800"/>
            <a:ext cx="5105400" cy="36703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RStudio will create a new folder containing an empty project and set R’s working directory to within it.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 Important files</a:t>
            </a:r>
          </a:p>
          <a:p>
            <a:pPr lvl="0" indent="0" marL="0">
              <a:buNone/>
            </a:pPr>
            <a:r>
              <a:rPr/>
              <a:t>Two files are created in the otherwise empty project:</a:t>
            </a:r>
          </a:p>
          <a:p>
            <a:pPr lvl="0"/>
            <a:r>
              <a:rPr b="1"/>
              <a:t>.gitignore</a:t>
            </a:r>
            <a:r>
              <a:rPr/>
              <a:t>: Specifies files that should be ignored by the version control system (e.g. sensible data files that should not be made public, or documentation that you don’t need version controlled).</a:t>
            </a:r>
          </a:p>
          <a:p>
            <a:pPr lvl="0"/>
            <a:r>
              <a:rPr b="1"/>
              <a:t>my_first_test_repo.Rproj</a:t>
            </a:r>
            <a:r>
              <a:rPr/>
              <a:t>: Configuration information for the RStudio project.</a:t>
            </a:r>
          </a:p>
        </p:txBody>
      </p:sp>
      <p:pic>
        <p:nvPicPr>
          <p:cNvPr descr="https://raw.githubusercontent.com/lmu-osc/Introduction-RStudio-Git-GitHub/main/assets/project_files.png" id="0" name="Picture 1"/>
          <p:cNvPicPr>
            <a:picLocks noGrp="1" noChangeAspect="1"/>
          </p:cNvPicPr>
          <p:nvPr/>
        </p:nvPicPr>
        <p:blipFill>
          <a:blip r:embed="rId3"/>
          <a:stretch>
            <a:fillRect/>
          </a:stretch>
        </p:blipFill>
        <p:spPr bwMode="auto">
          <a:xfrm>
            <a:off x="3568700" y="1765300"/>
            <a:ext cx="5105400" cy="12573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small practice project</a:t>
            </a:r>
          </a:p>
          <a:p>
            <a:pPr lvl="0" indent="0" marL="0">
              <a:buNone/>
            </a:pPr>
            <a:r>
              <a:rPr/>
              <a:t>We will now generate a small project to practice version control on.</a:t>
            </a:r>
          </a:p>
          <a:p>
            <a:pPr lvl="0" indent="0" marL="0">
              <a:buNone/>
            </a:pPr>
          </a:p>
          <a:p>
            <a:pPr lvl="0" indent="0" marL="0">
              <a:buNone/>
            </a:pPr>
            <a:r>
              <a:rPr b="1"/>
              <a:t>Step 1</a:t>
            </a:r>
            <a:r>
              <a:rPr/>
              <a:t>: Download dataset to practice analyses on.</a:t>
            </a:r>
          </a:p>
          <a:p>
            <a:pPr lvl="0" indent="0" marL="0">
              <a:buNone/>
            </a:pPr>
            <a:r>
              <a:rPr/>
              <a:t>  ⬇️ Download dataset (PDF)  </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small practice project</a:t>
            </a:r>
          </a:p>
          <a:p>
            <a:pPr lvl="0" indent="0" marL="0">
              <a:buNone/>
            </a:pPr>
            <a:r>
              <a:rPr b="1"/>
              <a:t>Step 2</a:t>
            </a:r>
            <a:r>
              <a:rPr/>
              <a:t>: Create a new R script </a:t>
            </a:r>
            <a:r>
              <a:rPr i="1"/>
              <a:t>File -&gt; New File -&gt; R script</a:t>
            </a:r>
            <a:r>
              <a:rPr/>
              <a:t> and save it as *myscript.R. Then add the code below to your R script.</a:t>
            </a:r>
          </a:p>
          <a:p>
            <a:pPr lvl="0" indent="0">
              <a:buNone/>
            </a:pPr>
            <a:r>
              <a:rPr>
                <a:latin typeface="Courier"/>
              </a:rPr>
              <a:t>mydata = read.csv("example_data.csv")
plot(mydata$xdata,mydata$ydata)</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Setting up a small practice project</a:t>
            </a:r>
          </a:p>
          <a:p>
            <a:pPr lvl="0" indent="0" marL="0">
              <a:buNone/>
            </a:pPr>
            <a:r>
              <a:rPr b="1"/>
              <a:t>Step 3</a:t>
            </a:r>
            <a:r>
              <a:rPr/>
              <a:t>: Run the code and check your directory. It should now contain four files:</a:t>
            </a:r>
          </a:p>
        </p:txBody>
      </p:sp>
      <p:pic>
        <p:nvPicPr>
          <p:cNvPr descr="https://raw.githubusercontent.com/lmu-osc/Introduction-RStudio-Git-GitHub/main/assets/file_list.png" id="0" name="Picture 1"/>
          <p:cNvPicPr>
            <a:picLocks noGrp="1" noChangeAspect="1"/>
          </p:cNvPicPr>
          <p:nvPr/>
        </p:nvPicPr>
        <p:blipFill>
          <a:blip r:embed="rId3"/>
          <a:stretch>
            <a:fillRect/>
          </a:stretch>
        </p:blipFill>
        <p:spPr bwMode="auto">
          <a:xfrm>
            <a:off x="3568700" y="1524000"/>
            <a:ext cx="5105400" cy="17272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1</a:t>
            </a:r>
            <a:r>
              <a:rPr/>
              <a:t>: Find the git version control pane in the top right corner of RStudio in the </a:t>
            </a:r>
            <a:r>
              <a:rPr i="1"/>
              <a:t>Git</a:t>
            </a:r>
            <a:r>
              <a:rPr/>
              <a:t> tab.</a:t>
            </a:r>
          </a:p>
        </p:txBody>
      </p:sp>
      <p:pic>
        <p:nvPicPr>
          <p:cNvPr descr="https://raw.githubusercontent.com/lmu-osc/Introduction-RStudio-Git-GitHub/main/assets/git_pane.png" id="0" name="Picture 1"/>
          <p:cNvPicPr>
            <a:picLocks noGrp="1" noChangeAspect="1"/>
          </p:cNvPicPr>
          <p:nvPr/>
        </p:nvPicPr>
        <p:blipFill>
          <a:blip r:embed="rId3"/>
          <a:stretch>
            <a:fillRect/>
          </a:stretch>
        </p:blipFill>
        <p:spPr bwMode="auto">
          <a:xfrm>
            <a:off x="3568700" y="1549400"/>
            <a:ext cx="5105400" cy="17018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2</a:t>
            </a:r>
            <a:r>
              <a:rPr/>
              <a:t>: Hover the mouse pointer over the yellow ? marks in GitHub, you’ll see a tooltip telling us that the file is </a:t>
            </a:r>
            <a:r>
              <a:rPr b="1"/>
              <a:t>untracked</a:t>
            </a:r>
            <a:r>
              <a:rPr/>
              <a:t>. This means that git is not tracking versions of this file. Tick </a:t>
            </a:r>
            <a:r>
              <a:rPr b="1"/>
              <a:t>staged</a:t>
            </a:r>
            <a:r>
              <a:rPr/>
              <a:t> for each file.</a:t>
            </a:r>
          </a:p>
        </p:txBody>
      </p:sp>
      <p:pic>
        <p:nvPicPr>
          <p:cNvPr descr="https://raw.githubusercontent.com/lmu-osc/Introduction-RStudio-Git-GitHub/main/assets/git_pane_added.png" id="0" name="Picture 1"/>
          <p:cNvPicPr>
            <a:picLocks noGrp="1" noChangeAspect="1"/>
          </p:cNvPicPr>
          <p:nvPr/>
        </p:nvPicPr>
        <p:blipFill>
          <a:blip r:embed="rId3"/>
          <a:stretch>
            <a:fillRect/>
          </a:stretch>
        </p:blipFill>
        <p:spPr bwMode="auto">
          <a:xfrm>
            <a:off x="3568700" y="1511300"/>
            <a:ext cx="5105400" cy="17653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3</a:t>
            </a:r>
            <a:r>
              <a:rPr/>
              <a:t>: Our staged files are now ready for the first </a:t>
            </a:r>
            <a:r>
              <a:rPr b="1"/>
              <a:t>commit</a:t>
            </a:r>
            <a:r>
              <a:rPr/>
              <a:t>. Click on the </a:t>
            </a:r>
            <a:r>
              <a:rPr b="1"/>
              <a:t>commit button</a:t>
            </a:r>
            <a:r>
              <a:rPr/>
              <a:t>.</a:t>
            </a:r>
          </a:p>
        </p:txBody>
      </p:sp>
      <p:pic>
        <p:nvPicPr>
          <p:cNvPr descr="https://raw.githubusercontent.com/lmu-osc/Introduction-RStudio-Git-GitHub/main/assets/commit.png" id="0" name="Picture 1"/>
          <p:cNvPicPr>
            <a:picLocks noGrp="1" noChangeAspect="1"/>
          </p:cNvPicPr>
          <p:nvPr/>
        </p:nvPicPr>
        <p:blipFill>
          <a:blip r:embed="rId3"/>
          <a:stretch>
            <a:fillRect/>
          </a:stretch>
        </p:blipFill>
        <p:spPr bwMode="auto">
          <a:xfrm>
            <a:off x="3568700" y="1473200"/>
            <a:ext cx="5105400" cy="18415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4</a:t>
            </a:r>
            <a:r>
              <a:rPr/>
              <a:t>: Specify a </a:t>
            </a:r>
            <a:r>
              <a:rPr b="1"/>
              <a:t>commit message</a:t>
            </a:r>
            <a:r>
              <a:rPr/>
              <a:t>, which is a brief description of the changes you made. For now, we will add the commit message </a:t>
            </a:r>
            <a:r>
              <a:rPr i="1"/>
              <a:t>First commit</a:t>
            </a:r>
            <a:r>
              <a:rPr/>
              <a:t>. Then click on </a:t>
            </a:r>
            <a:r>
              <a:rPr b="1"/>
              <a:t>Commit</a:t>
            </a:r>
            <a:r>
              <a:rPr/>
              <a:t>.</a:t>
            </a:r>
          </a:p>
        </p:txBody>
      </p:sp>
      <p:pic>
        <p:nvPicPr>
          <p:cNvPr descr="https://raw.githubusercontent.com/lmu-osc/Introduction-RStudio-Git-GitHub/main/assets/first_commit.png" id="0" name="Picture 1"/>
          <p:cNvPicPr>
            <a:picLocks noGrp="1" noChangeAspect="1"/>
          </p:cNvPicPr>
          <p:nvPr/>
        </p:nvPicPr>
        <p:blipFill>
          <a:blip r:embed="rId3"/>
          <a:stretch>
            <a:fillRect/>
          </a:stretch>
        </p:blipFill>
        <p:spPr bwMode="auto">
          <a:xfrm>
            <a:off x="3568700" y="1333500"/>
            <a:ext cx="5105400" cy="21209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5</a:t>
            </a:r>
            <a:r>
              <a:rPr/>
              <a:t>: Check the message from git and then click on close - finished!</a:t>
            </a:r>
          </a:p>
        </p:txBody>
      </p:sp>
      <p:pic>
        <p:nvPicPr>
          <p:cNvPr descr="https://raw.githubusercontent.com/lmu-osc/Introduction-RStudio-Git-GitHub/main/assets/git_commit_message.png" id="0" name="Picture 1"/>
          <p:cNvPicPr>
            <a:picLocks noGrp="1" noChangeAspect="1"/>
          </p:cNvPicPr>
          <p:nvPr/>
        </p:nvPicPr>
        <p:blipFill>
          <a:blip r:embed="rId3"/>
          <a:stretch>
            <a:fillRect/>
          </a:stretch>
        </p:blipFill>
        <p:spPr bwMode="auto">
          <a:xfrm>
            <a:off x="3568700" y="1257300"/>
            <a:ext cx="5105400" cy="22733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a:t>
            </a:r>
          </a:p>
          <a:p>
            <a:pPr lvl="0" indent="0" marL="0">
              <a:buNone/>
            </a:pPr>
            <a:r>
              <a:rPr/>
              <a:t>Now we want to make some actual changes to practise using Git and to show how Git handles modifications of files. </a:t>
            </a:r>
          </a:p>
          <a:p>
            <a:pPr lvl="0" indent="0" marL="0">
              <a:buNone/>
            </a:pPr>
            <a:r>
              <a:rPr b="1"/>
              <a:t>Step 1</a:t>
            </a:r>
            <a:r>
              <a:rPr/>
              <a:t>: Add the following code to your existing R script</a:t>
            </a:r>
          </a:p>
          <a:p>
            <a:pPr lvl="0" indent="0">
              <a:buNone/>
            </a:pPr>
            <a:r>
              <a:rPr>
                <a:latin typeface="Courier"/>
              </a:rPr>
              <a:t># some guesses for the parameters.
p1 = 1
p2 = 0.2
# do the fit
fit = nls(ydata ~ p1*cos(p2*xdata) + p2*sin(p1*xdata), data = mydata, start = list(p1=p1,p2=p2))
#Plot the fitted line
new = data.frame(xdata = seq(min(mydata$xdata),max(mydata$xdata),len=200))
lines(new$xdata,predict(fit,newdata=new))</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a:t>
            </a:r>
          </a:p>
          <a:p>
            <a:pPr lvl="0" indent="0" marL="0">
              <a:buNone/>
            </a:pPr>
            <a:r>
              <a:rPr b="1"/>
              <a:t>Step 2</a:t>
            </a:r>
            <a:r>
              <a:rPr/>
              <a:t>: Change the command that plots our data in this file. Change the line</a:t>
            </a:r>
          </a:p>
          <a:p>
            <a:pPr lvl="0" indent="0">
              <a:buNone/>
            </a:pPr>
            <a:r>
              <a:rPr>
                <a:latin typeface="Courier"/>
              </a:rPr>
              <a:t>plot(mydata$xdata,mydata$ydata)</a:t>
            </a:r>
          </a:p>
          <a:p>
            <a:pPr lvl="0" indent="0" marL="0">
              <a:buNone/>
            </a:pPr>
            <a:r>
              <a:rPr/>
              <a:t>to</a:t>
            </a:r>
          </a:p>
          <a:p>
            <a:pPr lvl="0" indent="0">
              <a:buNone/>
            </a:pPr>
            <a:r>
              <a:rPr>
                <a:latin typeface="Courier"/>
              </a:rPr>
              <a:t>plot(mydata$xdata,mydata$ydata,col='red')</a:t>
            </a:r>
          </a:p>
          <a:p>
            <a:pPr lvl="0" indent="0" marL="0">
              <a:buNone/>
            </a:pPr>
            <a:r>
              <a:rPr/>
              <a:t>and run this code.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Making changes</a:t>
            </a:r>
          </a:p>
          <a:p>
            <a:pPr lvl="0" indent="0" marL="0">
              <a:buNone/>
            </a:pPr>
            <a:r>
              <a:rPr b="1"/>
              <a:t>Step 3</a:t>
            </a:r>
            <a:r>
              <a:rPr/>
              <a:t>(optional): Create another R file with </a:t>
            </a:r>
            <a:r>
              <a:rPr i="1"/>
              <a:t>File -&gt; New File -&gt; R script</a:t>
            </a:r>
            <a:r>
              <a:rPr/>
              <a:t>. Save as </a:t>
            </a:r>
            <a:r>
              <a:rPr i="1"/>
              <a:t>myscript_version2.R</a:t>
            </a:r>
            <a:r>
              <a:rPr/>
              <a:t>. Then add and run the code below in the new R script:</a:t>
            </a:r>
          </a:p>
          <a:p>
            <a:pPr lvl="0" indent="0">
              <a:buNone/>
            </a:pPr>
            <a:r>
              <a:rPr>
                <a:solidFill>
                  <a:srgbClr val="5E5E5E"/>
                </a:solidFill>
                <a:latin typeface="Courier"/>
              </a:rPr>
              <a:t>#Simulate some data</a:t>
            </a:r>
            <a:br/>
            <a:r>
              <a:rPr>
                <a:solidFill>
                  <a:srgbClr val="4758AB"/>
                </a:solidFill>
                <a:latin typeface="Courier"/>
              </a:rPr>
              <a:t>plot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a:t>
            </a:r>
            <a:r>
              <a:rPr>
                <a:solidFill>
                  <a:srgbClr val="AD0000"/>
                </a:solidFill>
                <a:latin typeface="Courier"/>
              </a:rPr>
              <a:t>0</a:t>
            </a:r>
            <a:r>
              <a:rPr>
                <a:solidFill>
                  <a:srgbClr val="003B4F"/>
                </a:solidFill>
                <a:latin typeface="Courier"/>
              </a:rPr>
              <a:t>,</a:t>
            </a:r>
            <a:r>
              <a:rPr>
                <a:solidFill>
                  <a:srgbClr val="AD0000"/>
                </a:solidFill>
                <a:latin typeface="Courier"/>
              </a:rPr>
              <a:t>1</a:t>
            </a:r>
            <a:r>
              <a:rPr>
                <a:solidFill>
                  <a:srgbClr val="003B4F"/>
                </a:solidFill>
                <a:latin typeface="Courier"/>
              </a:rPr>
              <a:t>))</a:t>
            </a:r>
          </a:p>
        </p:txBody>
      </p:sp>
      <p:pic>
        <p:nvPicPr>
          <p:cNvPr descr="OS-M3-S4-Git-slides_files/figure-pptx/simulate-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Committing changes</a:t>
            </a:r>
          </a:p>
          <a:p>
            <a:pPr lvl="0" indent="0" marL="0">
              <a:buNone/>
            </a:pPr>
            <a:r>
              <a:rPr/>
              <a:t>Click on the **git tab in the top right corner. Two files appeared, the script we modified and the new script.</a:t>
            </a:r>
          </a:p>
          <a:p>
            <a:pPr lvl="0" indent="0" marL="0">
              <a:buNone/>
            </a:pPr>
          </a:p>
          <a:p>
            <a:pPr lvl="0" indent="0" marL="0">
              <a:buNone/>
            </a:pPr>
            <a:r>
              <a:rPr b="1"/>
              <a:t>Step 1</a:t>
            </a:r>
            <a:r>
              <a:rPr/>
              <a:t>: Click on the </a:t>
            </a:r>
            <a:r>
              <a:rPr b="1"/>
              <a:t>staged</a:t>
            </a:r>
            <a:r>
              <a:rPr/>
              <a:t> box to stage changes for the </a:t>
            </a:r>
            <a:r>
              <a:rPr i="1"/>
              <a:t>first</a:t>
            </a:r>
            <a:r>
              <a:rPr/>
              <a:t> script.</a:t>
            </a:r>
          </a:p>
        </p:txBody>
      </p:sp>
      <p:pic>
        <p:nvPicPr>
          <p:cNvPr descr="https://raw.githubusercontent.com/lmu-osc/Introduction-RStudio-Git-GitHub/main/assets/git_changed.png" id="0" name="Picture 1"/>
          <p:cNvPicPr>
            <a:picLocks noGrp="1" noChangeAspect="1"/>
          </p:cNvPicPr>
          <p:nvPr/>
        </p:nvPicPr>
        <p:blipFill>
          <a:blip r:embed="rId3"/>
          <a:stretch>
            <a:fillRect/>
          </a:stretch>
        </p:blipFill>
        <p:spPr bwMode="auto">
          <a:xfrm>
            <a:off x="3568700" y="1727200"/>
            <a:ext cx="5105400" cy="13462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Committing changes</a:t>
            </a:r>
          </a:p>
          <a:p>
            <a:pPr lvl="0" indent="0" marL="0">
              <a:buNone/>
            </a:pPr>
            <a:r>
              <a:rPr b="1"/>
              <a:t>Step 2</a:t>
            </a:r>
            <a:r>
              <a:rPr/>
              <a:t>: Click on </a:t>
            </a:r>
            <a:r>
              <a:rPr b="1"/>
              <a:t>Diff</a:t>
            </a:r>
            <a:r>
              <a:rPr/>
              <a:t> for a reminder summary of what changed. Then add a commit message and click </a:t>
            </a:r>
            <a:r>
              <a:rPr i="1"/>
              <a:t>commit</a:t>
            </a:r>
            <a:r>
              <a:rPr/>
              <a:t>.</a:t>
            </a:r>
          </a:p>
        </p:txBody>
      </p:sp>
      <p:pic>
        <p:nvPicPr>
          <p:cNvPr descr="https://raw.githubusercontent.com/lmu-osc/Introduction-RStudio-Git-GitHub/main/assets/git_diff.png" id="0" name="Picture 1"/>
          <p:cNvPicPr>
            <a:picLocks noGrp="1" noChangeAspect="1"/>
          </p:cNvPicPr>
          <p:nvPr/>
        </p:nvPicPr>
        <p:blipFill>
          <a:blip r:embed="rId2"/>
          <a:stretch>
            <a:fillRect/>
          </a:stretch>
        </p:blipFill>
        <p:spPr bwMode="auto">
          <a:xfrm>
            <a:off x="3568700" y="876300"/>
            <a:ext cx="5105400" cy="30353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Lines that have been added are green. Lines that have been removed are red.</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a:t>☐ Stage the second script and write a new commit message.</a:t>
            </a:r>
          </a:p>
          <a:p>
            <a:pPr lvl="0"/>
            <a:r>
              <a:rPr/>
              <a:t>☐ In the git tab, press the </a:t>
            </a:r>
            <a:r>
              <a:rPr b="1"/>
              <a:t>History</a:t>
            </a:r>
            <a:r>
              <a:rPr/>
              <a:t> button to review the change and commit history of your files.</a:t>
            </a:r>
          </a:p>
          <a:p>
            <a:pPr lvl="0" indent="0" marL="1270000">
              <a:buNone/>
            </a:pPr>
            <a:r>
              <a:rPr sz="2000" b="1"/>
              <a:t>Note</a:t>
            </a:r>
          </a:p>
          <a:p>
            <a:pPr lvl="0" indent="0" marL="1270000">
              <a:buNone/>
            </a:pPr>
            <a:r>
              <a:rPr sz="2000"/>
              <a:t>By default, the history search feature will show all files added, changed, or deleted for each commit. This can be extremely useful for finding bugs or looking back to how your project looked a few months ago. However, it is often more practical to review the changes made to a single file over time; this enables, for example, clear tracking of the evolution of data cleaning and analysis steps in your project.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a:t>The project is under version control. Time to create a new GitHub repository and upload to GitHub!</a:t>
            </a:r>
          </a:p>
          <a:p>
            <a:pPr lvl="0" indent="0" marL="0">
              <a:buNone/>
            </a:pPr>
          </a:p>
          <a:p>
            <a:pPr lvl="0" indent="0" marL="0">
              <a:buNone/>
            </a:pPr>
            <a:r>
              <a:rPr b="1"/>
              <a:t>Step 1</a:t>
            </a:r>
            <a:r>
              <a:rPr/>
              <a:t>: Log into GitHub and go to your profile page. On the </a:t>
            </a:r>
            <a:r>
              <a:rPr b="1"/>
              <a:t>repositories</a:t>
            </a:r>
            <a:r>
              <a:rPr/>
              <a:t> tab, click </a:t>
            </a:r>
            <a:r>
              <a:rPr b="1"/>
              <a:t>New</a:t>
            </a:r>
            <a:r>
              <a:rPr/>
              <a:t>.</a:t>
            </a:r>
          </a:p>
        </p:txBody>
      </p:sp>
      <p:pic>
        <p:nvPicPr>
          <p:cNvPr descr="https://raw.githubusercontent.com/lmu-osc/Introduction-RStudio-Git-GitHub/main/assets/new_repo.png" id="0" name="Picture 1"/>
          <p:cNvPicPr>
            <a:picLocks noGrp="1" noChangeAspect="1"/>
          </p:cNvPicPr>
          <p:nvPr/>
        </p:nvPicPr>
        <p:blipFill>
          <a:blip r:embed="rId3"/>
          <a:stretch>
            <a:fillRect/>
          </a:stretch>
        </p:blipFill>
        <p:spPr bwMode="auto">
          <a:xfrm>
            <a:off x="3568700" y="1333500"/>
            <a:ext cx="5105400" cy="21336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2</a:t>
            </a:r>
            <a:r>
              <a:rPr/>
              <a:t>: Give the repository a name and click </a:t>
            </a:r>
            <a:r>
              <a:rPr b="1"/>
              <a:t>Create Repository</a:t>
            </a:r>
            <a:r>
              <a:rPr/>
              <a:t>.</a:t>
            </a:r>
          </a:p>
        </p:txBody>
      </p:sp>
      <p:pic>
        <p:nvPicPr>
          <p:cNvPr descr="https://raw.githubusercontent.com/lmu-osc/Introduction-RStudio-Git-GitHub/main/assets/new_repo_name.png" id="0" name="Picture 1"/>
          <p:cNvPicPr>
            <a:picLocks noGrp="1" noChangeAspect="1"/>
          </p:cNvPicPr>
          <p:nvPr/>
        </p:nvPicPr>
        <p:blipFill>
          <a:blip r:embed="rId2"/>
          <a:stretch>
            <a:fillRect/>
          </a:stretch>
        </p:blipFill>
        <p:spPr bwMode="auto">
          <a:xfrm>
            <a:off x="4419600" y="203200"/>
            <a:ext cx="3390900" cy="4381500"/>
          </a:xfrm>
          <a:prstGeom prst="rect">
            <a:avLst/>
          </a:prstGeom>
          <a:noFill/>
          <a:ln w="9525">
            <a:noFill/>
            <a:headEnd/>
            <a:tailEnd/>
          </a:ln>
        </p:spPr>
      </p:pic>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{.notes} </a:t>
            </a:r>
            <a:r>
              <a:rPr b="1"/>
              <a:t>Speaker Notes</a:t>
            </a:r>
            <a:r>
              <a:rPr/>
              <a:t>: Add script for slide here. </a:t>
            </a:r>
            <a:r>
              <a:rPr b="1"/>
              <a:t>Instructor Notes</a:t>
            </a:r>
            <a:r>
              <a:rPr/>
              <a:t>: Add here.</a:t>
            </a:r>
            <a:br/>
            <a:r>
              <a:rPr/>
              <a: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CONTINUE FROM HERE</a:t>
            </a:r>
          </a:p>
          <a:p>
            <a:pPr lvl="0" indent="0" marL="0">
              <a:buNone/>
            </a:pPr>
            <a:r>
              <a:rPr/>
              <a:t>quick setup https://lmu-osc.github.io/Introduction-RStudio-Git-GitHub/github_sync.html</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HEREEEE</a:t>
            </a:r>
          </a:p>
          <a:p>
            <a:pPr lvl="0" indent="0" marL="0">
              <a:buNone/>
            </a:pPr>
            <a:r>
              <a:rPr/>
              <a:t>from quick set up screen https://lmu-osc.github.io/Introduction-RStudio-Git-GitHub/github_sync.html</a:t>
            </a:r>
          </a:p>
          <a:p>
            <a:pPr lvl="0"/>
            <a:r>
              <a:rPr b="1"/>
              <a:t>Aim</a:t>
            </a:r>
            <a:r>
              <a:rPr/>
              <a:t>: Present relevant content</a:t>
            </a:r>
          </a:p>
          <a:p>
            <a:pPr lvl="0"/>
            <a:r>
              <a:rPr/>
              <a:t>Highlight particularly important aspects with Quarto call-out boxes, for example:</a:t>
            </a:r>
          </a:p>
          <a:p>
            <a:pPr lvl="0" indent="0" marL="1270000">
              <a:buNone/>
            </a:pPr>
            <a:r>
              <a:rPr sz="2000" b="1"/>
              <a:t>Important with Title</a:t>
            </a:r>
          </a:p>
          <a:p>
            <a:pPr lvl="0" indent="0" marL="1270000">
              <a:buNone/>
            </a:pPr>
            <a:r>
              <a:rPr sz="2000"/>
              <a:t>This is an example of a callout box to highlight particularly important information.</a:t>
            </a:r>
          </a:p>
          <a:p>
            <a:pPr lvl="0" indent="0" marL="1270000">
              <a:buNone/>
            </a:pPr>
            <a:r>
              <a:rPr sz="2000" b="1"/>
              <a:t>Tip with Title</a:t>
            </a:r>
          </a:p>
          <a:p>
            <a:pPr lvl="0" indent="0" marL="1270000">
              <a:buNone/>
            </a:pPr>
            <a:r>
              <a:rPr sz="2000"/>
              <a:t>This is an example of a callout box to give important tips.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b="1"/>
              <a:t>Aim</a:t>
            </a:r>
            <a:r>
              <a:rPr/>
              <a:t>: Design more practical exercises for students to apply the new skills in practice.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a:r>
              <a:rPr b="1"/>
              <a:t>Aim</a:t>
            </a:r>
            <a:r>
              <a:rPr/>
              <a:t>: This pre-break survey serves to examine students’ current understanding of key concepts of the submodule</a:t>
            </a:r>
          </a:p>
          <a:p>
            <a:pPr lvl="0"/>
            <a:r>
              <a:rPr/>
              <a:t>Use free survey software such as or other survey software (particify, formR) to establish the following questions (shown on separate slides)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species is the largest type of penguin</a:t>
            </a:r>
            <a:r>
              <a:rPr/>
              <a:t>?</a:t>
            </a:r>
          </a:p>
          <a:p>
            <a:pPr lvl="0" indent="-342900" marL="342900">
              <a:buAutoNum type="alphaLcPeriod"/>
            </a:pPr>
            <a:r>
              <a:rPr/>
              <a:t>Chinstrap Penguin</a:t>
            </a:r>
          </a:p>
          <a:p>
            <a:pPr lvl="0" indent="-342900" marL="342900">
              <a:buAutoNum type="alphaLcPeriod"/>
            </a:pPr>
            <a:r>
              <a:rPr/>
              <a:t>Emperor Penguin ✅</a:t>
            </a:r>
          </a:p>
          <a:p>
            <a:pPr lvl="0" indent="-342900" marL="342900">
              <a:buAutoNum type="alphaLcPeriod"/>
            </a:pPr>
            <a:r>
              <a:rPr/>
              <a:t>Adélie Penguin</a:t>
            </a:r>
          </a:p>
          <a:p>
            <a:pPr lvl="0" indent="-342900" marL="342900">
              <a:buAutoNum type="alphaLcPeriod"/>
            </a:pPr>
            <a:r>
              <a:rPr/>
              <a:t>King Penguin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key biological feature that helps penguins swim efficiently?</a:t>
            </a:r>
          </a:p>
          <a:p>
            <a:pPr lvl="0" indent="-342900" marL="342900">
              <a:buAutoNum type="alphaLcPeriod"/>
            </a:pPr>
            <a:r>
              <a:rPr/>
              <a:t>Hollow bones for buoyancy</a:t>
            </a:r>
          </a:p>
          <a:p>
            <a:pPr lvl="0" indent="-342900" marL="342900">
              <a:buAutoNum type="alphaLcPeriod"/>
            </a:pPr>
            <a:r>
              <a:rPr/>
              <a:t>Webbed feet for paddling</a:t>
            </a:r>
          </a:p>
          <a:p>
            <a:pPr lvl="0" indent="-342900" marL="342900">
              <a:buAutoNum type="alphaLcPeriod"/>
            </a:pPr>
            <a:r>
              <a:rPr/>
              <a:t>Waterproof feathers and flipper-like wings ✅</a:t>
            </a:r>
          </a:p>
          <a:p>
            <a:pPr lvl="0" indent="-342900" marL="342900">
              <a:buAutoNum type="alphaLcPeriod"/>
            </a:pPr>
            <a:r>
              <a:rPr/>
              <a:t>Gills to breathe underwater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a:r>
              <a:rPr b="1"/>
              <a:t>Aim</a:t>
            </a:r>
            <a:r>
              <a:rPr/>
              <a:t>: To clarify concepts and aspects that are not yet understood</a:t>
            </a:r>
          </a:p>
          <a:p>
            <a:pPr lvl="0"/>
            <a:r>
              <a:rPr/>
              <a:t>Highlight specific answers given during the survey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b="1"/>
              <a:t>Aim</a:t>
            </a:r>
            <a:r>
              <a:rPr/>
              <a:t>: Design more practical exercises for students to apply the new skills in practice.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a:r>
              <a:rPr b="1"/>
              <a:t>Aim</a:t>
            </a:r>
            <a:r>
              <a:rPr/>
              <a:t>: To work out the relevance of the topic to your students.</a:t>
            </a:r>
          </a:p>
          <a:p>
            <a:pPr lvl="0"/>
            <a:r>
              <a:rPr/>
              <a:t>In an interactive setting, discuss how the new skills could be applied in practise with specific examples.</a:t>
            </a:r>
          </a:p>
          <a:p>
            <a:pPr lvl="0"/>
            <a:r>
              <a:rPr/>
              <a:t>Examine downfalls and practical obstacles.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a:r>
              <a:rPr b="1"/>
              <a:t>Aim</a:t>
            </a:r>
            <a:r>
              <a:rPr/>
              <a:t>: End lesson on clear take-home message that are interactively compiled by students.</a:t>
            </a:r>
          </a:p>
          <a:p>
            <a:pPr lvl="0" indent="0" marL="1270000">
              <a:buNone/>
            </a:pPr>
            <a:r>
              <a:rPr sz="2000" b="1"/>
              <a:t>Tip with Title</a:t>
            </a:r>
          </a:p>
          <a:p>
            <a:pPr lvl="0" indent="0" marL="1270000">
              <a:buNone/>
            </a:pPr>
            <a:r>
              <a:rPr sz="2000"/>
              <a:t>Add one practical tips or take-home message.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a:r>
              <a:rPr b="1"/>
              <a:t>Aim</a:t>
            </a:r>
            <a:r>
              <a:rPr/>
              <a:t>: This post-submodule survey serves to examine students’ current knowledge about the sumodule’s topic.</a:t>
            </a:r>
          </a:p>
          <a:p>
            <a:pPr lvl="0"/>
            <a:r>
              <a:rPr/>
              <a:t>Use free survey software such as particify or formR to establish the following questions (shown on separate slides)</a:t>
            </a:r>
          </a:p>
          <a:p>
            <a:pPr lvl="0"/>
            <a:r>
              <a:rPr/>
              <a:t>Use identical questions as in the pre-submodule survey to be able to directly compare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Compare and highlight specific differences in answers between pre- and post-survey answers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caption</a:t>
            </a:r>
          </a:p>
          <a:p>
            <a:pPr lvl="0"/>
            <a:r>
              <a:rPr/>
              <a:t>Centered image and caption below in italics</a:t>
            </a:r>
          </a:p>
          <a:p>
            <a:pPr lvl="0" indent="0" marL="0">
              <a:buNone/>
            </a:pPr>
          </a:p>
          <a:p>
            <a:pPr lvl="0" indent="0" marL="0">
              <a:buNone/>
            </a:pPr>
            <a:r>
              <a:rPr/>
              <a:t>This is a Penguin.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a:p>
            <a:pPr lvl="0" indent="0" marL="0">
              <a:buNone/>
            </a:pPr>
            <a:r>
              <a:rPr b="1"/>
              <a:t>Column 1</a:t>
            </a:r>
          </a:p>
          <a:p>
            <a:pPr lvl="0" indent="0" marL="0">
              <a:buNone/>
            </a:pPr>
            <a:r>
              <a:rPr/>
              <a:t>Lorem ipsum dolor sit amet, consectetur adipiscing elit.</a:t>
            </a:r>
            <a:br/>
            <a:r>
              <a:rPr/>
              <a:t>Vivamus lacinia odio vitae vestibulum vestibulum.</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a:p>
            <a:pPr lvl="0" indent="0" marL="0">
              <a:buNone/>
            </a:pPr>
            <a:r>
              <a:rPr b="1"/>
              <a:t>Column 3</a:t>
            </a:r>
          </a:p>
          <a:p>
            <a:pPr lvl="0" indent="0" marL="0">
              <a:buNone/>
            </a:pPr>
            <a:r>
              <a:rPr/>
              <a:t>Duis aute irure dolor in reprehenderit in voluptate velit esse cillum dolore eu fugiat nulla pariatur.</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Done</a:t>
            </a:r>
          </a:p>
          <a:p>
            <a:pPr lvl="0"/>
            <a:r>
              <a:rPr/>
              <a:t>☐ To do</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Embedding videos</a:t>
            </a:r>
          </a:p>
          <a:p>
            <a:pPr lvl="0" indent="0" marL="0">
              <a:buNone/>
            </a:pPr>
            <a:r>
              <a:rPr/>
              <a:t> </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OS-M3-S4-Git-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License</a:t>
            </a:r>
          </a:p>
          <a:p>
            <a:pPr lvl="0"/>
            <a:r>
              <a:rPr/>
              <a:t>This slide should contain information about the license details of this current set of slides.</a:t>
            </a:r>
          </a:p>
          <a:p>
            <a:pPr lvl="0"/>
            <a:r>
              <a:rPr/>
              <a:t>The default for the created materials is </a:t>
            </a:r>
            <a:r>
              <a:rPr>
                <a:hlinkClick r:id="rId2"/>
              </a:rPr>
              <a:t>CC-BY-SA 4.0</a:t>
            </a:r>
          </a:p>
          <a:p>
            <a:pPr lvl="1"/>
            <a:r>
              <a:rPr/>
              <a:t>= Creative Commons license that allows others to </a:t>
            </a:r>
            <a:r>
              <a:rPr b="1"/>
              <a:t>share, adapt, and build upon</a:t>
            </a:r>
            <a:r>
              <a:rPr/>
              <a:t> the original work</a:t>
            </a:r>
          </a:p>
          <a:p>
            <a:pPr lvl="1"/>
            <a:r>
              <a:rPr b="1"/>
              <a:t>only</a:t>
            </a:r>
            <a:r>
              <a:rPr/>
              <a:t> if they attribute the creator and also share their new work under the </a:t>
            </a:r>
            <a:r>
              <a:rPr b="1"/>
              <a:t>same terms</a:t>
            </a:r>
          </a:p>
          <a:p>
            <a:pPr lvl="1"/>
            <a:r>
              <a:rPr/>
              <a:t>allows for both </a:t>
            </a:r>
            <a:r>
              <a:rPr b="1"/>
              <a:t>commercial and non-commercial</a:t>
            </a:r>
            <a:r>
              <a:rPr/>
              <a:t> use of the licensed material</a:t>
            </a:r>
          </a:p>
          <a:p>
            <a:pPr lvl="0"/>
            <a:r>
              <a:rPr/>
              <a:t>Components of attributions:</a:t>
            </a:r>
          </a:p>
          <a:p>
            <a:pPr lvl="1"/>
            <a:r>
              <a:rPr>
                <a:latin typeface="Courier"/>
              </a:rPr>
              <a:t>Title</a:t>
            </a:r>
          </a:p>
          <a:p>
            <a:pPr lvl="1"/>
            <a:r>
              <a:rPr>
                <a:latin typeface="Courier"/>
              </a:rPr>
              <a:t>Author</a:t>
            </a:r>
          </a:p>
          <a:p>
            <a:pPr lvl="1"/>
            <a:r>
              <a:rPr>
                <a:latin typeface="Courier"/>
              </a:rPr>
              <a:t>Source</a:t>
            </a:r>
          </a:p>
          <a:p>
            <a:pPr lvl="1"/>
            <a:r>
              <a:rPr>
                <a:latin typeface="Courier"/>
              </a:rPr>
              <a:t>License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Statement</a:t>
            </a:r>
          </a:p>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version control with Git in RStudio</dc:title>
  <dc:creator>LMU Open Science Center</dc:creator>
  <cp:keywords/>
  <dcterms:created xsi:type="dcterms:W3CDTF">2025-10-01T15:43:15Z</dcterms:created>
  <dcterms:modified xsi:type="dcterms:W3CDTF">2025-10-01T15:43:15Z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01/10/2025</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