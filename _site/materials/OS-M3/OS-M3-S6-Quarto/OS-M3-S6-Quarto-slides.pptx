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notesMaster" Target="notesMasters/notesMaster1.xml" /><Relationship Id="rId83" Type="http://schemas.openxmlformats.org/officeDocument/2006/relationships/viewProps" Target="viewProps.xml" /><Relationship Id="rId82" Type="http://schemas.openxmlformats.org/officeDocument/2006/relationships/presProps" Target="presProps.xml" /><Relationship Id="rId1" Type="http://schemas.openxmlformats.org/officeDocument/2006/relationships/slideMaster" Target="slideMasters/slideMaster1.xml" /><Relationship Id="rId85" Type="http://schemas.openxmlformats.org/officeDocument/2006/relationships/tableStyles" Target="tableStyles.xml" /><Relationship Id="rId8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a:p>
            <a:pPr lvl="0" indent="0" marL="0">
              <a:buNone/>
            </a:pPr>
          </a:p>
          <a:p>
            <a:pPr lvl="0" indent="0" marL="0">
              <a:buNone/>
            </a:pPr>
            <a:r>
              <a:rPr i="1"/>
              <a:t>Instructor Notes</a:t>
            </a:r>
            <a:r>
              <a:rPr/>
              <a:t> - Aim: the pre-submodule survey serves to examine students’ prior knowledge about the sumodule’s topic. - Use free survey software such as or other survey software (Menti, particify,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Base yourself on conceptual change theory and examine existing concepts in relation to some key terms. Re-examine formation of new concepts at the end of the lesson.</a:t>
            </a:r>
          </a:p>
          <a:p>
            <a:pPr lvl="0" indent="0" marL="0">
              <a:buNone/>
            </a:pPr>
          </a:p>
          <a:p>
            <a:pPr lvl="0" indent="0" marL="0">
              <a:buNone/>
            </a:pPr>
            <a:r>
              <a:rPr i="1"/>
              <a:t>Speaker Notes</a:t>
            </a:r>
            <a:r>
              <a:rPr/>
              <a:t> - WYSIWYM is an acronym for “What You Say is What You Mean” which means that whatever you see in your document will be what you see even when you save or render the document as PDF or as HTML.</a:t>
            </a:r>
          </a:p>
          <a:p>
            <a:pPr lvl="0" indent="0" marL="0">
              <a:buNone/>
            </a:pPr>
          </a:p>
          <a:p>
            <a:pPr lvl="0"/>
            <a:r>
              <a:rPr/>
              <a:t>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Reminding students on the meanings of YAML Header and Markdown will be helpful especially to those with very little prior knowledge for working with Quarto.</a:t>
            </a:r>
          </a:p>
          <a:p>
            <a:pPr lvl="0" indent="0" marL="0">
              <a:buNone/>
            </a:pPr>
          </a:p>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indent="0" marL="0">
              <a:buNone/>
            </a:pPr>
            <a:r>
              <a:rPr i="1"/>
              <a:t>Speaker Note</a:t>
            </a:r>
            <a:r>
              <a:rPr/>
              <a:t> - Remember that the YAML Header goes at the top of the document in both Source and Visual Modes.</a:t>
            </a:r>
          </a:p>
          <a:p>
            <a:pPr lvl="0" indent="0" marL="0">
              <a:buNone/>
            </a:pPr>
          </a:p>
          <a:p>
            <a:pPr lvl="0"/>
            <a:r>
              <a:rPr/>
              <a:t>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These are just examples of callout boxes. How to actually create one will be covered in the next slide/task.</a:t>
            </a:r>
          </a:p>
          <a:p>
            <a:pPr lvl="0" indent="0" marL="0">
              <a:buNone/>
            </a:pPr>
          </a:p>
          <a:p>
            <a:pPr lvl="0" indent="0" marL="0">
              <a:buNone/>
            </a:pPr>
            <a:r>
              <a:rPr i="1"/>
              <a:t>Speaker Note</a:t>
            </a:r>
            <a:r>
              <a:rPr/>
              <a:t> - Callout boxes are a way to highlight important information in your document. They stand out visually, so readers immediately notice them. You can use them to emphasize tips, warnings, examples, or key takeaways.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 using {r} to start the Code Chunk indicates that the coding language that we’re using is R. This is relevant for this lesson as students will be using R Studio and possession pof some background knowledge in R is assumed.</a:t>
            </a:r>
          </a:p>
          <a:p>
            <a:pPr lvl="0" indent="0" marL="0">
              <a:buNone/>
            </a:pPr>
          </a:p>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a:p>
            <a:pPr lvl="0" indent="0" marL="0">
              <a:buNone/>
            </a:pPr>
          </a:p>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a:p>
            <a:pPr lvl="0" indent="0" marL="0">
              <a:buNone/>
            </a:pPr>
          </a:p>
          <a:p>
            <a:pPr lvl="0" indent="0" marL="0">
              <a:buNone/>
            </a:pPr>
            <a:r>
              <a:rPr b="1"/>
              <a:t>What’s the name of Quarto Markdown document</a:t>
            </a:r>
            <a:r>
              <a:rPr/>
              <a:t>?</a:t>
            </a:r>
          </a:p>
          <a:p>
            <a:pPr lvl="0" indent="0" marL="0">
              <a:buNone/>
            </a:pPr>
          </a:p>
          <a:p>
            <a:pPr lvl="0" indent="-342900" marL="342900">
              <a:buAutoNum type="alphaLcPeriod"/>
            </a:pPr>
            <a:r>
              <a:rPr/>
              <a:t>.png file</a:t>
            </a:r>
          </a:p>
          <a:p>
            <a:pPr lvl="0" indent="0" marL="0">
              <a:buNone/>
            </a:pPr>
          </a:p>
          <a:p>
            <a:pPr lvl="0" indent="-342900" marL="342900">
              <a:buAutoNum type="alphaLcPeriod"/>
            </a:pPr>
            <a:r>
              <a:rPr/>
              <a:t>.qmd file ✅</a:t>
            </a:r>
          </a:p>
          <a:p>
            <a:pPr lvl="0" indent="0" marL="0">
              <a:buNone/>
            </a:pPr>
          </a:p>
          <a:p>
            <a:pPr lvl="0" indent="-342900" marL="342900">
              <a:buAutoNum type="alphaLcPeriod"/>
            </a:pPr>
            <a:r>
              <a:rPr/>
              <a:t>.doc file</a:t>
            </a:r>
          </a:p>
          <a:p>
            <a:pPr lvl="0" indent="0" marL="0">
              <a:buNone/>
            </a:pPr>
          </a:p>
          <a:p>
            <a:pPr lvl="0" indent="-342900" marL="342900">
              <a:buAutoNum type="alphaLcPeriod"/>
            </a:pPr>
            <a:r>
              <a:rPr/>
              <a:t>.mp3 file</a:t>
            </a:r>
          </a:p>
          <a:p>
            <a:pPr lvl="0" indent="0" marL="0">
              <a:buNone/>
            </a:pPr>
          </a:p>
          <a:p>
            <a:pPr lvl="0" indent="0" marL="0">
              <a:buNone/>
            </a:pPr>
            <a:r>
              <a:rPr b="1"/>
              <a:t>What is the YAML header?</a:t>
            </a:r>
          </a:p>
          <a:p>
            <a:pPr lvl="0" indent="0" marL="0">
              <a:buNone/>
            </a:pPr>
          </a:p>
          <a:p>
            <a:pPr lvl="0" indent="-342900" marL="342900">
              <a:buAutoNum type="alphaLcPeriod"/>
            </a:pPr>
            <a:r>
              <a:rPr/>
              <a:t>summarizes the document into a single line</a:t>
            </a:r>
          </a:p>
          <a:p>
            <a:pPr lvl="0" indent="0" marL="0">
              <a:buNone/>
            </a:pPr>
          </a:p>
          <a:p>
            <a:pPr lvl="0" indent="-342900" marL="342900">
              <a:buAutoNum type="alphaLcPeriod"/>
            </a:pPr>
            <a:r>
              <a:rPr/>
              <a:t>this is where you store notes and reminders</a:t>
            </a:r>
          </a:p>
          <a:p>
            <a:pPr lvl="0" indent="0" marL="0">
              <a:buNone/>
            </a:pPr>
          </a:p>
          <a:p>
            <a:pPr lvl="0" indent="-342900" marL="342900">
              <a:buAutoNum type="alphaLcPeriod"/>
            </a:pPr>
            <a:r>
              <a:rPr/>
              <a:t>it’s like the “settings” of the document ✅</a:t>
            </a:r>
          </a:p>
          <a:p>
            <a:pPr lvl="0" indent="0" marL="0">
              <a:buNone/>
            </a:pPr>
          </a:p>
          <a:p>
            <a:pPr lvl="0" indent="-342900" marL="342900">
              <a:buAutoNum type="alphaLcPeriod"/>
            </a:pPr>
            <a:r>
              <a:rPr/>
              <a:t>just the title of the document</a:t>
            </a:r>
          </a:p>
          <a:p>
            <a:pPr lvl="0" indent="0" marL="0">
              <a:buNone/>
            </a:pPr>
          </a:p>
          <a:p>
            <a:pPr lvl="0" indent="0" marL="0">
              <a:buNone/>
            </a:pPr>
            <a:r>
              <a:rPr b="1"/>
              <a:t>Which of the following is used to format content (like paragraphs and bullet points)?</a:t>
            </a:r>
          </a:p>
          <a:p>
            <a:pPr lvl="0" indent="0" marL="0">
              <a:buNone/>
            </a:pPr>
          </a:p>
          <a:p>
            <a:pPr lvl="0" indent="-342900" marL="342900">
              <a:buAutoNum type="alphaLcPeriod"/>
            </a:pPr>
            <a:r>
              <a:rPr/>
              <a:t>Code chunks</a:t>
            </a:r>
          </a:p>
          <a:p>
            <a:pPr lvl="0" indent="0" marL="0">
              <a:buNone/>
            </a:pPr>
          </a:p>
          <a:p>
            <a:pPr lvl="0" indent="-342900" marL="342900">
              <a:buAutoNum type="alphaLcPeriod"/>
            </a:pPr>
            <a:r>
              <a:rPr/>
              <a:t>YAML header</a:t>
            </a:r>
          </a:p>
          <a:p>
            <a:pPr lvl="0" indent="0" marL="0">
              <a:buNone/>
            </a:pPr>
          </a:p>
          <a:p>
            <a:pPr lvl="0" indent="-342900" marL="342900">
              <a:buAutoNum type="alphaLcPeriod"/>
            </a:pPr>
            <a:r>
              <a:rPr/>
              <a:t>Markdown text ✅</a:t>
            </a:r>
          </a:p>
          <a:p>
            <a:pPr lvl="0" indent="0" marL="0">
              <a:buNone/>
            </a:pPr>
          </a:p>
          <a:p>
            <a:pPr lvl="0" indent="-342900" marL="342900">
              <a:buAutoNum type="alphaLcPeriod"/>
            </a:pPr>
            <a:r>
              <a:rPr/>
              <a:t>All of the above</a:t>
            </a:r>
          </a:p>
          <a:p>
            <a:pPr lvl="0" indent="0" marL="0">
              <a:buNone/>
            </a:pPr>
          </a:p>
          <a:p>
            <a:pPr lvl="0" indent="0" marL="0">
              <a:buNone/>
            </a:pPr>
            <a:r>
              <a:rPr b="1"/>
              <a:t>What are the 2 components of the Authoring process?</a:t>
            </a:r>
          </a:p>
          <a:p>
            <a:pPr lvl="0" indent="0" marL="0">
              <a:buNone/>
            </a:pPr>
          </a:p>
          <a:p>
            <a:pPr lvl="0" indent="0" marL="0">
              <a:buNone/>
            </a:pPr>
            <a:r>
              <a:rPr b="1"/>
              <a:t>How to create a code chunk in a Quarto Document?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The last step (to open a new Terminal) is important because the current Terminal does not just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Reminder that copying &amp; pasting with keyboard shortcuts do not work the same in Git Bash. Right-clicking and selecting Paste is an easy option.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p>
          <a:p>
            <a:pPr lvl="0" indent="0" marL="0">
              <a:buNone/>
            </a:pPr>
          </a:p>
          <a:p>
            <a:pPr lvl="0"/>
            <a:r>
              <a:rPr/>
              <a:t>Aim: This post-submodule survey serves to examine students’ current knowledge about the sumodule’s topic.</a:t>
            </a:r>
          </a:p>
          <a:p>
            <a:pPr lvl="0" indent="0" marL="0">
              <a:buNone/>
            </a:pPr>
          </a:p>
          <a:p>
            <a:pPr lvl="0"/>
            <a:r>
              <a:rPr/>
              <a:t>Use free survey software such as or other survey software (particify, formR) to establish the following questions (these are examples that can be adapted to suit your needs):</a:t>
            </a:r>
          </a:p>
          <a:p>
            <a:pPr lvl="0" indent="0" marL="0">
              <a:buNone/>
            </a:pPr>
          </a:p>
          <a:p>
            <a:pPr lvl="0" indent="0" marL="0">
              <a:buNone/>
            </a:pPr>
            <a:r>
              <a:rPr b="1"/>
              <a:t>What is your level of familiarity with Quarto before this lesson?</a:t>
            </a:r>
            <a:r>
              <a:rPr/>
              <a:t> a) I’ve never used it b) I’ve heard of it but never tried it c) I’ve experimented a little d) I use it occasionally e) I use it frequently</a:t>
            </a:r>
          </a:p>
          <a:p>
            <a:pPr lvl="0" indent="0" marL="0">
              <a:buNone/>
            </a:pPr>
          </a:p>
          <a:p>
            <a:pPr lvl="0" indent="0" marL="0">
              <a:buNone/>
            </a:pPr>
            <a:r>
              <a:rPr b="1"/>
              <a:t>Which of the following best describes Quarto?</a:t>
            </a:r>
            <a:r>
              <a:rPr/>
              <a:t> a) A programming language b) A publishing system for reproducible documents ✅ c) A code editor d) A type of version control system</a:t>
            </a:r>
          </a:p>
          <a:p>
            <a:pPr lvl="0" indent="0" marL="0">
              <a:buNone/>
            </a:pPr>
          </a:p>
          <a:p>
            <a:pPr lvl="0" indent="0" marL="0">
              <a:buNone/>
            </a:pPr>
            <a:r>
              <a:rPr b="1"/>
              <a:t>Which components are combined in the authoring process of Quarto documents?</a:t>
            </a:r>
            <a:r>
              <a:rPr/>
              <a:t> a) Only YAML b) Only Markdown c) Neither d) YAML and Markdown together ✅</a:t>
            </a:r>
          </a:p>
          <a:p>
            <a:pPr lvl="0" indent="0" marL="0">
              <a:buNone/>
            </a:pPr>
          </a:p>
          <a:p>
            <a:pPr lvl="0" indent="0" marL="0">
              <a:buNone/>
            </a:pPr>
            <a:r>
              <a:rPr b="1"/>
              <a:t>Which of the following modes can be used to create a Quarto document?</a:t>
            </a:r>
            <a:r>
              <a:rPr/>
              <a:t> a) Source mode b) Visual mode c) Both ✅ d) Neither</a:t>
            </a:r>
          </a:p>
          <a:p>
            <a:pPr lvl="0" indent="0" marL="0">
              <a:buNone/>
            </a:pPr>
          </a:p>
          <a:p>
            <a:pPr lvl="0" indent="0" marL="0">
              <a:buNone/>
            </a:pPr>
            <a:r>
              <a:rPr b="1"/>
              <a:t>On a scale of 1 to 5, how comfortable are you switching between Source and Visual modes?</a:t>
            </a:r>
          </a:p>
          <a:p>
            <a:pPr lvl="0" indent="0" marL="0">
              <a:buNone/>
            </a:pPr>
          </a:p>
          <a:p>
            <a:pPr lvl="0" indent="0" marL="0">
              <a:buNone/>
            </a:pPr>
            <a:r>
              <a:rPr b="1"/>
              <a:t>Which of these are examples of Markdown text formatting? (Select all that apply)</a:t>
            </a:r>
            <a:r>
              <a:rPr/>
              <a:t> a) Bold text ✅ b) Italic text ✅ c) Adding code chunks d) Adding hyperlinks ✅</a:t>
            </a:r>
          </a:p>
          <a:p>
            <a:pPr lvl="0" indent="0" marL="0">
              <a:buNone/>
            </a:pPr>
          </a:p>
          <a:p>
            <a:pPr lvl="0" indent="0" marL="0">
              <a:buNone/>
            </a:pPr>
            <a:r>
              <a:rPr b="1"/>
              <a:t>Why should you use text formatting in Quarto documents?</a:t>
            </a:r>
            <a:r>
              <a:rPr/>
              <a:t> a) For aesthetics only b) To improve clarity and emphasis ✅ c) To make the file larger d) To change the coding language</a:t>
            </a:r>
          </a:p>
          <a:p>
            <a:pPr lvl="0" indent="0" marL="0">
              <a:buNone/>
            </a:pPr>
          </a:p>
          <a:p>
            <a:pPr lvl="0" indent="0" marL="0">
              <a:buNone/>
            </a:pPr>
            <a:r>
              <a:rPr b="1"/>
              <a:t>When would you consider using multi-column layouts?</a:t>
            </a:r>
            <a:r>
              <a:rPr/>
              <a:t> a) To shorten the document b) To make information more visually organized ✅ c) To add footnotes only d) To increase file size</a:t>
            </a:r>
          </a:p>
          <a:p>
            <a:pPr lvl="0" indent="0" marL="0">
              <a:buNone/>
            </a:pPr>
          </a:p>
          <a:p>
            <a:pPr lvl="0" indent="0" marL="0">
              <a:buNone/>
            </a:pPr>
            <a:r>
              <a:rPr b="1"/>
              <a:t>What is the purpose of code chunks in Quarto documents?</a:t>
            </a:r>
            <a:r>
              <a:rPr/>
              <a:t> a) To include executable code and results within the document ✅ b) To store references c) To format text d) To hide metadata</a:t>
            </a:r>
          </a:p>
          <a:p>
            <a:pPr lvl="0" indent="0" marL="0">
              <a:buNone/>
            </a:pPr>
          </a:p>
          <a:p>
            <a:pPr lvl="0" indent="0" marL="0">
              <a:buNone/>
            </a:pPr>
            <a:r>
              <a:rPr b="1"/>
              <a:t>Which YAML options relate to how code chunks are displayed?</a:t>
            </a:r>
            <a:r>
              <a:rPr/>
              <a:t> a) echo: true ✅ b) code-fold: false ✅ c) title: “My Document” d) format: html</a:t>
            </a:r>
          </a:p>
          <a:p>
            <a:pPr lvl="0" indent="0" marL="0">
              <a:buNone/>
            </a:pPr>
          </a:p>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a:p>
            <a:pPr lvl="0" indent="0" marL="0">
              <a:buNone/>
            </a:pPr>
          </a:p>
          <a:p>
            <a:pPr lvl="0" indent="0" marL="0">
              <a:buNone/>
            </a:pPr>
            <a:r>
              <a:rPr b="1"/>
              <a:t>Which of the following are common publishing options for Quarto projects? (Select all that apply)</a:t>
            </a:r>
            <a:r>
              <a:rPr/>
              <a:t> a) GitHub Pages ✅ b) Quarto Pub ✅ c) Social media platforms d) Personal websites ✅</a:t>
            </a:r>
          </a:p>
          <a:p>
            <a:pPr lvl="0" indent="0" marL="0">
              <a:buNone/>
            </a:pPr>
          </a:p>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p>
          <a:p>
            <a:pPr lvl="0" indent="0" marL="0">
              <a:buNone/>
            </a:pPr>
          </a:p>
          <a:p>
            <a:pPr lvl="0"/>
            <a:r>
              <a:rPr/>
              <a:t>Aim: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1.xml" /><Relationship Id="rId3" Type="http://schemas.openxmlformats.org/officeDocument/2006/relationships/image" Target="../media/image4.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journals.plos.org/plosone/article?id=10.1371/journal.pone.0127819" TargetMode="External" /><Relationship Id="rId2" Type="http://schemas.openxmlformats.org/officeDocument/2006/relationships/image" Target="../media/image4.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journals.plos.org/plosone/article?id=10.1371/journal.pone.0127819"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6.xml" /><Relationship Id="rId3"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github.com"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20/08/2025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ttt-quarto-slides</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indent="0" marL="0">
              <a:spcBef>
                <a:spcPts val="3000"/>
              </a:spcBef>
              <a:buNone/>
            </a:pPr>
            <a:r>
              <a:rPr b="1"/>
              <a:t>Before we start: Survey time!</a:t>
            </a:r>
          </a:p>
          <a:p>
            <a:pPr lvl="0" indent="0" marL="0">
              <a:buNone/>
            </a:pPr>
            <a:r>
              <a:rPr/>
              <a:t>Take this survey to test your prior Quarto knowledge</a:t>
            </a:r>
          </a:p>
          <a:p>
            <a:pPr lvl="0" indent="0" marL="0">
              <a:buNone/>
            </a:pPr>
            <a:r>
              <a:rPr/>
              <a:t>Quarto Survey link</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a:t>
            </a:r>
          </a:p>
          <a:p>
            <a:pPr lvl="0" indent="0" marL="0">
              <a:buNone/>
            </a:pPr>
            <a:r>
              <a:rPr b="1"/>
              <a:t>Quarto</a:t>
            </a:r>
            <a:r>
              <a:rPr/>
              <a:t> makes it easy to analyze, share and reproduce.</a:t>
            </a:r>
          </a:p>
          <a:p>
            <a:pPr lvl="0" indent="0" marL="0">
              <a:buNone/>
            </a:pPr>
            <a:r>
              <a:rPr/>
              <a:t>It’s a powerful tool for producing transparent, reproducible, and accessible work that can be freely shared, viewed, and reused by others.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Participants will </a:t>
            </a:r>
            <a:r>
              <a:rPr b="1"/>
              <a:t>learn</a:t>
            </a:r>
            <a:r>
              <a:rPr/>
              <a:t> how to create, edit, and render Quarto documents</a:t>
            </a:r>
          </a:p>
          <a:p>
            <a:pPr lvl="0"/>
            <a:r>
              <a:rPr/>
              <a:t>Participants will </a:t>
            </a:r>
            <a:r>
              <a:rPr b="1"/>
              <a:t>understand</a:t>
            </a:r>
            <a:r>
              <a:rPr/>
              <a:t> how to use key Quarto features (code chunks, YAML headers, citations, and output formatting)</a:t>
            </a:r>
          </a:p>
          <a:p>
            <a:pPr lvl="0"/>
            <a:r>
              <a:rPr/>
              <a:t>Participants will </a:t>
            </a:r>
            <a:r>
              <a:rPr b="1"/>
              <a:t>gain confidence</a:t>
            </a:r>
            <a:r>
              <a:rPr/>
              <a:t> in preparing and teaching Quarto effectively to students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b="1"/>
              <a:t>Components of a .qmd file</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a:p>
            <a:pPr lvl="0" indent="0" marL="0">
              <a:buNone/>
            </a:pPr>
            <a:r>
              <a:rPr b="1"/>
              <a:t>Task 1</a:t>
            </a:r>
          </a:p>
          <a:p>
            <a:pPr lvl="0"/>
            <a:r>
              <a:rPr/>
              <a:t>☐ Follow the steps to create a new Quarto Document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b="1"/>
              <a:t>Task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a:p>
            <a:pPr lvl="0" indent="0" marL="0">
              <a:buNone/>
            </a:pPr>
            <a:r>
              <a:rPr b="1"/>
              <a:t>Task 3</a:t>
            </a:r>
          </a:p>
          <a:p>
            <a:pPr lvl="0"/>
            <a:r>
              <a:rPr/>
              <a:t>☐ Copy the Markdown Text and paste it to your document</a:t>
            </a:r>
          </a:p>
          <a:p>
            <a:pPr lvl="0"/>
            <a:r>
              <a:rPr/>
              <a:t>☐ Bold the word </a:t>
            </a:r>
            <a:r>
              <a:rPr i="1"/>
              <a:t>“ChickWeight”</a:t>
            </a:r>
          </a:p>
          <a:p>
            <a:pPr lvl="0"/>
            <a:r>
              <a:rPr/>
              <a:t>☐ Italicize the phrase </a:t>
            </a:r>
            <a:r>
              <a:rPr i="1"/>
              <a:t>“growth trends”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a:t>Highlight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a:p>
            <a:pPr lvl="0" indent="0" marL="0">
              <a:buNone/>
            </a:pPr>
          </a:p>
          <a:p>
            <a:pPr lvl="0" indent="0" marL="0">
              <a:buNone/>
            </a:pPr>
            <a:r>
              <a:rPr b="1"/>
              <a:t>Task 4</a:t>
            </a:r>
          </a:p>
          <a:p>
            <a:pPr lvl="0"/>
            <a:r>
              <a:rPr/>
              <a:t>☐ Copy &amp; paste into your Quarto document to add this callout note box.</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a:p>
            <a:pPr lvl="0" indent="0" marL="0">
              <a:buNone/>
            </a:pPr>
            <a:r>
              <a:rPr b="1"/>
              <a:t>Task 5</a:t>
            </a:r>
          </a:p>
          <a:p>
            <a:pPr lvl="0"/>
            <a:r>
              <a:rPr/>
              <a:t>☐ Insert the code in </a:t>
            </a:r>
            <a:r>
              <a:rPr b="1"/>
              <a:t>two separate code chunks</a:t>
            </a:r>
          </a:p>
          <a:p>
            <a:pPr lvl="0"/>
            <a:r>
              <a:rPr/>
              <a:t>☐ Render the output and see what you get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Let’s edit the YAML header to make the code chunks </a:t>
            </a:r>
            <a:r>
              <a:rPr b="1"/>
              <a:t>collapsible</a:t>
            </a:r>
            <a:r>
              <a:rPr/>
              <a:t> and add </a:t>
            </a:r>
            <a:r>
              <a:rPr b="1"/>
              <a:t>code tools</a:t>
            </a:r>
            <a:r>
              <a:rPr/>
              <a:t>.</a:t>
            </a:r>
          </a:p>
          <a:p>
            <a:pPr lvl="0" indent="0" marL="0">
              <a:buNone/>
            </a:pPr>
            <a:r>
              <a:rPr b="1"/>
              <a:t>Task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2"/>
              </a:rPr>
              <a:t>Quarto Website</a:t>
            </a:r>
          </a:p>
          <a:p>
            <a:pPr lvl="0"/>
            <a:r>
              <a:rPr/>
              <a:t>[Reveal.js Documentation] (https://revealjs.com/) → </a:t>
            </a:r>
            <a:r>
              <a:rPr>
                <a:hlinkClick r:id="rId3"/>
              </a:rPr>
              <a:t>Reveal.js Documentation</a:t>
            </a:r>
          </a:p>
          <a:p>
            <a:pPr lvl="0" indent="0" marL="0">
              <a:buNone/>
            </a:pPr>
            <a:r>
              <a:rPr/>
              <a:t>link without title: &lt; https:// link &gt;</a:t>
            </a:r>
          </a:p>
          <a:p>
            <a:pPr lvl="0"/>
            <a:r>
              <a:rPr/>
              <a:t>&lt; https://www.markdownguide.org/ &gt; → </a:t>
            </a:r>
            <a:r>
              <a:rPr>
                <a:hlinkClick r:id="rId4"/>
              </a:rPr>
              <a:t>https://www.markdownguide.org/</a:t>
            </a:r>
          </a:p>
          <a:p>
            <a:pPr lvl="0"/>
            <a:r>
              <a:rPr/>
              <a:t>&lt; https://github.com/ &gt; → </a:t>
            </a:r>
            <a:r>
              <a:rPr>
                <a:hlinkClick r:id="rId5"/>
              </a:rPr>
              <a:t>https://github.com/</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with caption: ! [ caption ] ( path/image.png )</a:t>
            </a:r>
          </a:p>
        </p:txBody>
      </p:sp>
      <p:pic>
        <p:nvPicPr>
          <p:cNvPr descr="images/chickpic1.png" id="0" name="Picture 1"/>
          <p:cNvPicPr>
            <a:picLocks noGrp="1" noChangeAspect="1"/>
          </p:cNvPicPr>
          <p:nvPr/>
        </p:nvPicPr>
        <p:blipFill>
          <a:blip r:embed="rId2"/>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with link: [ ! [ caption ] ( path/image.png ) ] ( link )</a:t>
            </a:r>
          </a:p>
        </p:txBody>
      </p:sp>
      <p:pic>
        <p:nvPicPr>
          <p:cNvPr descr="images/chickpic1.pn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Task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a:t>
            </a:r>
          </a:p>
          <a:p>
            <a:pPr lvl="0" indent="0" marL="0">
              <a:buNone/>
            </a:pPr>
            <a:r>
              <a:rPr/>
              <a:t>You can change the layout of a section using </a:t>
            </a:r>
            <a:r>
              <a:rPr b="1"/>
              <a:t>columns</a:t>
            </a:r>
            <a:r>
              <a:rPr/>
              <a:t>.</a:t>
            </a:r>
          </a:p>
          <a:p>
            <a:pPr lvl="0"/>
            <a:r>
              <a:rPr/>
              <a:t>Start the column layout by writing “:::::: columns”</a:t>
            </a:r>
          </a:p>
          <a:p>
            <a:pPr lvl="0"/>
            <a:r>
              <a:rPr/>
              <a:t>Begin the first column with “::: column”</a:t>
            </a:r>
          </a:p>
          <a:p>
            <a:pPr lvl="0"/>
            <a:r>
              <a:rPr/>
              <a:t>Add content and end it with “:::”</a:t>
            </a:r>
          </a:p>
          <a:p>
            <a:pPr lvl="0"/>
            <a:r>
              <a:rPr/>
              <a:t>Begin second coloumn with “::: column”</a:t>
            </a:r>
          </a:p>
          <a:p>
            <a:pPr lvl="0"/>
            <a:r>
              <a:rPr/>
              <a:t>Add content and end it with “:::”</a:t>
            </a:r>
          </a:p>
          <a:p>
            <a:pPr lvl="0"/>
            <a:r>
              <a:rPr/>
              <a:t>End section with a final “::::::”</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a:t>
            </a:r>
          </a:p>
          <a:p>
            <a:pPr lvl="0" indent="0" marL="0">
              <a:buNone/>
            </a:pPr>
            <a:r>
              <a:rPr/>
              <a:t>Let’s use columns to add bullet points next to an image.</a:t>
            </a:r>
          </a:p>
          <a:p>
            <a:pPr lvl="0" indent="0" marL="0">
              <a:buNone/>
            </a:pPr>
            <a:r>
              <a:rPr b="1"/>
              <a:t>Task 8</a:t>
            </a:r>
          </a:p>
          <a:p>
            <a:pPr lvl="0"/>
            <a:r>
              <a:rPr/>
              <a:t>☐ Click this link to download the image</a:t>
            </a:r>
          </a:p>
          <a:p>
            <a:pPr lvl="0"/>
            <a:r>
              <a:rPr/>
              <a:t>☐ Save the image to the main folder of the Quarto document files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a:t>
            </a:r>
          </a:p>
          <a:p>
            <a:pPr lvl="0" indent="0" marL="0">
              <a:buNone/>
            </a:pPr>
            <a:r>
              <a:rPr b="1"/>
              <a:t>Task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2"/>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Task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Task 9</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Task 10</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a:p>
            <a:pPr lvl="0"/>
            <a:r>
              <a:rPr/>
              <a:t>☐ </a:t>
            </a:r>
            <a:r>
              <a:rPr>
                <a:hlinkClick r:id="rId2"/>
              </a:rPr>
              <a:t>follow this link to another article on diets and broiler chicks</a:t>
            </a:r>
          </a:p>
          <a:p>
            <a:pPr lvl="0"/>
            <a:r>
              <a:rPr/>
              <a:t>☐ add the citation to your Zotero Library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Task 10</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a:r>
              <a:rPr/>
              <a:t>☐ in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Task 11</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a:r>
              <a:rPr/>
              <a:t>☐ In your repo on </a:t>
            </a:r>
            <a:r>
              <a:rPr>
                <a:hlinkClick r:id="rId2"/>
              </a:rPr>
              <a:t>GitHub</a:t>
            </a:r>
            <a:r>
              <a:rPr/>
              <a:t>, go to Settings</a:t>
            </a:r>
          </a:p>
          <a:p>
            <a:pPr lvl="0"/>
            <a:r>
              <a:rPr/>
              <a:t>☐ Click “Pages” to configure GitHub Pages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a:t>
            </a:r>
          </a:p>
          <a:p>
            <a:pPr lvl="0" indent="0" marL="0">
              <a:buNone/>
            </a:pPr>
            <a:r>
              <a:rPr/>
              <a:t>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2025-08-20T08:39:52Z</dcterms:created>
  <dcterms:modified xsi:type="dcterms:W3CDTF">2025-08-20T08:39:52Z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