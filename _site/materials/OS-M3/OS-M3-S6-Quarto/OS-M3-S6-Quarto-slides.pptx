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notesMaster" Target="notesMasters/notesMaster1.xml" /><Relationship Id="rId102" Type="http://schemas.openxmlformats.org/officeDocument/2006/relationships/viewProps" Target="viewProps.xml" /><Relationship Id="rId101" Type="http://schemas.openxmlformats.org/officeDocument/2006/relationships/presProps" Target="presProps.xml" /><Relationship Id="rId1" Type="http://schemas.openxmlformats.org/officeDocument/2006/relationships/slideMaster" Target="slideMasters/slideMaster1.xml" /><Relationship Id="rId104" Type="http://schemas.openxmlformats.org/officeDocument/2006/relationships/tableStyles" Target="tableStyles.xml" /><Relationship Id="rId10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b="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start the session by guaging where our skills are at this point. Please answer honestly and don’t worry about having little to no prior knowledge about Quarto. This lesson is for beginners. </a:t>
            </a:r>
            <a:r>
              <a:rPr b="1"/>
              <a:t>Instructor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is an open-source publishing system, this means it is free to use and community-driven. Anyone can download it, contribute towards its improvement, and adapt it. - It’s designed for combining text, code, and media in a way that makes your work transparent and reprodcible, this means that anyone can read it, rerun the code, and even check the results themselves. - The 3 key things you can do with Quarto are: - Analyze and work with data, text, or research content directly in your document - Share or present your results as reports, slides, or even full websites - Make your workflow reproducible so others can repeat them. </a:t>
            </a:r>
            <a:r>
              <a:rPr i="1"/>
              <a:t>Instructor Notes</a:t>
            </a:r>
            <a:r>
              <a:rPr/>
              <a:t> - Establishing a clear idea of what Quarto is at the beginning of the lesson is useful for building context and purpose - Context: how all the parts of Quarto work together to create intended document(s) - 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Core theoretical introduction of submodule topic.</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a:p>
            <a:pPr lvl="0" indent="0" marL="0">
              <a:buNone/>
            </a:pPr>
          </a:p>
          <a:p>
            <a:pPr lvl="0" indent="0" marL="0">
              <a:buNone/>
            </a:pPr>
            <a:r>
              <a:rPr i="1"/>
              <a:t>Intructor Note</a:t>
            </a:r>
            <a:r>
              <a:rPr/>
              <a:t> - Pair theoretical aspects with practical exercises and group discussions according to the Think-Pair-Share style and according to Cognitive Load Theory (Sweller, 1980). - 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 </a:t>
            </a:r>
            <a:r>
              <a:rPr b="1"/>
              <a:t>Instructor Notes</a:t>
            </a:r>
            <a:r>
              <a:rPr/>
              <a:t>: -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To get started with Quarto in RStudio, the first step is simply creating a new Quarto document. - You see options for both Quarto Document and Quarto Presentation. What’s the difference between the two? - A Quarto Document is best for reports or articles because it produces continuous text like a paper. - A Quarto Presentation is for creating slide decks, like PowerPoint or Reveal.js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This creates your document where you can now customize the YAML header, add Markdown text, and insert code chunks. - The default format is html but this can be changed later on by editing the YAML header directly in the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Ensure students know where their Quarto project folder is located on their device. This will make it easier for them to find files in later tasks. Encourage them to save the document right after creating it by selecting “Save As”, so they can intentionally choose the document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b="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Help students feel comfortable using Markdown by showing how simple and familiar it really is. - the words “Markdown Text” may seem technical or complicated for those new to Quarto. But Markdown can simply be understood as just typing (like writing in any normal document), sometimes with a few simple symbols to add structure or emphasis.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Also instruct students to render their document after each practical exercise (where applicable) so they can see the changes as they make them and identify issues.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 Acknowledge that the look of the callout boxes changes depending on if “-important,” “-tip,” or “-note” follows the word “callout”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Inside the box, you can add a heading and text. - These aren’t just for highlighting important information but can be used for supplementary or by-the-way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Aim: Understand and practice the specific format of a callout box. - When rendered, acknowledge how the callout boxes sets its contents apart from the rest of the document to draw the reader’s attention </a:t>
            </a:r>
            <a:r>
              <a:rPr i="1"/>
              <a:t>Instructor Note</a:t>
            </a:r>
            <a:r>
              <a:rPr/>
              <a:t> - The details in the formatting are very important (for callout boxes and for all authoring features) - Specific details: - beginning and ending in 3 </a:t>
            </a:r>
            <a:r>
              <a:rPr>
                <a:latin typeface="Courier"/>
              </a:rPr>
              <a:t>:::</a:t>
            </a:r>
            <a:r>
              <a:rPr/>
              <a:t>; - single space between the first </a:t>
            </a:r>
            <a:r>
              <a:rPr>
                <a:latin typeface="Courier"/>
              </a:rPr>
              <a:t>:::</a:t>
            </a:r>
            <a:r>
              <a:rPr/>
              <a:t> and callout-note; - single space between </a:t>
            </a:r>
            <a:r>
              <a:rPr>
                <a:latin typeface="Courier"/>
              </a:rPr>
              <a:t>##</a:t>
            </a:r>
            <a:r>
              <a:rPr/>
              <a:t> and title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ossession 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p>
          <a:p>
            <a:pPr lvl="0" indent="0" marL="0">
              <a:buNone/>
            </a:pPr>
          </a:p>
          <a:p>
            <a:pPr lvl="0" indent="0" marL="0">
              <a:buNone/>
            </a:pPr>
            <a:r>
              <a:rPr/>
              <a:t>Add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Encourage students to try using both methods to insert coding chunks for this exercise. - Note that the code is in two separate text boxes/coding chunks for teaching purposes but can actually both be put in 1 coding chunk. You do not have to start a new coding chunk each time you want to use a different R function. - After students render the output and observe how the code appears together with the markdown text from the previous activities, use this as an opportunity to exemplify and emphasize how Quarto is useful for combining text and code into one document. </a:t>
            </a:r>
            <a:r>
              <a:rPr i="1"/>
              <a:t>Instructor Note</a:t>
            </a:r>
            <a:r>
              <a:rPr/>
              <a:t> - Students don’t need to hit Ctrl + Enter (Windows) or Command + Enter (Mac) to run the code. After placing it in the coding chunk, rendering the document will run the code and print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clarify that “not collapsible” means that we cannot chose to hide the code, we cannot fold it closed (as we will see when we set it to </a:t>
            </a:r>
            <a:r>
              <a:rPr>
                <a:latin typeface="Courier"/>
              </a:rPr>
              <a:t>code-fold: true</a:t>
            </a:r>
            <a:r>
              <a:rPr/>
              <a:t>) - Quarto gives us several options for controlling how code appears in our documents. For example, we can choose whether to show or hide the code itself, whether readers can fold code open and closed, or whether only the results are shown.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Engage students by asking for possible reasons why one would want their code to be visible or not.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Before the break, take a moment to review the things we covered in the first part of this lesson.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survey has a few simple recap questions about what we’ve covered so far in Quarto. The goal isn’t to test you, but to help you reflect on what you’ve learned and for me to see if anything needs a bit more clarification. </a:t>
            </a:r>
            <a:r>
              <a:rPr i="1"/>
              <a:t>Instructor Notes</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 - Also, use this time to clarify any confusions or questions on specific topics students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You can insert a link with a title using square brackets for the text and parentheses for the URL. This is helpful when you want the link to be descriptive or if you want to hyperlink written text. - You can also add a link without a title by simply wrapping the URL in angle brackets (&lt;…&gt;). This shows the raw link, which is fine if the URL itself is clear and concise enough. -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 - For this lesson, we will focus on just adding images. You can add the image by itself with no additional text, such as a caption. - The “path” tells Quarto where to find the image on your device. If the image is stored in the same folder as your .qmd file, you only need to use the image’s file name. If the image is inside a subfolder (e.g., an images folder next to your .qmd), then you just include the folder name in the path, like images/picture.png.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a caption placed below it. - Helps with clarity and accessibility, since captions explain the relevance of the image. -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links embedded in them. - This allows readers to click and explore more details (e.g., linking a screenshot to a website or dataset). - Keeps documents concise while still offering extra resources for those who want them.</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Aims: to reinforce how to add images, how to insert captions, and how paths work. - Simply click the link and the image will automatically download. - The text inside the square brackets is the caption, and the text inside the parentheses is the path to the image file. - Reminder that the path tells Quarto where to look for the image on your deivce. - If your image is saved directly in the same folder as your .qmd file, you only need the file name. If it’s in a subfolder, include the folder name in the path.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One of the ways you can utlilize columns is by placing an image on one side and bullet points next to it. - The link leads to separate image from the previous one, please click to initiate another download. - Reminder that where the image is stored is important for setting the path.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image in this exercise will be inserted without caption, hence, the square brackets are left blank. But it is still necessary to add them. - This is also an opportunity to see how bullet points are added: by using a dash (-), followed by a single space, then the content. </a:t>
            </a:r>
            <a:r>
              <a:rPr i="1"/>
              <a:t>Instructor Note</a:t>
            </a:r>
            <a:r>
              <a:rPr/>
              <a:t> - The details of the syntax for columns is very important here too: - beginning and ending with exatly 6 </a:t>
            </a:r>
            <a:r>
              <a:rPr>
                <a:latin typeface="Courier"/>
              </a:rPr>
              <a:t>::::::</a:t>
            </a:r>
            <a:r>
              <a:rPr/>
              <a:t> - beginning the layout with the word </a:t>
            </a:r>
            <a:r>
              <a:rPr>
                <a:latin typeface="Courier"/>
              </a:rPr>
              <a:t>columns</a:t>
            </a:r>
            <a:r>
              <a:rPr/>
              <a:t> (plural) then using </a:t>
            </a:r>
            <a:r>
              <a:rPr>
                <a:latin typeface="Courier"/>
              </a:rPr>
              <a:t>column</a:t>
            </a:r>
            <a:r>
              <a:rPr/>
              <a:t> (singular) to divide each subsequent column - a single space between </a:t>
            </a:r>
            <a:r>
              <a:rPr>
                <a:latin typeface="Courier"/>
              </a:rPr>
              <a:t>::::::</a:t>
            </a:r>
            <a:r>
              <a:rPr/>
              <a:t> and </a:t>
            </a:r>
            <a:r>
              <a:rPr>
                <a:latin typeface="Courier"/>
              </a:rPr>
              <a:t>columns</a:t>
            </a:r>
            <a:r>
              <a:rPr/>
              <a:t> as well as between </a:t>
            </a:r>
            <a:r>
              <a:rPr>
                <a:latin typeface="Courier"/>
              </a:rPr>
              <a:t>:::</a:t>
            </a:r>
            <a:r>
              <a:rPr/>
              <a:t> and </a:t>
            </a:r>
            <a:r>
              <a:rPr>
                <a:latin typeface="Courier"/>
              </a:rPr>
              <a:t>column</a:t>
            </a:r>
            <a:r>
              <a:rPr/>
              <a:t> - Mistakes here will result in warning messages when rendering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add citations in Quarto, you’ll need Zotero open on your device. - In RStudio, switch to the Visual Editor, which makes citation insertion easier. - Make sure your YAML header includes </a:t>
            </a:r>
            <a:r>
              <a:rPr>
                <a:latin typeface="Courier"/>
              </a:rPr>
              <a:t>bibliography: references.bib</a:t>
            </a:r>
            <a:r>
              <a:rPr/>
              <a:t> so Quarto knows where to look for your references. - Then, simply go to the toolbar, click Insert → Citation, and you’ll be able to search your Zotero library directly. - Once you add citations in the text, Quarto automatically generates a reference list or bibliography at the end of your document so that you don’t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click “My Library,” it mirrors what folders you’ve created in Zotero Library. This helps you navigate to the folder where the citation is stored. - After inserting a citation once, you see what citation key is assigned to it for easier referencing later in the text. But the way the citation key is written is different for regular and in-text citations. </a:t>
            </a:r>
            <a:r>
              <a:rPr i="1"/>
              <a:t>Instructor Note</a:t>
            </a:r>
            <a:r>
              <a:rPr/>
              <a:t> - the Zotero program needs to be open on the device for the “Zotero” option to show up in RStudio like it does in the image.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show how using Zotero with RStudio to insert citations and generates bibliography simplifies the referencing process - Follow these steps to add a citation to your Zotero library and add some information extracted from it to your Quarto document. </a:t>
            </a:r>
            <a:r>
              <a:rPr i="1"/>
              <a:t>Instructor Notes</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add the citation to the end of the text. - It is possible to add citations in Source mode, but it is easier and more efficient to do it in Visual mdoe. </a:t>
            </a:r>
            <a:r>
              <a:rPr i="1"/>
              <a:t>Instructor Notes</a:t>
            </a:r>
            <a:r>
              <a:rPr/>
              <a:t> -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place an in-text citation at the beginning of the text. This is another article, meaning that you will have to click the link to go to it and add it to your Zotero library. - Reminder that 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box needs to be checked and un-checked accordingly when adding citations.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render, you should have three key elements in your Quarto document: a citation, an in-text citation, and a reference list or bibliography at the end. - As you can see, Quarto does most of the heavy lifting as long as you insert citations correctly and the bibliography builds automatically. - Also, if you ever need to follow a specific format, like APA or Chicago, you can easily change the citation style by adding a CSL file in your YAML. It can be a link directly to the Zotero website so that you don’t have to download any additional files.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is one of the most common platforms for sharing code and documents. One of its biggest advantages is version control, which means you can track every change made to your files and even go back to earlier versions if needed. - For Quarto, publishing to GitHub is a great option because it’s free, widely used, and makes your work easily accessible to others. - The simplest way is through GitHub Pages, which lets you turn your Quarto document into a live website that anyone can access.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Pages makes it possible to publish Quarto content as a live website, directly from your GitHub repository. There are three main ways to do this: - The simplest way is to render your document to a docs folder and commit it to your repo. GitHub Pages can then serve those files as a website. “Docs” here is a folder in your project where you put the files that should be published as a website. - You can also use the quarto publish command, which pushes your rendered site to GitHub Pages automatically. - For a more advanced setup, you can use GitHub Actions so that every time you push changes to your repo, the site automatically re-renders and updates online. - 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publishing to GitHub, we’ll often use Git Bash, which is a command-line tool for running Git commands. Fortunately, you don’t have to leave RStudio to use it by opening Git Bash directly inside RStudio’s Terminal tab. - To do this, go to Terminal → Terminal Options, and under ‘New terminals open with,’ select Git Bash. Then, when you click Terminal → New Terminal, it will open Git Bash automatically, ready for you to start working. - This setup keeps everything in one place so you don’t need to switch between RStudio and an external terminal. </a:t>
            </a:r>
            <a:r>
              <a:rPr i="1"/>
              <a:t>Instructor Notes</a:t>
            </a:r>
            <a:r>
              <a:rPr/>
              <a:t> - Git Bash should be installed on the student’s device.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In this exercise, we’re preparing our Quarto document so it can be published on GitHub Pages. First, edit the YAML header of your Quarto document to define it as a website project and set the output to the docs folder. This tells Quarto where to place the rendered files that GitHub Pages will serve. - Next, set up your terminal in RStudio to use Git Bash by following the steps in the previous slide. - From there, you’ll use the </a:t>
            </a:r>
            <a:r>
              <a:rPr>
                <a:latin typeface="Courier"/>
              </a:rPr>
              <a:t>cd</a:t>
            </a:r>
            <a:r>
              <a:rPr/>
              <a:t> command to change into the main folder where your Quarto files are stored. This step makes sure any Git commands you run apply to the right project folder. </a:t>
            </a:r>
            <a:r>
              <a:rPr i="1"/>
              <a:t>Instructor Notes</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 - OR an easy way so change the directory is by typing </a:t>
            </a:r>
            <a:r>
              <a:rPr>
                <a:latin typeface="Courier"/>
              </a:rPr>
              <a:t>cd</a:t>
            </a:r>
            <a:r>
              <a:rPr/>
              <a:t> then selecting and dragging the folder directly into Git Bash- this puts the folder path after the </a:t>
            </a:r>
            <a:r>
              <a:rPr>
                <a:latin typeface="Courier"/>
              </a:rPr>
              <a:t>cd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Here, we’re setting up the basic project files GitHub Pages needs in order to publish our Quarto website. - First, we’ll create a _quarto.yml file using the Terminal. This file tells Quarto that the project is a website and that the rendered output should go into the docs folder. - Next, we’ll add a special file called .nojekyll. By default, GitHub Pages uses Jekyll to process websites, but that can interfere with Quarto’s output. Adding a .nojekyll file tells GitHub Pages to leave our site exactly as Quarto created it.</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Running </a:t>
            </a:r>
            <a:r>
              <a:rPr>
                <a:latin typeface="Courier"/>
              </a:rPr>
              <a:t>quarto render</a:t>
            </a:r>
            <a:r>
              <a:rPr/>
              <a:t> in the Terminal takes your Quarto project and produces the HTML files in the docs folder. These are the files GitHub Pages will serve as your website. -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 </a:t>
            </a:r>
            <a:r>
              <a:rPr i="1"/>
              <a:t>Instructor Notes</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Now to put everything together. We need to create a new repository on GitHub which is where our project files will be held. - Then, we connect our local project to GitHub using </a:t>
            </a:r>
            <a:r>
              <a:rPr>
                <a:latin typeface="Courier"/>
              </a:rPr>
              <a:t>git remote add origin</a:t>
            </a:r>
            <a:r>
              <a:rPr/>
              <a:t> followed by the repo’s HTTPS link (found on the GitHub website). This tells Git where to send the files when we push them with </a:t>
            </a:r>
            <a:r>
              <a:rPr>
                <a:latin typeface="Courier"/>
              </a:rPr>
              <a:t>git push -u origin main</a:t>
            </a:r>
            <a:r>
              <a:rPr/>
              <a:t>.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last stepp to make the site public is to configure the GitHub repository settings under “Pages.” - Follow the steps to switch to the branch we are working on and switch the folder where Quarto rendered the website files. </a:t>
            </a:r>
            <a:r>
              <a:rPr i="1"/>
              <a:t>Instructor Notes</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key things covered in the lesson that give a general overview of Quarto and what it contains. </a:t>
            </a:r>
            <a:r>
              <a:rPr i="1"/>
              <a:t>Instructor Note</a:t>
            </a:r>
            <a:r>
              <a:rPr/>
              <a:t> - Aim: to give a recap of important elements of Quarto covered in the lesson.</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authoring features that were discussed and applied in the lesson to create and customize the Quarto document that we then shared using GitHub Pages. - For quick reference, a downloadable cheat sheet is provided with this lesson. It offers beginner-friendly instructions summarizing the key terms, features, and functions of Quarto. </a:t>
            </a:r>
            <a:r>
              <a:rPr i="1"/>
              <a:t>Instructor Note</a:t>
            </a:r>
            <a:r>
              <a:rPr/>
              <a:t> - Aim: to give a recap of things you can do to edit the Quarto document and then make it shareable. - Instruct students to download a cheat-sheet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an interactive setting, discuss how the new skills could be applied in practise with specific examples. Use the questions on the slide to guide the discussion. </a:t>
            </a:r>
            <a:r>
              <a:rPr i="1"/>
              <a:t>Instructor Note</a:t>
            </a:r>
            <a:r>
              <a:rPr/>
              <a:t> - Aim: To work out the relevance of the topic to your students,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Encourage students to share one sentence take-home messages. You can collect them verbally or in a shared doc/board. </a:t>
            </a:r>
            <a:r>
              <a:rPr i="1"/>
              <a:t>Instructor Notes</a:t>
            </a:r>
            <a:r>
              <a:rPr/>
              <a:t> - Aim: End lesson on clear take-home message that are interactively compiled by students.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homework contains activities that take what we practiced today to the next level. Each item builds on the knowledge and exercises that were covered in this session. </a:t>
            </a:r>
            <a:r>
              <a:rPr i="1"/>
              <a:t>Instructor Note</a:t>
            </a:r>
            <a:r>
              <a:rPr/>
              <a:t> - Aim: to reinforce what was learned in this session and to have an opportunity to apply the knowledge in a more challenging way. - Use this homework sheet as it is or use it as an example to create your own based on the needs of the class or the specific requirements for future lessons.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this lesson, let’s use this survey to see where we stand in our knowledge of Quarto and what we can focus on more moving forward to become more proficient in literate programming with it.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off, we can use the answers from this survey to see how much we know about Quarto after this lesson and where we should focus and explore more moving forward if we are to become proficient in using it. </a:t>
            </a:r>
            <a:r>
              <a:rPr i="1"/>
              <a:t>Instructor Notes</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quarto.org/"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journals.plos.org/plosone/article?id=10.1371/journal.pone.0127819"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5.xml" /><Relationship Id="rId3" Type="http://schemas.openxmlformats.org/officeDocument/2006/relationships/image" Target="../media/image7.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29/08/2025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indent="0" marL="0">
              <a:buNone/>
            </a:pPr>
            <a:r>
              <a:rPr/>
              <a:t>From SvG: What do you think about these prerequisites? Are we missing something? Beth: Added zotero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2"/>
              </a:rPr>
              <a:t>Quarto Survey</a:t>
            </a:r>
          </a:p>
        </p:txBody>
      </p:sp>
      <p:pic>
        <p:nvPicPr>
          <p:cNvPr descr="images/particify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 SvG: We have an OSC account where you can generate a room for this - let us leave it like this for now but we will need to be systematic about these QR codes and surveys - a discussion for a team!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indent="-342900" marL="342900">
              <a:buAutoNum type="arabicPeriod"/>
            </a:pPr>
            <a:r>
              <a:rPr b="1"/>
              <a:t>Key Terms and Definitions</a:t>
            </a:r>
            <a:r>
              <a:rPr/>
              <a:t>: Understanding core concepts in Quarto</a:t>
            </a:r>
          </a:p>
          <a:p>
            <a:pPr lvl="0" indent="-342900" marL="342900">
              <a:buAutoNum type="arabicPeriod"/>
            </a:pPr>
            <a:r>
              <a:rPr b="1"/>
              <a:t>Setting up Quarto</a:t>
            </a:r>
            <a:r>
              <a:rPr/>
              <a:t>: Opening a Quarto document in RStudio</a:t>
            </a:r>
          </a:p>
          <a:p>
            <a:pPr lvl="0" indent="-342900" marL="342900">
              <a:buAutoNum type="arabicPeriod"/>
            </a:pPr>
            <a:r>
              <a:rPr b="1"/>
              <a:t>Authoring</a:t>
            </a:r>
            <a:r>
              <a:rPr/>
              <a:t>: Writing text and structuring content</a:t>
            </a:r>
          </a:p>
          <a:p>
            <a:pPr lvl="0" indent="-342900" marL="342900">
              <a:buAutoNum type="arabicPeriod"/>
            </a:pPr>
            <a:r>
              <a:rPr b="1"/>
              <a:t>Code Chunks</a:t>
            </a:r>
            <a:r>
              <a:rPr/>
              <a:t>: Running and displaying code</a:t>
            </a:r>
          </a:p>
          <a:p>
            <a:pPr lvl="0" indent="-342900" marL="342900">
              <a:buAutoNum type="arabicPeriod"/>
            </a:pPr>
            <a:r>
              <a:rPr b="1"/>
              <a:t>Additional Authoring Features</a:t>
            </a:r>
            <a:r>
              <a:rPr/>
              <a:t>: Using images, links, and columns</a:t>
            </a:r>
          </a:p>
          <a:p>
            <a:pPr lvl="0" indent="-342900" marL="342900">
              <a:buAutoNum type="arabicPeriod"/>
            </a:pPr>
            <a:r>
              <a:rPr b="1"/>
              <a:t>Citations</a:t>
            </a:r>
            <a:r>
              <a:rPr/>
              <a:t>: Adding citations and bibliography with Zotero</a:t>
            </a:r>
          </a:p>
          <a:p>
            <a:pPr lvl="0" indent="-342900" marL="342900">
              <a:buAutoNum type="arabicPeriod"/>
            </a:pPr>
            <a:r>
              <a:rPr b="1"/>
              <a:t>Publishing</a:t>
            </a:r>
            <a:r>
              <a:rPr/>
              <a:t>: Sharing your Quarto document to GitHub</a:t>
            </a:r>
          </a:p>
          <a:p>
            <a:pPr lvl="0" indent="0" marL="0">
              <a:buNone/>
            </a:pPr>
            <a:r>
              <a:rPr/>
              <a:t> maybe make these points more speicifc? Publishing what, for example? Beth: Yes, I was just using them as a list of headers but I can see how having a small description would helpful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Session 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a:t>
            </a:r>
            <a:r>
              <a:rPr/>
              <a:t> key Quarto features like code chunks, YAML headers, citations, and output formatting</a:t>
            </a:r>
          </a:p>
          <a:p>
            <a:pPr lvl="0"/>
            <a:r>
              <a:rPr b="1"/>
              <a:t>Insert</a:t>
            </a:r>
            <a:r>
              <a:rPr/>
              <a:t> citations and </a:t>
            </a:r>
            <a:r>
              <a:rPr b="1"/>
              <a:t>generate</a:t>
            </a:r>
            <a:r>
              <a:rPr/>
              <a:t> a bibliography with Zotero</a:t>
            </a:r>
          </a:p>
          <a:p>
            <a:pPr lvl="0"/>
            <a:r>
              <a:rPr b="1"/>
              <a:t>Publish</a:t>
            </a:r>
            <a:r>
              <a:rPr/>
              <a:t> and </a:t>
            </a:r>
            <a:r>
              <a:rPr b="1"/>
              <a:t>share</a:t>
            </a:r>
            <a:r>
              <a:rPr/>
              <a:t> your work using GitHub Pages</a:t>
            </a:r>
          </a:p>
          <a:p>
            <a:pPr lvl="0" indent="0" marL="0">
              <a:buNone/>
            </a:pPr>
            <a:r>
              <a:rPr/>
              <a:t>From SvG: Did you want to add a learning goal for Zotero? Make sure that your learning goals align with the content you are getting across here (in the name of constructional alignment) Beth: Okay yes true because that would be the only one missing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1.1 Key terms and definitions</a:t>
            </a:r>
          </a:p>
          <a:p>
            <a:pPr lvl="0" indent="0" marL="0">
              <a:buNone/>
            </a:pPr>
            <a:r>
              <a:rPr/>
              <a:t>A Quarto Markdown document is saved as a </a:t>
            </a:r>
            <a:r>
              <a:rPr b="1"/>
              <a:t>.qmd file</a:t>
            </a:r>
          </a:p>
          <a:p>
            <a:pPr lvl="0"/>
            <a:r>
              <a:rPr/>
              <a:t>Components of a </a:t>
            </a:r>
            <a:r>
              <a:rPr b="1"/>
              <a:t>.qmd file</a:t>
            </a:r>
            <a:r>
              <a:rPr/>
              <a:t>:</a:t>
            </a:r>
          </a:p>
          <a:p>
            <a:pPr lvl="1"/>
            <a:r>
              <a:rPr b="1"/>
              <a:t>YAML header</a:t>
            </a:r>
            <a:r>
              <a:rPr/>
              <a:t> is the section at the top of the Quarto document that controls settings like the title, output format, and author.</a:t>
            </a:r>
          </a:p>
          <a:p>
            <a:pPr lvl="1"/>
            <a:r>
              <a:rPr b="1"/>
              <a:t>Code chunks</a:t>
            </a:r>
            <a:r>
              <a:rPr/>
              <a:t> are the sections of the document that contain code (from R or Python, for example) that are used for showing results such as tables, plots, or calculations</a:t>
            </a:r>
          </a:p>
          <a:p>
            <a:pPr lvl="1"/>
            <a:r>
              <a:rPr b="1"/>
              <a:t>Quarto markdown</a:t>
            </a:r>
            <a:r>
              <a:rPr/>
              <a:t> combines text, codes, and formatting to create the actual content of the document</a:t>
            </a:r>
          </a:p>
          <a:p>
            <a:pPr lvl="0" indent="0" marL="0">
              <a:buNone/>
            </a:pPr>
            <a:r>
              <a:rPr/>
              <a:t>From SvG: Did you want to make bullet points for the first two lines? Also make sure to capitalise the first word in a bulleted list, as well as titles within the call-out notes, first word of the title only  Beth: Yes making the second line a bullet point is good but I like the first line being as it 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1.2 Key terms and definitions</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a:t>
            </a:r>
            <a:r>
              <a:rPr/>
              <a:t> at the top of your workspace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1.3 Key terms and definitions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a:r>
              <a:rPr/>
              <a:t>This is part of the </a:t>
            </a:r>
            <a:r>
              <a:rPr b="1"/>
              <a:t>authoring process</a:t>
            </a:r>
            <a:r>
              <a:rPr/>
              <a:t>, and it allows you to format the text, add code, and build your document.</a:t>
            </a:r>
          </a:p>
          <a:p>
            <a:pPr lvl="0" indent="0" marL="0">
              <a:buNone/>
            </a:pPr>
            <a:r>
              <a:rPr/>
              <a:t>From SvG: Does it make sense for you to have the key terms I - III like this? Added this for overview - I also did the numbering later for authoring for instance, but perhaps there you can find better titles instead of my Authoring (I) etc?  Beth: I originally wanted to number it like 1.1, 1.2, 1.3 to reflect the numbering in the “Covered in this session” section, is this okay?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2.1 Setting up Quarto</a:t>
            </a:r>
          </a:p>
          <a:p>
            <a:pPr lvl="0" indent="0" marL="0">
              <a:buNone/>
            </a:pPr>
            <a:r>
              <a:rPr/>
              <a:t>These are the steps to open a Quarto Document in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Setting up Quarto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 like the title and output format</a:t>
            </a:r>
          </a:p>
          <a:p>
            <a:pPr lvl="1"/>
            <a:r>
              <a:rPr/>
              <a:t>The default format is html</a:t>
            </a:r>
          </a:p>
          <a:p>
            <a:pPr lvl="0"/>
            <a:r>
              <a:rPr/>
              <a:t>→ Hit </a:t>
            </a:r>
            <a:r>
              <a:rPr b="1"/>
              <a:t>Create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3.1 Authoring</a:t>
            </a:r>
          </a:p>
          <a:p>
            <a:pPr lvl="0" indent="0" marL="0">
              <a:buNone/>
            </a:pPr>
            <a:r>
              <a:rPr/>
              <a:t>What is </a:t>
            </a:r>
            <a:r>
              <a:rPr b="1"/>
              <a:t>authoring</a:t>
            </a:r>
            <a:r>
              <a:rPr/>
              <a:t>? The process of writing and structuring the Quarto document.</a:t>
            </a:r>
          </a:p>
          <a:p>
            <a:pPr lvl="0" indent="0" marL="0">
              <a:buNone/>
            </a:pPr>
            <a:r>
              <a:rPr b="1"/>
              <a:t>Authoring = YAML Header + Markdown</a:t>
            </a:r>
          </a:p>
          <a:p>
            <a:pPr lvl="0" indent="0" marL="0">
              <a:buNone/>
            </a:pPr>
            <a:r>
              <a:rPr/>
              <a:t>To practice authoring in Quarto, let’s start with setting the YAML header and adding markdown text in </a:t>
            </a:r>
            <a:r>
              <a:rPr b="1"/>
              <a:t>Source</a:t>
            </a:r>
            <a:r>
              <a:rPr/>
              <a:t> mode.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3.2 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3.3 Authoring</a:t>
            </a:r>
          </a:p>
          <a:p>
            <a:pPr lvl="0" indent="0" marL="0">
              <a:buNone/>
            </a:pPr>
          </a:p>
          <a:p>
            <a:pPr lvl="0" indent="0">
              <a:buNone/>
            </a:pPr>
            <a:r>
              <a:rPr>
                <a:solidFill>
                  <a:srgbClr val="003B4F"/>
                </a:solidFill>
                <a:latin typeface="Courier"/>
              </a:rPr>
              <a:t>Have you ever wondered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3.4 Authoring</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3.5 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the markdown text from the previous slide into your Quarto document to add this callout note box.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4.1 Code chunks</a:t>
            </a:r>
          </a:p>
          <a:p>
            <a:pPr lvl="0" indent="0" marL="0">
              <a:buNone/>
            </a:pPr>
            <a:r>
              <a:rPr/>
              <a:t>There are two ways to insert </a:t>
            </a:r>
            <a:r>
              <a:rPr b="1"/>
              <a:t>code chunks</a:t>
            </a:r>
            <a:r>
              <a:rPr/>
              <a:t>:</a:t>
            </a:r>
          </a:p>
          <a:p>
            <a:pPr lvl="0"/>
            <a:r>
              <a:rPr/>
              <a:t>Manually type 3 back ticks ``` then {r} to start a coding chunk, enter your code, then end it with 3 back ticks</a:t>
            </a:r>
          </a:p>
          <a:p>
            <a:pPr lvl="0" indent="0" marL="0">
              <a:buNone/>
            </a:pPr>
            <a:r>
              <a:rPr/>
              <a:t>OR</a:t>
            </a:r>
          </a:p>
          <a:p>
            <a:pPr lvl="0"/>
            <a:r>
              <a:rPr/>
              <a:t>Use the keyboard shortcut Ctrl + Alt + I (Windows/Linux) or Cmd + Option + I (Mac) to insert a code chunk then simply enter your code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4.2 Code chunks</a:t>
            </a:r>
          </a:p>
          <a:p>
            <a:pPr lvl="0" indent="0" marL="0">
              <a:buNone/>
            </a:pP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p>
          <a:p>
            <a:pPr lvl="0" indent="0" marL="0">
              <a:buNone/>
            </a:pPr>
            <a:r>
              <a:rPr/>
              <a:t>These are examples of </a:t>
            </a:r>
            <a:r>
              <a:rPr b="1"/>
              <a:t>R code</a:t>
            </a:r>
            <a:r>
              <a:rPr/>
              <a:t>. Let’s use it to insert code chunks in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4.3 Code chunks</a:t>
            </a:r>
          </a:p>
          <a:p>
            <a:pPr lvl="0" indent="0" marL="0">
              <a:buNone/>
            </a:pPr>
            <a:r>
              <a:rPr/>
              <a:t>Adjust how the code is portrayed by editing the YAML header:</a:t>
            </a:r>
          </a:p>
          <a:p>
            <a:pPr lvl="0" indent="0" marL="0">
              <a:buNone/>
            </a:pPr>
          </a:p>
          <a:p>
            <a:pPr lvl="0" indent="0" marL="0">
              <a:buNone/>
            </a:pPr>
            <a:r>
              <a:rPr/>
              <a:t>Currently in our YAML header, we have it set to </a:t>
            </a:r>
            <a:r>
              <a:rPr>
                <a:latin typeface="Courier"/>
              </a:rPr>
              <a:t>code-fold: false</a:t>
            </a:r>
            <a:r>
              <a:rPr/>
              <a:t> which means the code is visible and not collapsible.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4.4 Code chunks</a:t>
            </a:r>
          </a:p>
          <a:p>
            <a:pPr lvl="0" indent="0" marL="0">
              <a:buNone/>
            </a:pPr>
            <a:r>
              <a:rPr/>
              <a:t>Here are some other code display settings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YAML header:</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to create a code chunk in a Quarto Document?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5.1 Additional authoring features</a:t>
            </a:r>
          </a:p>
          <a:p>
            <a:pPr lvl="0" indent="0" marL="0">
              <a:buNone/>
            </a:pPr>
            <a:r>
              <a:rPr/>
              <a:t>Quarto offers additional </a:t>
            </a:r>
            <a:r>
              <a:rPr b="1"/>
              <a:t>authoring features</a:t>
            </a:r>
            <a:r>
              <a:rPr/>
              <a:t> that make it more versatile and comprehensive.</a:t>
            </a:r>
          </a:p>
          <a:p>
            <a:pPr lvl="0" indent="0" marL="0">
              <a:buNone/>
            </a:pPr>
            <a:r>
              <a:rPr/>
              <a:t>These include:</a:t>
            </a:r>
          </a:p>
          <a:p>
            <a:pPr lvl="0"/>
            <a:r>
              <a:rPr/>
              <a:t>Adding </a:t>
            </a:r>
            <a:r>
              <a:rPr b="1"/>
              <a:t>links</a:t>
            </a:r>
            <a:r>
              <a:rPr/>
              <a:t> and </a:t>
            </a:r>
            <a:r>
              <a:rPr b="1"/>
              <a:t>hyperlinking</a:t>
            </a:r>
            <a:r>
              <a:rPr/>
              <a:t> text</a:t>
            </a:r>
          </a:p>
          <a:p>
            <a:pPr lvl="0"/>
            <a:r>
              <a:rPr/>
              <a:t>Embedding </a:t>
            </a:r>
            <a:r>
              <a:rPr b="1"/>
              <a:t>media</a:t>
            </a:r>
          </a:p>
          <a:p>
            <a:pPr lvl="0"/>
            <a:r>
              <a:rPr/>
              <a:t>Creating </a:t>
            </a:r>
            <a:r>
              <a:rPr b="1"/>
              <a:t>multi-column layouts</a:t>
            </a:r>
            <a:r>
              <a:rPr/>
              <a:t>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5.2 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5.3 Inserting images</a:t>
            </a:r>
          </a:p>
          <a:p>
            <a:pPr lvl="0"/>
            <a:r>
              <a:rPr/>
              <a:t>Image by itself with no caption: </a:t>
            </a:r>
            <a:r>
              <a:rPr>
                <a:latin typeface="Courier"/>
              </a:rPr>
              <a:t>![](path/image.png)</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5.4 Inserting images</a:t>
            </a:r>
          </a:p>
          <a:p>
            <a:pPr lvl="0"/>
            <a:r>
              <a:rPr/>
              <a:t>Image with a caption below it: </a:t>
            </a:r>
            <a:r>
              <a:rPr>
                <a:latin typeface="Courier"/>
              </a:rPr>
              <a:t>![caption](path/image.png)</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5.5 Inserting images</a:t>
            </a:r>
          </a:p>
          <a:p>
            <a:pPr lvl="0"/>
            <a:r>
              <a:rPr/>
              <a:t>Image that redirects you to a link: </a:t>
            </a:r>
            <a:r>
              <a:rPr>
                <a:latin typeface="Courier"/>
              </a:rPr>
              <a:t>[![caption](path/image.png)](link)</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the main folder of the Quarto document files</a:t>
            </a:r>
          </a:p>
          <a:p>
            <a:pPr lvl="0" indent="0">
              <a:buNone/>
            </a:pPr>
            <a:r>
              <a:rPr>
                <a:solidFill>
                  <a:srgbClr val="AD0000"/>
                </a:solidFill>
                <a:latin typeface="Courier"/>
              </a:rPr>
              <a:t>![No chicks were harmed in the making of this document.](images/chickpic1.png)</a:t>
            </a:r>
          </a:p>
          <a:p>
            <a:pPr lvl="0"/>
            <a:r>
              <a:rPr/>
              <a:t>☐ Copy &amp; paste the markdown text above to insert an image with a caption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5.6 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 Begin the first column with “</a:t>
            </a:r>
            <a:r>
              <a:rPr>
                <a:latin typeface="Courier"/>
              </a:rPr>
              <a:t>::: column</a:t>
            </a:r>
            <a:r>
              <a:rPr/>
              <a:t>”</a:t>
            </a:r>
          </a:p>
          <a:p>
            <a:pPr lvl="0"/>
            <a:r>
              <a:rPr/>
              <a:t>→ Add content and end it with “</a:t>
            </a:r>
            <a:r>
              <a:rPr>
                <a:latin typeface="Courier"/>
              </a:rPr>
              <a:t>:::</a:t>
            </a:r>
            <a:r>
              <a:rPr/>
              <a:t>”</a:t>
            </a:r>
          </a:p>
          <a:p>
            <a:pPr lvl="0"/>
            <a:r>
              <a:rPr/>
              <a:t>→ Begin second coloumn with “</a:t>
            </a:r>
            <a:r>
              <a:rPr>
                <a:latin typeface="Courier"/>
              </a:rPr>
              <a:t>::: column</a:t>
            </a:r>
            <a:r>
              <a:rPr/>
              <a:t>”</a:t>
            </a:r>
          </a:p>
          <a:p>
            <a:pPr lvl="0"/>
            <a:r>
              <a:rPr/>
              <a:t>→ Add content and end it with “</a:t>
            </a:r>
            <a:r>
              <a:rPr>
                <a:latin typeface="Courier"/>
              </a:rPr>
              <a:t>:::</a:t>
            </a:r>
            <a:r>
              <a:rPr/>
              <a:t>”</a:t>
            </a:r>
          </a:p>
          <a:p>
            <a:pPr lvl="0"/>
            <a:r>
              <a:rPr/>
              <a:t>→ 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b="1"/>
              <a:t>Side-by-side image and bullet points with columns</a:t>
            </a:r>
          </a:p>
          <a:p>
            <a:pPr lvl="0" indent="0" marL="0">
              <a:buNone/>
            </a:pPr>
            <a:r>
              <a:rPr/>
              <a:t>Let’s use columns to add bullet points next to an image.</a:t>
            </a:r>
          </a:p>
          <a:p>
            <a:pPr lvl="0"/>
            <a:r>
              <a:rPr/>
              <a:t>☐ Click this link to download another image</a:t>
            </a:r>
          </a:p>
          <a:p>
            <a:pPr lvl="0"/>
            <a:r>
              <a:rPr/>
              <a:t>☐ Save the image to the main folder of the Quarto document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6.1 Adding citations</a:t>
            </a:r>
          </a:p>
          <a:p>
            <a:pPr lvl="0" indent="0" marL="0">
              <a:buNone/>
            </a:pPr>
          </a:p>
          <a:p>
            <a:pPr lvl="0" indent="0" marL="0">
              <a:buNone/>
            </a:pPr>
            <a:r>
              <a:rPr/>
              <a:t>What is </a:t>
            </a:r>
            <a:r>
              <a:rPr b="1"/>
              <a:t>Zotero</a:t>
            </a:r>
            <a:r>
              <a:rPr/>
              <a:t>? This is a free reference management tool to collect, organize, cite, and share research sources.</a:t>
            </a:r>
          </a:p>
          <a:p>
            <a:pPr lvl="0"/>
            <a:r>
              <a:rPr/>
              <a:t>You can use </a:t>
            </a:r>
            <a:r>
              <a:rPr b="1"/>
              <a:t>Zotero</a:t>
            </a:r>
            <a:r>
              <a:rPr/>
              <a:t> in RStudio to easily insert citations into your Quarto document.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6.2 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Open Zotero on your device</a:t>
            </a:r>
          </a:p>
          <a:p>
            <a:pPr lvl="0"/>
            <a:r>
              <a:rPr/>
              <a:t>→ Switch to the “Visual Editor” mode</a:t>
            </a:r>
          </a:p>
          <a:p>
            <a:pPr lvl="0"/>
            <a:r>
              <a:rPr/>
              <a:t>→ Add </a:t>
            </a:r>
            <a:r>
              <a:rPr>
                <a:latin typeface="Courier"/>
              </a:rPr>
              <a:t>bibliography: references.bib</a:t>
            </a:r>
            <a:r>
              <a:rPr/>
              <a:t> in the YAML header</a:t>
            </a:r>
          </a:p>
          <a:p>
            <a:pPr lvl="0"/>
            <a:r>
              <a:rPr/>
              <a:t>→ 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6.3 Adding citations with Zotero</a:t>
            </a:r>
          </a:p>
          <a:p>
            <a:pPr lvl="0" indent="0" marL="0">
              <a:buNone/>
            </a:pPr>
          </a:p>
          <a:p>
            <a:pPr lvl="0"/>
            <a:r>
              <a:rPr/>
              <a:t>→ Select citations straight from the folders in your </a:t>
            </a:r>
            <a:r>
              <a:rPr b="1"/>
              <a:t>Zotero library</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Let’s practice adding a citation using </a:t>
            </a:r>
            <a:r>
              <a:rPr b="1"/>
              <a:t>Zotero</a:t>
            </a:r>
            <a:r>
              <a:rPr/>
              <a:t>.</a:t>
            </a:r>
          </a:p>
          <a:p>
            <a:pPr lvl="0"/>
            <a:r>
              <a:rPr/>
              <a:t>☐ Open Zotero on your device</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&amp; paste the text above and place the cursor at the end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then click Insert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6.4 Adding citations with Zotero</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7.1 Publishing</a:t>
            </a:r>
          </a:p>
          <a:p>
            <a:pPr lvl="0" indent="0" marL="0">
              <a:buNone/>
            </a:pPr>
            <a:r>
              <a:rPr/>
              <a:t>What is </a:t>
            </a:r>
            <a:r>
              <a:rPr b="1"/>
              <a:t>publishing</a:t>
            </a:r>
            <a:r>
              <a:rPr/>
              <a:t> with Quarto? The process of sharing the rendered documents or projects online so it can become accessible to others.</a:t>
            </a:r>
          </a:p>
          <a:p>
            <a:pPr lvl="0"/>
            <a:r>
              <a:rPr/>
              <a:t>You can publish to:</a:t>
            </a:r>
          </a:p>
          <a:p>
            <a:pPr lvl="1"/>
            <a:r>
              <a:rPr/>
              <a:t>GitHub Pages</a:t>
            </a:r>
          </a:p>
          <a:p>
            <a:pPr lvl="1"/>
            <a:r>
              <a:rPr/>
              <a:t>Quarto Pub</a:t>
            </a:r>
          </a:p>
          <a:p>
            <a:pPr lvl="1"/>
            <a:r>
              <a:rPr/>
              <a:t>A 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7.2 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7.3 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7.4 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7.5 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Go to </a:t>
            </a:r>
            <a:r>
              <a:rPr>
                <a:hlinkClick r:id="rId3"/>
              </a:rPr>
              <a:t>GitHub</a:t>
            </a:r>
            <a:r>
              <a:rPr/>
              <a:t> and create a new repo</a:t>
            </a:r>
          </a:p>
          <a:p>
            <a:pPr lvl="0"/>
            <a:r>
              <a:rPr/>
              <a:t>☐ In Terminal, connect to local project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a:p>
            <a:pPr lvl="0"/>
            <a:r>
              <a:rPr/>
              <a:t>☐ In your repo on </a:t>
            </a:r>
            <a:r>
              <a:rPr>
                <a:hlinkClick r:id="rId4"/>
              </a:rPr>
              <a:t>GitHub</a:t>
            </a:r>
            <a:r>
              <a:rPr/>
              <a:t>, go to Settings</a:t>
            </a:r>
          </a:p>
          <a:p>
            <a:pPr lvl="0"/>
            <a:r>
              <a:rPr/>
              <a:t>☐ Click “Pages” to configure GitHub Pages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Change “none” to “main”</a:t>
            </a:r>
          </a:p>
          <a:p>
            <a:pPr lvl="0" indent="0" marL="0">
              <a:buNone/>
            </a:pPr>
          </a:p>
          <a:p>
            <a:pPr lvl="0"/>
            <a:r>
              <a:rPr/>
              <a:t>☐ Change “/root” to “/docs”</a:t>
            </a:r>
          </a:p>
          <a:p>
            <a:pPr lvl="0"/>
            <a:r>
              <a:rPr/>
              <a:t>☐ Click Save</a:t>
            </a:r>
          </a:p>
          <a:p>
            <a:pPr lvl="0" indent="0" marL="0">
              <a:buNone/>
            </a:pPr>
          </a:p>
          <a:p>
            <a:pPr lvl="0" indent="0" marL="0">
              <a:buNone/>
            </a:pPr>
            <a:r>
              <a:rPr/>
              <a:t>After 1-2 minutes, you will see that your site will be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About Quarto</a:t>
            </a:r>
          </a:p>
          <a:p>
            <a:pPr lvl="0"/>
            <a:r>
              <a:rPr/>
              <a:t>Quarto is a powerful tool that combines text, code, and media to make documents which are transparent, reproducible, and accessible.</a:t>
            </a:r>
          </a:p>
          <a:p>
            <a:pPr lvl="0"/>
            <a:r>
              <a:rPr/>
              <a:t>In a </a:t>
            </a:r>
            <a:r>
              <a:rPr b="1"/>
              <a:t>.qmd file</a:t>
            </a:r>
            <a:r>
              <a:rPr/>
              <a:t>:</a:t>
            </a:r>
          </a:p>
          <a:p>
            <a:pPr lvl="1"/>
            <a:r>
              <a:rPr/>
              <a:t>The </a:t>
            </a:r>
            <a:r>
              <a:rPr b="1"/>
              <a:t>YAML header</a:t>
            </a:r>
            <a:r>
              <a:rPr/>
              <a:t> controls the document settings</a:t>
            </a:r>
          </a:p>
          <a:p>
            <a:pPr lvl="1"/>
            <a:r>
              <a:rPr b="1"/>
              <a:t>Code chunks</a:t>
            </a:r>
            <a:r>
              <a:rPr/>
              <a:t> run code and show results</a:t>
            </a:r>
          </a:p>
          <a:p>
            <a:pPr lvl="1"/>
            <a:r>
              <a:rPr b="1"/>
              <a:t>Markdown text</a:t>
            </a:r>
            <a:r>
              <a:rPr/>
              <a:t> creates the main content</a:t>
            </a:r>
          </a:p>
          <a:p>
            <a:pPr lvl="0"/>
            <a:r>
              <a:rPr/>
              <a:t>You can use simple formatting and keyboard shortcuts for styling text.</a:t>
            </a:r>
          </a:p>
          <a:p>
            <a:pPr lvl="1"/>
            <a:r>
              <a:rPr>
                <a:latin typeface="Courier"/>
              </a:rPr>
              <a:t>**bold**</a:t>
            </a:r>
            <a:r>
              <a:rPr/>
              <a:t> → </a:t>
            </a:r>
            <a:r>
              <a:rPr b="1"/>
              <a:t>bold</a:t>
            </a:r>
          </a:p>
          <a:p>
            <a:pPr lvl="1"/>
            <a:r>
              <a:rPr>
                <a:latin typeface="Courier"/>
              </a:rPr>
              <a:t>*italic*</a:t>
            </a:r>
            <a:r>
              <a:rPr/>
              <a:t> → </a:t>
            </a:r>
            <a:r>
              <a:rPr i="1"/>
              <a:t>italic</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Features and Sharing</a:t>
            </a:r>
          </a:p>
          <a:p>
            <a:pPr lvl="0"/>
            <a:r>
              <a:rPr/>
              <a:t>Code chunks can be customized in the YAML header (e.g., </a:t>
            </a:r>
            <a:r>
              <a:rPr>
                <a:latin typeface="Courier"/>
              </a:rPr>
              <a:t>code-fold: true</a:t>
            </a:r>
            <a:r>
              <a:rPr/>
              <a:t> makes code collapsible).</a:t>
            </a:r>
          </a:p>
          <a:p>
            <a:pPr lvl="0"/>
            <a:r>
              <a:rPr/>
              <a:t>You can add </a:t>
            </a:r>
            <a:r>
              <a:rPr b="1"/>
              <a:t>links, images, media, and layout features</a:t>
            </a:r>
            <a:r>
              <a:rPr/>
              <a:t> (like columns) to improve presentation and usability.</a:t>
            </a:r>
          </a:p>
          <a:p>
            <a:pPr lvl="0"/>
            <a:r>
              <a:rPr b="1"/>
              <a:t>Zotero</a:t>
            </a:r>
            <a:r>
              <a:rPr/>
              <a:t> helps manage references, allowing you to cite while you write and automatically builds a bibliography.</a:t>
            </a:r>
          </a:p>
          <a:p>
            <a:pPr lvl="0"/>
            <a:r>
              <a:rPr b="1"/>
              <a:t>Publishing</a:t>
            </a:r>
            <a:r>
              <a:rPr/>
              <a:t> makes your work accessible and reproducible.</a:t>
            </a:r>
          </a:p>
          <a:p>
            <a:pPr lvl="1"/>
            <a:r>
              <a:rPr/>
              <a:t>Options for publishing include </a:t>
            </a:r>
            <a:r>
              <a:rPr b="1"/>
              <a:t>Quarto Pub</a:t>
            </a:r>
            <a:r>
              <a:rPr/>
              <a:t>, </a:t>
            </a:r>
            <a:r>
              <a:rPr b="1"/>
              <a:t>GitHub Pages</a:t>
            </a:r>
            <a:r>
              <a:rPr/>
              <a:t>, or your own </a:t>
            </a:r>
            <a:r>
              <a:rPr b="1"/>
              <a:t>website</a:t>
            </a:r>
            <a:r>
              <a:rPr/>
              <a:t>.</a:t>
            </a:r>
          </a:p>
          <a:p>
            <a:pPr lvl="0" indent="0" marL="0">
              <a:buNone/>
            </a:pPr>
            <a:r>
              <a:rPr/>
              <a:t>For a summary of what we learned and applied using Quarto, click here to download a cheat sheet.</a:t>
            </a:r>
          </a:p>
          <a:p>
            <a:pPr lvl="0" indent="0" marL="0">
              <a:buNone/>
            </a:pPr>
            <a:r>
              <a:rPr/>
              <a:t>From SvG: Would this differ from the take home messages? Yes- I made the recap like an overall review that’s instructor-led and the take home message as an opportunity for students to reflect on the lesson.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i="1"/>
              <a:t>“If you had to explain to a colleague in one sentence why learning Quarto matters for research and teaching, what would you say?”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a:t>Let’s end this sesson with a short survey on topics covered in this lesson.</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Quarto before this lesson?</a:t>
            </a:r>
          </a:p>
          <a:p>
            <a:pPr lvl="0" indent="-342900" marL="342900">
              <a:buAutoNum type="alphaLcParenR"/>
            </a:pPr>
            <a:r>
              <a:rPr/>
              <a:t>I’ve never used it</a:t>
            </a:r>
          </a:p>
          <a:p>
            <a:pPr lvl="0" indent="-342900" marL="342900">
              <a:buAutoNum type="alphaLcParenR"/>
            </a:pPr>
            <a:r>
              <a:rPr/>
              <a:t>I’ve heard of it but never tried it</a:t>
            </a:r>
          </a:p>
          <a:p>
            <a:pPr lvl="0" indent="-342900" marL="342900">
              <a:buAutoNum type="alphaLcParenR"/>
            </a:pPr>
            <a:r>
              <a:rPr/>
              <a:t>I’ve experimented a little</a:t>
            </a:r>
          </a:p>
          <a:p>
            <a:pPr lvl="0" indent="-342900" marL="342900">
              <a:buAutoNum type="alphaLcParenR"/>
            </a:pPr>
            <a:r>
              <a:rPr/>
              <a:t>I use it occasionally</a:t>
            </a:r>
          </a:p>
          <a:p>
            <a:pPr lvl="0" indent="-342900" marL="342900">
              <a:buAutoNum type="alphaLcParenR"/>
            </a:pPr>
            <a:r>
              <a:rPr/>
              <a:t>I use it frequently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arenR"/>
            </a:pPr>
            <a:r>
              <a:rPr/>
              <a:t>A programming language</a:t>
            </a:r>
          </a:p>
          <a:p>
            <a:pPr lvl="0" indent="-342900" marL="342900">
              <a:buAutoNum type="alphaLcParenR"/>
            </a:pPr>
            <a:r>
              <a:rPr/>
              <a:t>A publishing system for reproducible documents ✅</a:t>
            </a:r>
          </a:p>
          <a:p>
            <a:pPr lvl="0" indent="-342900" marL="342900">
              <a:buAutoNum type="alphaLcParenR"/>
            </a:pPr>
            <a:r>
              <a:rPr/>
              <a:t>A code editor</a:t>
            </a:r>
          </a:p>
          <a:p>
            <a:pPr lvl="0" indent="-342900" marL="342900">
              <a:buAutoNum type="alphaLcParenR"/>
            </a:pPr>
            <a:r>
              <a:rPr/>
              <a:t>A type of version control system</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arenR"/>
            </a:pPr>
            <a:r>
              <a:rPr/>
              <a:t>Only YAML</a:t>
            </a:r>
          </a:p>
          <a:p>
            <a:pPr lvl="0" indent="-342900" marL="342900">
              <a:buAutoNum type="alphaLcParenR"/>
            </a:pPr>
            <a:r>
              <a:rPr/>
              <a:t>Only Markdown</a:t>
            </a:r>
          </a:p>
          <a:p>
            <a:pPr lvl="0" indent="-342900" marL="342900">
              <a:buAutoNum type="alphaLcParenR"/>
            </a:pPr>
            <a:r>
              <a:rPr/>
              <a:t>Neither</a:t>
            </a:r>
          </a:p>
          <a:p>
            <a:pPr lvl="0" indent="-342900" marL="342900">
              <a:buAutoNum type="alphaLcParenR"/>
            </a:pPr>
            <a:r>
              <a:rPr/>
              <a:t>YAML and Markdown together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p>
          <a:p>
            <a:pPr lvl="0" indent="-342900" marL="342900">
              <a:buAutoNum type="alphaLcParenR"/>
            </a:pPr>
            <a:r>
              <a:rPr/>
              <a:t>Source mode</a:t>
            </a:r>
          </a:p>
          <a:p>
            <a:pPr lvl="0" indent="-342900" marL="342900">
              <a:buAutoNum type="alphaLcParenR"/>
            </a:pPr>
            <a:r>
              <a:rPr/>
              <a:t>Visual mode</a:t>
            </a:r>
          </a:p>
          <a:p>
            <a:pPr lvl="0" indent="-342900" marL="342900">
              <a:buAutoNum type="alphaLcParenR"/>
            </a:pPr>
            <a:r>
              <a:rPr/>
              <a:t>Both ✅</a:t>
            </a:r>
          </a:p>
          <a:p>
            <a:pPr lvl="0" indent="-342900" marL="342900">
              <a:buAutoNum type="alphaLcParenR"/>
            </a:pPr>
            <a:r>
              <a:rPr/>
              <a:t>Neither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arenR"/>
            </a:pPr>
            <a:r>
              <a:rPr/>
              <a:t>Bold text ✅</a:t>
            </a:r>
          </a:p>
          <a:p>
            <a:pPr lvl="0" indent="-342900" marL="342900">
              <a:buAutoNum type="alphaLcParenR"/>
            </a:pPr>
            <a:r>
              <a:rPr/>
              <a:t>Italic text ✅</a:t>
            </a:r>
          </a:p>
          <a:p>
            <a:pPr lvl="0" indent="-342900" marL="342900">
              <a:buAutoNum type="alphaLcParenR"/>
            </a:pPr>
            <a:r>
              <a:rPr/>
              <a:t>Adding code chunks</a:t>
            </a:r>
          </a:p>
          <a:p>
            <a:pPr lvl="0" indent="-342900" marL="342900">
              <a:buAutoNum type="alphaLcParenR"/>
            </a:pPr>
            <a:r>
              <a:rPr/>
              <a:t>Adding hyperlinks ✅</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p>
          <a:p>
            <a:pPr lvl="0" indent="-342900" marL="342900">
              <a:buAutoNum type="alphaLcParenR"/>
            </a:pPr>
            <a:r>
              <a:rPr/>
              <a:t>For aesthetics only</a:t>
            </a:r>
          </a:p>
          <a:p>
            <a:pPr lvl="0" indent="-342900" marL="342900">
              <a:buAutoNum type="alphaLcParenR"/>
            </a:pPr>
            <a:r>
              <a:rPr/>
              <a:t>To improve clarity and emphasis ✅</a:t>
            </a:r>
          </a:p>
          <a:p>
            <a:pPr lvl="0" indent="-342900" marL="342900">
              <a:buAutoNum type="alphaLcParenR"/>
            </a:pPr>
            <a:r>
              <a:rPr/>
              <a:t>To make the file larger</a:t>
            </a:r>
          </a:p>
          <a:p>
            <a:pPr lvl="0" indent="-342900" marL="342900">
              <a:buAutoNum type="alphaLcParenR"/>
            </a:pPr>
            <a:r>
              <a:rPr/>
              <a:t>To change the coding language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p>
          <a:p>
            <a:pPr lvl="0" indent="-342900" marL="342900">
              <a:buAutoNum type="alphaLcParenR"/>
            </a:pPr>
            <a:r>
              <a:rPr/>
              <a:t>To shorten the document</a:t>
            </a:r>
          </a:p>
          <a:p>
            <a:pPr lvl="0" indent="-342900" marL="342900">
              <a:buAutoNum type="alphaLcParenR"/>
            </a:pPr>
            <a:r>
              <a:rPr/>
              <a:t>To make information more visually organized ✅</a:t>
            </a:r>
          </a:p>
          <a:p>
            <a:pPr lvl="0" indent="-342900" marL="342900">
              <a:buAutoNum type="alphaLcParenR"/>
            </a:pPr>
            <a:r>
              <a:rPr/>
              <a:t>To add footnotes only</a:t>
            </a:r>
          </a:p>
          <a:p>
            <a:pPr lvl="0" indent="-342900" marL="342900">
              <a:buAutoNum type="alphaLcParenR"/>
            </a:pPr>
            <a:r>
              <a:rPr/>
              <a:t>To increase file size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arenR"/>
            </a:pPr>
            <a:r>
              <a:rPr/>
              <a:t>To include executable code and results within the document ✅</a:t>
            </a:r>
          </a:p>
          <a:p>
            <a:pPr lvl="0" indent="-342900" marL="342900">
              <a:buAutoNum type="alphaLcParenR"/>
            </a:pPr>
            <a:r>
              <a:rPr/>
              <a:t>To store references</a:t>
            </a:r>
          </a:p>
          <a:p>
            <a:pPr lvl="0" indent="-342900" marL="342900">
              <a:buAutoNum type="alphaLcParenR"/>
            </a:pPr>
            <a:r>
              <a:rPr/>
              <a:t>To format text</a:t>
            </a:r>
          </a:p>
          <a:p>
            <a:pPr lvl="0" indent="-342900" marL="342900">
              <a:buAutoNum type="alphaLcParenR"/>
            </a:pPr>
            <a:r>
              <a:rPr/>
              <a:t>To hide metadata</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p>
          <a:p>
            <a:pPr lvl="0" indent="-342900" marL="342900">
              <a:buAutoNum type="alphaLcParenR"/>
            </a:pPr>
            <a:r>
              <a:rPr/>
              <a:t>echo: true ✅</a:t>
            </a:r>
          </a:p>
          <a:p>
            <a:pPr lvl="0" indent="-342900" marL="342900">
              <a:buAutoNum type="alphaLcParenR"/>
            </a:pPr>
            <a:r>
              <a:rPr/>
              <a:t>code-fold: false ✅</a:t>
            </a:r>
          </a:p>
          <a:p>
            <a:pPr lvl="0" indent="-342900" marL="342900">
              <a:buAutoNum type="alphaLcParenR"/>
            </a:pPr>
            <a:r>
              <a:rPr/>
              <a:t>title: “My Document”</a:t>
            </a:r>
          </a:p>
          <a:p>
            <a:pPr lvl="0" indent="-342900" marL="342900">
              <a:buAutoNum type="alphaLcParenR"/>
            </a:pPr>
            <a:r>
              <a:rPr/>
              <a:t>format: html</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arenR"/>
            </a:pPr>
            <a:r>
              <a:rPr/>
              <a:t>To make the document more difficult to read</a:t>
            </a:r>
          </a:p>
          <a:p>
            <a:pPr lvl="0" indent="-342900" marL="342900">
              <a:buAutoNum type="alphaLcParenR"/>
            </a:pPr>
            <a:r>
              <a:rPr/>
              <a:t>To ensure only the author can reproduce results</a:t>
            </a:r>
          </a:p>
          <a:p>
            <a:pPr lvl="0" indent="-342900" marL="342900">
              <a:buAutoNum type="alphaLcParenR"/>
            </a:pPr>
            <a:r>
              <a:rPr/>
              <a:t>To replace data collection</a:t>
            </a:r>
          </a:p>
          <a:p>
            <a:pPr lvl="0" indent="-342900" marL="342900">
              <a:buAutoNum type="alphaLcParenR"/>
            </a:pPr>
            <a:r>
              <a:rPr/>
              <a:t>To make research reproducible and transparent ✅</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p>
          <a:p>
            <a:pPr lvl="0" indent="-342900" marL="342900">
              <a:buAutoNum type="alphaLcParenR"/>
            </a:pPr>
            <a:r>
              <a:rPr/>
              <a:t>GitHub Pages ✅</a:t>
            </a:r>
          </a:p>
          <a:p>
            <a:pPr lvl="0" indent="-342900" marL="342900">
              <a:buAutoNum type="alphaLcParenR"/>
            </a:pPr>
            <a:r>
              <a:rPr/>
              <a:t>Quarto Pub ✅</a:t>
            </a:r>
          </a:p>
          <a:p>
            <a:pPr lvl="0" indent="-342900" marL="342900">
              <a:buAutoNum type="alphaLcParenR"/>
            </a:pPr>
            <a:r>
              <a:rPr/>
              <a:t>Social media platforms</a:t>
            </a:r>
          </a:p>
          <a:p>
            <a:pPr lvl="0" indent="-342900" marL="342900">
              <a:buAutoNum type="alphaLcParenR"/>
            </a:pPr>
            <a:r>
              <a:rPr/>
              <a:t>Personal websites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p>
          <a:p>
            <a:pPr lvl="0" indent="-342900" marL="342900">
              <a:buAutoNum type="alphaLcParenR"/>
            </a:pPr>
            <a:r>
              <a:rPr/>
              <a:t>They make your computer run faster</a:t>
            </a:r>
          </a:p>
          <a:p>
            <a:pPr lvl="0" indent="-342900" marL="342900">
              <a:buAutoNum type="alphaLcParenR"/>
            </a:pPr>
            <a:r>
              <a:rPr/>
              <a:t>They allow offline editing only</a:t>
            </a:r>
          </a:p>
          <a:p>
            <a:pPr lvl="0" indent="-342900" marL="342900">
              <a:buAutoNum type="alphaLcParenR"/>
            </a:pPr>
            <a:r>
              <a:rPr/>
              <a:t>They become accessible to others for sharing and collaboration ✅</a:t>
            </a:r>
          </a:p>
          <a:p>
            <a:pPr lvl="0" indent="-342900" marL="342900">
              <a:buAutoNum type="alphaLcParenR"/>
            </a:pPr>
            <a:r>
              <a:rPr/>
              <a:t>They automatically write the code for you</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Li, J., Yuan, J., Miao, Z., Song, Z., Yang, Y., Tian, W., &amp; Guo, Y. (2016). </a:t>
            </a:r>
            <a:r>
              <a:rPr i="1"/>
              <a:t>Effect of dietary nutrient density on small intestinal phosphate transport and bone mineralization of broilers during the growing period</a:t>
            </a:r>
            <a:r>
              <a:rPr/>
              <a:t>. PLOS ONE, 11(4), e0153859. https://doi.org/10.1371/journal.pone.0153859</a:t>
            </a:r>
          </a:p>
          <a:p>
            <a:pPr lvl="0"/>
            <a:r>
              <a:rPr/>
              <a:t>Pauwels, J., Coopman, F., Cools, A., Michiels, J., Fremaut, D., De Smet, S., &amp; Janssens, G. P. J. (2015). </a:t>
            </a:r>
            <a:r>
              <a:rPr i="1"/>
              <a:t>Selection for growth performance in broiler chickens associates with less diet flexibility</a:t>
            </a:r>
            <a:r>
              <a:rPr/>
              <a:t>. PLOS ONE, 10(6), e0127819. https://doi.org/10.1371/journal.pone.0127819</a:t>
            </a:r>
          </a:p>
          <a:p>
            <a:pPr lvl="0"/>
            <a:r>
              <a:rPr/>
              <a:t>Forehand, M. (2010). Bloom’s taxonomy. </a:t>
            </a:r>
            <a:r>
              <a:rPr i="1"/>
              <a:t>Emerging perspectives on learning, teaching, and technology</a:t>
            </a:r>
            <a:r>
              <a:rPr/>
              <a:t>, 41(4), 47-56.</a:t>
            </a:r>
          </a:p>
          <a:p>
            <a:pPr lvl="0" indent="0" marL="0">
              <a:buNone/>
            </a:pPr>
            <a:r>
              <a:rPr/>
              <a:t>From SvG: Add references here Beth: should I cite the Quarto Website?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 Beth: yes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0"/>
            <a:r>
              <a:rPr b="1"/>
              <a:t>Other resources</a:t>
            </a:r>
          </a:p>
          <a:p>
            <a:pPr lvl="1"/>
            <a:r>
              <a:rPr>
                <a:hlinkClick r:id="rId5"/>
              </a:rPr>
              <a:t>Video on crafting presentations with R and Quarto</a:t>
            </a:r>
          </a:p>
          <a:p>
            <a:pPr lvl="0" indent="0" marL="0">
              <a:buNone/>
            </a:pPr>
            <a:r>
              <a:rPr/>
              <a:t>From SvG: Still to do right? Beth: this video was helpful but I did not incorporate everything from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2025-08-29T12:43:30Z</dcterms:created>
  <dcterms:modified xsi:type="dcterms:W3CDTF">2025-08-29T12:43:30Z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