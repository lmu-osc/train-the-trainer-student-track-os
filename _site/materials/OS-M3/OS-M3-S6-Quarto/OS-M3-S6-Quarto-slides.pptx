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notesMaster" Target="notesMasters/notesMaster1.xml" /><Relationship Id="rId102" Type="http://schemas.openxmlformats.org/officeDocument/2006/relationships/viewProps" Target="viewProps.xml" /><Relationship Id="rId101" Type="http://schemas.openxmlformats.org/officeDocument/2006/relationships/presProps" Target="presProps.xml" /><Relationship Id="rId1" Type="http://schemas.openxmlformats.org/officeDocument/2006/relationships/slideMaster" Target="slideMasters/slideMaster1.xml" /><Relationship Id="rId104" Type="http://schemas.openxmlformats.org/officeDocument/2006/relationships/tableStyles" Target="tableStyles.xml" /><Relationship Id="rId10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Speaker notes may act as a guiding script for delivering the presentation. These notes contain key information, such as phrases, explanations, or transitions, that can be said aloud to clarify concepts, emphasize important points, or maintain the flow of information.</a:t>
            </a:r>
          </a:p>
          <a:p>
            <a:pPr lvl="0" indent="0" marL="0">
              <a:buNone/>
            </a:pPr>
          </a:p>
          <a:p>
            <a:pPr lvl="0" indent="0" marL="0">
              <a:buNone/>
            </a:pPr>
            <a:r>
              <a:rPr b="1"/>
              <a:t>Instructor Notes</a:t>
            </a:r>
            <a:r>
              <a:rPr/>
              <a:t>: Instructor notes provide teaching support but are not intended to be communicated to the students directly. These notes contain additional context, such as learning objectives, common issues, and pedagogical tips, to help the instructor adapt their teaching to the learner’s needs as well as anticipate challenges.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first take a look at these prerequisites. These are important to complete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Are there any questions from what we discussed during the last session? Are there any remaining thoughts or discussion points?  </a:t>
            </a:r>
            <a:r>
              <a:rPr b="1"/>
              <a:t>Instructor Notes</a:t>
            </a:r>
            <a:r>
              <a:rPr/>
              <a:t>:  - Aim: clarify questions from the previous submodule and/or to discuss assignments. - Additional slides may need to be added depending on the nature of the homework assignments. - It is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Let’s start the session by gauging where our Quarto skills are at this point. Please answer honestly and don’t worry about having little to no prior knowledge about Quarto. This lesson is for beginners. </a:t>
            </a:r>
            <a:r>
              <a:rPr b="1"/>
              <a:t>Instructor Notes</a:t>
            </a:r>
            <a:r>
              <a:rPr/>
              <a:t>:  - Aim: the pre-submodule survey serves to examine students’ prior knowledge about the submodule’s topic. - 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Looking at the results from this small survey, what can we take from this?  </a:t>
            </a:r>
            <a:r>
              <a:rPr b="1"/>
              <a:t>Instructor Notes</a:t>
            </a:r>
            <a:r>
              <a:rPr/>
              <a:t>:  - Aim: briefly examine the answers given to each question interactively with the group. - Use visuals from the survey to highlight specific answers. - 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Let’s first answer the question, “why are we learning Quarto?” Research can be messy and scattered sometimes, especially when you want to use different elements like text, code, and media. This can also be an obstacle when sharing and ensuring your work is reproducible. - This is where Quarto comes in! It brings these elements together where we can type, run code, embed media, and cite literature all in one place. It also allows for different ways to share and ensure our research is transparent and reproducible. - So this lesson is just part of a bigger journey in integrating Open Research practices in our work.</a:t>
            </a:r>
          </a:p>
          <a:p>
            <a:pPr lvl="0" indent="0" marL="0">
              <a:buNone/>
            </a:pPr>
          </a:p>
          <a:p>
            <a:pPr lvl="0" indent="0" marL="0">
              <a:buNone/>
            </a:pPr>
            <a:r>
              <a:rPr b="1"/>
              <a:t>Instructor Notes</a:t>
            </a:r>
            <a:r>
              <a:rPr/>
              <a:t>:  - Aim: Place the topic of the current submodule within a broader context. - Consider Quarto as a solution to some existing challenges in Open Research to remind students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Quarto is an open-source publishing system, this means it is free to use and community-driven. Anyone can download it, contribute towards its improvement, and adapt it. - It’s designed for combining text, code, and media in a way that makes your work transparent and reprodcible, this means that anyone can read it, rerun the code, and even check the results themselves. - The 3 key things you can do with Quarto are: - Analyze and work with data, text, or research content directly in your document - Share or present your results as reports, slides, or even full websites - Make your workflow reproducible so others can repeat them. </a:t>
            </a:r>
            <a:r>
              <a:rPr b="1"/>
              <a:t>Instructor Notes</a:t>
            </a:r>
            <a:r>
              <a:rPr/>
              <a:t>:  - Establishing a clear idea of what Quarto is at the beginning of the lesson is useful for building context and purpose - Context: how all the parts of Quarto work together to create intended document(s) - 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Aim: Core theoretical introduction of submodule topic. - This session will cover some basics in how to use Quarto and then some ways it can work with other platforms to perform functions like referencing and publishing. - We will first begin by setting up a Quarto document in RStudio, then we will look at important elements: text, code, media, links, and layout. Next, we will work with both Quarto and Zotero for quick and easy citations and, finally, we will look at sharing our work to GitHub. - All of these are pertinent steps in learning how to use Quarto to facilitate Open Research practices</a:t>
            </a:r>
          </a:p>
          <a:p>
            <a:pPr lvl="0" indent="0" marL="0">
              <a:buNone/>
            </a:pPr>
          </a:p>
          <a:p>
            <a:pPr lvl="0" indent="0" marL="0">
              <a:buNone/>
            </a:pPr>
            <a:r>
              <a:rPr b="1"/>
              <a:t>Instructor Notes</a:t>
            </a:r>
            <a:r>
              <a:rPr/>
              <a:t>:  - Pair theoretical aspects with practical exercises and group discussions according to the Think-Pair-Share style and according to Cognitive Load Theory (Sweller, 1980). - For a 90-minute lesson, the instructor should try to “lecture” for only 20 minutes, students should work in groups/pairs/on their own for at least 55 minutes of the lesson (+ a 15 minute break). - Practical exercises on topic - Aim: practical exercises for students to apply the new skills in practise. Each submodule topic will include corresponding Tasks- adopting a “learn by doing” approach. - Depending on the topic, the exercises should be in accordance with the learning objective(s). - It’s useful to have exercises directly after a topic is taught to reinforce what was learnt. - 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These are the goals we’re working toward in today’s session. By the end, you should be comfortable creating, editing, and rendering Quarto documents. You’ll also know how to use key features like code chunks, YAML headers, citations, and formatting. - We’ll practice inserting citations and generating bibliographies using Zotero, and finally, we’ll publish and share our work using GitHub Pages. - Think of this as the full workflow: from authoring, through referencing, to sharing your work openly.</a:t>
            </a:r>
          </a:p>
          <a:p>
            <a:pPr lvl="0" indent="0" marL="0">
              <a:buNone/>
            </a:pPr>
          </a:p>
          <a:p>
            <a:pPr lvl="0" indent="0" marL="0">
              <a:buNone/>
            </a:pPr>
            <a:r>
              <a:rPr b="1"/>
              <a:t>Instructor Notes</a:t>
            </a:r>
            <a:r>
              <a:rPr/>
              <a:t>:  - Aim: Formulate specific, action-oriented goals learning goals which are measurable and observable in line with Bloom’s taxonomy (Anderson et al., 2001; Bloom et al., 1956) - Emphasis is placed on the </a:t>
            </a:r>
            <a:r>
              <a:rPr b="1"/>
              <a:t>verbs</a:t>
            </a:r>
            <a:r>
              <a:rPr/>
              <a:t> of the learning goals-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 Quarto document or file gets the extension of .qmd. There are different components within a Quarto document that are important for rendering. First, we have the YAML header, which is the section at the top of the Quarto document that controls settings like the title, output format, and author. Second, we have the code chunks, the sections of the document that contain code (from R or Python, for example) that are used for showing results such as tables, plots, or calculations. Finally, we have the Quarto markdown text, which is the component that combines text, codes, and formatting to create the actual content of the document. </a:t>
            </a:r>
            <a:r>
              <a:rPr b="1"/>
              <a:t>Instructor Notes</a:t>
            </a:r>
            <a:r>
              <a:rPr/>
              <a:t>:  - Aim: Introduce key terms and definitions that students will come across throughout the session. - This first part of the lesson is useful to establish an understanding of important vocabulary- it can be helpful to remind students of the meaning of these terms as they appear in the upcoming sections.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Quarto documents can be rendered either manually or automatically when you save. - Manual rendering gives you control meaning you decide when to update the document, which is helpful if you’re making lots of edits and don’t want constant re-renders. - Render on Save automatically updates your document every time you hit Save, which is great for quick feedback and seeing your changes instantly. In this lesson, you can try both to see which workflow feels more comfortable for you.</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Base yourself on conceptual change theory and examine existing concepts in relation to some key terms. - Re-examine formation of new concepts at the end of the lesson. - WYSIWYM is an acronym for “What You Say is What You Mean” which means that whatever you see in your document will be what you see even when you save or render the document as PDF or as HTML. - Quarto documents can be created and edited in either Source mode or Visual mode. Both modes work with the same file, but they provide slightly different experiences. In this lesson, most of our tasks will be done in Source mode, but you’ll also have a chance to try Visual mode so you can compare how the same content looks and feels in each. </a:t>
            </a:r>
            <a:r>
              <a:rPr b="1"/>
              <a:t>Instructor Notes</a:t>
            </a:r>
            <a:r>
              <a:rPr/>
              <a:t>:  -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To get started with Quarto in RStudio, the first step is simply creating a new Quarto document. - You see options for both Quarto Document and Quarto Presentation. What’s the difference between the two? - A Quarto Document is best for reports or articles because it produces continuous text like a paper. - A Quarto Presentation is for creating slide decks, like PowerPoint or Reveal.js slides.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This creates your document where you can now customize the YAML header, add Markdown text, and insert code chunks. - The default format is html but this can be changed later on by editing the YAML header directly in the document.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ADDD </a:t>
            </a:r>
            <a:r>
              <a:rPr b="1"/>
              <a:t>Instructor Notes</a:t>
            </a:r>
            <a:r>
              <a:rPr/>
              <a:t>: Ensure students know where their Quarto project folder is located on their device. This will make it easier for them to find files in later tasks. Encourage them to save the document right after creating it by selecting “Save As”, so they can intentionally choose the document location (for example, on the Desktop or a dedicated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Authoring is combining the YAML header with the markdown text. This means that what you do to customize, add to, and develop your document is the process of authoring - The YAML header is the section at the very top, wrapped in three dashes (—). It holds the document’s settings, like the title, author, date, and output format. - Below that, we use Markdown text to write the actual content which are things like headings, bullet points, bold or italic text, and the actual body of your document. </a:t>
            </a:r>
            <a:r>
              <a:rPr b="1"/>
              <a:t>Instructor Notes</a:t>
            </a:r>
            <a:r>
              <a:rPr/>
              <a:t>:  - Reminding students on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Remember that the YAML Header goes at the top of the document in both Source and Visual Modes. - In the YAML header, the format field tells Quarto what kind of output to create. Here we’ve set it to html, which means the document will render as a web page. You could choose other formats like PDF or Word, but for this lesson we’ll stick with HTML so everyone has the same experience.</a:t>
            </a:r>
          </a:p>
          <a:p>
            <a:pPr lvl="0" indent="0" marL="0">
              <a:buNone/>
            </a:pPr>
          </a:p>
          <a:p>
            <a:pPr lvl="0" indent="0" marL="0">
              <a:buNone/>
            </a:pPr>
            <a:r>
              <a:rPr b="1"/>
              <a:t>Instructor Notes</a:t>
            </a:r>
            <a:r>
              <a:rPr/>
              <a:t>: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With Markdown text, we can format text with very simple symbols. It works the same way in both Source and Visual mode with the only difference being how you see it while typing. - In Source mode you see the symbols, while in Visual mode it looks like regular bold or italic text right away.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Aim: Help students feel comfortable using Markdown text by showing how simple and familiar it really is. - the words “Markdown Text” may seem technical or complicated for those new to Quarto. But Markdown text can simply be understood as just typing (like writing in any normal document), sometimes with a few simple symbols to add structure or emphasis.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a:t>
            </a:r>
            <a:r>
              <a:rPr b="1"/>
              <a:t>Instructor Notes</a:t>
            </a:r>
            <a:r>
              <a:rPr/>
              <a:t>: Instruct students to render their document after each practical exercise (where applicable) so they can see the changes as they make them and identify issues.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Callout boxes are a way to highlight important information in your document. They stand out visually, so readers immediately notice them. You can use them to emphasize tips, warnings, examples, or key takeaways. - Acknowledge that the look of the callout boxes changes depending on if “-important,” “-tip,” or “-note” follows the word “callout” </a:t>
            </a: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Inside the box, you can add a heading and text. - These aren’t just for highlighting important information but can be used for supplementary or by-the-way information as well as warnings.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The details in the formatting are very important (for callout boxes and for all authoring features) - Specific details: - beginning and ending in 3 </a:t>
            </a:r>
            <a:r>
              <a:rPr>
                <a:latin typeface="Courier"/>
              </a:rPr>
              <a:t>:::</a:t>
            </a:r>
            <a:r>
              <a:rPr/>
              <a:t>; - single space between the first </a:t>
            </a:r>
            <a:r>
              <a:rPr>
                <a:latin typeface="Courier"/>
              </a:rPr>
              <a:t>:::</a:t>
            </a:r>
            <a:r>
              <a:rPr/>
              <a:t> and callout-note; - single space between </a:t>
            </a:r>
            <a:r>
              <a:rPr>
                <a:latin typeface="Courier"/>
              </a:rPr>
              <a:t>##</a:t>
            </a:r>
            <a:r>
              <a:rPr/>
              <a:t> and title</a:t>
            </a:r>
          </a:p>
          <a:p>
            <a:pPr lvl="0" indent="0" marL="0">
              <a:buNone/>
            </a:pPr>
          </a:p>
          <a:p>
            <a:pPr lvl="0" indent="0" marL="0">
              <a:buNone/>
            </a:pPr>
            <a:r>
              <a:rPr b="1"/>
              <a:t>Instructor Notes</a:t>
            </a:r>
            <a:r>
              <a:rPr/>
              <a:t>:  - Aim: Understand and practice the specific format of a callout box. - When rendered, acknowledge how the callout boxes sets its contents apart from the rest of the document to draw the reader’s attention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Code chunks are sections of a Quarto document where we can run code directly inside our file. They’re marked by three backticks followed by the language name, like {r} or {python}. - These let us write and execute code, and then display the results, such as tables, plots, or calculations, right in the document. Code chunks make it possible to combine text and analysis in one place, so the document stays reproducible and dynamic. </a:t>
            </a:r>
            <a:r>
              <a:rPr b="1"/>
              <a:t>Instructor Notes</a:t>
            </a:r>
            <a:r>
              <a:rPr/>
              <a:t>: - using {r} to start the Code Chunk indicates that the coding language that we’re using is R. This is relevant for this lesson as students will be using R Studio and ossession of some background knowledge in R is assumed.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For example, here we’re summarizing the ChickWeight dataset, and below, we’re using </a:t>
            </a:r>
            <a:r>
              <a:rPr>
                <a:latin typeface="Courier"/>
              </a:rPr>
              <a:t>ggplot2</a:t>
            </a:r>
            <a:r>
              <a:rPr/>
              <a:t> to create a visualization of chick growth over time. Notice how the code is written inside a chunk, and when rendered, Quarto automatically runs the code and shows the results in your output. This is what makes Quarto so powerful, it combines text, code, and results all in one place.</a:t>
            </a:r>
          </a:p>
          <a:p>
            <a:pPr lvl="0" indent="0" marL="0">
              <a:buNone/>
            </a:pPr>
          </a:p>
          <a:p>
            <a:pPr lvl="0" indent="0" marL="0">
              <a:buNone/>
            </a:pPr>
            <a:r>
              <a:rPr b="1"/>
              <a:t>Instructor Notes</a:t>
            </a:r>
            <a:r>
              <a:rPr/>
              <a:t>:  - It’s also possible to see the output of the code before rendering by clicking the small, green arrow at the top-right corner of the code chunk. Hover over it and it would say “Run Current Chunk.”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ADD </a:t>
            </a:r>
            <a:r>
              <a:rPr b="1"/>
              <a:t>Instructor Notes</a:t>
            </a:r>
            <a:r>
              <a:rPr/>
              <a:t>:  - Students don’t need to hit Ctrl + Enter (Windows) or Command + Enter (Mac) to run the code. After placing it in the coding chunk, rendering the document will run the code and print the output. - Encourage students to try using both methods to insert coding chunks for this exercise. - Note that the code is in two separate text boxes/coding chunks for teaching purposes but can actually both be put in 1 coding chunk. You do not have to start a new coding chunk each time you want to use a different R function. - After students render the output and observe how the code appears together with the markdown text from the previous activities, use this as an opportunity to exemplify and emphasize how Quarto is useful for combining text and code into one document.</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a:t>
            </a:r>
            <a:r>
              <a:rPr b="1"/>
              <a:t>Instructor Notes</a:t>
            </a:r>
            <a:r>
              <a:rPr/>
              <a:t>: - Clarify that “not collapsible” means that we cannot chose to hide the code, we cannot fold it closed (as we will see when we set it to </a:t>
            </a:r>
            <a:r>
              <a:rPr>
                <a:latin typeface="Courier"/>
              </a:rPr>
              <a:t>code-fold: true</a:t>
            </a:r>
            <a:r>
              <a:rPr/>
              <a:t>) - Quarto gives us several options for controlling how code appears in our documents. For example, we can choose whether to show or hide the code itself, whether readers can fold code open and closed, or whether only the results are shown. - These settings don’t change the analysis, but just change how it’s displayed. This flexibility is helpful because sometimes we want to highlight the process by showing the code, and other times we want readers to focus on the results. - In open research, showing the underlying code isn’t just a technical choice, it’s important for building trust and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b="1"/>
              <a:t>Instructor Notes</a:t>
            </a:r>
            <a:r>
              <a:rPr/>
              <a:t>:  -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a:t>
            </a:r>
            <a:r>
              <a:rPr b="1"/>
              <a:t>Instructor Notes</a:t>
            </a:r>
            <a:r>
              <a:rPr/>
              <a:t>: Engage students by asking for possible reasons why one would want their code to be visible or not.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a:t>
            </a:r>
            <a:r>
              <a:rPr b="1"/>
              <a:t>Instructor Notes</a:t>
            </a:r>
            <a:r>
              <a:rPr/>
              <a:t>:  - Before the break, take a moment to review the things we covered in the first part of this lesson.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survey has a few simple recap questions about what we’ve covered so far in Quarto. The goal isn’t to test you, but to help you reflect on what you’ve learned and for me to see if anything needs a bit more clarification. </a:t>
            </a:r>
            <a:r>
              <a:rPr b="1"/>
              <a:t>Instructor Notes</a:t>
            </a:r>
            <a:r>
              <a:rPr/>
              <a:t>:  - Aim: This pre-break survey serves to examine students’ current understanding of key concepts of the submodule - Use free survey software such as or other survey software (Menti, particify, formR) to establish the following questions.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To clarify concepts and aspects that are not yet understood - Highlight specific answers given during the survey - Also, use this time to clarify any confusions or questions on specific topics students may have from the first part of the session.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Beyond writing plain text, Quarto also allows us to add features like hyperlinks, images or videos, and multi-column layouts. These improve how our document communicates. - Hyperlinks let us connect to sources or other sections, media like images and video help explain complex ideas more clearly, and multi-column layouts make the content easier to read and more visually appealing. - Using these features thoughtfully improves both the usability and the overall look of the document.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You can insert a link with a title using square brackets for the text and parentheses for the URL. This is helpful when you want the link to be descriptive or if you want to hyperlink written text. - You can also add a link without a title by simply wrapping the URL in angle brackets (&lt;…&gt;). This shows the raw link, which is fine if the URL itself is clear and concise enough. -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 benefit of using Quarto is the ability to easily add media, such as images, to your documents. - For this lesson, we will focus on just adding images. You can add the image by itself with no additional text, such as a caption. - The “path” tells Quarto where to find the image on your device. If the image is stored in the same folder as your .qmd file, you only need to use the image’s file name. If the image is inside a subfolder (For example, an images folder next to your .qmd), then you just include the folder name in the path, like images/picture.png.</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Images can also be inserted with a caption placed below it. - Helps with clarity and accessibility, since captions explain the relevance of the image. -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Images can also be inserted with links embedded in them. - This allows readers to click and explore more details (for example, linking a screenshot to a website or dataset). - Keeps documents concise while still offering extra resources for those who want them.</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Aims: to reinforce how to add images, how to insert captions, and how paths work. - Simply click the link and the image will automatically download. - The text inside the square brackets is the caption, and the text inside the parentheses is the path to the image file. - Reminder that the path tells Quarto where to look for the image on your deivce. - If your image is saved directly in the same folder as your .qmd file, you only need the file name. If it’s in a subfolder, include the folder name in the path. </a:t>
            </a:r>
            <a:r>
              <a:rPr i="1"/>
              <a:t>Instructor Notes</a:t>
            </a:r>
            <a:r>
              <a:rPr/>
              <a:t> - Setting the path can be tricky depending on where the files are located - It’s a good practice to save these files in the same main folder as your Quarto document files (ideally in a dedicated subfolder named “images” to keep paths organized and easy to manage). If students saved and placed their main folder earlier, then locating it should be easy. - in the Task above, the text says “images/chickpic1.png” assuming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Columns are useful when you want to organize content side by side instead of in a long vertical flow. For example, you might place an image in one column and an explanation in the other, or compare two code outputs directly next to each other like comparing two separate plots. - Columns help make information easier to scan and can improve the balance and readability of your slides or documents.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One of the ways you can utlilize columns is by placing an image on one side and bullet points next to it. - The link leads to separate image from the previous one, please click to initiate another download. - Reminder that where the image is stored is important for setting the path.</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image in this exercise will be inserted without caption, hence, the square brackets are left blank. But it is still necessary to add them. - This is also an opportunity to see how bullet points are added: by using a dash (-), followed by a single space, then the content. </a:t>
            </a:r>
            <a:r>
              <a:rPr i="1"/>
              <a:t>Instructor Note</a:t>
            </a:r>
            <a:r>
              <a:rPr/>
              <a:t> - The details of the syntax for columns is very important here too: - beginning and ending with exatly 6 </a:t>
            </a:r>
            <a:r>
              <a:rPr>
                <a:latin typeface="Courier"/>
              </a:rPr>
              <a:t>::::::</a:t>
            </a:r>
            <a:r>
              <a:rPr/>
              <a:t> - beginning the layout with the word </a:t>
            </a:r>
            <a:r>
              <a:rPr>
                <a:latin typeface="Courier"/>
              </a:rPr>
              <a:t>columns</a:t>
            </a:r>
            <a:r>
              <a:rPr/>
              <a:t> (plural) then using </a:t>
            </a:r>
            <a:r>
              <a:rPr>
                <a:latin typeface="Courier"/>
              </a:rPr>
              <a:t>column</a:t>
            </a:r>
            <a:r>
              <a:rPr/>
              <a:t> (singular) to divide each subsequent column - a single space between </a:t>
            </a:r>
            <a:r>
              <a:rPr>
                <a:latin typeface="Courier"/>
              </a:rPr>
              <a:t>::::::</a:t>
            </a:r>
            <a:r>
              <a:rPr/>
              <a:t> and </a:t>
            </a:r>
            <a:r>
              <a:rPr>
                <a:latin typeface="Courier"/>
              </a:rPr>
              <a:t>columns</a:t>
            </a:r>
            <a:r>
              <a:rPr/>
              <a:t> as well as between </a:t>
            </a:r>
            <a:r>
              <a:rPr>
                <a:latin typeface="Courier"/>
              </a:rPr>
              <a:t>:::</a:t>
            </a:r>
            <a:r>
              <a:rPr/>
              <a:t> and </a:t>
            </a:r>
            <a:r>
              <a:rPr>
                <a:latin typeface="Courier"/>
              </a:rPr>
              <a:t>column</a:t>
            </a:r>
            <a:r>
              <a:rPr/>
              <a:t> - Mistakes here will result in warning messages when rendering</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To add citations in Quarto, you’ll need Zotero open on your device. - In RStudio, switch to the Visual Editor, which makes citation insertion easier. - Make sure your YAML header includes </a:t>
            </a:r>
            <a:r>
              <a:rPr>
                <a:latin typeface="Courier"/>
              </a:rPr>
              <a:t>bibliography: references.bib</a:t>
            </a:r>
            <a:r>
              <a:rPr/>
              <a:t> so Quarto knows where to look for your references. - Then, simply go to the toolbar, click Insert → Citation, and you’ll be able to search your Zotero library directly. - Once you add citations in the text, Quarto automatically generates a reference list or bibliography at the end of your document so that you don’t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When you click “My Library,” it mirrors what folders you’ve created in Zotero Library. This helps you navigate to the folder where the citation is stored. - After inserting a citation once, you see what citation key is assigned to it for easier referencing later in the text. But the way the citation key is written is different for regular and in-text citations. </a:t>
            </a:r>
            <a:r>
              <a:rPr i="1"/>
              <a:t>Instructor Note</a:t>
            </a:r>
            <a:r>
              <a:rPr/>
              <a:t> - the Zotero program needs to be open on the device for the “Zotero” option to show up in RStudio like it does in the image.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to show how using Zotero with RStudio to insert citations and generates bibliography simplifies the referencing process - Follow these steps to add a citation to your Zotero library and add some information extracted from it to your Quarto document. </a:t>
            </a:r>
            <a:r>
              <a:rPr i="1"/>
              <a:t>Instructor Notes</a:t>
            </a:r>
            <a:r>
              <a:rPr/>
              <a:t> - There are several ways to add a citation to your Zotero library but an easy way is using the ‘magic wand’ (adding the item by its identifier). Here, you can just copy the DOI of the study, hit Enter, and it will be added to Zotero. The DOIs of the articles in these tasks will be clearly visible so this method is recommended.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Follow these steps to add the citation to the end of the text. - It is possible to add citations in Source mode, but it is easier and more efficient to do it in Visual mdoe. </a:t>
            </a:r>
            <a:r>
              <a:rPr i="1"/>
              <a:t>Instructor Notes</a:t>
            </a:r>
            <a:r>
              <a:rPr/>
              <a:t> - This is also a good opportunity for students to see all the work they’ve done so far in the Quarto document now in Visual mode.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Follow these steps to place an in-text citation at the beginning of the text. This is another article, meaning that you will have to click the link to go to it and add it to your Zotero library. - Reminder that 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This box needs to be checked and un-checked accordingly when adding citations.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When you render, you should have three key elements in your Quarto document: a citation, an in-text citation, and a reference list or bibliography at the end. - As you can see, Quarto does most of the heavy lifting as long as you insert citations correctly and the bibliography builds automatically. - Also, if you ever need to follow a specific format, like APA or Chicago, you can easily change the citation style by adding a CSL file in your YAML. It can be a link directly to the Zotero website so that you don’t have to download any additional files.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Publishing in Quarto is all about making your work accessible to others. Once you’ve created and rendered your document, you can share it online so that collaborators, students, or the wider community can view it. Quarto supports multiple publishing options, including GitHub Pages, Quarto Pub, or even your own personal website.</a:t>
            </a:r>
          </a:p>
          <a:p>
            <a:pPr lvl="0" indent="0" marL="0">
              <a:buNone/>
            </a:pPr>
          </a:p>
          <a:p>
            <a:pPr lvl="0" indent="0" marL="0">
              <a:buNone/>
            </a:pPr>
            <a:r>
              <a:rPr i="1"/>
              <a:t>Instructor Notes</a:t>
            </a:r>
            <a:r>
              <a:rPr/>
              <a:t> - The key takeaway here is that publishing turns your local work into something that can be accessed from anywhere.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As practitioners of open research, sharing your work is more than just making it available. It’s also about being responsible and following certain standards. There are legal aspects of sharing that we should consider such as - Licenses that define how other may use your work, - The importance of archiving to preserve your work in the long run - Established best practices to make sure our research remains credible and reusable.</a:t>
            </a:r>
          </a:p>
          <a:p>
            <a:pPr lvl="0" indent="0" marL="0">
              <a:buNone/>
            </a:pPr>
          </a:p>
          <a:p>
            <a:pPr lvl="0" indent="0" marL="0">
              <a:buNone/>
            </a:pPr>
            <a:r>
              <a:rPr i="1"/>
              <a:t>Instructor Notes</a:t>
            </a:r>
            <a:r>
              <a:rPr/>
              <a:t> - Aim: To inform students that open science involves thoughtful practices. In this case, sharing should be done with legality, licenses, and reusability in mind. -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GitHub is one of the most common platforms for sharing code and documents. One of its biggest advantages is version control, which means you can track every change made to your files and even go back to earlier versions if needed. - For Quarto, publishing to GitHub is a great option because it’s free, widely used, and makes your work easily accessible to others. - The simplest way is through GitHub Pages, which lets you turn your Quarto document into a live website that anyone can access.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GitHub Pages makes it possible to publish Quarto content as a live website, directly from your GitHub repository. There are three main ways to do this: - The simplest way is to render your document to a docs folder and commit it to your repo. GitHub Pages can then serve those files as a website. “Docs” here is a folder in your project where you put the files that should be published as a website. - You can also use the quarto publish command, which pushes your rendered site to GitHub Pages automatically. - For a more advanced setup, you can use GitHub Actions so that every time you push changes to your repo, the site automatically re-renders and updates online. - 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When publishing to GitHub, we’ll often use Git Bash, which is a command-line tool for running Git commands. Fortunately, you don’t have to leave RStudio to use it by opening Git Bash directly inside RStudio’s Terminal tab. - To do this, go to Terminal → Terminal Options, and under ‘New terminals open with,’ select Git Bash. Then, when you click Terminal → New Terminal, it will open Git Bash automatically, ready for you to start working. - This setup keeps everything in one place so you don’t need to switch between RStudio and an external terminal. </a:t>
            </a:r>
            <a:r>
              <a:rPr i="1"/>
              <a:t>Instructor Notes</a:t>
            </a:r>
            <a:r>
              <a:rPr/>
              <a:t> - Git Bash should be installed on the student’s device. - When you click the drop-down arrow by Terminal, the options may look different than what’s in the image in this slide, but the “Terminal Options…” will be at the end (you may have to scroll a bit). -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In this exercise, we’re preparing our Quarto document so it can be published on GitHub Pages. First, edit the YAML header of your Quarto document to define it as a website project and set the output to the docs folder. This tells Quarto where to place the rendered files that GitHub Pages will serve. - Next, set up your terminal in RStudio to use Git Bash by following the steps in the previous slide. - From there, you’ll use the </a:t>
            </a:r>
            <a:r>
              <a:rPr>
                <a:latin typeface="Courier"/>
              </a:rPr>
              <a:t>cd</a:t>
            </a:r>
            <a:r>
              <a:rPr/>
              <a:t> command to change into the main folder where your Quarto files are stored. This step makes sure any Git commands you run apply to the right project folder. </a:t>
            </a:r>
            <a:r>
              <a:rPr i="1"/>
              <a:t>Instructor Notes</a:t>
            </a:r>
            <a:r>
              <a:rPr/>
              <a:t> - Reminder that copying and pasting with keyboard shortcuts do not work the same in Git Bash. Right-clicking and selecting Paste is an easy option. - Sometimes in Git Bash/Terminal, just copying and pasting will run the command, but sometimes you need to hit Enter. - Setting the directory can be tricky. - Backslashes (</a:t>
            </a:r>
            <a:r>
              <a:rPr>
                <a:latin typeface="Courier"/>
              </a:rPr>
              <a:t>\</a:t>
            </a:r>
            <a:r>
              <a:rPr/>
              <a:t>) need to be changes to forward slashes (</a:t>
            </a:r>
            <a:r>
              <a:rPr>
                <a:latin typeface="Courier"/>
              </a:rPr>
              <a:t>/</a:t>
            </a:r>
            <a:r>
              <a:rPr/>
              <a:t>). - If you’re pasting the exact path of the folder, wrap it in quotation marks (</a:t>
            </a:r>
            <a:r>
              <a:rPr>
                <a:latin typeface="Courier"/>
              </a:rPr>
              <a:t>"..."</a:t>
            </a:r>
            <a:r>
              <a:rPr/>
              <a:t>) - OR an easy way so change the directory is by typing </a:t>
            </a:r>
            <a:r>
              <a:rPr>
                <a:latin typeface="Courier"/>
              </a:rPr>
              <a:t>cd</a:t>
            </a:r>
            <a:r>
              <a:rPr/>
              <a:t> then selecting and dragging the folder directly into Git Bash- this puts the folder path after the </a:t>
            </a:r>
            <a:r>
              <a:rPr>
                <a:latin typeface="Courier"/>
              </a:rPr>
              <a:t>cd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Here, we’re setting up the basic project files GitHub Pages needs in order to publish our Quarto website. - First, we’ll create a _quarto.yml file using the Terminal. This file tells Quarto that the project is a website and that the rendered output should go into the docs folder. - Next, we’ll add a special file called .nojekyll. By default, GitHub Pages uses Jekyll to process websites, but that can interfere with Quarto’s output. Adding a .nojekyll file tells GitHub Pages to leave our site exactly as Quarto created it.</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Running </a:t>
            </a:r>
            <a:r>
              <a:rPr>
                <a:latin typeface="Courier"/>
              </a:rPr>
              <a:t>quarto render</a:t>
            </a:r>
            <a:r>
              <a:rPr/>
              <a:t> in the Terminal takes your Quarto project and produces the HTML files in the docs folder. These are the files GitHub Pages will serve as your website. -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 </a:t>
            </a:r>
            <a:r>
              <a:rPr i="1"/>
              <a:t>Instructor Notes</a:t>
            </a:r>
            <a:r>
              <a:rPr/>
              <a:t> - You will see a warning about </a:t>
            </a:r>
            <a:r>
              <a:rPr>
                <a:latin typeface="Courier"/>
              </a:rPr>
              <a:t>references.bib not found in resource path</a:t>
            </a:r>
            <a:r>
              <a:rPr/>
              <a:t> which usually happens because Quarto looks for the file in the project’s root or resource path, but Git Bash is case-sensitive and strict with paths. - So, you will see in your completed Git Pages web page that the citations look strange but we will leave it like that for now. - Extra steps are needed to correct this that will be covered in the Homework Assignment/Extra Activities PDF.</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Now to put everything together. We need to create a new repository on GitHub which is where our project files will be held. - Then, we connect our local project to GitHub using </a:t>
            </a:r>
            <a:r>
              <a:rPr>
                <a:latin typeface="Courier"/>
              </a:rPr>
              <a:t>git remote add origin</a:t>
            </a:r>
            <a:r>
              <a:rPr/>
              <a:t> followed by the repo’s HTTPS link (found on the GitHub website). This tells Git where to send the files when we push them with </a:t>
            </a:r>
            <a:r>
              <a:rPr>
                <a:latin typeface="Courier"/>
              </a:rPr>
              <a:t>git push -u origin main</a:t>
            </a:r>
            <a:r>
              <a:rPr/>
              <a:t>. </a:t>
            </a:r>
            <a:r>
              <a:rPr i="1"/>
              <a:t>Instructor Notes</a:t>
            </a:r>
            <a:r>
              <a:rPr/>
              <a:t> - For this to work, the repo created must be set to Public</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last stepp to make the site public is to configure the GitHub repository settings under “Pages.” - Follow the steps to switch to the branch we are working on and switch the folder where Quarto rendered the website files. </a:t>
            </a:r>
            <a:r>
              <a:rPr i="1"/>
              <a:t>Instructor Notes</a:t>
            </a:r>
            <a:r>
              <a:rPr/>
              <a:t> -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Here are some of the key things covered in the lesson that give a general overview of Quarto and what it contains. - Quarto is more than just a tool to write documents, it’s designed to bring together text, code, and media in one .qmd file that ensures transparency and reproducibility. - Quarto supports simple formatting, like bold and italics, which makes writing cleaner and more efficient without the need for complex styling tools.</a:t>
            </a:r>
          </a:p>
          <a:p>
            <a:pPr lvl="0" indent="0" marL="0">
              <a:buNone/>
            </a:pPr>
          </a:p>
          <a:p>
            <a:pPr lvl="0" indent="0" marL="0">
              <a:buNone/>
            </a:pPr>
            <a:r>
              <a:rPr i="1"/>
              <a:t>Instructor Note</a:t>
            </a:r>
            <a:r>
              <a:rPr/>
              <a:t> - Aim: to give a recap of important elements of Quarto covered in the lesson.</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Here are some of the features for customization and improved usability that were discussed and applied in the lesson to create the Quarto document. We then shared it using GitHub Pages. - Zotero integration streamlines citation management and bibliography building, which is essential for academic and research writing. -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 </a:t>
            </a:r>
            <a:r>
              <a:rPr i="1"/>
              <a:t>Instructor Note</a:t>
            </a:r>
            <a:r>
              <a:rPr/>
              <a:t> - Aim: to give a recap of things you can do to edit the Quarto document and then make it shareable. - Instruct students to download a cheatsheet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Let’s discuss how the new skills could be applied in practise with specific examples. Use the questions on the slide to guide the discussion. </a:t>
            </a:r>
            <a:r>
              <a:rPr i="1"/>
              <a:t>Instructor Note</a:t>
            </a:r>
            <a:r>
              <a:rPr/>
              <a:t> - Aim: To work out the relevance of the topic to your students, examine downfalls, and practical obstacles in an interactive setting.</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Encourage students to share one sentence take-home messages. You can collect them verbally or in a shared doc/board. </a:t>
            </a:r>
            <a:r>
              <a:rPr i="1"/>
              <a:t>Instructor Notes</a:t>
            </a:r>
            <a:r>
              <a:rPr/>
              <a:t> - Aim: End lesson on clear take-home message that are interactively compiled by students. -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 Aim: Practice additional Quarto features. The homework activity builds on the document created during this lesson to add more to the content and layout. - The homework contains activities that take what we practiced today to the next level. Each item builds on the knowledge and exercises that were covered in this session.</a:t>
            </a:r>
          </a:p>
          <a:p>
            <a:pPr lvl="0" indent="0" marL="0">
              <a:buNone/>
            </a:pPr>
          </a:p>
          <a:p>
            <a:pPr lvl="0" indent="0" marL="0">
              <a:buNone/>
            </a:pPr>
            <a:r>
              <a:rPr i="1"/>
              <a:t>Instructor Note</a:t>
            </a:r>
            <a:r>
              <a:rPr/>
              <a:t> - Aim: to reinforce what was learned in this session and to have an opportunity to apply the knowledge in a more challenging way. - Use this homework sheet as it is or use it as an example to create your own based on the needs of the class or the specific requirements for future lessons. - Examine whether/how it will be assessed - Mention scoring rubrics, if applicable - 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To end this lesson, let’s use this survey to see where we stand in our knowledge of Quarto and what we can focus on more moving forward to become more proficient in literate programming with it. </a:t>
            </a:r>
            <a:r>
              <a:rPr i="1"/>
              <a:t>Instructor Notes</a:t>
            </a:r>
            <a:r>
              <a:rPr/>
              <a:t> -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To end off, we can use the answers from this survey to see how much we know about Quarto after this lesson and where we should focus and explore more moving forward if we are to become proficient in using it. </a:t>
            </a:r>
            <a:r>
              <a:rPr i="1"/>
              <a:t>Instructor Notes</a:t>
            </a:r>
            <a:r>
              <a:rPr/>
              <a:t> - Aim: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 Id="rId3" Type="http://schemas.openxmlformats.org/officeDocument/2006/relationships/hyperlink" Target="https://partici.fi/06396725" TargetMode="External" /><Relationship Id="rId4"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quarto.or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4.xml" /><Relationship Id="rId3" Type="http://schemas.openxmlformats.org/officeDocument/2006/relationships/image" Target="../media/image4.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7.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1.png" /><Relationship Id="rId2"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03/09/2025</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b="1"/>
              <a:t>Elizabeth Waterfield</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a:p>
            <a:pPr lvl="0" indent="0" marL="0">
              <a:buNone/>
            </a:pPr>
            <a:r>
              <a:rPr/>
              <a:t> </a:t>
            </a:r>
          </a:p>
          <a:p>
            <a:pPr lvl="0" indent="0" marL="0">
              <a:buNone/>
            </a:pPr>
            <a:r>
              <a:rPr/>
              <a:t>This work by Elizabeth Waterfield, Sara Lil Middleton and Sarah von Grebmer zu Wolfsthurn is licensed under a CC-BY 4.0 </a:t>
            </a:r>
            <a:r>
              <a:rPr>
                <a:hlinkClick r:id="rId3"/>
              </a:rPr>
              <a:t>Creative Commons Attribution 4.0 International License</a:t>
            </a:r>
            <a:r>
              <a:rPr/>
              <a:t>.</a:t>
            </a:r>
          </a:p>
          <a:p>
            <a:pPr lvl="0" indent="0" marL="0">
              <a:buNone/>
            </a:pPr>
            <a:r>
              <a:rPr/>
              <a:t>From SvG: I think you are mixing instructor and speaker notes throughout - make sure to add what you would say for a slide to the students to speaker notes, and any tips or things instructors need to pay attention to to the instructor notes. Also make sure to have consistent formatting for these notes, like the speaker notes in bold and if there are bullet points separated by a  see the first 20 slides or so and revise the rest accordingly. Also check the creation manual for naming of the images and edit! </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necessary prerequisites.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  Click on the following link or scan the QR code to test your prior Quarto knowledge: </a:t>
            </a:r>
            <a:r>
              <a:rPr>
                <a:hlinkClick r:id="rId3"/>
              </a:rPr>
              <a:t>Quarto Survey</a:t>
            </a:r>
          </a:p>
        </p:txBody>
      </p:sp>
      <p:pic>
        <p:nvPicPr>
          <p:cNvPr descr="images/particify1.png" id="0" name="Picture 1"/>
          <p:cNvPicPr>
            <a:picLocks noGrp="1" noChangeAspect="1"/>
          </p:cNvPicPr>
          <p:nvPr/>
        </p:nvPicPr>
        <p:blipFill>
          <a:blip r:embed="rId4"/>
          <a:stretch>
            <a:fillRect/>
          </a:stretch>
        </p:blipFill>
        <p:spPr bwMode="auto">
          <a:xfrm>
            <a:off x="3937000" y="203200"/>
            <a:ext cx="4381500" cy="4381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b="1"/>
              <a:t>What can we take from this?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Open Research</a:t>
            </a:r>
            <a:r>
              <a:rPr/>
              <a:t> is about sharing data, methods, and results to promote collaboration in science. </a:t>
            </a:r>
          </a:p>
          <a:p>
            <a:pPr lvl="0" indent="0" marL="0">
              <a:buNone/>
            </a:pPr>
            <a:r>
              <a:rPr i="1"/>
              <a:t>So, why Quarto?</a:t>
            </a:r>
          </a:p>
          <a:p>
            <a:pPr lvl="0"/>
            <a:r>
              <a:rPr/>
              <a:t>Allows for work with text, code, and media all in one place</a:t>
            </a:r>
          </a:p>
          <a:p>
            <a:pPr lvl="0"/>
            <a:r>
              <a:rPr/>
              <a:t>Makes workflows transparent and reproducible</a:t>
            </a:r>
          </a:p>
          <a:p>
            <a:pPr lvl="0"/>
            <a:r>
              <a:rPr/>
              <a:t>Integrates citation tools to manage references more efficiently</a:t>
            </a:r>
          </a:p>
          <a:p>
            <a:pPr lvl="0"/>
            <a:r>
              <a:rPr/>
              <a:t>Promotes accessibility through options for openly sharing work to others</a:t>
            </a:r>
          </a:p>
          <a:p>
            <a:pPr lvl="0" indent="0" marL="0">
              <a:buNone/>
            </a:pPr>
            <a:r>
              <a:rPr/>
              <a:t>Quarto is a tool that can help us connect ideas, data, and people through open and reproducible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indent="-342900" marL="342900">
              <a:buAutoNum type="arabicPeriod"/>
            </a:pPr>
            <a:r>
              <a:rPr b="1"/>
              <a:t>Key Terms and Definitions</a:t>
            </a:r>
            <a:r>
              <a:rPr/>
              <a:t>: Understanding core concepts in Quarto</a:t>
            </a:r>
          </a:p>
          <a:p>
            <a:pPr lvl="0" indent="-342900" marL="342900">
              <a:buAutoNum type="arabicPeriod"/>
            </a:pPr>
            <a:r>
              <a:rPr b="1"/>
              <a:t>Setting up Quarto</a:t>
            </a:r>
            <a:r>
              <a:rPr/>
              <a:t>: Opening a Quarto document in RStudio</a:t>
            </a:r>
          </a:p>
          <a:p>
            <a:pPr lvl="0" indent="-342900" marL="342900">
              <a:buAutoNum type="arabicPeriod"/>
            </a:pPr>
            <a:r>
              <a:rPr b="1"/>
              <a:t>Authoring</a:t>
            </a:r>
            <a:r>
              <a:rPr/>
              <a:t>: Writing text and structuring content</a:t>
            </a:r>
          </a:p>
          <a:p>
            <a:pPr lvl="0" indent="-342900" marL="342900">
              <a:buAutoNum type="arabicPeriod"/>
            </a:pPr>
            <a:r>
              <a:rPr b="1"/>
              <a:t>Code Chunks</a:t>
            </a:r>
            <a:r>
              <a:rPr/>
              <a:t>: Running and displaying code</a:t>
            </a:r>
          </a:p>
          <a:p>
            <a:pPr lvl="0" indent="-342900" marL="342900">
              <a:buAutoNum type="arabicPeriod"/>
            </a:pPr>
            <a:r>
              <a:rPr b="1"/>
              <a:t>Additional Authoring Features</a:t>
            </a:r>
            <a:r>
              <a:rPr/>
              <a:t>: Using images, links, and columns</a:t>
            </a:r>
          </a:p>
          <a:p>
            <a:pPr lvl="0" indent="-342900" marL="342900">
              <a:buAutoNum type="arabicPeriod"/>
            </a:pPr>
            <a:r>
              <a:rPr b="1"/>
              <a:t>Citations</a:t>
            </a:r>
            <a:r>
              <a:rPr/>
              <a:t>: Adding citations and bibliography with Zotero</a:t>
            </a:r>
          </a:p>
          <a:p>
            <a:pPr lvl="0" indent="-342900" marL="342900">
              <a:buAutoNum type="arabicPeriod"/>
            </a:pPr>
            <a:r>
              <a:rPr b="1"/>
              <a:t>Publishing</a:t>
            </a:r>
            <a:r>
              <a:rPr/>
              <a:t>: Sharing your Quarto document to GitHub</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Session 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a:t>
            </a:r>
            <a:r>
              <a:rPr/>
              <a:t> key Quarto features like code chunks, YAML headers, citations, and output formatting</a:t>
            </a:r>
          </a:p>
          <a:p>
            <a:pPr lvl="0"/>
            <a:r>
              <a:rPr b="1"/>
              <a:t>Insert</a:t>
            </a:r>
            <a:r>
              <a:rPr/>
              <a:t> citations and </a:t>
            </a:r>
            <a:r>
              <a:rPr b="1"/>
              <a:t>generate</a:t>
            </a:r>
            <a:r>
              <a:rPr/>
              <a:t> a bibliography with Zotero</a:t>
            </a:r>
          </a:p>
          <a:p>
            <a:pPr lvl="0"/>
            <a:r>
              <a:rPr b="1"/>
              <a:t>Publish</a:t>
            </a:r>
            <a:r>
              <a:rPr/>
              <a:t> and </a:t>
            </a:r>
            <a:r>
              <a:rPr b="1"/>
              <a:t>share</a:t>
            </a:r>
            <a:r>
              <a:rPr/>
              <a:t> your work using GitHub Pages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a:t>A Quarto document is saved as a </a:t>
            </a:r>
            <a:r>
              <a:rPr b="1"/>
              <a:t>.qmd file</a:t>
            </a:r>
          </a:p>
          <a:p>
            <a:pPr lvl="0"/>
            <a:r>
              <a:rPr/>
              <a:t>Components of a </a:t>
            </a:r>
            <a:r>
              <a:rPr b="1"/>
              <a:t>.qmd file</a:t>
            </a:r>
            <a:r>
              <a:rPr/>
              <a:t>:</a:t>
            </a:r>
          </a:p>
          <a:p>
            <a:pPr lvl="1"/>
            <a:r>
              <a:rPr b="1"/>
              <a:t>YAML header</a:t>
            </a:r>
            <a:r>
              <a:rPr/>
              <a:t> is the section at the top of the Quarto document that controls settings like the title, output format, and author</a:t>
            </a:r>
          </a:p>
          <a:p>
            <a:pPr lvl="1"/>
            <a:r>
              <a:rPr b="1"/>
              <a:t>Code chunks</a:t>
            </a:r>
            <a:r>
              <a:rPr/>
              <a:t> are the sections of the document that contain code (from R or Python, for example) that are used for showing results such as tables, plots, or calculations</a:t>
            </a:r>
          </a:p>
          <a:p>
            <a:pPr lvl="1"/>
            <a:r>
              <a:rPr b="1"/>
              <a:t>Quarto markdown text</a:t>
            </a:r>
            <a:r>
              <a:rPr/>
              <a:t> combines text, codes, and formatting to create the actual content of the document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rendering.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a:t>
            </a:r>
            <a:r>
              <a:rPr/>
              <a:t> at the top of your workspace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a:r>
              <a:rPr/>
              <a:t>This is part of the </a:t>
            </a:r>
            <a:r>
              <a:rPr b="1"/>
              <a:t>authoring process</a:t>
            </a:r>
            <a:r>
              <a:rPr/>
              <a:t>, and it allows you to format the text, add code, and build your document.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open a Quarto Document in RStudio:</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1.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b="1"/>
              <a:t>File</a:t>
            </a:r>
            <a:br/>
          </a:p>
          <a:p>
            <a:pPr lvl="0"/>
            <a:r>
              <a:rPr/>
              <a:t>→ Select </a:t>
            </a:r>
            <a:r>
              <a:rPr b="1"/>
              <a:t>New File</a:t>
            </a:r>
            <a:br/>
          </a:p>
          <a:p>
            <a:pPr lvl="0"/>
            <a:r>
              <a:rPr/>
              <a:t>→ Select </a:t>
            </a:r>
            <a:r>
              <a:rPr b="1"/>
              <a:t>Quarto Document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 document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2.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 like the title and output format</a:t>
            </a:r>
          </a:p>
          <a:p>
            <a:pPr lvl="1"/>
            <a:r>
              <a:rPr/>
              <a:t>The default format is html</a:t>
            </a:r>
          </a:p>
          <a:p>
            <a:pPr lvl="0"/>
            <a:r>
              <a:rPr/>
              <a:t>→ Hit </a:t>
            </a:r>
            <a:r>
              <a:rPr b="1"/>
              <a:t>Create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Repeat the steps to create a new Quarto Document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 The process of writing and structuring the Quarto document.</a:t>
            </a:r>
          </a:p>
          <a:p>
            <a:pPr lvl="0"/>
            <a:r>
              <a:rPr/>
              <a:t>Consider it as a formula: </a:t>
            </a:r>
            <a:r>
              <a:rPr b="1"/>
              <a:t>Authoring = YAML Header + Markdown</a:t>
            </a:r>
          </a:p>
          <a:p>
            <a:pPr lvl="0"/>
            <a:r>
              <a:rPr/>
              <a:t>To practice authoring in Quarto, let’s start with setting the YAML header and adding markdown text in </a:t>
            </a:r>
            <a:r>
              <a:rPr b="1"/>
              <a:t>Source mode</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You can replace “html” to render the document to a different format.</a:t>
            </a:r>
          </a:p>
          <a:p>
            <a:pPr lvl="0" indent="0" marL="1270000">
              <a:buNone/>
            </a:pPr>
            <a:r>
              <a:rPr sz="2000"/>
              <a:t>Here is a link to a list of the different output formats.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solidFill>
                  <a:srgbClr val="003B4F"/>
                </a:solidFill>
                <a:latin typeface="Courier"/>
              </a:rPr>
              <a:t>Have you ever wondered what affects a chick's weight? </a:t>
            </a:r>
            <a:br/>
            <a:r>
              <a:rPr>
                <a:solidFill>
                  <a:srgbClr val="003B4F"/>
                </a:solidFill>
                <a:latin typeface="Courier"/>
              </a:rPr>
              <a:t>This document explores the ChickWeight dataset using R.  </a:t>
            </a:r>
            <a:br/>
            <a:r>
              <a:rPr>
                <a:solidFill>
                  <a:srgbClr val="003B4F"/>
                </a:solidFill>
                <a:latin typeface="Courier"/>
              </a:rPr>
              <a:t>The goal is to compare chick weight across different diets and time points.  </a:t>
            </a:r>
            <a:br/>
            <a:r>
              <a:rPr>
                <a:solidFill>
                  <a:srgbClr val="003B4F"/>
                </a:solidFill>
                <a:latin typeface="Courier"/>
              </a:rPr>
              <a:t>Key steps include:</a:t>
            </a:r>
            <a:br/>
            <a:br/>
            <a:r>
              <a:rPr>
                <a:solidFill>
                  <a:srgbClr val="20794D"/>
                </a:solidFill>
                <a:latin typeface="Courier"/>
              </a:rPr>
              <a:t>- </a:t>
            </a:r>
            <a:r>
              <a:rPr>
                <a:solidFill>
                  <a:srgbClr val="003B4F"/>
                </a:solidFill>
                <a:latin typeface="Courier"/>
              </a:rPr>
              <a:t>Loading the dataset  </a:t>
            </a:r>
            <a:br/>
            <a:r>
              <a:rPr>
                <a:solidFill>
                  <a:srgbClr val="20794D"/>
                </a:solidFill>
                <a:latin typeface="Courier"/>
              </a:rPr>
              <a:t>- </a:t>
            </a:r>
            <a:r>
              <a:rPr>
                <a:solidFill>
                  <a:srgbClr val="003B4F"/>
                </a:solidFill>
                <a:latin typeface="Courier"/>
              </a:rPr>
              <a:t>Visualizing growth trends  </a:t>
            </a:r>
            <a:br/>
            <a:r>
              <a:rPr>
                <a:solidFill>
                  <a:srgbClr val="20794D"/>
                </a:solidFill>
                <a:latin typeface="Courier"/>
              </a:rPr>
              <a:t>- </a:t>
            </a:r>
            <a:r>
              <a:rPr>
                <a:solidFill>
                  <a:srgbClr val="003B4F"/>
                </a:solidFill>
                <a:latin typeface="Courier"/>
              </a:rPr>
              <a:t>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Callout boxes</a:t>
            </a:r>
          </a:p>
          <a:p>
            <a:pPr lvl="0" indent="0" marL="0">
              <a:buNone/>
            </a:pPr>
            <a:r>
              <a:rPr/>
              <a:t>Highlighting particularly important aspects with </a:t>
            </a:r>
            <a:r>
              <a:rPr b="1"/>
              <a:t>Quarto callout boxes</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an additional note using </a:t>
            </a:r>
            <a:r>
              <a:rPr sz="2000">
                <a:latin typeface="Courier"/>
              </a:rPr>
              <a:t>callout-note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callout boxes</a:t>
            </a:r>
          </a:p>
          <a:p>
            <a:pPr lvl="0" indent="0" marL="0">
              <a:buNone/>
            </a:pPr>
            <a:r>
              <a:rPr/>
              <a:t>Here is the markdown text for inserting a </a:t>
            </a:r>
            <a:r>
              <a:rPr b="1"/>
              <a:t>callout note</a:t>
            </a:r>
            <a:r>
              <a:rPr/>
              <a:t> box:</a:t>
            </a:r>
          </a:p>
          <a:p>
            <a:pPr lvl="0" indent="0">
              <a:buNone/>
            </a:pPr>
            <a:r>
              <a:rPr>
                <a:solidFill>
                  <a:srgbClr val="003B4F"/>
                </a:solidFill>
                <a:latin typeface="Courier"/>
              </a:rPr>
              <a:t>::: callout-note</a:t>
            </a:r>
            <a:br/>
            <a:r>
              <a:rPr>
                <a:solidFill>
                  <a:srgbClr val="4758AB"/>
                </a:solidFill>
                <a:latin typeface="Courier"/>
              </a:rPr>
              <a:t>## Based on Real Data</a:t>
            </a:r>
            <a:br/>
            <a:br/>
            <a:r>
              <a:rPr>
                <a:solidFill>
                  <a:srgbClr val="003B4F"/>
                </a:solidFill>
                <a:latin typeface="Courier"/>
              </a:rPr>
              <a:t>The ChickWeight dataset in R is based on real experimental data.</a:t>
            </a:r>
            <a:br/>
            <a:r>
              <a:rPr>
                <a:solidFill>
                  <a:srgbClr val="003B4F"/>
                </a:solidFill>
                <a:latin typeface="Courie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callout note box.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There are two ways to insert </a:t>
            </a:r>
            <a:r>
              <a:rPr b="1"/>
              <a:t>code chunks</a:t>
            </a:r>
            <a:r>
              <a:rPr/>
              <a:t>:</a:t>
            </a:r>
          </a:p>
          <a:p>
            <a:pPr lvl="0"/>
            <a:r>
              <a:rPr/>
              <a:t>Manually type 3 back ticks ``` then {r} to start a coding chunk, enter your code, then end it with 3 back ticks</a:t>
            </a:r>
          </a:p>
          <a:p>
            <a:pPr lvl="0" indent="0" marL="0">
              <a:buNone/>
            </a:pPr>
            <a:r>
              <a:rPr/>
              <a:t>OR</a:t>
            </a:r>
          </a:p>
          <a:p>
            <a:pPr lvl="0"/>
            <a:r>
              <a:rPr/>
              <a:t>Use the keyboard shortcut Ctrl + Alt + I (Windows/Linux) or Cmd + Option + I (Mac) to insert a code chunk then simply enter your code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solidFill>
                  <a:srgbClr val="003B4F"/>
                </a:solidFill>
                <a:latin typeface="Courier"/>
              </a:rPr>
              <a:t>summary(ChickWeight)</a:t>
            </a:r>
          </a:p>
          <a:p>
            <a:pPr lvl="0" indent="0" marL="0">
              <a:buNone/>
            </a:pPr>
          </a:p>
          <a:p>
            <a:pPr lvl="0" indent="0">
              <a:buNone/>
            </a:pPr>
            <a:r>
              <a:rPr>
                <a:solidFill>
                  <a:srgbClr val="003B4F"/>
                </a:solidFill>
                <a:latin typeface="Courier"/>
              </a:rPr>
              <a:t>library(ggplot2)</a:t>
            </a:r>
            <a:br/>
            <a:r>
              <a:rPr>
                <a:solidFill>
                  <a:srgbClr val="003B4F"/>
                </a:solidFill>
                <a:latin typeface="Courier"/>
              </a:rPr>
              <a:t>ggplot(ChickWeight, aes(x = Time, y = weight, color = Diet)) +</a:t>
            </a:r>
            <a:br/>
            <a:r>
              <a:rPr>
                <a:solidFill>
                  <a:srgbClr val="003B4F"/>
                </a:solidFill>
                <a:latin typeface="Courier"/>
              </a:rPr>
              <a:t>  geom_line(aes(group = Chick)) +</a:t>
            </a:r>
            <a:br/>
            <a:r>
              <a:rPr>
                <a:solidFill>
                  <a:srgbClr val="003B4F"/>
                </a:solidFill>
                <a:latin typeface="Courier"/>
              </a:rPr>
              <a:t>  labs(title = "Chick Growth Over Time")</a:t>
            </a:r>
          </a:p>
          <a:p>
            <a:pPr lvl="0" indent="0" marL="0">
              <a:buNone/>
            </a:pPr>
          </a:p>
          <a:p>
            <a:pPr lvl="0" indent="0" marL="0">
              <a:buNone/>
            </a:pPr>
            <a:r>
              <a:rPr/>
              <a:t>These are examples of </a:t>
            </a:r>
            <a:r>
              <a:rPr b="1"/>
              <a:t>R code</a:t>
            </a:r>
            <a:r>
              <a:rPr/>
              <a:t>. Let’s use it to insert code chunks in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editing the YAML header:</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code display settings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YAML header:</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name of Quarto Markdown document</a:t>
            </a:r>
            <a:r>
              <a:rPr/>
              <a:t>?</a:t>
            </a:r>
          </a:p>
          <a:p>
            <a:pPr lvl="0" indent="-342900" marL="342900">
              <a:buAutoNum type="alphaLcPeriod"/>
            </a:pPr>
            <a:r>
              <a:rPr/>
              <a:t>.png file</a:t>
            </a:r>
          </a:p>
          <a:p>
            <a:pPr lvl="0" indent="-342900" marL="342900">
              <a:buAutoNum type="alphaLcPeriod"/>
            </a:pPr>
            <a:r>
              <a:rPr/>
              <a:t>.qmd file ✅</a:t>
            </a:r>
          </a:p>
          <a:p>
            <a:pPr lvl="0" indent="-342900" marL="342900">
              <a:buAutoNum type="alphaLcPeriod"/>
            </a:pPr>
            <a:r>
              <a:rPr/>
              <a:t>.doc file</a:t>
            </a:r>
          </a:p>
          <a:p>
            <a:pPr lvl="0" indent="-342900" marL="342900">
              <a:buAutoNum type="alphaLcPeriod"/>
            </a:pPr>
            <a:r>
              <a:rPr/>
              <a:t>.mp3 file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YAML header?</a:t>
            </a:r>
          </a:p>
          <a:p>
            <a:pPr lvl="0" indent="-342900" marL="342900">
              <a:buAutoNum type="alphaLcPeriod"/>
            </a:pPr>
            <a:r>
              <a:rPr/>
              <a:t>summarizes the document into a single line</a:t>
            </a:r>
          </a:p>
          <a:p>
            <a:pPr lvl="0" indent="-342900" marL="342900">
              <a:buAutoNum type="alphaLcPeriod"/>
            </a:pPr>
            <a:r>
              <a:rPr/>
              <a:t>this is where you store notes and reminders</a:t>
            </a:r>
          </a:p>
          <a:p>
            <a:pPr lvl="0" indent="-342900" marL="342900">
              <a:buAutoNum type="alphaLcPeriod"/>
            </a:pPr>
            <a:r>
              <a:rPr/>
              <a:t>it’s like the “settings” of the document ✅</a:t>
            </a:r>
          </a:p>
          <a:p>
            <a:pPr lvl="0" indent="-342900" marL="342900">
              <a:buAutoNum type="alphaLcPeriod"/>
            </a:pPr>
            <a:r>
              <a:rPr/>
              <a:t>just the title of the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is used to format content (like paragraphs and bullet points)?</a:t>
            </a:r>
          </a:p>
          <a:p>
            <a:pPr lvl="0" indent="-342900" marL="342900">
              <a:buAutoNum type="alphaLcPeriod"/>
            </a:pPr>
            <a:r>
              <a:rPr/>
              <a:t>Code chunks</a:t>
            </a:r>
          </a:p>
          <a:p>
            <a:pPr lvl="0" indent="-342900" marL="342900">
              <a:buAutoNum type="alphaLcPeriod"/>
            </a:pPr>
            <a:r>
              <a:rPr/>
              <a:t>YAML header</a:t>
            </a:r>
          </a:p>
          <a:p>
            <a:pPr lvl="0" indent="-342900" marL="342900">
              <a:buAutoNum type="alphaLcPeriod"/>
            </a:pPr>
            <a:r>
              <a:rPr/>
              <a:t>Markdown text ✅</a:t>
            </a:r>
          </a:p>
          <a:p>
            <a:pPr lvl="0" indent="-342900" marL="342900">
              <a:buAutoNum type="alphaLcPeriod"/>
            </a:pPr>
            <a:r>
              <a:rPr/>
              <a:t>All of the above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are the two components of the Authoring process?</a:t>
            </a:r>
          </a:p>
          <a:p>
            <a:pPr lvl="0" indent="0" marL="0">
              <a:buNone/>
            </a:pPr>
            <a:r>
              <a:rPr/>
              <a:t>From SvG: Are there answers to this question and the one on the next slide? </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to create a code chunk in a Quarto Document?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5 minutes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p>
          <a:p>
            <a:pPr lvl="0"/>
            <a:r>
              <a:rPr/>
              <a:t>Creating </a:t>
            </a:r>
            <a:r>
              <a:rPr b="1"/>
              <a:t>multi-column layouts</a:t>
            </a:r>
            <a:r>
              <a:rPr/>
              <a:t> and more.</a:t>
            </a:r>
          </a:p>
          <a:p>
            <a:pPr lvl="0" indent="0" marL="1270000">
              <a:buNone/>
            </a:pPr>
            <a:r>
              <a:rPr sz="2000" b="1"/>
              <a:t>Commonly used authoring features</a:t>
            </a:r>
          </a:p>
          <a:p>
            <a:pPr lvl="0" indent="0" marL="1270000">
              <a:buNone/>
            </a:pPr>
            <a:r>
              <a:rPr sz="2000"/>
              <a:t>Here is a link for commonly used markdown syntax for additional authoring features.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chickpic1.png" id="0" name="Picture 1"/>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with a caption below it: </a:t>
            </a:r>
            <a:r>
              <a:rPr>
                <a:latin typeface="Courier"/>
              </a:rPr>
              <a:t>![caption](path/image.png)</a:t>
            </a:r>
          </a:p>
        </p:txBody>
      </p:sp>
      <p:pic>
        <p:nvPicPr>
          <p:cNvPr descr="images/chickpic1.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that redirects you to a link: </a:t>
            </a:r>
            <a:r>
              <a:rPr>
                <a:latin typeface="Courier"/>
              </a:rPr>
              <a:t>[![caption](path/image.png)](link)</a:t>
            </a:r>
          </a:p>
        </p:txBody>
      </p:sp>
      <p:pic>
        <p:nvPicPr>
          <p:cNvPr descr="images/chickpic1.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the main folder of the Quarto document files</a:t>
            </a:r>
          </a:p>
          <a:p>
            <a:pPr lvl="0" indent="0">
              <a:buNone/>
            </a:pPr>
            <a:r>
              <a:rPr>
                <a:solidFill>
                  <a:srgbClr val="AD0000"/>
                </a:solidFill>
                <a:latin typeface="Courier"/>
              </a:rPr>
              <a:t>![No chicks were harmed in the making of this document.](images/chickpic1.png)</a:t>
            </a:r>
          </a:p>
          <a:p>
            <a:pPr lvl="0"/>
            <a:r>
              <a:rPr/>
              <a:t>☐ Copy and paste the markdown text above to insert an image with a caption (edit path if needed)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 on the slide</a:t>
            </a:r>
          </a:p>
          <a:p>
            <a:pPr lvl="0" indent="0" marL="0">
              <a:buNone/>
            </a:pPr>
            <a:r>
              <a:rPr/>
              <a:t>You can change the layout of a section using </a:t>
            </a:r>
            <a:r>
              <a:rPr b="1"/>
              <a:t>columns</a:t>
            </a:r>
            <a:r>
              <a:rPr/>
              <a:t>:</a:t>
            </a:r>
          </a:p>
          <a:p>
            <a:pPr lvl="0"/>
            <a:r>
              <a:rPr/>
              <a:t>Start the column layout by writing “</a:t>
            </a:r>
            <a:r>
              <a:rPr>
                <a:latin typeface="Courier"/>
              </a:rPr>
              <a:t>:::::: columns</a:t>
            </a:r>
            <a:r>
              <a:rPr/>
              <a:t>”</a:t>
            </a:r>
          </a:p>
          <a:p>
            <a:pPr lvl="0"/>
            <a:r>
              <a:rPr/>
              <a:t>→ Begin the first column with “</a:t>
            </a:r>
            <a:r>
              <a:rPr>
                <a:latin typeface="Courier"/>
              </a:rPr>
              <a:t>::: column</a:t>
            </a:r>
            <a:r>
              <a:rPr/>
              <a:t>”</a:t>
            </a:r>
          </a:p>
          <a:p>
            <a:pPr lvl="0"/>
            <a:r>
              <a:rPr/>
              <a:t>→ Add content and end it with “</a:t>
            </a:r>
            <a:r>
              <a:rPr>
                <a:latin typeface="Courier"/>
              </a:rPr>
              <a:t>:::</a:t>
            </a:r>
            <a:r>
              <a:rPr/>
              <a:t>”</a:t>
            </a:r>
          </a:p>
          <a:p>
            <a:pPr lvl="0"/>
            <a:r>
              <a:rPr/>
              <a:t>→ Begin second coloumn with “</a:t>
            </a:r>
            <a:r>
              <a:rPr>
                <a:latin typeface="Courier"/>
              </a:rPr>
              <a:t>::: column</a:t>
            </a:r>
            <a:r>
              <a:rPr/>
              <a:t>”</a:t>
            </a:r>
          </a:p>
          <a:p>
            <a:pPr lvl="0"/>
            <a:r>
              <a:rPr/>
              <a:t>→ Add content and end it with “</a:t>
            </a:r>
            <a:r>
              <a:rPr>
                <a:latin typeface="Courier"/>
              </a:rPr>
              <a:t>:::</a:t>
            </a:r>
            <a:r>
              <a:rPr/>
              <a:t>”</a:t>
            </a:r>
          </a:p>
          <a:p>
            <a:pPr lvl="0"/>
            <a:r>
              <a:rPr/>
              <a:t>→ End section with a final “</a:t>
            </a:r>
            <a:r>
              <a:rPr>
                <a:latin typeface="Courier"/>
              </a:rPr>
              <a:t>::::::</a:t>
            </a:r>
            <a:r>
              <a:rPr/>
              <a:t>”</a:t>
            </a:r>
          </a:p>
          <a:p>
            <a:pPr lvl="0" indent="0" marL="1270000">
              <a:buNone/>
            </a:pPr>
            <a:r>
              <a:rPr sz="2000" b="1"/>
              <a:t>List of page layout options</a:t>
            </a:r>
          </a:p>
          <a:p>
            <a:pPr lvl="0" indent="0" marL="1270000">
              <a:buNone/>
            </a:pPr>
            <a:r>
              <a:rPr sz="2000"/>
              <a:t>Here is a link for page layout options to author how content looks on your document.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b="1"/>
              <a:t>Side-by-side image and bullet points with columns</a:t>
            </a:r>
          </a:p>
          <a:p>
            <a:pPr lvl="0" indent="0" marL="0">
              <a:buNone/>
            </a:pPr>
            <a:r>
              <a:rPr/>
              <a:t>Let’s use columns to add bullet points next to an image.</a:t>
            </a:r>
          </a:p>
          <a:p>
            <a:pPr lvl="0"/>
            <a:r>
              <a:rPr/>
              <a:t>☐ Click this link to download another image</a:t>
            </a:r>
          </a:p>
          <a:p>
            <a:pPr lvl="0"/>
            <a:r>
              <a:rPr/>
              <a:t>☐ Save the image to the main folder of the Quarto document files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a:buNone/>
            </a:pPr>
            <a:r>
              <a:rPr>
                <a:solidFill>
                  <a:srgbClr val="003B4F"/>
                </a:solidFill>
                <a:latin typeface="Courier"/>
              </a:rPr>
              <a:t>:::::: columns</a:t>
            </a:r>
            <a:br/>
            <a:r>
              <a:rPr>
                <a:solidFill>
                  <a:srgbClr val="003B4F"/>
                </a:solidFill>
                <a:latin typeface="Courier"/>
              </a:rPr>
              <a:t>::: column</a:t>
            </a:r>
            <a:br/>
            <a:br/>
            <a:r>
              <a:rPr>
                <a:solidFill>
                  <a:srgbClr val="AD0000"/>
                </a:solidFill>
                <a:latin typeface="Courier"/>
              </a:rPr>
              <a:t>![](images/chickpic2.png)</a:t>
            </a:r>
            <a:br/>
            <a:br/>
            <a:r>
              <a:rPr>
                <a:solidFill>
                  <a:srgbClr val="003B4F"/>
                </a:solidFill>
                <a:latin typeface="Courier"/>
              </a:rPr>
              <a:t>:::</a:t>
            </a:r>
            <a:br/>
            <a:r>
              <a:rPr>
                <a:solidFill>
                  <a:srgbClr val="003B4F"/>
                </a:solidFill>
                <a:latin typeface="Courier"/>
              </a:rPr>
              <a:t>::: column</a:t>
            </a:r>
            <a:br/>
            <a:br/>
            <a:r>
              <a:rPr>
                <a:solidFill>
                  <a:srgbClr val="20794D"/>
                </a:solidFill>
                <a:latin typeface="Courier"/>
              </a:rPr>
              <a:t>-   </a:t>
            </a:r>
            <a:r>
              <a:rPr>
                <a:solidFill>
                  <a:srgbClr val="003B4F"/>
                </a:solidFill>
                <a:latin typeface="Courier"/>
              </a:rPr>
              <a:t>Monitor growth trends over time</a:t>
            </a:r>
            <a:br/>
            <a:r>
              <a:rPr>
                <a:solidFill>
                  <a:srgbClr val="20794D"/>
                </a:solidFill>
                <a:latin typeface="Courier"/>
              </a:rPr>
              <a:t>-   </a:t>
            </a:r>
            <a:r>
              <a:rPr>
                <a:solidFill>
                  <a:srgbClr val="003B4F"/>
                </a:solidFill>
                <a:latin typeface="Courier"/>
              </a:rPr>
              <a:t>Compare diets and weight gain</a:t>
            </a:r>
            <a:br/>
            <a:br/>
            <a:r>
              <a:rPr>
                <a:solidFill>
                  <a:srgbClr val="003B4F"/>
                </a:solidFill>
                <a:latin typeface="Courier"/>
              </a:rPr>
              <a:t>:::</a:t>
            </a:r>
            <a:br/>
            <a:r>
              <a:rPr>
                <a:solidFill>
                  <a:srgbClr val="003B4F"/>
                </a:solidFill>
                <a:latin typeface="Courier"/>
              </a:rPr>
              <a:t>::::::</a:t>
            </a:r>
          </a:p>
          <a:p>
            <a:pPr lvl="0"/>
            <a:r>
              <a:rPr/>
              <a:t>☐ Copy and paste the markdown text to add an image with bullet points using columns (edit path if needed)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This is a free reference management tool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p:txBody>
      </p:sp>
      <p:pic>
        <p:nvPicPr>
          <p:cNvPr descr="images/zotero1.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To insert a citation:</a:t>
            </a:r>
          </a:p>
          <a:p>
            <a:pPr lvl="0"/>
            <a:r>
              <a:rPr/>
              <a:t>Open Zotero on your device</a:t>
            </a:r>
          </a:p>
          <a:p>
            <a:pPr lvl="0"/>
            <a:r>
              <a:rPr/>
              <a:t>→ Switch to the “Visual Editor” mode</a:t>
            </a:r>
          </a:p>
          <a:p>
            <a:pPr lvl="0"/>
            <a:r>
              <a:rPr/>
              <a:t>→ Add </a:t>
            </a:r>
            <a:r>
              <a:rPr>
                <a:latin typeface="Courier"/>
              </a:rPr>
              <a:t>bibliography: references.bib</a:t>
            </a:r>
            <a:r>
              <a:rPr/>
              <a:t> in the YAML header</a:t>
            </a:r>
          </a:p>
          <a:p>
            <a:pPr lvl="0"/>
            <a:r>
              <a:rPr/>
              <a:t>→ Press the “Insert” button in the toolbar and select “Citation”</a:t>
            </a:r>
          </a:p>
          <a:p>
            <a:pPr lvl="0" indent="0" marL="0">
              <a:buNone/>
            </a:pPr>
            <a:r>
              <a:rPr/>
              <a:t>A reference list or bibliography is automatically generated at the end of the document with all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 Select citations straight from the folders in your </a:t>
            </a:r>
            <a:r>
              <a:rPr b="1"/>
              <a:t>Zotero library</a:t>
            </a:r>
          </a:p>
          <a:p>
            <a:pPr lvl="0"/>
            <a:r>
              <a:rPr/>
              <a:t>Each citation is assigned a short citation key based on the author and year (for example, “pauwels2015”).</a:t>
            </a:r>
          </a:p>
          <a:p>
            <a:pPr lvl="0"/>
            <a:r>
              <a:rPr/>
              <a:t>You can quickly cite it in your document by typing @ followed by the citation key.</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Let’s practice adding a citation using </a:t>
            </a:r>
            <a:r>
              <a:rPr b="1"/>
              <a:t>Zotero</a:t>
            </a:r>
            <a:r>
              <a:rPr/>
              <a:t>.</a:t>
            </a:r>
          </a:p>
          <a:p>
            <a:pPr lvl="0"/>
            <a:r>
              <a:rPr/>
              <a:t>☐ Open Zotero on your device</a:t>
            </a:r>
          </a:p>
          <a:p>
            <a:pPr lvl="0"/>
            <a:r>
              <a:rPr/>
              <a:t>☐ Add </a:t>
            </a:r>
            <a:r>
              <a:rPr>
                <a:latin typeface="Courier"/>
              </a:rPr>
              <a:t>bibliography: references.bib</a:t>
            </a:r>
            <a:r>
              <a:rPr/>
              <a:t> to your YAML header</a:t>
            </a:r>
          </a:p>
          <a:p>
            <a:pPr lvl="0"/>
            <a:r>
              <a:rPr/>
              <a:t>☐ </a:t>
            </a:r>
            <a:r>
              <a:rPr>
                <a:hlinkClick r:id="rId3"/>
              </a:rPr>
              <a:t>Follow this link to an article on diets and broiler chicks</a:t>
            </a:r>
          </a:p>
          <a:p>
            <a:pPr lvl="0"/>
            <a:r>
              <a:rPr/>
              <a:t>☐ Add the citation to your Zotero Library</a:t>
            </a:r>
          </a:p>
          <a:p>
            <a:pPr lvl="0" indent="0">
              <a:buNone/>
            </a:pPr>
            <a:r>
              <a:rPr>
                <a:solidFill>
                  <a:srgbClr val="003B4F"/>
                </a:solidFill>
                <a:latin typeface="Courier"/>
              </a:rPr>
              <a:t>Diet affects chick body weight. In this study, low-energy feed made fast-growing chicks lighter, while slower-growing chicks compensated by eating more </a:t>
            </a:r>
          </a:p>
          <a:p>
            <a:pPr lvl="0"/>
            <a:r>
              <a:rPr/>
              <a:t>☐ Copy and paste the text above and place the cursor at the end of the sentence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In </a:t>
            </a:r>
            <a:r>
              <a:rPr b="1"/>
              <a:t>Visual Mode</a:t>
            </a:r>
            <a:r>
              <a:rPr/>
              <a:t>, click “Insert” and find the article in the Zotero Library</a:t>
            </a:r>
          </a:p>
          <a:p>
            <a:pPr lvl="0"/>
            <a:r>
              <a:rPr/>
              <a:t>☐ Click “Insert” to add the citation</a:t>
            </a:r>
          </a:p>
        </p:txBody>
      </p:sp>
      <p:pic>
        <p:nvPicPr>
          <p:cNvPr descr="images/zotero3.png" id="0" name="Picture 1"/>
          <p:cNvPicPr>
            <a:picLocks noGrp="1" noChangeAspect="1"/>
          </p:cNvPicPr>
          <p:nvPr/>
        </p:nvPicPr>
        <p:blipFill>
          <a:blip r:embed="rId3"/>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When you find the article in the Zotero Library folder here, select it, then click Insert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indent="0" marL="0">
              <a:buNone/>
            </a:pPr>
            <a:r>
              <a:rPr/>
              <a:t>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solidFill>
                  <a:srgbClr val="003B4F"/>
                </a:solidFill>
                <a:latin typeface="Courier"/>
              </a:rPr>
              <a:t> found that broiler chicks fed a higher nutrient-density diet gained more weight and did so more efficiently.</a:t>
            </a:r>
          </a:p>
          <a:p>
            <a:pPr lvl="0"/>
            <a:r>
              <a:rPr/>
              <a:t>☐ Copy the text above and place the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10</a:t>
            </a:r>
          </a:p>
          <a:p>
            <a:pPr lvl="0"/>
            <a:r>
              <a:rPr/>
              <a:t>☐ Click “Insert” and find the article in the Zotero Library</a:t>
            </a:r>
          </a:p>
          <a:p>
            <a:pPr lvl="0"/>
            <a:r>
              <a:rPr/>
              <a:t>☐ Check the box next to “In-text”</a:t>
            </a:r>
          </a:p>
        </p:txBody>
      </p:sp>
      <p:pic>
        <p:nvPicPr>
          <p:cNvPr descr="images/zotero4.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“Insert” to add the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Now you should have</a:t>
            </a:r>
          </a:p>
          <a:p>
            <a:pPr lvl="0"/>
            <a:r>
              <a:rPr/>
              <a:t>A citation</a:t>
            </a:r>
          </a:p>
          <a:p>
            <a:pPr lvl="0"/>
            <a:r>
              <a:rPr/>
              <a:t>An in-text citation</a:t>
            </a:r>
          </a:p>
          <a:p>
            <a:pPr lvl="0"/>
            <a:r>
              <a:rPr/>
              <a:t>A reference list (bibliography)</a:t>
            </a:r>
          </a:p>
        </p:txBody>
      </p:sp>
      <p:pic>
        <p:nvPicPr>
          <p:cNvPr descr="images/zotero5.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What is </a:t>
            </a:r>
            <a:r>
              <a:rPr b="1"/>
              <a:t>publishing</a:t>
            </a:r>
            <a:r>
              <a:rPr/>
              <a:t> with Quarto? The process of sharing the rendered documents or projects online so it can become accessible to others.</a:t>
            </a:r>
          </a:p>
          <a:p>
            <a:pPr lvl="0"/>
            <a:r>
              <a:rPr/>
              <a:t>You can publish to:</a:t>
            </a:r>
          </a:p>
          <a:p>
            <a:pPr lvl="1"/>
            <a:r>
              <a:rPr/>
              <a:t>GitHub Pages</a:t>
            </a:r>
          </a:p>
          <a:p>
            <a:pPr lvl="1"/>
            <a:r>
              <a:rPr/>
              <a:t>Quarto Pub</a:t>
            </a:r>
          </a:p>
          <a:p>
            <a:pPr lvl="1"/>
            <a:r>
              <a:rPr/>
              <a:t>A personal website</a:t>
            </a:r>
          </a:p>
          <a:p>
            <a:pPr lvl="0" indent="0" marL="1270000">
              <a:buNone/>
            </a:pPr>
            <a:r>
              <a:rPr sz="2000" b="1"/>
              <a:t>List of publishing services</a:t>
            </a:r>
          </a:p>
          <a:p>
            <a:pPr lvl="0" indent="0" marL="1270000">
              <a:buNone/>
            </a:pPr>
            <a:r>
              <a:rPr sz="2000"/>
              <a:t>Here is a link for a list of publishing services and more information!</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legal aspects</a:t>
            </a:r>
          </a:p>
          <a:p>
            <a:pPr lvl="0"/>
            <a:r>
              <a:rPr/>
              <a:t>Applying appropriate licenses</a:t>
            </a:r>
          </a:p>
          <a:p>
            <a:pPr lvl="0"/>
            <a:r>
              <a:rPr/>
              <a:t>Proper archiving</a:t>
            </a:r>
          </a:p>
          <a:p>
            <a:pPr lvl="0" indent="0" marL="1270000">
              <a:buNone/>
            </a:pPr>
            <a:r>
              <a:rPr sz="2000" b="1"/>
              <a:t>List of publishing services</a:t>
            </a:r>
          </a:p>
          <a:p>
            <a:pPr lvl="0" indent="0" marL="1270000">
              <a:buNone/>
            </a:pPr>
            <a:r>
              <a:rPr sz="2000"/>
              <a:t>Click here for the LMU OSC page on all you need to know about sharing, copyright, best practices and more.</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a:r>
              <a:rPr b="1"/>
              <a:t>3 methods</a:t>
            </a:r>
            <a:r>
              <a:rPr/>
              <a:t> to publish a Quarto document to GitHub Pages:</a:t>
            </a:r>
          </a:p>
          <a:p>
            <a:pPr lvl="1" indent="-342900" marL="685800">
              <a:buAutoNum type="arabicPeriod"/>
            </a:pPr>
            <a:r>
              <a:rPr/>
              <a:t>Render to the </a:t>
            </a:r>
            <a:r>
              <a:rPr>
                <a:latin typeface="Courier"/>
              </a:rPr>
              <a:t>docs</a:t>
            </a:r>
            <a:r>
              <a:rPr/>
              <a:t> directory and checking it into your repository</a:t>
            </a:r>
          </a:p>
          <a:p>
            <a:pPr lvl="1" indent="-342900" marL="685800">
              <a:buAutoNum type="arabicPeriod"/>
            </a:pPr>
            <a:r>
              <a:rPr/>
              <a:t>Use the </a:t>
            </a:r>
            <a:r>
              <a:rPr>
                <a:latin typeface="Courier"/>
              </a:rPr>
              <a:t>quarto publish</a:t>
            </a:r>
            <a:r>
              <a:rPr/>
              <a:t> command</a:t>
            </a:r>
          </a:p>
          <a:p>
            <a:pPr lvl="1" indent="-342900" marL="685800">
              <a:buAutoNum type="arabicPeriod"/>
            </a:pPr>
            <a:r>
              <a:rPr/>
              <a:t>Use GitHub Actions to auto-render and publish whenever you push changes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with </a:t>
            </a:r>
            <a:r>
              <a:rPr b="1"/>
              <a:t>Git Bash</a:t>
            </a:r>
            <a:r>
              <a:rPr/>
              <a:t> directly from the </a:t>
            </a:r>
            <a:r>
              <a:rPr b="1"/>
              <a:t>Terminal</a:t>
            </a:r>
            <a:r>
              <a:rPr/>
              <a:t> in RStudio.</a:t>
            </a:r>
          </a:p>
          <a:p>
            <a:pPr lvl="0"/>
            <a:r>
              <a:rPr/>
              <a:t>click Terminal → Terminal Options and set it to open with Git Bash</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1.png" id="0" name="Picture 1"/>
          <p:cNvPicPr>
            <a:picLocks noGrp="1" noChangeAspect="1"/>
          </p:cNvPicPr>
          <p:nvPr/>
        </p:nvPicPr>
        <p:blipFill>
          <a:blip r:embed="rId2"/>
          <a:stretch>
            <a:fillRect/>
          </a:stretch>
        </p:blipFill>
        <p:spPr bwMode="auto">
          <a:xfrm>
            <a:off x="457200" y="1968500"/>
            <a:ext cx="4038600" cy="1828800"/>
          </a:xfrm>
          <a:prstGeom prst="rect">
            <a:avLst/>
          </a:prstGeom>
          <a:noFill/>
          <a:ln w="9525">
            <a:noFill/>
            <a:headEnd/>
            <a:tailEnd/>
          </a:ln>
        </p:spPr>
      </p:pic>
      <p:pic>
        <p:nvPicPr>
          <p:cNvPr descr="images/gitpages2.png" id="0" name="Picture 1"/>
          <p:cNvPicPr>
            <a:picLocks noGrp="1" noChangeAspect="1"/>
          </p:cNvPicPr>
          <p:nvPr/>
        </p:nvPicPr>
        <p:blipFill>
          <a:blip r:embed="rId3"/>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click Terminal → New Terminal to begin working with Git Bash</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a:r>
              <a:rPr/>
              <a:t>☐ In your Quarto Document, edit YAML and add:</a:t>
            </a:r>
          </a:p>
          <a:p>
            <a:pPr lvl="0" indent="0">
              <a:buNone/>
            </a:pPr>
            <a:r>
              <a:rPr>
                <a:latin typeface="Courier"/>
              </a:rPr>
              <a:t>project:
  type: website
  output-dir: docs</a:t>
            </a:r>
          </a:p>
          <a:p>
            <a:pPr lvl="0"/>
            <a:r>
              <a:rPr/>
              <a:t>☐ Set Terminal to open with Git Bash and open new Terminal</a:t>
            </a:r>
          </a:p>
          <a:p>
            <a:pPr lvl="0"/>
            <a:r>
              <a:rPr/>
              <a:t>☐ Change directory to the path of the main folder with the Quarto files using </a:t>
            </a:r>
            <a:r>
              <a:rPr>
                <a:latin typeface="Courier"/>
              </a:rPr>
              <a:t>cd</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indent="0">
              <a:buNone/>
            </a:pPr>
            <a:r>
              <a:rPr>
                <a:solidFill>
                  <a:srgbClr val="003B4F"/>
                </a:solidFill>
                <a:latin typeface="Courier"/>
              </a:rPr>
              <a:t>echo "project:</a:t>
            </a:r>
            <a:br/>
            <a:r>
              <a:rPr>
                <a:solidFill>
                  <a:srgbClr val="003B4F"/>
                </a:solidFill>
                <a:latin typeface="Courier"/>
              </a:rPr>
              <a:t>  type: website</a:t>
            </a:r>
            <a:br/>
            <a:r>
              <a:rPr>
                <a:solidFill>
                  <a:srgbClr val="003B4F"/>
                </a:solidFill>
                <a:latin typeface="Courier"/>
              </a:rPr>
              <a:t>  output-dir: docs" &gt; _quarto.yml</a:t>
            </a:r>
          </a:p>
          <a:p>
            <a:pPr lvl="0"/>
            <a:r>
              <a:rPr/>
              <a:t>☐ Make a simple </a:t>
            </a:r>
            <a:r>
              <a:rPr>
                <a:latin typeface="Courier"/>
              </a:rPr>
              <a:t>_quarto.yml</a:t>
            </a:r>
            <a:r>
              <a:rPr/>
              <a:t> file by copying and pasting the above in the Terminal</a:t>
            </a:r>
          </a:p>
          <a:p>
            <a:pPr lvl="0" indent="0">
              <a:buNone/>
            </a:pPr>
            <a:r>
              <a:rPr>
                <a:solidFill>
                  <a:srgbClr val="003B4F"/>
                </a:solidFill>
                <a:latin typeface="Courier"/>
              </a:rPr>
              <a:t>touch .nojekyll</a:t>
            </a:r>
          </a:p>
          <a:p>
            <a:pPr lvl="0"/>
            <a:r>
              <a:rPr/>
              <a:t>☐ Copy and paste the above into the Terminal to add a </a:t>
            </a:r>
            <a:r>
              <a:rPr>
                <a:latin typeface="Courier"/>
              </a:rPr>
              <a:t>.nojekyll</a:t>
            </a:r>
            <a:r>
              <a:rPr/>
              <a:t> file</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 tells GitHub Pages not to do additional processing of your published site using Jekyll</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indent="0">
              <a:buNone/>
            </a:pPr>
            <a:r>
              <a:rPr>
                <a:solidFill>
                  <a:srgbClr val="003B4F"/>
                </a:solidFill>
                <a:latin typeface="Courier"/>
              </a:rPr>
              <a:t>quarto render</a:t>
            </a:r>
          </a:p>
          <a:p>
            <a:pPr lvl="0"/>
            <a:r>
              <a:rPr/>
              <a:t>☐ Copy and paste the above into Terminal to generate HTML in the </a:t>
            </a:r>
            <a:r>
              <a:rPr>
                <a:latin typeface="Courier"/>
              </a:rPr>
              <a:t>docs/</a:t>
            </a:r>
            <a:r>
              <a:rPr/>
              <a:t> folder</a:t>
            </a:r>
          </a:p>
          <a:p>
            <a:pPr lvl="0" indent="0">
              <a:buNone/>
            </a:pPr>
            <a:r>
              <a:rPr>
                <a:solidFill>
                  <a:srgbClr val="003B4F"/>
                </a:solidFill>
                <a:latin typeface="Courier"/>
              </a:rPr>
              <a:t>git init</a:t>
            </a:r>
            <a:br/>
            <a:r>
              <a:rPr>
                <a:solidFill>
                  <a:srgbClr val="003B4F"/>
                </a:solidFill>
                <a:latin typeface="Courier"/>
              </a:rPr>
              <a:t>git branch -M main  </a:t>
            </a:r>
          </a:p>
          <a:p>
            <a:pPr lvl="0"/>
            <a:r>
              <a:rPr/>
              <a:t>☐ Copy and paste the above into Terminal to initialize Git and rename “master” to “main”</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a:r>
              <a:rPr/>
              <a:t>☐ Go to </a:t>
            </a:r>
            <a:r>
              <a:rPr>
                <a:hlinkClick r:id="rId3"/>
              </a:rPr>
              <a:t>GitHub</a:t>
            </a:r>
            <a:r>
              <a:rPr/>
              <a:t> and create a new repo</a:t>
            </a:r>
          </a:p>
          <a:p>
            <a:pPr lvl="0"/>
            <a:r>
              <a:rPr/>
              <a:t>☐ In Terminal, connect to local project by using “</a:t>
            </a:r>
            <a:r>
              <a:rPr>
                <a:latin typeface="Courier"/>
              </a:rPr>
              <a:t>git remote add origin</a:t>
            </a:r>
            <a:r>
              <a:rPr/>
              <a:t>” + the repo’s HTTPS URL (for example, “</a:t>
            </a:r>
            <a:r>
              <a:rPr>
                <a:latin typeface="Courier"/>
              </a:rPr>
              <a:t>git remote add origin https://github.com/yourname/chickweight-exercise.git</a:t>
            </a:r>
            <a:r>
              <a:rPr/>
              <a:t>”)</a:t>
            </a:r>
          </a:p>
          <a:p>
            <a:pPr lvl="0" indent="0">
              <a:buNone/>
            </a:pPr>
            <a:r>
              <a:rPr>
                <a:solidFill>
                  <a:srgbClr val="003B4F"/>
                </a:solidFill>
                <a:latin typeface="Courier"/>
              </a:rPr>
              <a:t>quarto render</a:t>
            </a:r>
            <a:br/>
            <a:r>
              <a:rPr>
                <a:solidFill>
                  <a:srgbClr val="003B4F"/>
                </a:solidFill>
                <a:latin typeface="Courier"/>
              </a:rPr>
              <a:t>git add docs</a:t>
            </a:r>
            <a:br/>
            <a:r>
              <a:rPr>
                <a:solidFill>
                  <a:srgbClr val="003B4F"/>
                </a:solidFill>
                <a:latin typeface="Courier"/>
              </a:rPr>
              <a:t>git commit -m "Publish site to docs/"</a:t>
            </a:r>
            <a:br/>
            <a:r>
              <a:rPr>
                <a:solidFill>
                  <a:srgbClr val="003B4F"/>
                </a:solidFill>
                <a:latin typeface="Courier"/>
              </a:rPr>
              <a:t>git push -u origin main</a:t>
            </a:r>
          </a:p>
          <a:p>
            <a:pPr lvl="0"/>
            <a:r>
              <a:rPr/>
              <a:t>☐ Copy and paste the above into Terminal to render your site and push it to GitHub</a:t>
            </a:r>
          </a:p>
          <a:p>
            <a:pPr lvl="0"/>
            <a:r>
              <a:rPr/>
              <a:t>☐ In your repo on </a:t>
            </a:r>
            <a:r>
              <a:rPr>
                <a:hlinkClick r:id="rId4"/>
              </a:rPr>
              <a:t>GitHub</a:t>
            </a:r>
            <a:r>
              <a:rPr/>
              <a:t>, go to Settings</a:t>
            </a:r>
          </a:p>
          <a:p>
            <a:pPr lvl="0"/>
            <a:r>
              <a:rPr/>
              <a:t>☐ Click “Pages” to configure GitHub Pages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a:r>
              <a:rPr/>
              <a:t>☐ Change “none” to “main”</a:t>
            </a:r>
          </a:p>
          <a:p>
            <a:pPr lvl="0" indent="0" marL="0">
              <a:buNone/>
            </a:pPr>
          </a:p>
          <a:p>
            <a:pPr lvl="0"/>
            <a:r>
              <a:rPr/>
              <a:t>☐ Change “/root” to “/docs”</a:t>
            </a:r>
          </a:p>
          <a:p>
            <a:pPr lvl="0"/>
            <a:r>
              <a:rPr/>
              <a:t>☐ Click Save</a:t>
            </a:r>
          </a:p>
          <a:p>
            <a:pPr lvl="0" indent="0" marL="0">
              <a:buNone/>
            </a:pPr>
          </a:p>
          <a:p>
            <a:pPr lvl="0"/>
            <a:r>
              <a:rPr/>
              <a:t>After 1-2 minutes, you will see that your site will be </a:t>
            </a:r>
            <a:r>
              <a:rPr b="1"/>
              <a:t>live</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indent="0" marL="0">
              <a:buNone/>
            </a:pPr>
            <a:r>
              <a:rPr b="1"/>
              <a:t>About Quarto</a:t>
            </a:r>
          </a:p>
          <a:p>
            <a:pPr lvl="0"/>
            <a:r>
              <a:rPr/>
              <a:t>Quarto is a powerful tool that combines text, code, and media to make documents which are transparent, reproducible, and accessible.</a:t>
            </a:r>
          </a:p>
          <a:p>
            <a:pPr lvl="0"/>
            <a:r>
              <a:rPr/>
              <a:t>In a </a:t>
            </a:r>
            <a:r>
              <a:rPr b="1"/>
              <a:t>.qmd file</a:t>
            </a:r>
            <a:r>
              <a:rPr/>
              <a:t>:</a:t>
            </a:r>
          </a:p>
          <a:p>
            <a:pPr lvl="1"/>
            <a:r>
              <a:rPr/>
              <a:t>The </a:t>
            </a:r>
            <a:r>
              <a:rPr b="1"/>
              <a:t>YAML header</a:t>
            </a:r>
            <a:r>
              <a:rPr/>
              <a:t> controls the document settings</a:t>
            </a:r>
          </a:p>
          <a:p>
            <a:pPr lvl="1"/>
            <a:r>
              <a:rPr b="1"/>
              <a:t>Code chunks</a:t>
            </a:r>
            <a:r>
              <a:rPr/>
              <a:t> run code and show results</a:t>
            </a:r>
          </a:p>
          <a:p>
            <a:pPr lvl="1"/>
            <a:r>
              <a:rPr b="1"/>
              <a:t>Markdown text</a:t>
            </a:r>
            <a:r>
              <a:rPr/>
              <a:t> creates the main content</a:t>
            </a:r>
          </a:p>
          <a:p>
            <a:pPr lvl="0"/>
            <a:r>
              <a:rPr/>
              <a:t>You can use simple formatting and keyboard shortcuts for styling text.</a:t>
            </a:r>
          </a:p>
          <a:p>
            <a:pPr lvl="1"/>
            <a:r>
              <a:rPr>
                <a:latin typeface="Courier"/>
              </a:rPr>
              <a:t>**bold**</a:t>
            </a:r>
            <a:r>
              <a:rPr/>
              <a:t> → </a:t>
            </a:r>
            <a:r>
              <a:rPr b="1"/>
              <a:t>bold</a:t>
            </a:r>
          </a:p>
          <a:p>
            <a:pPr lvl="1"/>
            <a:r>
              <a:rPr>
                <a:latin typeface="Courier"/>
              </a:rPr>
              <a:t>*italic*</a:t>
            </a:r>
            <a:r>
              <a:rPr/>
              <a:t> → </a:t>
            </a:r>
            <a:r>
              <a:rPr i="1"/>
              <a:t>italic</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indent="0" marL="0">
              <a:buNone/>
            </a:pPr>
            <a:r>
              <a:rPr b="1"/>
              <a:t>Features and Sharing</a:t>
            </a:r>
          </a:p>
          <a:p>
            <a:pPr lvl="0"/>
            <a:r>
              <a:rPr/>
              <a:t>Code chunks can be customized in the YAML header (for example, </a:t>
            </a:r>
            <a:r>
              <a:rPr>
                <a:latin typeface="Courier"/>
              </a:rPr>
              <a:t>code-fold: true</a:t>
            </a:r>
            <a:r>
              <a:rPr/>
              <a:t> makes code collapsible).</a:t>
            </a:r>
          </a:p>
          <a:p>
            <a:pPr lvl="0"/>
            <a:r>
              <a:rPr/>
              <a:t>You can add </a:t>
            </a:r>
            <a:r>
              <a:rPr b="1"/>
              <a:t>links, images, media, and layout features</a:t>
            </a:r>
            <a:r>
              <a:rPr/>
              <a:t> (like columns) to improve presentation and usability.</a:t>
            </a:r>
          </a:p>
          <a:p>
            <a:pPr lvl="0"/>
            <a:r>
              <a:rPr b="1"/>
              <a:t>Zotero</a:t>
            </a:r>
            <a:r>
              <a:rPr/>
              <a:t> helps manage references, allowing you to cite while you write and automatically builds a bibliography.</a:t>
            </a:r>
          </a:p>
          <a:p>
            <a:pPr lvl="0"/>
            <a:r>
              <a:rPr b="1"/>
              <a:t>Publishing</a:t>
            </a:r>
            <a:r>
              <a:rPr/>
              <a:t> makes your work accessible and reproducible.</a:t>
            </a:r>
          </a:p>
          <a:p>
            <a:pPr lvl="1"/>
            <a:r>
              <a:rPr/>
              <a:t>Options for publishing include </a:t>
            </a:r>
            <a:r>
              <a:rPr b="1"/>
              <a:t>Quarto Pub</a:t>
            </a:r>
            <a:r>
              <a:rPr/>
              <a:t>, </a:t>
            </a:r>
            <a:r>
              <a:rPr b="1"/>
              <a:t>GitHub Pages</a:t>
            </a:r>
            <a:r>
              <a:rPr/>
              <a:t>, or your own </a:t>
            </a:r>
            <a:r>
              <a:rPr b="1"/>
              <a:t>website</a:t>
            </a:r>
            <a:r>
              <a:rPr/>
              <a:t>.</a:t>
            </a:r>
          </a:p>
          <a:p>
            <a:pPr lvl="0" indent="0" marL="0">
              <a:buNone/>
            </a:pPr>
            <a:r>
              <a:rPr/>
              <a:t>For a summary of what we learned and applied using Quarto, click here to download a cheatsheet.</a:t>
            </a:r>
          </a:p>
          <a:p>
            <a:pPr lvl="0" indent="0" marL="0">
              <a:buNone/>
            </a:pPr>
            <a:r>
              <a:rPr/>
              <a:t>From SvG: Would this differ from the take home messages? Yes- I made the recap like an overall review that’s instructor-led and the take home message as an opportunity for students to reflect on the lesson.</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a:r>
              <a:rPr/>
              <a:t>How can using Quarto improve transparency and reproducibility in your work?</a:t>
            </a:r>
          </a:p>
          <a:p>
            <a:pPr lvl="0"/>
            <a:r>
              <a:rPr/>
              <a:t>In what ways does Quarto make sharing code and data with collaborators easier?</a:t>
            </a:r>
          </a:p>
          <a:p>
            <a:pPr lvl="0"/>
            <a:r>
              <a:rPr/>
              <a:t>Do you see advantages in using Quarto compared to traditional tools like Word or PowerPoint?</a:t>
            </a:r>
          </a:p>
          <a:p>
            <a:pPr lvl="0"/>
            <a:r>
              <a:rPr/>
              <a:t>What challenges might you face in adopting Quarto in your current</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r>
              <a:rPr/>
              <a:t>Ask yourself: </a:t>
            </a:r>
            <a:r>
              <a:rPr i="1"/>
              <a:t>“If you had to explain to a colleague in one sentence why learning Quarto matters for research and teaching, what would you say?”</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a:t>Practice your Quarto skills</a:t>
            </a:r>
          </a:p>
          <a:p>
            <a:pPr lvl="0"/>
            <a:r>
              <a:rPr/>
              <a:t>Explore what more can be added to your documents</a:t>
            </a:r>
          </a:p>
          <a:p>
            <a:pPr lvl="0"/>
            <a:r>
              <a:rPr/>
              <a:t>Build confidence in editing YAML header, adding code chunks, and customizing the layout</a:t>
            </a:r>
          </a:p>
          <a:p>
            <a:pPr lvl="0" indent="0" marL="0">
              <a:buNone/>
            </a:pPr>
            <a:r>
              <a:rPr/>
              <a:t>For the assignment, click here to download the homework sheet.</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buNone/>
            </a:pPr>
            <a:r>
              <a:rPr/>
              <a:t>Let’s end this sesson with a short survey on topics covered in this lesson.</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Quarto before this lesson?</a:t>
            </a:r>
          </a:p>
          <a:p>
            <a:pPr lvl="0" indent="-342900" marL="342900">
              <a:buAutoNum type="alphaLcParenR"/>
            </a:pPr>
            <a:r>
              <a:rPr/>
              <a:t>I’ve never used it</a:t>
            </a:r>
          </a:p>
          <a:p>
            <a:pPr lvl="0" indent="-342900" marL="342900">
              <a:buAutoNum type="alphaLcParenR"/>
            </a:pPr>
            <a:r>
              <a:rPr/>
              <a:t>I’ve heard of it but never tried it</a:t>
            </a:r>
          </a:p>
          <a:p>
            <a:pPr lvl="0" indent="-342900" marL="342900">
              <a:buAutoNum type="alphaLcParenR"/>
            </a:pPr>
            <a:r>
              <a:rPr/>
              <a:t>I’ve experimented a little</a:t>
            </a:r>
          </a:p>
          <a:p>
            <a:pPr lvl="0" indent="-342900" marL="342900">
              <a:buAutoNum type="alphaLcParenR"/>
            </a:pPr>
            <a:r>
              <a:rPr/>
              <a:t>I use it occasionally</a:t>
            </a:r>
          </a:p>
          <a:p>
            <a:pPr lvl="0" indent="-342900" marL="342900">
              <a:buAutoNum type="alphaLcParenR"/>
            </a:pPr>
            <a:r>
              <a:rPr/>
              <a:t>I use it frequently</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arenR"/>
            </a:pPr>
            <a:r>
              <a:rPr/>
              <a:t>A programming language</a:t>
            </a:r>
          </a:p>
          <a:p>
            <a:pPr lvl="0" indent="-342900" marL="342900">
              <a:buAutoNum type="alphaLcParenR"/>
            </a:pPr>
            <a:r>
              <a:rPr/>
              <a:t>A publishing system for reproducible documents ✅</a:t>
            </a:r>
          </a:p>
          <a:p>
            <a:pPr lvl="0" indent="-342900" marL="342900">
              <a:buAutoNum type="alphaLcParenR"/>
            </a:pPr>
            <a:r>
              <a:rPr/>
              <a:t>A code editor</a:t>
            </a:r>
          </a:p>
          <a:p>
            <a:pPr lvl="0" indent="-342900" marL="342900">
              <a:buAutoNum type="alphaLcParenR"/>
            </a:pPr>
            <a:r>
              <a:rPr/>
              <a:t>A type of version control system</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arenR"/>
            </a:pPr>
            <a:r>
              <a:rPr/>
              <a:t>Only YAML</a:t>
            </a:r>
          </a:p>
          <a:p>
            <a:pPr lvl="0" indent="-342900" marL="342900">
              <a:buAutoNum type="alphaLcParenR"/>
            </a:pPr>
            <a:r>
              <a:rPr/>
              <a:t>Only Markdown</a:t>
            </a:r>
          </a:p>
          <a:p>
            <a:pPr lvl="0" indent="-342900" marL="342900">
              <a:buAutoNum type="alphaLcParenR"/>
            </a:pPr>
            <a:r>
              <a:rPr/>
              <a:t>Neither</a:t>
            </a:r>
          </a:p>
          <a:p>
            <a:pPr lvl="0" indent="-342900" marL="342900">
              <a:buAutoNum type="alphaLcParenR"/>
            </a:pPr>
            <a:r>
              <a:rPr/>
              <a:t>YAML and Markdown together ✅</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modes can be used to create a Quarto document?</a:t>
            </a:r>
          </a:p>
          <a:p>
            <a:pPr lvl="0" indent="-342900" marL="342900">
              <a:buAutoNum type="alphaLcParenR"/>
            </a:pPr>
            <a:r>
              <a:rPr/>
              <a:t>Source mode</a:t>
            </a:r>
          </a:p>
          <a:p>
            <a:pPr lvl="0" indent="-342900" marL="342900">
              <a:buAutoNum type="alphaLcParenR"/>
            </a:pPr>
            <a:r>
              <a:rPr/>
              <a:t>Visual mode</a:t>
            </a:r>
          </a:p>
          <a:p>
            <a:pPr lvl="0" indent="-342900" marL="342900">
              <a:buAutoNum type="alphaLcParenR"/>
            </a:pPr>
            <a:r>
              <a:rPr/>
              <a:t>Both ✅</a:t>
            </a:r>
          </a:p>
          <a:p>
            <a:pPr lvl="0" indent="-342900" marL="342900">
              <a:buAutoNum type="alphaLcParenR"/>
            </a:pPr>
            <a:r>
              <a:rPr/>
              <a:t>Neither</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switching between Source and Visual modes?</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arenR"/>
            </a:pPr>
            <a:r>
              <a:rPr/>
              <a:t>Bold text ✅</a:t>
            </a:r>
          </a:p>
          <a:p>
            <a:pPr lvl="0" indent="-342900" marL="342900">
              <a:buAutoNum type="alphaLcParenR"/>
            </a:pPr>
            <a:r>
              <a:rPr/>
              <a:t>Italic text ✅</a:t>
            </a:r>
          </a:p>
          <a:p>
            <a:pPr lvl="0" indent="-342900" marL="342900">
              <a:buAutoNum type="alphaLcParenR"/>
            </a:pPr>
            <a:r>
              <a:rPr/>
              <a:t>Adding code chunks</a:t>
            </a:r>
          </a:p>
          <a:p>
            <a:pPr lvl="0" indent="-342900" marL="342900">
              <a:buAutoNum type="alphaLcParenR"/>
            </a:pPr>
            <a:r>
              <a:rPr/>
              <a:t>Adding hyperlinks ✅</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should you use text formatting in Quarto documents?</a:t>
            </a:r>
          </a:p>
          <a:p>
            <a:pPr lvl="0" indent="-342900" marL="342900">
              <a:buAutoNum type="alphaLcParenR"/>
            </a:pPr>
            <a:r>
              <a:rPr/>
              <a:t>For aesthetics only</a:t>
            </a:r>
          </a:p>
          <a:p>
            <a:pPr lvl="0" indent="-342900" marL="342900">
              <a:buAutoNum type="alphaLcParenR"/>
            </a:pPr>
            <a:r>
              <a:rPr/>
              <a:t>To improve clarity and emphasis ✅</a:t>
            </a:r>
          </a:p>
          <a:p>
            <a:pPr lvl="0" indent="-342900" marL="342900">
              <a:buAutoNum type="alphaLcParenR"/>
            </a:pPr>
            <a:r>
              <a:rPr/>
              <a:t>To make the file larger</a:t>
            </a:r>
          </a:p>
          <a:p>
            <a:pPr lvl="0" indent="-342900" marL="342900">
              <a:buAutoNum type="alphaLcParenR"/>
            </a:pPr>
            <a:r>
              <a:rPr/>
              <a:t>To change the coding language</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When would you consider using multi-column layouts?</a:t>
            </a:r>
          </a:p>
          <a:p>
            <a:pPr lvl="0" indent="-342900" marL="342900">
              <a:buAutoNum type="alphaLcParenR"/>
            </a:pPr>
            <a:r>
              <a:rPr/>
              <a:t>To shorten the document</a:t>
            </a:r>
          </a:p>
          <a:p>
            <a:pPr lvl="0" indent="-342900" marL="342900">
              <a:buAutoNum type="alphaLcParenR"/>
            </a:pPr>
            <a:r>
              <a:rPr/>
              <a:t>To make information more visually organized ✅</a:t>
            </a:r>
          </a:p>
          <a:p>
            <a:pPr lvl="0" indent="-342900" marL="342900">
              <a:buAutoNum type="alphaLcParenR"/>
            </a:pPr>
            <a:r>
              <a:rPr/>
              <a:t>To add footnotes only</a:t>
            </a:r>
          </a:p>
          <a:p>
            <a:pPr lvl="0" indent="-342900" marL="342900">
              <a:buAutoNum type="alphaLcParenR"/>
            </a:pPr>
            <a:r>
              <a:rPr/>
              <a:t>To increase file size</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arenR"/>
            </a:pPr>
            <a:r>
              <a:rPr/>
              <a:t>To include executable code and results within the document ✅</a:t>
            </a:r>
          </a:p>
          <a:p>
            <a:pPr lvl="0" indent="-342900" marL="342900">
              <a:buAutoNum type="alphaLcParenR"/>
            </a:pPr>
            <a:r>
              <a:rPr/>
              <a:t>To store references</a:t>
            </a:r>
          </a:p>
          <a:p>
            <a:pPr lvl="0" indent="-342900" marL="342900">
              <a:buAutoNum type="alphaLcParenR"/>
            </a:pPr>
            <a:r>
              <a:rPr/>
              <a:t>To format text</a:t>
            </a:r>
          </a:p>
          <a:p>
            <a:pPr lvl="0" indent="-342900" marL="342900">
              <a:buAutoNum type="alphaLcParenR"/>
            </a:pPr>
            <a:r>
              <a:rPr/>
              <a:t>To hide metadata</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YAML options relate to how code chunks are displayed?</a:t>
            </a:r>
          </a:p>
          <a:p>
            <a:pPr lvl="0" indent="-342900" marL="342900">
              <a:buAutoNum type="alphaLcParenR"/>
            </a:pPr>
            <a:r>
              <a:rPr/>
              <a:t>echo: true ✅</a:t>
            </a:r>
          </a:p>
          <a:p>
            <a:pPr lvl="0" indent="-342900" marL="342900">
              <a:buAutoNum type="alphaLcParenR"/>
            </a:pPr>
            <a:r>
              <a:rPr/>
              <a:t>code-fold: false ✅</a:t>
            </a:r>
          </a:p>
          <a:p>
            <a:pPr lvl="0" indent="-342900" marL="342900">
              <a:buAutoNum type="alphaLcParenR"/>
            </a:pPr>
            <a:r>
              <a:rPr/>
              <a:t>title: “My Document”</a:t>
            </a:r>
          </a:p>
          <a:p>
            <a:pPr lvl="0" indent="-342900" marL="342900">
              <a:buAutoNum type="alphaLcParenR"/>
            </a:pPr>
            <a:r>
              <a:rPr/>
              <a:t>format: html</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arenR"/>
            </a:pPr>
            <a:r>
              <a:rPr/>
              <a:t>To make the document more difficult to read</a:t>
            </a:r>
          </a:p>
          <a:p>
            <a:pPr lvl="0" indent="-342900" marL="342900">
              <a:buAutoNum type="alphaLcParenR"/>
            </a:pPr>
            <a:r>
              <a:rPr/>
              <a:t>To ensure only the author can reproduce results</a:t>
            </a:r>
          </a:p>
          <a:p>
            <a:pPr lvl="0" indent="-342900" marL="342900">
              <a:buAutoNum type="alphaLcParenR"/>
            </a:pPr>
            <a:r>
              <a:rPr/>
              <a:t>To replace data collection</a:t>
            </a:r>
          </a:p>
          <a:p>
            <a:pPr lvl="0" indent="-342900" marL="342900">
              <a:buAutoNum type="alphaLcParenR"/>
            </a:pPr>
            <a:r>
              <a:rPr/>
              <a:t>To make research reproducible and transparent ✅</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are common publishing options for Quarto projects? (Select all that apply)</a:t>
            </a:r>
          </a:p>
          <a:p>
            <a:pPr lvl="0" indent="-342900" marL="342900">
              <a:buAutoNum type="alphaLcParenR"/>
            </a:pPr>
            <a:r>
              <a:rPr/>
              <a:t>GitHub Pages ✅</a:t>
            </a:r>
          </a:p>
          <a:p>
            <a:pPr lvl="0" indent="-342900" marL="342900">
              <a:buAutoNum type="alphaLcParenR"/>
            </a:pPr>
            <a:r>
              <a:rPr/>
              <a:t>Quarto Pub ✅</a:t>
            </a:r>
          </a:p>
          <a:p>
            <a:pPr lvl="0" indent="-342900" marL="342900">
              <a:buAutoNum type="alphaLcParenR"/>
            </a:pPr>
            <a:r>
              <a:rPr/>
              <a:t>Social media platforms</a:t>
            </a:r>
          </a:p>
          <a:p>
            <a:pPr lvl="0" indent="-342900" marL="342900">
              <a:buAutoNum type="alphaLcParenR"/>
            </a:pPr>
            <a:r>
              <a:rPr/>
              <a:t>Personal websites ✅</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benefit of publishing your Quarto documents?</a:t>
            </a:r>
          </a:p>
          <a:p>
            <a:pPr lvl="0" indent="-342900" marL="342900">
              <a:buAutoNum type="alphaLcParenR"/>
            </a:pPr>
            <a:r>
              <a:rPr/>
              <a:t>They make your computer run faster</a:t>
            </a:r>
          </a:p>
          <a:p>
            <a:pPr lvl="0" indent="-342900" marL="342900">
              <a:buAutoNum type="alphaLcParenR"/>
            </a:pPr>
            <a:r>
              <a:rPr/>
              <a:t>They allow offline editing only</a:t>
            </a:r>
          </a:p>
          <a:p>
            <a:pPr lvl="0" indent="-342900" marL="342900">
              <a:buAutoNum type="alphaLcParenR"/>
            </a:pPr>
            <a:r>
              <a:rPr/>
              <a:t>They become accessible to others for sharing and collaboration ✅</a:t>
            </a:r>
          </a:p>
          <a:p>
            <a:pPr lvl="0" indent="-342900" marL="342900">
              <a:buAutoNum type="alphaLcParenR"/>
            </a:pPr>
            <a:r>
              <a:rPr/>
              <a:t>They automatically write the code for you</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Li, J., Yuan, J., Miao, Z., Song, Z., Yang, Y., Tian, W., &amp; Guo, Y. (2016). </a:t>
            </a:r>
            <a:r>
              <a:rPr i="1"/>
              <a:t>Effect of dietary nutrient density on small intestinal phosphate transport and bone mineralization of broilers during the growing period</a:t>
            </a:r>
            <a:r>
              <a:rPr/>
              <a:t>. PLOS ONE, 11(4), e0153859. https://doi.org/10.1371/journal.pone.0153859</a:t>
            </a:r>
          </a:p>
          <a:p>
            <a:pPr lvl="0"/>
            <a:r>
              <a:rPr/>
              <a:t>Pauwels, J., Coopman, F., Cools, A., Michiels, J., Fremaut, D., De Smet, S., &amp; Janssens, G. P. J. (2015). </a:t>
            </a:r>
            <a:r>
              <a:rPr i="1"/>
              <a:t>Selection for growth performance in broiler chickens associates with less diet flexibility</a:t>
            </a:r>
            <a:r>
              <a:rPr/>
              <a:t>. PLOS ONE, 10(6), e0127819. https://doi.org/10.1371/journal.pone.0127819</a:t>
            </a:r>
          </a:p>
          <a:p>
            <a:pPr lvl="0"/>
            <a:r>
              <a:rPr/>
              <a:t>Forehand, M. (2010). Bloom’s taxonomy. </a:t>
            </a:r>
            <a:r>
              <a:rPr i="1"/>
              <a:t>Emerging perspectives on learning, teaching, and technology</a:t>
            </a:r>
            <a:r>
              <a:rPr/>
              <a:t>, 41(4), 47-56.</a:t>
            </a:r>
          </a:p>
          <a:p>
            <a:pPr lvl="0" indent="0" marL="0">
              <a:buNone/>
            </a:pPr>
            <a:r>
              <a:rPr/>
              <a:t>From SvG: Add references here Beth: should I cite the Quarto Website?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homework assignment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a:p>
            <a:pPr lvl="0" indent="0" marL="0">
              <a:buNone/>
            </a:pPr>
            <a:r>
              <a:rPr/>
              <a:t>From SvG: Still to do right? Beth: yes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0"/>
            <a:r>
              <a:rPr b="1"/>
              <a:t>Other resources</a:t>
            </a:r>
          </a:p>
          <a:p>
            <a:pPr lvl="1"/>
            <a:r>
              <a:rPr>
                <a:hlinkClick r:id="rId5"/>
              </a:rPr>
              <a:t>Video on crafting presentations with R and Quarto</a:t>
            </a:r>
          </a:p>
          <a:p>
            <a:pPr lvl="0" indent="0" marL="0">
              <a:buNone/>
            </a:pPr>
            <a:r>
              <a:rPr/>
              <a:t>From SvG: Still to do right? Beth: this video was helpful but I did not incorporate everything from 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2025-09-03T16:03:22Z</dcterms:created>
  <dcterms:modified xsi:type="dcterms:W3CDTF">2025-09-03T16:03:22Z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03/09/2025</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