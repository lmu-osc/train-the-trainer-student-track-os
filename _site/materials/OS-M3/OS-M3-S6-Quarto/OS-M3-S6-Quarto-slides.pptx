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notesMaster" Target="notesMasters/notesMaster1.xml" /><Relationship Id="rId83" Type="http://schemas.openxmlformats.org/officeDocument/2006/relationships/viewProps" Target="viewProps.xml" /><Relationship Id="rId82" Type="http://schemas.openxmlformats.org/officeDocument/2006/relationships/presProps" Target="presProps.xml" /><Relationship Id="rId1" Type="http://schemas.openxmlformats.org/officeDocument/2006/relationships/slideMaster" Target="slideMasters/slideMaster1.xml" /><Relationship Id="rId85" Type="http://schemas.openxmlformats.org/officeDocument/2006/relationships/tableStyles" Target="tableStyles.xml" /><Relationship Id="rId84"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i="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a:p>
            <a:pPr lvl="0" indent="0" marL="0">
              <a:buNone/>
            </a:pPr>
          </a:p>
          <a:p>
            <a:pPr lvl="0" indent="0" marL="0">
              <a:buNone/>
            </a:pPr>
            <a:r>
              <a:rPr i="1"/>
              <a:t>Instructor Notes</a:t>
            </a:r>
            <a:r>
              <a:rPr/>
              <a:t> - Aim: the pre-submodule survey serves to examine students’ prior knowledge about the sumodule’s topic. - Use free survey software such as or other survey software (Menti, particify,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Base yourself on conceptual change theory and examine existing concepts in relation to some key terms. Re-examine formation of new concepts at the end of the lesson.</a:t>
            </a:r>
          </a:p>
          <a:p>
            <a:pPr lvl="0" indent="0" marL="0">
              <a:buNone/>
            </a:pPr>
          </a:p>
          <a:p>
            <a:pPr lvl="0" indent="0" marL="0">
              <a:buNone/>
            </a:pPr>
            <a:r>
              <a:rPr i="1"/>
              <a:t>Speaker Notes</a:t>
            </a:r>
            <a:r>
              <a:rPr/>
              <a:t> - WYSIWYM is an acronym for “What You Say is What You Mean” which means that whatever you see in your document will be what you see even when you save or render the document as PDF or as HTML.</a:t>
            </a:r>
          </a:p>
          <a:p>
            <a:pPr lvl="0" indent="0" marL="0">
              <a:buNone/>
            </a:pPr>
          </a:p>
          <a:p>
            <a:pPr lvl="0"/>
            <a:r>
              <a:rPr/>
              <a:t>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Aim: Core theoretical introduction of submodule topic. - 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students should work in groups/pairs/on their own for at least 55 minutes of the lesson (+ a 15 minute break).</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Ensure students know where their Quarto project folder is located on their device. This will make it easier for them to find files in later tasks. Encourage them to save the document right after creating it, so they can intentionally choose the folder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Reminding students on the meanings of YAML Header and Markdown will be helpful especially to those with very little prior knowledge for working with Quarto.</a:t>
            </a:r>
          </a:p>
          <a:p>
            <a:pPr lvl="0" indent="0" marL="0">
              <a:buNone/>
            </a:pPr>
          </a:p>
          <a:p>
            <a:pPr lvl="0" indent="0" marL="0">
              <a:buNone/>
            </a:pPr>
            <a:r>
              <a:rPr i="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indent="0" marL="0">
              <a:buNone/>
            </a:pPr>
            <a:r>
              <a:rPr i="1"/>
              <a:t>Speaker Note</a:t>
            </a:r>
            <a:r>
              <a:rPr/>
              <a:t> - Remember that the YAML Header goes at the top of the document in both Source and Visual Modes.</a:t>
            </a:r>
          </a:p>
          <a:p>
            <a:pPr lvl="0" indent="0" marL="0">
              <a:buNone/>
            </a:pPr>
          </a:p>
          <a:p>
            <a:pPr lvl="0"/>
            <a:r>
              <a:rPr/>
              <a:t>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These are just examples of callout boxes. How to actually create one will be covered in the next slide/task.</a:t>
            </a:r>
          </a:p>
          <a:p>
            <a:pPr lvl="0" indent="0" marL="0">
              <a:buNone/>
            </a:pPr>
          </a:p>
          <a:p>
            <a:pPr lvl="0" indent="0" marL="0">
              <a:buNone/>
            </a:pPr>
            <a:r>
              <a:rPr i="1"/>
              <a:t>Speaker Note</a:t>
            </a:r>
            <a:r>
              <a:rPr/>
              <a:t> - Callout boxes are a way to highlight important information in your document. They stand out visually, so readers immediately notice them. You can use them to emphasize tips, warnings, examples, or key takeaways.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using {r} to start the Code Chunk indicates that the coding language that we’re using is R. This is relevant for this lesson as students will be using R Studio and possession pof some background knowledge in R is assumed.</a:t>
            </a:r>
          </a:p>
          <a:p>
            <a:pPr lvl="0" indent="0" marL="0">
              <a:buNone/>
            </a:pPr>
          </a:p>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gives us several options for controlling how code appears in our documents. For example, we can choose whether to show or hide the code itself, whether readers can fold code open and closed, or whether only the results are shown. - Currently in our YAML, we have it set to </a:t>
            </a:r>
            <a:r>
              <a:rPr>
                <a:latin typeface="Courier"/>
              </a:rPr>
              <a:t>code-fold: false</a:t>
            </a:r>
            <a:r>
              <a:rPr/>
              <a:t> which means the code is displayed as in the image.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It’s easy to confuse </a:t>
            </a:r>
            <a:r>
              <a:rPr>
                <a:latin typeface="Courier"/>
              </a:rPr>
              <a:t>echo</a:t>
            </a:r>
            <a:r>
              <a:rPr/>
              <a:t> and </a:t>
            </a:r>
            <a:r>
              <a:rPr>
                <a:latin typeface="Courier"/>
              </a:rPr>
              <a:t>code-fold</a:t>
            </a:r>
            <a:r>
              <a:rPr/>
              <a:t> because they both deal with code visibility. Be clear on the difference</a:t>
            </a:r>
          </a:p>
          <a:p>
            <a:pPr lvl="0" indent="0" marL="0">
              <a:buNone/>
            </a:pPr>
          </a:p>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This pre-break survey serves to examine students’ current understanding of key concepts of the submodule - Use free survey software such as or other survey software (Menti, particify, formR) to establish the following questions.</a:t>
            </a:r>
          </a:p>
          <a:p>
            <a:pPr lvl="0" indent="0" marL="0">
              <a:buNone/>
            </a:pPr>
          </a:p>
          <a:p>
            <a:pPr lvl="0" indent="0" marL="0">
              <a:buNone/>
            </a:pPr>
            <a:r>
              <a:rPr b="1"/>
              <a:t>What’s the name of Quarto Markdown document</a:t>
            </a:r>
            <a:r>
              <a:rPr/>
              <a:t>?</a:t>
            </a:r>
          </a:p>
          <a:p>
            <a:pPr lvl="0" indent="0" marL="0">
              <a:buNone/>
            </a:pPr>
          </a:p>
          <a:p>
            <a:pPr lvl="0" indent="-342900" marL="342900">
              <a:buAutoNum type="alphaLcPeriod"/>
            </a:pPr>
            <a:r>
              <a:rPr/>
              <a:t>.png file</a:t>
            </a:r>
          </a:p>
          <a:p>
            <a:pPr lvl="0" indent="0" marL="0">
              <a:buNone/>
            </a:pPr>
          </a:p>
          <a:p>
            <a:pPr lvl="0" indent="-342900" marL="342900">
              <a:buAutoNum type="alphaLcPeriod"/>
            </a:pPr>
            <a:r>
              <a:rPr/>
              <a:t>.qmd file ✅</a:t>
            </a:r>
          </a:p>
          <a:p>
            <a:pPr lvl="0" indent="0" marL="0">
              <a:buNone/>
            </a:pPr>
          </a:p>
          <a:p>
            <a:pPr lvl="0" indent="-342900" marL="342900">
              <a:buAutoNum type="alphaLcPeriod"/>
            </a:pPr>
            <a:r>
              <a:rPr/>
              <a:t>.doc file</a:t>
            </a:r>
          </a:p>
          <a:p>
            <a:pPr lvl="0" indent="0" marL="0">
              <a:buNone/>
            </a:pPr>
          </a:p>
          <a:p>
            <a:pPr lvl="0" indent="-342900" marL="342900">
              <a:buAutoNum type="alphaLcPeriod"/>
            </a:pPr>
            <a:r>
              <a:rPr/>
              <a:t>.mp3 file</a:t>
            </a:r>
          </a:p>
          <a:p>
            <a:pPr lvl="0" indent="0" marL="0">
              <a:buNone/>
            </a:pPr>
          </a:p>
          <a:p>
            <a:pPr lvl="0" indent="0" marL="0">
              <a:buNone/>
            </a:pPr>
            <a:r>
              <a:rPr b="1"/>
              <a:t>What is the YAML header?</a:t>
            </a:r>
          </a:p>
          <a:p>
            <a:pPr lvl="0" indent="0" marL="0">
              <a:buNone/>
            </a:pPr>
          </a:p>
          <a:p>
            <a:pPr lvl="0" indent="-342900" marL="342900">
              <a:buAutoNum type="alphaLcPeriod"/>
            </a:pPr>
            <a:r>
              <a:rPr/>
              <a:t>summarizes the document into a single line</a:t>
            </a:r>
          </a:p>
          <a:p>
            <a:pPr lvl="0" indent="0" marL="0">
              <a:buNone/>
            </a:pPr>
          </a:p>
          <a:p>
            <a:pPr lvl="0" indent="-342900" marL="342900">
              <a:buAutoNum type="alphaLcPeriod"/>
            </a:pPr>
            <a:r>
              <a:rPr/>
              <a:t>this is where you store notes and reminders</a:t>
            </a:r>
          </a:p>
          <a:p>
            <a:pPr lvl="0" indent="0" marL="0">
              <a:buNone/>
            </a:pPr>
          </a:p>
          <a:p>
            <a:pPr lvl="0" indent="-342900" marL="342900">
              <a:buAutoNum type="alphaLcPeriod"/>
            </a:pPr>
            <a:r>
              <a:rPr/>
              <a:t>it’s like the “settings” of the document ✅</a:t>
            </a:r>
          </a:p>
          <a:p>
            <a:pPr lvl="0" indent="0" marL="0">
              <a:buNone/>
            </a:pPr>
          </a:p>
          <a:p>
            <a:pPr lvl="0" indent="-342900" marL="342900">
              <a:buAutoNum type="alphaLcPeriod"/>
            </a:pPr>
            <a:r>
              <a:rPr/>
              <a:t>just the title of the document</a:t>
            </a:r>
          </a:p>
          <a:p>
            <a:pPr lvl="0" indent="0" marL="0">
              <a:buNone/>
            </a:pPr>
          </a:p>
          <a:p>
            <a:pPr lvl="0" indent="0" marL="0">
              <a:buNone/>
            </a:pPr>
            <a:r>
              <a:rPr b="1"/>
              <a:t>Which of the following is used to format content (like paragraphs and bullet points)?</a:t>
            </a:r>
          </a:p>
          <a:p>
            <a:pPr lvl="0" indent="0" marL="0">
              <a:buNone/>
            </a:pPr>
          </a:p>
          <a:p>
            <a:pPr lvl="0" indent="-342900" marL="342900">
              <a:buAutoNum type="alphaLcPeriod"/>
            </a:pPr>
            <a:r>
              <a:rPr/>
              <a:t>Code chunks</a:t>
            </a:r>
          </a:p>
          <a:p>
            <a:pPr lvl="0" indent="0" marL="0">
              <a:buNone/>
            </a:pPr>
          </a:p>
          <a:p>
            <a:pPr lvl="0" indent="-342900" marL="342900">
              <a:buAutoNum type="alphaLcPeriod"/>
            </a:pPr>
            <a:r>
              <a:rPr/>
              <a:t>YAML header</a:t>
            </a:r>
          </a:p>
          <a:p>
            <a:pPr lvl="0" indent="0" marL="0">
              <a:buNone/>
            </a:pPr>
          </a:p>
          <a:p>
            <a:pPr lvl="0" indent="-342900" marL="342900">
              <a:buAutoNum type="alphaLcPeriod"/>
            </a:pPr>
            <a:r>
              <a:rPr/>
              <a:t>Markdown text ✅</a:t>
            </a:r>
          </a:p>
          <a:p>
            <a:pPr lvl="0" indent="0" marL="0">
              <a:buNone/>
            </a:pPr>
          </a:p>
          <a:p>
            <a:pPr lvl="0" indent="-342900" marL="342900">
              <a:buAutoNum type="alphaLcPeriod"/>
            </a:pPr>
            <a:r>
              <a:rPr/>
              <a:t>All of the above</a:t>
            </a:r>
          </a:p>
          <a:p>
            <a:pPr lvl="0" indent="0" marL="0">
              <a:buNone/>
            </a:pPr>
          </a:p>
          <a:p>
            <a:pPr lvl="0" indent="0" marL="0">
              <a:buNone/>
            </a:pPr>
            <a:r>
              <a:rPr b="1"/>
              <a:t>What are the 2 components of the Authoring process?</a:t>
            </a:r>
          </a:p>
          <a:p>
            <a:pPr lvl="0" indent="0" marL="0">
              <a:buNone/>
            </a:pPr>
          </a:p>
          <a:p>
            <a:pPr lvl="0" indent="0" marL="0">
              <a:buNone/>
            </a:pPr>
            <a:r>
              <a:rPr b="1"/>
              <a:t>How to create a code chunk in a Quarto Document?</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A benefit of using Quarto is the ability to easily add media, such as images, to your documents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the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It is possible to add citations in Source mode, but it is easier and more efficient to do it in Visual mdoe.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The last step (to open a new Terminal) is important because the current Terminal does not just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Reminder that copying &amp; pasting with keyboard shortcuts do not work the same in Git Bash. Right-clicking and selecting Paste is an easy option.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End lesson on clear take-home message that are interactively compiled by students. - Encourage students to share one sentence take-home messages. You can collect them verbally or in a shared doc/board.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p>
          <a:p>
            <a:pPr lvl="0" indent="0" marL="0">
              <a:buNone/>
            </a:pPr>
          </a:p>
          <a:p>
            <a:pPr lvl="0"/>
            <a:r>
              <a:rPr/>
              <a:t>Aim: This post-submodule survey serves to examine students’ current knowledge about the sumodule’s topic.</a:t>
            </a:r>
          </a:p>
          <a:p>
            <a:pPr lvl="0" indent="0" marL="0">
              <a:buNone/>
            </a:pPr>
          </a:p>
          <a:p>
            <a:pPr lvl="0"/>
            <a:r>
              <a:rPr/>
              <a:t>Use free survey software such as or other survey software (particify, formR) to establish the following questions (these are examples that can be adapted to suit your needs):</a:t>
            </a:r>
          </a:p>
          <a:p>
            <a:pPr lvl="0" indent="0" marL="0">
              <a:buNone/>
            </a:pPr>
          </a:p>
          <a:p>
            <a:pPr lvl="0" indent="0" marL="0">
              <a:buNone/>
            </a:pPr>
            <a:r>
              <a:rPr b="1"/>
              <a:t>What is your level of familiarity with Quarto before this lesson?</a:t>
            </a:r>
            <a:r>
              <a:rPr/>
              <a:t> a) I’ve never used it b) I’ve heard of it but never tried it c) I’ve experimented a little d) I use it occasionally e) I use it frequently</a:t>
            </a:r>
          </a:p>
          <a:p>
            <a:pPr lvl="0" indent="0" marL="0">
              <a:buNone/>
            </a:pPr>
          </a:p>
          <a:p>
            <a:pPr lvl="0" indent="0" marL="0">
              <a:buNone/>
            </a:pPr>
            <a:r>
              <a:rPr b="1"/>
              <a:t>Which of the following best describes Quarto?</a:t>
            </a:r>
            <a:r>
              <a:rPr/>
              <a:t> a) A programming language b) A publishing system for reproducible documents ✅ c) A code editor d) A type of version control system</a:t>
            </a:r>
          </a:p>
          <a:p>
            <a:pPr lvl="0" indent="0" marL="0">
              <a:buNone/>
            </a:pPr>
          </a:p>
          <a:p>
            <a:pPr lvl="0" indent="0" marL="0">
              <a:buNone/>
            </a:pPr>
            <a:r>
              <a:rPr b="1"/>
              <a:t>Which components are combined in the authoring process of Quarto documents?</a:t>
            </a:r>
            <a:r>
              <a:rPr/>
              <a:t> a) Only YAML b) Only Markdown c) Neither d) YAML and Markdown together ✅</a:t>
            </a:r>
          </a:p>
          <a:p>
            <a:pPr lvl="0" indent="0" marL="0">
              <a:buNone/>
            </a:pPr>
          </a:p>
          <a:p>
            <a:pPr lvl="0" indent="0" marL="0">
              <a:buNone/>
            </a:pPr>
            <a:r>
              <a:rPr b="1"/>
              <a:t>Which of the following modes can be used to create a Quarto document?</a:t>
            </a:r>
            <a:r>
              <a:rPr/>
              <a:t> a) Source mode b) Visual mode c) Both ✅ d) Neither</a:t>
            </a:r>
          </a:p>
          <a:p>
            <a:pPr lvl="0" indent="0" marL="0">
              <a:buNone/>
            </a:pPr>
          </a:p>
          <a:p>
            <a:pPr lvl="0" indent="0" marL="0">
              <a:buNone/>
            </a:pPr>
            <a:r>
              <a:rPr b="1"/>
              <a:t>On a scale of 1 to 5, how comfortable are you switching between Source and Visual modes?</a:t>
            </a:r>
          </a:p>
          <a:p>
            <a:pPr lvl="0" indent="0" marL="0">
              <a:buNone/>
            </a:pPr>
          </a:p>
          <a:p>
            <a:pPr lvl="0" indent="0" marL="0">
              <a:buNone/>
            </a:pPr>
            <a:r>
              <a:rPr b="1"/>
              <a:t>Which of these are examples of Markdown text formatting? (Select all that apply)</a:t>
            </a:r>
            <a:r>
              <a:rPr/>
              <a:t> a) Bold text ✅ b) Italic text ✅ c) Adding code chunks d) Adding hyperlinks ✅</a:t>
            </a:r>
          </a:p>
          <a:p>
            <a:pPr lvl="0" indent="0" marL="0">
              <a:buNone/>
            </a:pPr>
          </a:p>
          <a:p>
            <a:pPr lvl="0" indent="0" marL="0">
              <a:buNone/>
            </a:pPr>
            <a:r>
              <a:rPr b="1"/>
              <a:t>Why should you use text formatting in Quarto documents?</a:t>
            </a:r>
            <a:r>
              <a:rPr/>
              <a:t> a) For aesthetics only b) To improve clarity and emphasis ✅ c) To make the file larger d) To change the coding language</a:t>
            </a:r>
          </a:p>
          <a:p>
            <a:pPr lvl="0" indent="0" marL="0">
              <a:buNone/>
            </a:pPr>
          </a:p>
          <a:p>
            <a:pPr lvl="0" indent="0" marL="0">
              <a:buNone/>
            </a:pPr>
            <a:r>
              <a:rPr b="1"/>
              <a:t>When would you consider using multi-column layouts?</a:t>
            </a:r>
            <a:r>
              <a:rPr/>
              <a:t> a) To shorten the document b) To make information more visually organized ✅ c) To add footnotes only d) To increase file size</a:t>
            </a:r>
          </a:p>
          <a:p>
            <a:pPr lvl="0" indent="0" marL="0">
              <a:buNone/>
            </a:pPr>
          </a:p>
          <a:p>
            <a:pPr lvl="0" indent="0" marL="0">
              <a:buNone/>
            </a:pPr>
            <a:r>
              <a:rPr b="1"/>
              <a:t>What is the purpose of code chunks in Quarto documents?</a:t>
            </a:r>
            <a:r>
              <a:rPr/>
              <a:t> a) To include executable code and results within the document ✅ b) To store references c) To format text d) To hide metadata</a:t>
            </a:r>
          </a:p>
          <a:p>
            <a:pPr lvl="0" indent="0" marL="0">
              <a:buNone/>
            </a:pPr>
          </a:p>
          <a:p>
            <a:pPr lvl="0" indent="0" marL="0">
              <a:buNone/>
            </a:pPr>
            <a:r>
              <a:rPr b="1"/>
              <a:t>Which YAML options relate to how code chunks are displayed?</a:t>
            </a:r>
            <a:r>
              <a:rPr/>
              <a:t> a) echo: true ✅ b) code-fold: false ✅ c) title: “My Document” d) format: html</a:t>
            </a:r>
          </a:p>
          <a:p>
            <a:pPr lvl="0" indent="0" marL="0">
              <a:buNone/>
            </a:pPr>
          </a:p>
          <a:p>
            <a:pPr lvl="0" indent="0" marL="0">
              <a:buNone/>
            </a:pPr>
            <a:r>
              <a:rPr b="1"/>
              <a:t>Why is including code in research documents important?</a:t>
            </a:r>
            <a:r>
              <a:rPr/>
              <a:t> a) To make the document more difficult to read b) To ensure only the author can reproduce results c) To replace data collection d) To make research reproducible and transparent ✅</a:t>
            </a:r>
          </a:p>
          <a:p>
            <a:pPr lvl="0" indent="0" marL="0">
              <a:buNone/>
            </a:pPr>
          </a:p>
          <a:p>
            <a:pPr lvl="0" indent="0" marL="0">
              <a:buNone/>
            </a:pPr>
            <a:r>
              <a:rPr b="1"/>
              <a:t>Which of the following are common publishing options for Quarto projects? (Select all that apply)</a:t>
            </a:r>
            <a:r>
              <a:rPr/>
              <a:t> a) GitHub Pages ✅ b) Quarto Pub ✅ c) Social media platforms d) Personal websites ✅</a:t>
            </a:r>
          </a:p>
          <a:p>
            <a:pPr lvl="0" indent="0" marL="0">
              <a:buNone/>
            </a:pPr>
          </a:p>
          <a:p>
            <a:pPr lvl="0" indent="0" marL="0">
              <a:buNone/>
            </a:pPr>
            <a:r>
              <a:rPr b="1"/>
              <a:t>What is the benefit of publishing your Quarto documents?</a:t>
            </a:r>
            <a:r>
              <a:rPr/>
              <a:t> a) They make your computer run faster b) They allow offline editing only c) They become accessible to others for sharing and collaboration ✅ d) They automatically write the code for you</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p>
          <a:p>
            <a:pPr lvl="0" indent="0" marL="0">
              <a:buNone/>
            </a:pPr>
          </a:p>
          <a:p>
            <a:pPr lvl="0"/>
            <a:r>
              <a:rPr/>
              <a:t>Aim: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9.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1.xml" /><Relationship Id="rId3" Type="http://schemas.openxmlformats.org/officeDocument/2006/relationships/image" Target="../media/image4.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hyperlink" Target="https://journals.plos.org/plosone/article?id=10.1371/journal.pone.0127819" TargetMode="External" /><Relationship Id="rId2" Type="http://schemas.openxmlformats.org/officeDocument/2006/relationships/image" Target="../media/image4.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journals.plos.org/plosone/article?id=10.1371/journal.pone.0127819"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6.xml" /><Relationship Id="rId3"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hyperlink" Target="github.com"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ithub.com"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vonGrebmer/Template-Slides-Students" TargetMode="External" /><Relationship Id="rId3" Type="http://schemas.openxmlformats.org/officeDocument/2006/relationships/hyperlink" Target="https://creativecommons.org/licenses/by/4.0/"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20/08/2025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ttt-quarto-slides</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indent="0" marL="0">
              <a:spcBef>
                <a:spcPts val="3000"/>
              </a:spcBef>
              <a:buNone/>
            </a:pPr>
            <a:r>
              <a:rPr b="1"/>
              <a:t>Before we start: Survey time!</a:t>
            </a:r>
          </a:p>
          <a:p>
            <a:pPr lvl="0" indent="0" marL="0">
              <a:buNone/>
            </a:pPr>
            <a:r>
              <a:rPr/>
              <a:t>Take this survey to test your prior Quarto knowledge</a:t>
            </a:r>
          </a:p>
          <a:p>
            <a:pPr lvl="0" indent="0" marL="0">
              <a:buNone/>
            </a:pPr>
            <a:r>
              <a:rPr/>
              <a:t>Quarto Survey link</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a:t>
            </a:r>
          </a:p>
          <a:p>
            <a:pPr lvl="0" indent="0" marL="0">
              <a:buNone/>
            </a:pPr>
            <a:r>
              <a:rPr b="1"/>
              <a:t>Quarto</a:t>
            </a:r>
            <a:r>
              <a:rPr/>
              <a:t> makes it easy to analyze, share and reproduce.</a:t>
            </a:r>
          </a:p>
          <a:p>
            <a:pPr lvl="0" indent="0" marL="0">
              <a:buNone/>
            </a:pPr>
            <a:r>
              <a:rPr/>
              <a:t>It’s a powerful tool for producing transparent, reproducible, and accessible work that can be freely shared, viewed, and reused by others.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Learning Goals</a:t>
            </a:r>
          </a:p>
          <a:p>
            <a:pPr lvl="0"/>
            <a:r>
              <a:rPr/>
              <a:t>Participants will </a:t>
            </a:r>
            <a:r>
              <a:rPr b="1"/>
              <a:t>learn</a:t>
            </a:r>
            <a:r>
              <a:rPr/>
              <a:t> how to create, edit, and render Quarto documents</a:t>
            </a:r>
          </a:p>
          <a:p>
            <a:pPr lvl="0"/>
            <a:r>
              <a:rPr/>
              <a:t>Participants will </a:t>
            </a:r>
            <a:r>
              <a:rPr b="1"/>
              <a:t>understand</a:t>
            </a:r>
            <a:r>
              <a:rPr/>
              <a:t> how to use key Quarto features (code chunks, YAML headers, citations, and output formatting)</a:t>
            </a:r>
          </a:p>
          <a:p>
            <a:pPr lvl="0"/>
            <a:r>
              <a:rPr/>
              <a:t>Participants will </a:t>
            </a:r>
            <a:r>
              <a:rPr b="1"/>
              <a:t>gain confidence</a:t>
            </a:r>
            <a:r>
              <a:rPr/>
              <a:t> in preparing and teaching Quarto effectively to students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b="1"/>
              <a:t>What is Quarto?</a:t>
            </a:r>
            <a:r>
              <a:rPr/>
              <a:t> An open-source scientific and publishing system that combines text, code and media to create easily shareable documents such as websites, slides, reports, and much more.</a:t>
            </a:r>
          </a:p>
          <a:p>
            <a:pPr lvl="0" indent="0" marL="0">
              <a:buNone/>
            </a:pPr>
            <a:r>
              <a:rPr b="1"/>
              <a:t>What is Rendering?</a:t>
            </a:r>
            <a:r>
              <a:rPr/>
              <a:t> The process where Quarto runs the code, combines it with the text, and creates a final output.</a:t>
            </a:r>
          </a:p>
          <a:p>
            <a:pPr lvl="0" indent="0" marL="0">
              <a:buNone/>
            </a:pPr>
            <a:r>
              <a:rPr/>
              <a:t>A Quarto Markdown document is saved as a </a:t>
            </a:r>
            <a:r>
              <a:rPr b="1"/>
              <a:t>.qmd file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b="1"/>
              <a:t>Components of a .qmd file</a:t>
            </a:r>
          </a:p>
          <a:p>
            <a:pPr lvl="0"/>
            <a:r>
              <a:rPr b="1"/>
              <a:t>YAML header</a:t>
            </a:r>
            <a:r>
              <a:rPr/>
              <a:t>- the section at the top of the Quarto document that controls settings like the title, output format, and author.</a:t>
            </a:r>
          </a:p>
          <a:p>
            <a:pPr lvl="0"/>
            <a:r>
              <a:rPr b="1"/>
              <a:t>code chunks</a:t>
            </a:r>
            <a:r>
              <a:rPr/>
              <a:t>- sections of the document that contains code (from R or Python, for example) that are used for showing results such as tables, plots, or calculations</a:t>
            </a:r>
          </a:p>
          <a:p>
            <a:pPr lvl="0"/>
            <a:r>
              <a:rPr b="1"/>
              <a:t>Quarto Markdown</a:t>
            </a:r>
            <a:r>
              <a:rPr/>
              <a:t>- combines text, codes, and formatting to create the actual content of the document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b="1"/>
              <a:t>Components of a .qmd file</a:t>
            </a:r>
          </a:p>
          <a:p>
            <a:pPr lvl="0" indent="0" marL="0">
              <a:buNone/>
            </a:pPr>
            <a:r>
              <a:rPr/>
              <a:t>You can write Quarto documents in </a:t>
            </a:r>
            <a:r>
              <a:rPr b="1"/>
              <a:t>Source mode</a:t>
            </a:r>
            <a:r>
              <a:rPr/>
              <a:t> or </a:t>
            </a:r>
            <a:r>
              <a:rPr b="1"/>
              <a:t>Visual mode</a:t>
            </a:r>
            <a:r>
              <a:rPr/>
              <a:t> in RStudio.</a:t>
            </a:r>
          </a:p>
          <a:p>
            <a:pPr lvl="0"/>
            <a:r>
              <a:rPr b="1"/>
              <a:t>Source mode</a:t>
            </a:r>
            <a:r>
              <a:rPr/>
              <a:t> - you write directly in plain text/Markdown Syntax, allowing for more control and it’s closer to raw code</a:t>
            </a:r>
          </a:p>
          <a:p>
            <a:pPr lvl="0"/>
            <a:r>
              <a:rPr b="1"/>
              <a:t>Visual mode</a:t>
            </a:r>
            <a:r>
              <a:rPr/>
              <a:t> - gives a WYSIWYM-style interface which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Setting up a Quarto Document</a:t>
            </a:r>
          </a:p>
          <a:p>
            <a:pPr lvl="0"/>
            <a:r>
              <a:rPr/>
              <a:t>Authoring</a:t>
            </a:r>
          </a:p>
          <a:p>
            <a:pPr lvl="0"/>
            <a:r>
              <a:rPr/>
              <a:t>Code Chunks</a:t>
            </a:r>
          </a:p>
          <a:p>
            <a:pPr lvl="0"/>
            <a:r>
              <a:rPr/>
              <a:t>Adding Citations</a:t>
            </a:r>
          </a:p>
          <a:p>
            <a:pPr lvl="0"/>
            <a:r>
              <a:rPr/>
              <a:t>Publishing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default format is html</a:t>
            </a:r>
          </a:p>
          <a:p>
            <a:pPr lvl="0"/>
            <a:r>
              <a:rPr/>
              <a:t>The output format can also be changed by editing the YAML header</a:t>
            </a:r>
          </a:p>
          <a:p>
            <a:pPr lvl="0" indent="0" marL="0">
              <a:buNone/>
            </a:pPr>
            <a:r>
              <a:rPr b="1"/>
              <a:t>Task 1</a:t>
            </a:r>
          </a:p>
          <a:p>
            <a:pPr lvl="0"/>
            <a:r>
              <a:rPr/>
              <a:t>☐ Follow the steps to create a new Quarto Document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a:t>
            </a:r>
          </a:p>
          <a:p>
            <a:pPr lvl="0" indent="0" marL="0">
              <a:buNone/>
            </a:pPr>
            <a:r>
              <a:rPr/>
              <a:t>There are two ways to render in Quarto</a:t>
            </a:r>
          </a:p>
          <a:p>
            <a:pPr lvl="0"/>
            <a:r>
              <a:rPr b="1"/>
              <a:t>Manual rendering</a:t>
            </a:r>
            <a:r>
              <a:rPr/>
              <a:t>: having to click on the “Render” each time you want to see the output</a:t>
            </a:r>
          </a:p>
          <a:p>
            <a:pPr lvl="0"/>
            <a:r>
              <a:rPr b="1"/>
              <a:t>Render on Save</a:t>
            </a:r>
            <a:r>
              <a:rPr/>
              <a:t>: Quarto will automatically re-render the document each time you click “Save”</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Manual Render and Render on Save at the top of your workspace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a:t>
            </a:r>
          </a:p>
          <a:p>
            <a:pPr lvl="0" indent="0" marL="0">
              <a:buNone/>
            </a:pPr>
            <a:r>
              <a:rPr/>
              <a:t>This is the process of writing and structuring the Quarto document.</a:t>
            </a:r>
          </a:p>
          <a:p>
            <a:pPr lvl="0" indent="0" marL="0">
              <a:buNone/>
            </a:pPr>
            <a:r>
              <a:rPr b="1"/>
              <a:t>YAML Header + Markdown = Authoring</a:t>
            </a:r>
          </a:p>
          <a:p>
            <a:pPr lvl="0" indent="0" marL="0">
              <a:buNone/>
            </a:pPr>
            <a:r>
              <a:rPr/>
              <a:t>To practice authoring in Quarto, let’s start with setting the YAML header and adding text in </a:t>
            </a:r>
            <a:r>
              <a:rPr b="1"/>
              <a:t>Source</a:t>
            </a:r>
            <a:r>
              <a:rPr/>
              <a:t> mode.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a:t>
            </a:r>
          </a:p>
          <a:p>
            <a:pPr lvl="0" indent="0" marL="0">
              <a:buNone/>
            </a:pPr>
            <a:r>
              <a:rPr b="1"/>
              <a:t>Task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a:t>
            </a:r>
          </a:p>
          <a:p>
            <a:pPr lvl="0" indent="0">
              <a:buNone/>
            </a:pPr>
            <a:r>
              <a:rPr>
                <a:solidFill>
                  <a:srgbClr val="003B4F"/>
                </a:solidFill>
                <a:latin typeface="Courier"/>
              </a:rPr>
              <a:t>Have you ever been curious about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a:p>
            <a:pPr lvl="0" indent="0" marL="0">
              <a:buNone/>
            </a:pPr>
            <a:r>
              <a:rPr b="1"/>
              <a:t>Task 3</a:t>
            </a:r>
          </a:p>
          <a:p>
            <a:pPr lvl="0"/>
            <a:r>
              <a:rPr/>
              <a:t>☐ Copy the Markdown Text and paste it to your document</a:t>
            </a:r>
          </a:p>
          <a:p>
            <a:pPr lvl="0"/>
            <a:r>
              <a:rPr/>
              <a:t>☐ Bold the word </a:t>
            </a:r>
            <a:r>
              <a:rPr i="1"/>
              <a:t>“ChickWeight”</a:t>
            </a:r>
          </a:p>
          <a:p>
            <a:pPr lvl="0"/>
            <a:r>
              <a:rPr/>
              <a:t>☐ Italicize the phrase </a:t>
            </a:r>
            <a:r>
              <a:rPr i="1"/>
              <a:t>“growth trends”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a:t>
            </a:r>
          </a:p>
          <a:p>
            <a:pPr lvl="0" indent="0" marL="0">
              <a:buNone/>
            </a:pPr>
            <a:r>
              <a:rPr/>
              <a:t>Highlight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a:p>
            <a:pPr lvl="0" indent="0" marL="0">
              <a:buNone/>
            </a:pPr>
          </a:p>
          <a:p>
            <a:pPr lvl="0" indent="0" marL="0">
              <a:buNone/>
            </a:pPr>
            <a:r>
              <a:rPr b="1"/>
              <a:t>Task 4</a:t>
            </a:r>
          </a:p>
          <a:p>
            <a:pPr lvl="0"/>
            <a:r>
              <a:rPr/>
              <a:t>☐ Copy &amp; paste into your Quarto document to add this callout note box.</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b="1"/>
              <a:t>Inserting Code</a:t>
            </a:r>
          </a:p>
          <a:p>
            <a:pPr lvl="0" indent="0" marL="0">
              <a:buNone/>
            </a:pPr>
            <a:r>
              <a:rPr/>
              <a:t>Two ways to insert code chunks:</a:t>
            </a:r>
          </a:p>
          <a:p>
            <a:pPr lvl="0"/>
            <a:r>
              <a:rPr/>
              <a:t>Manually type 3 back ticks ``` then {r} to start a coding chunk, enter your code, then end it with 3 back ticks</a:t>
            </a:r>
          </a:p>
          <a:p>
            <a:pPr lvl="0" indent="0" marL="0">
              <a:buNone/>
            </a:pPr>
            <a:r>
              <a:rPr b="1"/>
              <a:t>OR</a:t>
            </a:r>
          </a:p>
          <a:p>
            <a:pPr lvl="0"/>
            <a:r>
              <a:rPr/>
              <a:t>Use the keyboard shortcut Ctrl + Alt + I (Windows/Linux) or Cmd + Option + I (Mac) to insert a code chunk</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b="1"/>
              <a:t>Inserting Code</a:t>
            </a: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a:p>
            <a:pPr lvl="0" indent="0" marL="0">
              <a:buNone/>
            </a:pPr>
            <a:r>
              <a:rPr b="1"/>
              <a:t>Task 5</a:t>
            </a:r>
          </a:p>
          <a:p>
            <a:pPr lvl="0"/>
            <a:r>
              <a:rPr/>
              <a:t>☐ Insert the code in </a:t>
            </a:r>
            <a:r>
              <a:rPr b="1"/>
              <a:t>two separate code chunks</a:t>
            </a:r>
          </a:p>
          <a:p>
            <a:pPr lvl="0"/>
            <a:r>
              <a:rPr/>
              <a:t>☐ Render the output and see what you get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Adjust how the code is portrayed by editing the YAML header</a:t>
            </a:r>
          </a:p>
          <a:p>
            <a:pPr lvl="0" indent="0" marL="0">
              <a:buNone/>
            </a:pPr>
          </a:p>
          <a:p>
            <a:pPr lvl="0"/>
            <a:r>
              <a:rPr>
                <a:latin typeface="Courier"/>
              </a:rPr>
              <a:t>code-fold: false</a:t>
            </a:r>
            <a:r>
              <a:rPr/>
              <a:t> - the code is visible and not collapsible (as seen here)</a:t>
            </a:r>
          </a:p>
          <a:p>
            <a:pPr lvl="0"/>
            <a:r>
              <a:rPr>
                <a:latin typeface="Courier"/>
              </a:rPr>
              <a:t>code-fold: true</a:t>
            </a:r>
            <a:r>
              <a:rPr/>
              <a:t> - collapses the code so the reader can expand 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Adjust how the code is portrayed by editing the YAML header</a:t>
            </a:r>
          </a:p>
          <a:p>
            <a:pPr lvl="0" indent="0" marL="0">
              <a:buNone/>
            </a:pPr>
          </a:p>
          <a:p>
            <a:pPr lvl="0"/>
            <a:r>
              <a:rPr>
                <a:latin typeface="Courier"/>
              </a:rPr>
              <a:t>code-tools: true</a:t>
            </a:r>
            <a:r>
              <a:rPr/>
              <a:t> - adds the functions “show code” at the top of the page and “copy” next to the chunks</a:t>
            </a:r>
          </a:p>
          <a:p>
            <a:pPr lvl="0"/>
            <a:r>
              <a:rPr>
                <a:latin typeface="Courier"/>
              </a:rPr>
              <a:t>echo: true</a:t>
            </a:r>
            <a:r>
              <a:rPr/>
              <a:t> - both the code and the output is visible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Let’s edit the YAML header to make the code chunks </a:t>
            </a:r>
            <a:r>
              <a:rPr b="1"/>
              <a:t>collapsible</a:t>
            </a:r>
            <a:r>
              <a:rPr/>
              <a:t> and add </a:t>
            </a:r>
            <a:r>
              <a:rPr b="1"/>
              <a:t>code tools</a:t>
            </a:r>
            <a:r>
              <a:rPr/>
              <a:t>.</a:t>
            </a:r>
          </a:p>
          <a:p>
            <a:pPr lvl="0" indent="0" marL="0">
              <a:buNone/>
            </a:pPr>
            <a:r>
              <a:rPr b="1"/>
              <a:t>Task 6</a:t>
            </a:r>
          </a:p>
          <a:p>
            <a:pPr lvl="0"/>
            <a:r>
              <a:rPr/>
              <a:t>☐ In the YAML, change </a:t>
            </a:r>
            <a:r>
              <a:rPr>
                <a:latin typeface="Courier"/>
              </a:rPr>
              <a:t>code-fold: false</a:t>
            </a:r>
            <a:r>
              <a:rPr/>
              <a:t> to </a:t>
            </a:r>
            <a:r>
              <a:rPr>
                <a:latin typeface="Courier"/>
              </a:rPr>
              <a:t>code-fold: true</a:t>
            </a:r>
          </a:p>
          <a:p>
            <a:pPr lvl="0"/>
            <a:r>
              <a:rPr/>
              <a:t>☐ Add </a:t>
            </a:r>
            <a:r>
              <a:rPr>
                <a:latin typeface="Courier"/>
              </a:rPr>
              <a:t>code-tools: true</a:t>
            </a:r>
          </a:p>
          <a:p>
            <a:pPr lvl="0"/>
            <a:r>
              <a:rPr/>
              <a:t>☐ Render the document to see the changes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links and hyperlinking text,</a:t>
            </a:r>
          </a:p>
          <a:p>
            <a:pPr lvl="0"/>
            <a:r>
              <a:rPr/>
              <a:t>embedding media,</a:t>
            </a:r>
          </a:p>
          <a:p>
            <a:pPr lvl="0"/>
            <a:r>
              <a:rPr/>
              <a:t>creating multi-column layouts,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[title] (link)</a:t>
            </a:r>
          </a:p>
          <a:p>
            <a:pPr lvl="0"/>
            <a:r>
              <a:rPr/>
              <a:t>[ Quarto Website ] ( https://quarto.org/ ) → </a:t>
            </a:r>
            <a:r>
              <a:rPr>
                <a:hlinkClick r:id="rId2"/>
              </a:rPr>
              <a:t>Quarto Website</a:t>
            </a:r>
          </a:p>
          <a:p>
            <a:pPr lvl="0"/>
            <a:r>
              <a:rPr/>
              <a:t>[Reveal.js Documentation] (https://revealjs.com/) → </a:t>
            </a:r>
            <a:r>
              <a:rPr>
                <a:hlinkClick r:id="rId3"/>
              </a:rPr>
              <a:t>Reveal.js Documentation</a:t>
            </a:r>
          </a:p>
          <a:p>
            <a:pPr lvl="0" indent="0" marL="0">
              <a:buNone/>
            </a:pPr>
            <a:r>
              <a:rPr/>
              <a:t>link without title: &lt; https:// link &gt;</a:t>
            </a:r>
          </a:p>
          <a:p>
            <a:pPr lvl="0"/>
            <a:r>
              <a:rPr/>
              <a:t>&lt; https://www.markdownguide.org/ &gt; → </a:t>
            </a:r>
            <a:r>
              <a:rPr>
                <a:hlinkClick r:id="rId4"/>
              </a:rPr>
              <a:t>https://www.markdownguide.org/</a:t>
            </a:r>
          </a:p>
          <a:p>
            <a:pPr lvl="0"/>
            <a:r>
              <a:rPr/>
              <a:t>&lt; https://github.com/ &gt; → </a:t>
            </a:r>
            <a:r>
              <a:rPr>
                <a:hlinkClick r:id="rId5"/>
              </a:rPr>
              <a:t>https://github.com/</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no caption: ! [ ] ( path/image.png )</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with caption: ! [ caption ] ( path/image.png )</a:t>
            </a:r>
          </a:p>
        </p:txBody>
      </p:sp>
      <p:pic>
        <p:nvPicPr>
          <p:cNvPr descr="images/chickpic1.png" id="0" name="Picture 1"/>
          <p:cNvPicPr>
            <a:picLocks noGrp="1" noChangeAspect="1"/>
          </p:cNvPicPr>
          <p:nvPr/>
        </p:nvPicPr>
        <p:blipFill>
          <a:blip r:embed="rId2"/>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with link: [ ! [ caption ] ( path/image.png ) ] ( link )</a:t>
            </a:r>
          </a:p>
        </p:txBody>
      </p:sp>
      <p:pic>
        <p:nvPicPr>
          <p:cNvPr descr="images/chickpic1.png" id="0" name="Picture 1">
            <a:hlinkClick r:id="rId3"/>
          </p:cNvPr>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Images</a:t>
            </a:r>
          </a:p>
          <a:p>
            <a:pPr lvl="0" indent="0" marL="0">
              <a:buNone/>
            </a:pPr>
          </a:p>
          <a:p>
            <a:pPr lvl="0" indent="0">
              <a:buNone/>
            </a:pPr>
            <a:r>
              <a:rPr>
                <a:solidFill>
                  <a:srgbClr val="AD0000"/>
                </a:solidFill>
                <a:latin typeface="Courier"/>
              </a:rPr>
              <a:t>![No chicks were harmed in the making of this lesson.](images/chickpic1.png)</a:t>
            </a:r>
          </a:p>
          <a:p>
            <a:pPr lvl="0" indent="0" marL="0">
              <a:buNone/>
            </a:pPr>
          </a:p>
          <a:p>
            <a:pPr lvl="0" indent="0" marL="0">
              <a:buNone/>
            </a:pPr>
            <a:r>
              <a:rPr b="1"/>
              <a:t>Task 7</a:t>
            </a:r>
          </a:p>
          <a:p>
            <a:pPr lvl="0"/>
            <a:r>
              <a:rPr/>
              <a:t>☐ Click this link to download the image</a:t>
            </a:r>
          </a:p>
          <a:p>
            <a:pPr lvl="0"/>
            <a:r>
              <a:rPr/>
              <a:t>☐ Save the image to the main folder of the Quarto document files</a:t>
            </a:r>
          </a:p>
          <a:p>
            <a:pPr lvl="0"/>
            <a:r>
              <a:rPr/>
              <a:t>☐ Copy &amp; paste the markdown text to insert an image with a caption (edit path if needed)</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a:t>
            </a:r>
          </a:p>
          <a:p>
            <a:pPr lvl="0" indent="0" marL="0">
              <a:buNone/>
            </a:pPr>
            <a:r>
              <a:rPr/>
              <a:t>You can change the layout of a section using </a:t>
            </a:r>
            <a:r>
              <a:rPr b="1"/>
              <a:t>columns</a:t>
            </a:r>
            <a:r>
              <a:rPr/>
              <a:t>.</a:t>
            </a:r>
          </a:p>
          <a:p>
            <a:pPr lvl="0"/>
            <a:r>
              <a:rPr/>
              <a:t>Start the column layout by writing “:::::: columns”</a:t>
            </a:r>
          </a:p>
          <a:p>
            <a:pPr lvl="0"/>
            <a:r>
              <a:rPr/>
              <a:t>Begin the first column with “::: column”</a:t>
            </a:r>
          </a:p>
          <a:p>
            <a:pPr lvl="0"/>
            <a:r>
              <a:rPr/>
              <a:t>Add content and end it with “:::”</a:t>
            </a:r>
          </a:p>
          <a:p>
            <a:pPr lvl="0"/>
            <a:r>
              <a:rPr/>
              <a:t>Begin second coloumn with “::: column”</a:t>
            </a:r>
          </a:p>
          <a:p>
            <a:pPr lvl="0"/>
            <a:r>
              <a:rPr/>
              <a:t>Add content and end it with “:::”</a:t>
            </a:r>
          </a:p>
          <a:p>
            <a:pPr lvl="0"/>
            <a:r>
              <a:rPr/>
              <a:t>End section with a final “::::::”</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a:t>
            </a:r>
          </a:p>
          <a:p>
            <a:pPr lvl="0" indent="0" marL="0">
              <a:buNone/>
            </a:pPr>
            <a:r>
              <a:rPr/>
              <a:t>Let’s use columns to add bullet points next to an image.</a:t>
            </a:r>
          </a:p>
          <a:p>
            <a:pPr lvl="0" indent="0" marL="0">
              <a:buNone/>
            </a:pPr>
            <a:r>
              <a:rPr b="1"/>
              <a:t>Task 8</a:t>
            </a:r>
          </a:p>
          <a:p>
            <a:pPr lvl="0"/>
            <a:r>
              <a:rPr/>
              <a:t>☐ Click this link to download the image</a:t>
            </a:r>
          </a:p>
          <a:p>
            <a:pPr lvl="0"/>
            <a:r>
              <a:rPr/>
              <a:t>☐ Save the image to the main folder of the Quarto document files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a:t>
            </a:r>
          </a:p>
          <a:p>
            <a:pPr lvl="0" indent="0" marL="0">
              <a:buNone/>
            </a:pPr>
            <a:r>
              <a:rPr b="1"/>
              <a:t>Task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b="1"/>
              <a:t>Zotero</a:t>
            </a:r>
            <a:r>
              <a:rPr/>
              <a:t> is a free reference management tool to collect, organize, cite, and share research sources.</a:t>
            </a:r>
          </a:p>
          <a:p>
            <a:pPr lvl="0" indent="0" marL="0">
              <a:buNone/>
            </a:pPr>
            <a:r>
              <a:rPr/>
              <a:t>You can use </a:t>
            </a:r>
            <a:r>
              <a:rPr b="1"/>
              <a:t>Zotero</a:t>
            </a:r>
            <a:r>
              <a:rPr/>
              <a:t> in RStudio to easily insert citations into your Quarto document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switch to the “Visual Editor” mode,</a:t>
            </a:r>
          </a:p>
          <a:p>
            <a:pPr lvl="0"/>
            <a:r>
              <a:rPr/>
              <a:t>add </a:t>
            </a:r>
            <a:r>
              <a:rPr>
                <a:latin typeface="Courier"/>
              </a:rPr>
              <a:t>bibliography: references.bib</a:t>
            </a:r>
            <a:r>
              <a:rPr/>
              <a:t> in the YAML header,</a:t>
            </a:r>
          </a:p>
          <a:p>
            <a:pPr lvl="0"/>
            <a:r>
              <a:rPr/>
              <a:t>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zotero2.png" id="0" name="Picture 1"/>
          <p:cNvPicPr>
            <a:picLocks noGrp="1" noChangeAspect="1"/>
          </p:cNvPicPr>
          <p:nvPr/>
        </p:nvPicPr>
        <p:blipFill>
          <a:blip r:embed="rId2"/>
          <a:stretch>
            <a:fillRect/>
          </a:stretch>
        </p:blipFill>
        <p:spPr bwMode="auto">
          <a:xfrm>
            <a:off x="1574800" y="1193800"/>
            <a:ext cx="1803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select citations straight from your library and folders in Zotero</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practice adding a citation</a:t>
            </a:r>
          </a:p>
          <a:p>
            <a:pPr lvl="0" indent="0" marL="0">
              <a:buNone/>
            </a:pPr>
            <a:r>
              <a:rPr b="1"/>
              <a:t>Task 9</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the text above and place the cursor at the end of the sentence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Task 9</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and then click Insert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add another citation to practice adding </a:t>
            </a:r>
            <a:r>
              <a:rPr b="1"/>
              <a:t>in-text</a:t>
            </a:r>
            <a:r>
              <a:rPr/>
              <a:t> citations</a:t>
            </a:r>
          </a:p>
          <a:p>
            <a:pPr lvl="0" indent="0" marL="0">
              <a:buNone/>
            </a:pPr>
            <a:r>
              <a:rPr b="1"/>
              <a:t>Task 10</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a:p>
            <a:pPr lvl="0"/>
            <a:r>
              <a:rPr/>
              <a:t>☐ </a:t>
            </a:r>
            <a:r>
              <a:rPr>
                <a:hlinkClick r:id="rId2"/>
              </a:rPr>
              <a:t>follow this link to another article on diets and broiler chicks</a:t>
            </a:r>
          </a:p>
          <a:p>
            <a:pPr lvl="0"/>
            <a:r>
              <a:rPr/>
              <a:t>☐ add the citation to your Zotero Library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Task 10</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 and</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It’s the process of sharing the rendered documents or projects online so it can become accessible to others.</a:t>
            </a:r>
          </a:p>
          <a:p>
            <a:pPr lvl="0" indent="0" marL="0">
              <a:buNone/>
            </a:pPr>
            <a:r>
              <a:rPr/>
              <a:t>You can publish to:</a:t>
            </a:r>
          </a:p>
          <a:p>
            <a:pPr lvl="0"/>
            <a:r>
              <a:rPr/>
              <a:t>GitHub Pages</a:t>
            </a:r>
          </a:p>
          <a:p>
            <a:pPr lvl="0"/>
            <a:r>
              <a:rPr/>
              <a:t>Quarto Pub</a:t>
            </a:r>
          </a:p>
          <a:p>
            <a:pPr lvl="0"/>
            <a:r>
              <a:rPr/>
              <a:t>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publishing to </a:t>
            </a:r>
            <a:r>
              <a:rPr b="1"/>
              <a:t>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Task 11</a:t>
            </a:r>
          </a:p>
          <a:p>
            <a:pPr lvl="0"/>
            <a:r>
              <a:rPr/>
              <a:t>☐ in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Task 11</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Task 11</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Task 11</a:t>
            </a:r>
          </a:p>
          <a:p>
            <a:pPr lvl="0"/>
            <a:r>
              <a:rPr/>
              <a:t>☐ in </a:t>
            </a:r>
            <a:r>
              <a:rPr>
                <a:hlinkClick r:id="rId3"/>
              </a:rPr>
              <a:t>GitHub</a:t>
            </a:r>
            <a:r>
              <a:rPr/>
              <a:t>, create a new repo</a:t>
            </a:r>
          </a:p>
          <a:p>
            <a:pPr lvl="0"/>
            <a:r>
              <a:rPr/>
              <a:t>☐ in Terminal, add remote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a:r>
              <a:rPr/>
              <a:t>☐ In your repo on </a:t>
            </a:r>
            <a:r>
              <a:rPr>
                <a:hlinkClick r:id="rId2"/>
              </a:rPr>
              <a:t>GitHub</a:t>
            </a:r>
            <a:r>
              <a:rPr/>
              <a:t>, go to Settings</a:t>
            </a:r>
          </a:p>
          <a:p>
            <a:pPr lvl="0"/>
            <a:r>
              <a:rPr/>
              <a:t>☐ Click “Pages” to configure GitHub Pages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3.png" id="0" name="Picture 1"/>
          <p:cNvPicPr>
            <a:picLocks noGrp="1" noChangeAspect="1"/>
          </p:cNvPicPr>
          <p:nvPr/>
        </p:nvPicPr>
        <p:blipFill>
          <a:blip r:embed="rId2"/>
          <a:stretch>
            <a:fillRect/>
          </a:stretch>
        </p:blipFill>
        <p:spPr bwMode="auto">
          <a:xfrm>
            <a:off x="457200" y="1803400"/>
            <a:ext cx="4038600" cy="2159000"/>
          </a:xfrm>
          <a:prstGeom prst="rect">
            <a:avLst/>
          </a:prstGeom>
          <a:noFill/>
          <a:ln w="9525">
            <a:noFill/>
            <a:headEnd/>
            <a:tailEnd/>
          </a:ln>
        </p:spPr>
      </p:pic>
      <p:pic>
        <p:nvPicPr>
          <p:cNvPr descr="images/gitpages4.png" id="0" name="Picture 1"/>
          <p:cNvPicPr>
            <a:picLocks noGrp="1" noChangeAspect="1"/>
          </p:cNvPicPr>
          <p:nvPr/>
        </p:nvPicPr>
        <p:blipFill>
          <a:blip r:embed="rId3"/>
          <a:stretch>
            <a:fillRect/>
          </a:stretch>
        </p:blipFill>
        <p:spPr bwMode="auto">
          <a:xfrm>
            <a:off x="4648200" y="1917700"/>
            <a:ext cx="4038600" cy="19431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After 1-2 minutes, you will see that your site is </a:t>
            </a:r>
            <a:r>
              <a:rPr b="1"/>
              <a:t>live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a:t>
            </a:r>
          </a:p>
          <a:p>
            <a:pPr lvl="0" indent="0" marL="0">
              <a:buNone/>
            </a:pPr>
            <a:r>
              <a:rPr/>
              <a:t>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b="1"/>
              <a:t>“If you had to explain to a colleague in one sentence why learning Quarto matters for research and teaching, what would you say?”</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Attribution and license details</a:t>
            </a:r>
          </a:p>
          <a:p>
            <a:pPr lvl="0"/>
            <a:r>
              <a:rPr/>
              <a:t>This slide should contain information about the license and attribution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attribution (for previous slide)</a:t>
            </a:r>
          </a:p>
          <a:p>
            <a:pPr lvl="0" indent="0" marL="0">
              <a:buNone/>
            </a:pPr>
            <a:r>
              <a:rPr/>
              <a:t>“</a:t>
            </a:r>
            <a:r>
              <a:rPr>
                <a:hlinkClick r:id="rId2"/>
              </a:rPr>
              <a:t>Tutorial template for student track</a:t>
            </a:r>
            <a:r>
              <a:rPr/>
              <a:t>” by Sarah von Grebmer is licensed under </a:t>
            </a:r>
            <a:r>
              <a:rPr>
                <a:hlinkClick r:id="rId3"/>
              </a:rPr>
              <a:t>CC-BY-SA 4.0</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2025-08-20T09:30:21Z</dcterms:created>
  <dcterms:modified xsi:type="dcterms:W3CDTF">2025-08-20T09:30:21Z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20/08/2025</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