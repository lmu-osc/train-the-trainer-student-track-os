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notesMaster" Target="notesMasters/notesMaster1.xml" /><Relationship Id="rId87" Type="http://schemas.openxmlformats.org/officeDocument/2006/relationships/viewProps" Target="viewProps.xml" /><Relationship Id="rId8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9" Type="http://schemas.openxmlformats.org/officeDocument/2006/relationships/tableStyles" Target="tableStyles.xml" /><Relationship Id="rId8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from previous submodule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 indent="0" marL="0">
              <a:buNone/>
            </a:pP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 indent="0" marL="0">
              <a:buNone/>
            </a:pP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 indent="0" marL="0">
              <a:buNone/>
            </a:pPr>
          </a:p>
          <a:p>
            <a:pPr lvl="0"/>
            <a:r>
              <a:rPr/>
              <a:t>Not applicable if this set of slides corresponds to the first submodule of a new module.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 indent="0" marL="0">
              <a:buNone/>
            </a:pPr>
          </a:p>
          <a:p>
            <a:pPr lvl="0"/>
            <a:r>
              <a:rPr/>
              <a:t>Use free survey software such as or other survey software (Menti, particify, formR) to establish this. You can use the example survey, edit it or create your own!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 indent="0" marL="0">
              <a:buNone/>
            </a:pPr>
          </a:p>
          <a:p>
            <a:pPr lvl="0"/>
            <a:r>
              <a:rPr/>
              <a:t>Use visuals from the survey to highlight specific answers.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 indent="0" marL="0">
              <a:buNone/>
            </a:pP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 indent="0" marL="0">
              <a:buNone/>
            </a:pP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 indent="0" marL="0">
              <a:buNone/>
            </a:pPr>
          </a:p>
          <a:p>
            <a:pPr lvl="0"/>
            <a:r>
              <a:rPr/>
              <a:t>Examples:</a:t>
            </a:r>
          </a:p>
          <a:p>
            <a:pPr lvl="0" indent="0" marL="0">
              <a:buNone/>
            </a:pP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0" indent="0" marL="0">
              <a:buNone/>
            </a:pP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Aim: Introduce key terms and definitions that students will come across throughout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 of submodule topic - </a:t>
            </a:r>
            <a:r>
              <a:rPr b="1"/>
              <a:t>Aim</a:t>
            </a:r>
            <a:r>
              <a:rPr/>
              <a:t>: Core theoretical introduction of submodule topic. - Pair theoretical aspects with practical exercises and group discussions according to the Think-Pair-Share style and according to Cognitive Load Theory (Sweller, 1980). - Use multiple slides for this part.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Practical exercises on topic - </a:t>
            </a:r>
            <a:r>
              <a:rPr b="1"/>
              <a:t>Aim</a:t>
            </a:r>
            <a:r>
              <a:rPr/>
              <a:t>: Design practical exercises for students to apply the new skills in practise. - Depending on the topic, the exercises should be in accordance with the learning objective(s). - It’s useful to have exercises directly after a topic is taught to reinforce what was learnt.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buNone/>
            </a:pPr>
          </a:p>
          <a:p>
            <a:pPr lvl="0"/>
            <a:r>
              <a:rPr/>
              <a:t>Use free survey software such as or other survey software (Menti, particify, formR) to establish the following questions (shown on separate slides).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 indent="0" marL="0">
              <a:buNone/>
            </a:pPr>
          </a:p>
          <a:p>
            <a:pPr lvl="0"/>
            <a:r>
              <a:rPr/>
              <a:t>Highlight specific answers given during the survey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3" Type="http://schemas.openxmlformats.org/officeDocument/2006/relationships/hyperlink" Target="https://www.cambridge.org/core/journals/renewable-agriculture-and-food-systems/article/increasing-pasture-diet-diversity-in-broiler-chickens-insights-from-dna-metabarcoding/AE04029067B08AC5F0F0AA9AD5C3401C#" TargetMode="External" /><Relationship Id="rId2" Type="http://schemas.openxmlformats.org/officeDocument/2006/relationships/image" Target="../media/image4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sciencedirect.com/science/article/pii/S0032579119437073" TargetMode="Externa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Literate Programming with Quarto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Elizabeth Waterfield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14/08/2025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/>
            <a:r>
              <a:rPr b="1"/>
              <a:t>Conceptualization</a:t>
            </a:r>
            <a:r>
              <a:rPr/>
              <a:t>: Ideas; formulation or evolution of overarching research goals and aims</a:t>
            </a:r>
          </a:p>
          <a:p>
            <a:pPr lvl="0"/>
            <a:r>
              <a:rPr b="1"/>
              <a:t>Methodology</a:t>
            </a:r>
            <a:r>
              <a:rPr/>
              <a:t>: Development or design of methodology; creation of models</a:t>
            </a:r>
          </a:p>
          <a:p>
            <a:pPr lvl="0"/>
            <a:r>
              <a:rPr b="1"/>
              <a:t>Software</a:t>
            </a:r>
            <a:r>
              <a:rPr/>
              <a:t> : Programming, software development; designing computer programs; implementation of the computer code and supporting algorithms; testing of existing code components</a:t>
            </a:r>
          </a:p>
          <a:p>
            <a:pPr lvl="0"/>
            <a:r>
              <a:rPr b="1"/>
              <a:t>Validation</a:t>
            </a:r>
            <a:r>
              <a:rPr/>
              <a:t>: Verification, whether as a part of the activity or separate, of the overall replication/ reproducibility of results/experiments and other research outputs</a:t>
            </a:r>
          </a:p>
          <a:p>
            <a:pPr lvl="0"/>
            <a:r>
              <a:rPr b="1"/>
              <a:t>Formal analysis</a:t>
            </a:r>
            <a:r>
              <a:rPr/>
              <a:t>: Application of statistical, mathematical, computational, or other formal techniques to analyze or synthesize study data</a:t>
            </a:r>
          </a:p>
          <a:p>
            <a:pPr lvl="0"/>
            <a:r>
              <a:rPr b="1"/>
              <a:t>Investigation</a:t>
            </a:r>
            <a:r>
              <a:rPr/>
              <a:t>: Conducting a research and investigation process, specifically performing the experiments, or data/evidence collection</a:t>
            </a:r>
          </a:p>
          <a:p>
            <a:pPr lvl="0"/>
            <a:r>
              <a:rPr b="1"/>
              <a:t>Resources</a:t>
            </a:r>
            <a:r>
              <a:rPr/>
              <a:t>: Provision of study materials, reagents, materials, patients, laboratory samples, animals, instrumentation, computing resources, or other analysis tools</a:t>
            </a:r>
          </a:p>
          <a:p>
            <a:pPr lvl="0"/>
            <a:r>
              <a:rPr b="1"/>
              <a:t>Data Curation</a:t>
            </a:r>
            <a:r>
              <a:rPr/>
              <a:t>: Management activities to annotate (produce metadata), scrub data and maintain research data (including software code, where it is necessary for interpreting the data itself) for initial use and later reuse</a:t>
            </a:r>
          </a:p>
          <a:p>
            <a:pPr lvl="0"/>
            <a:r>
              <a:rPr b="1"/>
              <a:t>Writing - Original Draft</a:t>
            </a:r>
            <a:r>
              <a:rPr/>
              <a:t>: Preparation, creation and/or presentation of the published work, specifically writing the initial draft (including substantive translation)</a:t>
            </a:r>
          </a:p>
          <a:p>
            <a:pPr lvl="0"/>
            <a:r>
              <a:rPr b="1"/>
              <a:t>Writing - Review &amp; Editing</a:t>
            </a:r>
            <a:r>
              <a:rPr/>
              <a:t>: Preparation, creation and/or presentation of the published work by those from the original research group, specifically critical review, commentary or revision – including pre-or postpublication stages</a:t>
            </a:r>
          </a:p>
          <a:p>
            <a:pPr lvl="0"/>
            <a:r>
              <a:rPr b="1"/>
              <a:t>Visualization</a:t>
            </a:r>
            <a:r>
              <a:rPr/>
              <a:t>: Preparation, creation and/or presentation of the published work, specifically visualization/ data presentation</a:t>
            </a:r>
          </a:p>
          <a:p>
            <a:pPr lvl="0"/>
            <a:r>
              <a:rPr b="1"/>
              <a:t>Supervision</a:t>
            </a:r>
            <a:r>
              <a:rPr/>
              <a:t>: Oversight and leadership responsibility for the research activity planning and execution, including mentorship external to the core team</a:t>
            </a:r>
          </a:p>
          <a:p>
            <a:pPr lvl="0"/>
            <a:r>
              <a:rPr b="1"/>
              <a:t>Project administration</a:t>
            </a:r>
            <a:r>
              <a:rPr/>
              <a:t>: Management and coordination responsibility for the research activity planning and execution</a:t>
            </a:r>
          </a:p>
          <a:p>
            <a:pPr lvl="0"/>
            <a:r>
              <a:rPr b="1"/>
              <a:t>Funding acquisition</a:t>
            </a:r>
            <a:r>
              <a:rPr/>
              <a:t>: Acquisition of the financial support for the project leading to this publication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Prerequisites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2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 indent="0" marL="0">
              <a:buNone/>
            </a:pPr>
            <a:r>
              <a:rPr/>
              <a:t>Take this survey to test your prior Quarto knowledge</a:t>
            </a:r>
          </a:p>
          <a:p>
            <a:pPr lvl="0" indent="0" marL="0">
              <a:buNone/>
            </a:pPr>
            <a:r>
              <a:rPr/>
              <a:t>Quarto Survey link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Quarto</a:t>
            </a:r>
          </a:p>
          <a:p>
            <a:pPr lvl="0" indent="0" marL="0">
              <a:buNone/>
            </a:pPr>
            <a:r>
              <a:rPr/>
              <a:t>Quarto makes it easy to analyze, share and reproduce. It’s a powerful tool for producing transparent, reproducible, and accessible work that can be freely shared, viewed, and reused by others.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Quarto Learning Goals</a:t>
            </a:r>
          </a:p>
          <a:p>
            <a:pPr lvl="0"/>
            <a:r>
              <a:rPr/>
              <a:t>Participants will </a:t>
            </a:r>
            <a:r>
              <a:rPr b="1"/>
              <a:t>learn</a:t>
            </a:r>
            <a:r>
              <a:rPr/>
              <a:t> how to create, edit, and render Quarto documents</a:t>
            </a:r>
          </a:p>
          <a:p>
            <a:pPr lvl="0"/>
            <a:r>
              <a:rPr/>
              <a:t>Participants will </a:t>
            </a:r>
            <a:r>
              <a:rPr b="1"/>
              <a:t>understand</a:t>
            </a:r>
            <a:r>
              <a:rPr/>
              <a:t> how to use key Quarto features (code chunks, YAML headers, citations, and output formatting)</a:t>
            </a:r>
          </a:p>
          <a:p>
            <a:pPr lvl="0"/>
            <a:r>
              <a:rPr/>
              <a:t>Participants will </a:t>
            </a:r>
            <a:r>
              <a:rPr b="1"/>
              <a:t>gain confidence</a:t>
            </a:r>
            <a:r>
              <a:rPr/>
              <a:t> in preparing and teaching Quarto effectively to students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What is Quarto?</a:t>
            </a:r>
            <a:r>
              <a:rPr/>
              <a:t> An open-source scientific and publishing system that combines text, code and media to create easily shareable documents such as websites, slides, reports, and much more.</a:t>
            </a:r>
          </a:p>
          <a:p>
            <a:pPr lvl="0"/>
            <a:r>
              <a:rPr b="1"/>
              <a:t>What is Rendering?</a:t>
            </a:r>
            <a:r>
              <a:rPr/>
              <a:t> The process where Quarto runs the code, combines it with the text, and creates a final output.</a:t>
            </a:r>
          </a:p>
          <a:p>
            <a:pPr lvl="0"/>
            <a:r>
              <a:rPr/>
              <a:t>A Quarto Markdown document is saved as a </a:t>
            </a:r>
            <a:r>
              <a:rPr b="1"/>
              <a:t>.qmd file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Components of a .qmd file</a:t>
            </a:r>
          </a:p>
          <a:p>
            <a:pPr lvl="0"/>
            <a:r>
              <a:rPr b="1"/>
              <a:t>YAML header</a:t>
            </a:r>
            <a:r>
              <a:rPr/>
              <a:t>- the section at the top of the Quarto document that controls settings like the title, output format, and author.</a:t>
            </a:r>
          </a:p>
          <a:p>
            <a:pPr lvl="0"/>
            <a:r>
              <a:rPr b="1"/>
              <a:t>code chunks</a:t>
            </a:r>
            <a:r>
              <a:rPr/>
              <a:t>- sections of the document that contains code (from R or Python, for example) that are used for showing results such as tables, plots, or calculations</a:t>
            </a:r>
          </a:p>
          <a:p>
            <a:pPr lvl="0"/>
            <a:r>
              <a:rPr b="1"/>
              <a:t>Quarto Markdown</a:t>
            </a:r>
            <a:r>
              <a:rPr/>
              <a:t>- combines text, codes, and formatting to create the actual content of the document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Components of a .qmd file</a:t>
            </a:r>
          </a:p>
          <a:p>
            <a:pPr lvl="0"/>
            <a:r>
              <a:rPr/>
              <a:t>You can write Quarto documents in </a:t>
            </a:r>
            <a:r>
              <a:rPr b="1"/>
              <a:t>Visual mode</a:t>
            </a:r>
            <a:r>
              <a:rPr/>
              <a:t> or </a:t>
            </a:r>
            <a:r>
              <a:rPr b="1"/>
              <a:t>Source mode</a:t>
            </a:r>
            <a:r>
              <a:rPr/>
              <a:t> in RStudio.</a:t>
            </a:r>
          </a:p>
          <a:p>
            <a:pPr lvl="0"/>
            <a:r>
              <a:rPr/>
              <a:t>This is part of the </a:t>
            </a:r>
            <a:r>
              <a:rPr b="1"/>
              <a:t>authoring process</a:t>
            </a:r>
            <a:r>
              <a:rPr/>
              <a:t>, and it allows you to format the text, add code, and build your document using either buttons (WYSIWYM-style) or markdown syntax.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Covered in this Session</a:t>
            </a:r>
          </a:p>
          <a:p>
            <a:pPr lvl="0"/>
            <a:r>
              <a:rPr/>
              <a:t>Setting up a Quarto Document</a:t>
            </a:r>
          </a:p>
          <a:p>
            <a:pPr lvl="0"/>
            <a:r>
              <a:rPr/>
              <a:t>Authoring</a:t>
            </a:r>
          </a:p>
          <a:p>
            <a:pPr lvl="0"/>
            <a:r>
              <a:rPr/>
              <a:t>Code Chunks</a:t>
            </a:r>
          </a:p>
          <a:p>
            <a:pPr lvl="0"/>
            <a:r>
              <a:rPr/>
              <a:t>Adding Citations</a:t>
            </a:r>
          </a:p>
          <a:p>
            <a:pPr lvl="0"/>
            <a:r>
              <a:rPr/>
              <a:t>Publishing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Setting up a Quarto Document using RStudio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setup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23900" y="1193800"/>
            <a:ext cx="3505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Select </a:t>
            </a:r>
            <a:r>
              <a:rPr b="1"/>
              <a:t>File</a:t>
            </a:r>
            <a:br/>
          </a:p>
          <a:p>
            <a:pPr lvl="0"/>
            <a:r>
              <a:rPr/>
              <a:t>→ Select </a:t>
            </a:r>
            <a:r>
              <a:rPr b="1"/>
              <a:t>New File</a:t>
            </a:r>
            <a:br/>
          </a:p>
          <a:p>
            <a:pPr lvl="0"/>
            <a:r>
              <a:rPr/>
              <a:t>→ Select </a:t>
            </a:r>
            <a:r>
              <a:rPr b="1"/>
              <a:t>Quarto Document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Setting up a Quarto Document using RStudio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setup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1500" y="1193800"/>
            <a:ext cx="3822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The default format is html</a:t>
            </a:r>
          </a:p>
          <a:p>
            <a:pPr lvl="0"/>
            <a:r>
              <a:rPr/>
              <a:t>The output format can also be changed by editing the YAML header</a:t>
            </a:r>
          </a:p>
          <a:p>
            <a:pPr lvl="0" indent="0" marL="0">
              <a:buNone/>
            </a:pPr>
            <a:r>
              <a:rPr b="1"/>
              <a:t>Task 1</a:t>
            </a:r>
          </a:p>
          <a:p>
            <a:pPr lvl="0"/>
            <a:r>
              <a:rPr/>
              <a:t>☐ Follow the steps to create a new Quarto Document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Rendering</a:t>
            </a:r>
          </a:p>
          <a:p>
            <a:pPr lvl="0" indent="0" marL="0">
              <a:buNone/>
            </a:pPr>
            <a:r>
              <a:rPr/>
              <a:t>There are two ways to render in Quarto</a:t>
            </a:r>
          </a:p>
          <a:p>
            <a:pPr lvl="0"/>
            <a:r>
              <a:rPr b="1"/>
              <a:t>Manual rendering</a:t>
            </a:r>
            <a:r>
              <a:rPr/>
              <a:t>: having to click on the “Render” each time you want to see the output</a:t>
            </a:r>
          </a:p>
          <a:p>
            <a:pPr lvl="0"/>
            <a:r>
              <a:rPr b="1"/>
              <a:t>Render on Save</a:t>
            </a:r>
            <a:r>
              <a:rPr/>
              <a:t>: Quarto will automatically re-render the document each time you click “Save”</a:t>
            </a:r>
          </a:p>
          <a:p>
            <a:pPr lvl="0" indent="0" marL="0">
              <a:buNone/>
            </a:pPr>
            <a:r>
              <a:rPr b="1"/>
              <a:t>Where are these rendering options in RStudio?</a:t>
            </a:r>
          </a:p>
        </p:txBody>
      </p:sp>
      <p:pic>
        <p:nvPicPr>
          <p:cNvPr descr="images/render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968500"/>
            <a:ext cx="5105400" cy="34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You can find both Manual Render and Render on Save at the top of your workspace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Authoring</a:t>
            </a:r>
          </a:p>
          <a:p>
            <a:pPr lvl="0" indent="0" marL="0">
              <a:buNone/>
            </a:pPr>
            <a:r>
              <a:rPr/>
              <a:t>This is the process of writing and structuring the Quarto document.</a:t>
            </a:r>
          </a:p>
          <a:p>
            <a:pPr lvl="0" indent="0" marL="0">
              <a:buNone/>
            </a:pPr>
            <a:r>
              <a:rPr b="1"/>
              <a:t>YAML Header + Markdown = Authoring</a:t>
            </a:r>
          </a:p>
          <a:p>
            <a:pPr lvl="0" indent="0" marL="0">
              <a:buNone/>
            </a:pPr>
            <a:r>
              <a:rPr/>
              <a:t>To practice authoring in Quarto, let’s start with setting the YAML header and adding text in </a:t>
            </a:r>
            <a:r>
              <a:rPr b="1"/>
              <a:t>Source</a:t>
            </a:r>
            <a:r>
              <a:rPr/>
              <a:t> mode.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Authoring</a:t>
            </a:r>
          </a:p>
          <a:p>
            <a:pPr lvl="0" indent="0" marL="0">
              <a:buNone/>
            </a:pPr>
            <a:r>
              <a:rPr b="1"/>
              <a:t>Task 2</a:t>
            </a:r>
          </a:p>
          <a:p>
            <a:pPr lvl="0"/>
            <a:r>
              <a:rPr/>
              <a:t>☐ copy &amp; paste this into the YAML header of your document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title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"ChickWeight Analysis"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author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"Your Name"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format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html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code-fold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false</a:t>
            </a:r>
            <a:br/>
            <a:r>
              <a:rPr>
                <a:solidFill>
                  <a:srgbClr val="657422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toc</a:t>
            </a:r>
            <a:r>
              <a:rPr b="1">
                <a:solidFill>
                  <a:srgbClr val="003B4F"/>
                </a:solidFill>
                <a:latin typeface="Courier"/>
              </a:rPr>
              <a:t>:</a:t>
            </a:r>
            <a:r>
              <a:rPr>
                <a:solidFill>
                  <a:srgbClr val="657422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true</a:t>
            </a:r>
            <a:br/>
            <a:r>
              <a:rPr>
                <a:solidFill>
                  <a:srgbClr val="AD0000"/>
                </a:solidFill>
                <a:latin typeface="Courier"/>
              </a:rPr>
              <a:t>---</a:t>
            </a:r>
          </a:p>
          <a:p>
            <a:pPr lvl="0" indent="0" marL="1270000">
              <a:buNone/>
            </a:pPr>
            <a:r>
              <a:rPr sz="2000" b="1"/>
              <a:t>output format</a:t>
            </a:r>
          </a:p>
          <a:p>
            <a:pPr lvl="0" indent="0" marL="1270000">
              <a:buNone/>
            </a:pPr>
            <a:r>
              <a:rPr sz="2000"/>
              <a:t>You can replace “html” to render the document to a different format.</a:t>
            </a:r>
          </a:p>
          <a:p>
            <a:pPr lvl="0" indent="0" marL="1270000">
              <a:buNone/>
            </a:pPr>
            <a:r>
              <a:rPr sz="2000"/>
              <a:t>Here is a link to a list of the different output formats.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Markdown Text</a:t>
            </a:r>
          </a:p>
          <a:p>
            <a:pPr lvl="0" indent="0" marL="0"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>
              <a:buNone/>
            </a:pPr>
            <a:r>
              <a:rPr sz="2000" b="1"/>
              <a:t>markdown shortcuts</a:t>
            </a:r>
          </a:p>
          <a:p>
            <a:pPr lvl="0" indent="0" marL="1270000">
              <a:buNone/>
            </a:pPr>
            <a:r>
              <a:rPr sz="2000"/>
              <a:t>Here is a link for the full list of markdown shortcuts for formatting!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Formatting Markdown Text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Have you ever been curious about what affects a chick's weight?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This document explores the ChickWeight dataset using R.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The goal is to compare chick weight across different diets and time points.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Key steps include:</a:t>
            </a:r>
            <a:br/>
            <a:br/>
            <a:r>
              <a:rPr>
                <a:solidFill>
                  <a:srgbClr val="20794D"/>
                </a:solidFill>
                <a:latin typeface="Courier"/>
              </a:rPr>
              <a:t>- </a:t>
            </a:r>
            <a:r>
              <a:rPr>
                <a:solidFill>
                  <a:srgbClr val="003B4F"/>
                </a:solidFill>
                <a:latin typeface="Courier"/>
              </a:rPr>
              <a:t>Loading the dataset  </a:t>
            </a:r>
            <a:br/>
            <a:r>
              <a:rPr>
                <a:solidFill>
                  <a:srgbClr val="20794D"/>
                </a:solidFill>
                <a:latin typeface="Courier"/>
              </a:rPr>
              <a:t>- </a:t>
            </a:r>
            <a:r>
              <a:rPr>
                <a:solidFill>
                  <a:srgbClr val="003B4F"/>
                </a:solidFill>
                <a:latin typeface="Courier"/>
              </a:rPr>
              <a:t>Visualizing growth trends  </a:t>
            </a:r>
            <a:br/>
            <a:r>
              <a:rPr>
                <a:solidFill>
                  <a:srgbClr val="20794D"/>
                </a:solidFill>
                <a:latin typeface="Courier"/>
              </a:rPr>
              <a:t>- </a:t>
            </a:r>
            <a:r>
              <a:rPr>
                <a:solidFill>
                  <a:srgbClr val="003B4F"/>
                </a:solidFill>
                <a:latin typeface="Courier"/>
              </a:rPr>
              <a:t>Summarizing results</a:t>
            </a:r>
          </a:p>
          <a:p>
            <a:pPr lvl="0" indent="0" marL="0">
              <a:buNone/>
            </a:pPr>
            <a:r>
              <a:rPr b="1"/>
              <a:t>Task 3</a:t>
            </a:r>
          </a:p>
          <a:p>
            <a:pPr lvl="0"/>
            <a:r>
              <a:rPr/>
              <a:t>☐ Copy this text and paste it to your document</a:t>
            </a:r>
          </a:p>
          <a:p>
            <a:pPr lvl="0"/>
            <a:r>
              <a:rPr/>
              <a:t>☐ Bold the word </a:t>
            </a:r>
            <a:r>
              <a:rPr i="1"/>
              <a:t>“ChickWeight”</a:t>
            </a:r>
          </a:p>
          <a:p>
            <a:pPr lvl="0"/>
            <a:r>
              <a:rPr/>
              <a:t>☐ Italicize the phrase </a:t>
            </a:r>
            <a:r>
              <a:rPr i="1"/>
              <a:t>“growth trends”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Adding a Callout Box</a:t>
            </a:r>
          </a:p>
          <a:p>
            <a:pPr lvl="0" indent="0" marL="0">
              <a:buNone/>
            </a:pPr>
            <a:r>
              <a:rPr/>
              <a:t>Highlight particularly important aspects with Quarto callout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 using </a:t>
            </a:r>
            <a:r>
              <a:rPr sz="2000">
                <a:latin typeface="Courier"/>
              </a:rPr>
              <a:t>callout-important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 using </a:t>
            </a:r>
            <a:r>
              <a:rPr sz="2000">
                <a:latin typeface="Courier"/>
              </a:rPr>
              <a:t>callout-tip</a:t>
            </a:r>
          </a:p>
          <a:p>
            <a:pPr lvl="0" indent="0" marL="1270000">
              <a:buNone/>
            </a:pPr>
            <a:r>
              <a:rPr sz="2000" b="1"/>
              <a:t>Note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include an additional note using </a:t>
            </a:r>
            <a:r>
              <a:rPr sz="2000">
                <a:latin typeface="Courier"/>
              </a:rPr>
              <a:t>callout-note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Adding a Callout Box</a:t>
            </a:r>
          </a:p>
          <a:p>
            <a:pPr lvl="0" indent="0" marL="0">
              <a:buNone/>
            </a:pPr>
            <a:r>
              <a:rPr/>
              <a:t>Here is the markdown text for inserting a callout note box.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::: callout-note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## Based on Real Data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The ChickWeight dataset in R is based on real experimental data.</a:t>
            </a:r>
            <a:br/>
            <a:r>
              <a:rPr>
                <a:solidFill>
                  <a:srgbClr val="003B4F"/>
                </a:solidFill>
                <a:latin typeface="Courier"/>
              </a:rPr>
              <a:t>:::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Task 4</a:t>
            </a:r>
          </a:p>
          <a:p>
            <a:pPr lvl="0"/>
            <a:r>
              <a:rPr/>
              <a:t>☐ Copy &amp; paste into your Quarto document to add this callout note box.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Chunks</a:t>
            </a:r>
          </a:p>
          <a:p>
            <a:pPr lvl="0" indent="0" marL="0">
              <a:buNone/>
            </a:pPr>
            <a:r>
              <a:rPr b="1"/>
              <a:t>Inserting Code</a:t>
            </a:r>
          </a:p>
          <a:p>
            <a:pPr lvl="0" indent="0" marL="0">
              <a:buNone/>
            </a:pPr>
            <a:r>
              <a:rPr/>
              <a:t>Two ways to insert code chunks:</a:t>
            </a:r>
          </a:p>
          <a:p>
            <a:pPr lvl="0"/>
            <a:r>
              <a:rPr/>
              <a:t>Manually type 3 back ticks ``` then {r} to start a coding chunk and end it with 3 back ticks</a:t>
            </a:r>
          </a:p>
          <a:p>
            <a:pPr lvl="0" indent="0" marL="0">
              <a:buNone/>
            </a:pPr>
            <a:r>
              <a:rPr b="1"/>
              <a:t>OR</a:t>
            </a:r>
          </a:p>
          <a:p>
            <a:pPr lvl="0"/>
            <a:r>
              <a:rPr/>
              <a:t>Use the keyboard shortcut Ctrl + Alt + I (Windows/Linux) or Cmd + Option + I (Mac) to insert a code chunk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Inserting Code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summary(ChickWeight)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library(ggplot2)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ggplot(ChickWeight, aes(x = Time, y = weight, color = Diet)) 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geom_line(aes(group = Chick)) 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labs(title = "Chick Growth Over Time")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Task 5</a:t>
            </a:r>
          </a:p>
          <a:p>
            <a:pPr lvl="0"/>
            <a:r>
              <a:rPr/>
              <a:t>☐ Insert the code in </a:t>
            </a:r>
            <a:r>
              <a:rPr b="1"/>
              <a:t>two separate code chunks</a:t>
            </a:r>
          </a:p>
          <a:p>
            <a:pPr lvl="0"/>
            <a:r>
              <a:rPr/>
              <a:t>☐ Render the output and see what you get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Chunks</a:t>
            </a:r>
          </a:p>
          <a:p>
            <a:pPr lvl="0" indent="0" marL="0">
              <a:buNone/>
            </a:pPr>
            <a:r>
              <a:rPr/>
              <a:t>Adjust how the code is portrayed by editing the YAML header</a:t>
            </a:r>
          </a:p>
          <a:p>
            <a:pPr lvl="0" indent="0" marL="0">
              <a:buNone/>
            </a:pPr>
          </a:p>
          <a:p>
            <a:pPr lvl="0"/>
            <a:r>
              <a:rPr>
                <a:latin typeface="Courier"/>
              </a:rPr>
              <a:t>code-fold: false</a:t>
            </a:r>
            <a:r>
              <a:rPr/>
              <a:t> - the code is visible and not collapsible (as seen here)</a:t>
            </a:r>
          </a:p>
          <a:p>
            <a:pPr lvl="0"/>
            <a:r>
              <a:rPr>
                <a:latin typeface="Courier"/>
              </a:rPr>
              <a:t>code-fold: true</a:t>
            </a:r>
            <a:r>
              <a:rPr/>
              <a:t> - collapses the code so the reader can expand it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Chunks</a:t>
            </a:r>
          </a:p>
          <a:p>
            <a:pPr lvl="0" indent="0" marL="0">
              <a:buNone/>
            </a:pPr>
            <a:r>
              <a:rPr/>
              <a:t>Adjust how the code is portrayed by editing the YAML header</a:t>
            </a:r>
          </a:p>
          <a:p>
            <a:pPr lvl="0" indent="0" marL="0">
              <a:buNone/>
            </a:pPr>
          </a:p>
          <a:p>
            <a:pPr lvl="0"/>
            <a:r>
              <a:rPr>
                <a:latin typeface="Courier"/>
              </a:rPr>
              <a:t>code-tools: true</a:t>
            </a:r>
            <a:r>
              <a:rPr/>
              <a:t> - adds the functions “show code” at the top of the page and “copy” next to the chunks</a:t>
            </a:r>
          </a:p>
          <a:p>
            <a:pPr lvl="0"/>
            <a:r>
              <a:rPr>
                <a:latin typeface="Courier"/>
              </a:rPr>
              <a:t>echo: true</a:t>
            </a:r>
            <a:r>
              <a:rPr/>
              <a:t> - both the code and the output is visible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Chunks</a:t>
            </a:r>
          </a:p>
          <a:p>
            <a:pPr lvl="0" indent="0" marL="0">
              <a:buNone/>
            </a:pPr>
            <a:r>
              <a:rPr/>
              <a:t>Let’s edit the YAML header to make the code chunks collapsible and add code tools.</a:t>
            </a:r>
          </a:p>
          <a:p>
            <a:pPr lvl="0" indent="0" marL="0">
              <a:buNone/>
            </a:pPr>
            <a:r>
              <a:rPr b="1"/>
              <a:t>Task 6</a:t>
            </a:r>
          </a:p>
          <a:p>
            <a:pPr lvl="0"/>
            <a:r>
              <a:rPr/>
              <a:t>☐ change </a:t>
            </a:r>
            <a:r>
              <a:rPr>
                <a:latin typeface="Courier"/>
              </a:rPr>
              <a:t>code-fold: false</a:t>
            </a:r>
            <a:r>
              <a:rPr/>
              <a:t> to </a:t>
            </a:r>
            <a:r>
              <a:rPr>
                <a:latin typeface="Courier"/>
              </a:rPr>
              <a:t>code-fold: true</a:t>
            </a:r>
          </a:p>
          <a:p>
            <a:pPr lvl="0"/>
            <a:r>
              <a:rPr/>
              <a:t>☐ add </a:t>
            </a:r>
            <a:r>
              <a:rPr>
                <a:latin typeface="Courier"/>
              </a:rPr>
              <a:t>code-tools: true</a:t>
            </a:r>
          </a:p>
          <a:p>
            <a:pPr lvl="0"/>
            <a:r>
              <a:rPr/>
              <a:t>☐ render the document to see the changes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What’s the name of Quarto Markdown document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.png file</a:t>
            </a:r>
          </a:p>
          <a:p>
            <a:pPr lvl="0" indent="-342900" marL="342900">
              <a:buAutoNum type="alphaLcPeriod"/>
            </a:pPr>
            <a:r>
              <a:rPr/>
              <a:t>.qmd file ✅</a:t>
            </a:r>
          </a:p>
          <a:p>
            <a:pPr lvl="0" indent="-342900" marL="342900">
              <a:buAutoNum type="alphaLcPeriod"/>
            </a:pPr>
            <a:r>
              <a:rPr/>
              <a:t>.doc file</a:t>
            </a:r>
          </a:p>
          <a:p>
            <a:pPr lvl="0" indent="-342900" marL="342900">
              <a:buAutoNum type="alphaLcPeriod"/>
            </a:pPr>
            <a:r>
              <a:rPr/>
              <a:t>.mp3 file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YAML header?</a:t>
            </a:r>
          </a:p>
          <a:p>
            <a:pPr lvl="0" indent="-342900" marL="342900">
              <a:buAutoNum type="alphaLcPeriod"/>
            </a:pPr>
            <a:r>
              <a:rPr/>
              <a:t>summarizes the document into a single line</a:t>
            </a:r>
          </a:p>
          <a:p>
            <a:pPr lvl="0" indent="-342900" marL="342900">
              <a:buAutoNum type="alphaLcPeriod"/>
            </a:pPr>
            <a:r>
              <a:rPr/>
              <a:t>this is where you store notes and reminders</a:t>
            </a:r>
          </a:p>
          <a:p>
            <a:pPr lvl="0" indent="-342900" marL="342900">
              <a:buAutoNum type="alphaLcPeriod"/>
            </a:pPr>
            <a:r>
              <a:rPr/>
              <a:t>it’s like the “settings” of the document ✅</a:t>
            </a:r>
          </a:p>
          <a:p>
            <a:pPr lvl="0" indent="-342900" marL="342900">
              <a:buAutoNum type="alphaLcPeriod"/>
            </a:pPr>
            <a:r>
              <a:rPr/>
              <a:t>just the title of the document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is used to format content (like paragraphs and bullet points)?</a:t>
            </a:r>
          </a:p>
          <a:p>
            <a:pPr lvl="0" indent="-342900" marL="342900">
              <a:buAutoNum type="alphaLcPeriod"/>
            </a:pPr>
            <a:r>
              <a:rPr/>
              <a:t>Code chunks</a:t>
            </a:r>
          </a:p>
          <a:p>
            <a:pPr lvl="0" indent="-342900" marL="342900">
              <a:buAutoNum type="alphaLcPeriod"/>
            </a:pPr>
            <a:r>
              <a:rPr/>
              <a:t>YAML header</a:t>
            </a:r>
          </a:p>
          <a:p>
            <a:pPr lvl="0" indent="-342900" marL="342900">
              <a:buAutoNum type="alphaLcPeriod"/>
            </a:pPr>
            <a:r>
              <a:rPr/>
              <a:t>Markdown text ✅</a:t>
            </a:r>
          </a:p>
          <a:p>
            <a:pPr lvl="0" indent="-342900" marL="342900">
              <a:buAutoNum type="alphaLcPeriod"/>
            </a:pPr>
            <a:r>
              <a:rPr/>
              <a:t>All of the above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10 minutes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Authoring Features</a:t>
            </a:r>
          </a:p>
          <a:p>
            <a:pPr lvl="0" indent="0" marL="0">
              <a:buNone/>
            </a:pPr>
            <a:r>
              <a:rPr/>
              <a:t>Quarto offers additional authoring features that make it more versatile and comprehensive. These include:</a:t>
            </a:r>
          </a:p>
          <a:p>
            <a:pPr lvl="0"/>
            <a:r>
              <a:rPr/>
              <a:t>adding links and hyperlinking text,</a:t>
            </a:r>
          </a:p>
          <a:p>
            <a:pPr lvl="0"/>
            <a:r>
              <a:rPr/>
              <a:t>embedding media,</a:t>
            </a:r>
          </a:p>
          <a:p>
            <a:pPr lvl="0"/>
            <a:r>
              <a:rPr/>
              <a:t>creating multi-column layouts,</a:t>
            </a:r>
          </a:p>
          <a:p>
            <a:pPr lvl="0" indent="0" marL="0">
              <a:buNone/>
            </a:pPr>
            <a:r>
              <a:rPr/>
              <a:t>and more.</a:t>
            </a:r>
          </a:p>
          <a:p>
            <a:pPr lvl="0" indent="0" marL="1270000">
              <a:buNone/>
            </a:pPr>
            <a:r>
              <a:rPr sz="2000" b="1"/>
              <a:t>commonly used authoring features</a:t>
            </a:r>
          </a:p>
          <a:p>
            <a:pPr lvl="0" indent="0" marL="1270000">
              <a:buNone/>
            </a:pPr>
            <a:r>
              <a:rPr sz="2000"/>
              <a:t>Here is a link for commonly used markdown syntax for additional authoring features!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Inserting Links</a:t>
            </a:r>
          </a:p>
          <a:p>
            <a:pPr lvl="0" indent="0" marL="0">
              <a:buNone/>
            </a:pPr>
            <a:r>
              <a:rPr/>
              <a:t>link with title: [title] (link)</a:t>
            </a:r>
          </a:p>
          <a:p>
            <a:pPr lvl="0"/>
            <a:r>
              <a:rPr/>
              <a:t>[ Quarto Website ] ( https://quarto.org/ ) → </a:t>
            </a:r>
            <a:r>
              <a:rPr>
                <a:hlinkClick r:id="rId2"/>
              </a:rPr>
              <a:t>Quarto Website</a:t>
            </a:r>
          </a:p>
          <a:p>
            <a:pPr lvl="0"/>
            <a:r>
              <a:rPr/>
              <a:t>[Reveal.js Documentation] (https://revealjs.com/) → </a:t>
            </a:r>
            <a:r>
              <a:rPr>
                <a:hlinkClick r:id="rId3"/>
              </a:rPr>
              <a:t>Reveal.js Documentation</a:t>
            </a:r>
          </a:p>
          <a:p>
            <a:pPr lvl="0" indent="0" marL="0">
              <a:buNone/>
            </a:pPr>
            <a:r>
              <a:rPr/>
              <a:t>link without title: &lt; https:// link &gt;</a:t>
            </a:r>
          </a:p>
          <a:p>
            <a:pPr lvl="0"/>
            <a:r>
              <a:rPr/>
              <a:t>&lt; https://www.markdownguide.org/ &gt; → </a:t>
            </a:r>
            <a:r>
              <a:rPr>
                <a:hlinkClick r:id="rId4"/>
              </a:rPr>
              <a:t>https://www.markdownguide.org/</a:t>
            </a:r>
          </a:p>
          <a:p>
            <a:pPr lvl="0"/>
            <a:r>
              <a:rPr/>
              <a:t>&lt; https://github.com/ &gt; → </a:t>
            </a:r>
            <a:r>
              <a:rPr>
                <a:hlinkClick r:id="rId5"/>
              </a:rPr>
              <a:t>https://github.com/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Inserting Images</a:t>
            </a:r>
          </a:p>
          <a:p>
            <a:pPr lvl="0"/>
            <a:r>
              <a:rPr/>
              <a:t>A benefit of using Quarto is the ability to easily add media, such as images, to your documents</a:t>
            </a:r>
          </a:p>
          <a:p>
            <a:pPr lvl="0"/>
            <a:r>
              <a:rPr/>
              <a:t>It’s a good practice to save these files in the same main folder as your Quarto document (ideally in a dedicated subfolder named images—to keep paths organized and easy to manage)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Inserting Images</a:t>
            </a:r>
          </a:p>
          <a:p>
            <a:pPr lvl="0"/>
            <a:r>
              <a:rPr/>
              <a:t>no caption: ! [ ] ( path/image.png )</a:t>
            </a:r>
          </a:p>
        </p:txBody>
      </p:sp>
      <p:pic>
        <p:nvPicPr>
          <p:cNvPr descr="images/chickpic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98500"/>
            <a:ext cx="5105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Inserting Images</a:t>
            </a:r>
          </a:p>
          <a:p>
            <a:pPr lvl="0"/>
            <a:r>
              <a:rPr/>
              <a:t>with caption: ! [ caption ] ( path/image.png )</a:t>
            </a:r>
          </a:p>
        </p:txBody>
      </p:sp>
      <p:pic>
        <p:nvPicPr>
          <p:cNvPr descr="images/chickpic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44500"/>
            <a:ext cx="5105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This is a caption about three yellow chicks in the grass.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Inserting Images</a:t>
            </a:r>
          </a:p>
          <a:p>
            <a:pPr lvl="0"/>
            <a:r>
              <a:rPr/>
              <a:t>with link: [ ! [ caption ] ( path/image.png ) ] ( link )</a:t>
            </a:r>
          </a:p>
        </p:txBody>
      </p:sp>
      <p:pic>
        <p:nvPicPr>
          <p:cNvPr descr="images/chickpic1.png" id="0" name="Picture 1">
            <a:hlinkClick r:id="rId3"/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98500"/>
            <a:ext cx="5105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Inserting Images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![No chicks were harmed in the making of this lesson.](images/chickpic1.png)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Task 7</a:t>
            </a:r>
          </a:p>
          <a:p>
            <a:pPr lvl="0"/>
            <a:r>
              <a:rPr/>
              <a:t>☐ Click this link to download the image</a:t>
            </a:r>
          </a:p>
          <a:p>
            <a:pPr lvl="0"/>
            <a:r>
              <a:rPr/>
              <a:t>☐ Save the image to the main folder of the Quarto document files</a:t>
            </a:r>
          </a:p>
          <a:p>
            <a:pPr lvl="0"/>
            <a:r>
              <a:rPr/>
              <a:t>☐ Copy &amp; paste the markdown text to insert an image with a caption (edit path if needed)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Creating Columns</a:t>
            </a:r>
          </a:p>
          <a:p>
            <a:pPr lvl="0" indent="0" marL="0">
              <a:buNone/>
            </a:pPr>
            <a:r>
              <a:rPr/>
              <a:t>You can change the layout of a section using columns.</a:t>
            </a:r>
          </a:p>
          <a:p>
            <a:pPr lvl="0"/>
            <a:r>
              <a:rPr/>
              <a:t>Start the column layout by writing “:::::: columns”</a:t>
            </a:r>
          </a:p>
          <a:p>
            <a:pPr lvl="0"/>
            <a:r>
              <a:rPr/>
              <a:t>Begin the first column with “::: column”</a:t>
            </a:r>
          </a:p>
          <a:p>
            <a:pPr lvl="0"/>
            <a:r>
              <a:rPr/>
              <a:t>Add content and end it with “:::”</a:t>
            </a:r>
          </a:p>
          <a:p>
            <a:pPr lvl="0"/>
            <a:r>
              <a:rPr/>
              <a:t>Begin second coloumn with “::: column”</a:t>
            </a:r>
          </a:p>
          <a:p>
            <a:pPr lvl="0"/>
            <a:r>
              <a:rPr/>
              <a:t>Add content and end it with “:::”</a:t>
            </a:r>
          </a:p>
          <a:p>
            <a:pPr lvl="0"/>
            <a:r>
              <a:rPr/>
              <a:t>End section with a final “::::::”</a:t>
            </a:r>
          </a:p>
          <a:p>
            <a:pPr lvl="0" indent="0" marL="1270000">
              <a:buNone/>
            </a:pPr>
            <a:r>
              <a:rPr sz="2000" b="1"/>
              <a:t>list of page layout options</a:t>
            </a:r>
          </a:p>
          <a:p>
            <a:pPr lvl="0" indent="0" marL="1270000">
              <a:buNone/>
            </a:pPr>
            <a:r>
              <a:rPr sz="2000"/>
              <a:t>Here is a link for page layout options to author how content looks on your document!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Creating Columns</a:t>
            </a:r>
          </a:p>
          <a:p>
            <a:pPr lvl="0" indent="0" marL="0">
              <a:buNone/>
            </a:pPr>
            <a:r>
              <a:rPr/>
              <a:t>Let’s use columns to add bullet points next to an image.</a:t>
            </a:r>
          </a:p>
          <a:p>
            <a:pPr lvl="0" indent="0" marL="0">
              <a:buNone/>
            </a:pPr>
            <a:r>
              <a:rPr b="1"/>
              <a:t>Task 8</a:t>
            </a:r>
          </a:p>
          <a:p>
            <a:pPr lvl="0"/>
            <a:r>
              <a:rPr/>
              <a:t>☐ Click this link to download the image</a:t>
            </a:r>
          </a:p>
          <a:p>
            <a:pPr lvl="0"/>
            <a:r>
              <a:rPr/>
              <a:t>☐ Save the image to the main folder of the Quarto document files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Creating Columns</a:t>
            </a:r>
          </a:p>
          <a:p>
            <a:pPr lvl="0" indent="0" marL="0">
              <a:buNone/>
            </a:pPr>
            <a:r>
              <a:rPr b="1"/>
              <a:t>Task 8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:::::: columns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::: column</a:t>
            </a:r>
            <a:br/>
            <a:br/>
            <a:r>
              <a:rPr>
                <a:solidFill>
                  <a:srgbClr val="AD0000"/>
                </a:solidFill>
                <a:latin typeface="Courier"/>
              </a:rPr>
              <a:t>![](images/chickpic2.png)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:::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::: column</a:t>
            </a:r>
            <a:br/>
            <a:br/>
            <a:r>
              <a:rPr>
                <a:solidFill>
                  <a:srgbClr val="20794D"/>
                </a:solidFill>
                <a:latin typeface="Courier"/>
              </a:rPr>
              <a:t>-   </a:t>
            </a:r>
            <a:r>
              <a:rPr>
                <a:solidFill>
                  <a:srgbClr val="003B4F"/>
                </a:solidFill>
                <a:latin typeface="Courier"/>
              </a:rPr>
              <a:t>Monitor growth trends over time</a:t>
            </a:r>
            <a:br/>
            <a:r>
              <a:rPr>
                <a:solidFill>
                  <a:srgbClr val="20794D"/>
                </a:solidFill>
                <a:latin typeface="Courier"/>
              </a:rPr>
              <a:t>-   </a:t>
            </a:r>
            <a:r>
              <a:rPr>
                <a:solidFill>
                  <a:srgbClr val="003B4F"/>
                </a:solidFill>
                <a:latin typeface="Courier"/>
              </a:rPr>
              <a:t>Compare diets and weight gain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:::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::::::</a:t>
            </a:r>
          </a:p>
          <a:p>
            <a:pPr lvl="0"/>
            <a:r>
              <a:rPr/>
              <a:t>☐ Copy &amp; paste the markdown text to add an image with bullet points using columns (edit path if needed)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Adding Citations with Zotero</a:t>
            </a:r>
          </a:p>
          <a:p>
            <a:pPr lvl="0"/>
            <a:r>
              <a:rPr b="1"/>
              <a:t>Zotero</a:t>
            </a:r>
            <a:r>
              <a:rPr/>
              <a:t> is a free reference management tool to collect, organize, cite, and share research sources.</a:t>
            </a:r>
          </a:p>
          <a:p>
            <a:pPr lvl="0"/>
            <a:r>
              <a:rPr/>
              <a:t>You can use </a:t>
            </a:r>
            <a:r>
              <a:rPr b="1"/>
              <a:t>Zotero</a:t>
            </a:r>
            <a:r>
              <a:rPr/>
              <a:t> in RStudio to easily insert citations into your Quarto document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Adding Citations with Zotero</a:t>
            </a:r>
          </a:p>
        </p:txBody>
      </p:sp>
      <p:pic>
        <p:nvPicPr>
          <p:cNvPr descr="images/zotero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209800"/>
            <a:ext cx="5105400" cy="38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insert a citation:</a:t>
            </a:r>
          </a:p>
          <a:p>
            <a:pPr lvl="0"/>
            <a:r>
              <a:rPr/>
              <a:t>Switch to the “Visual Editor” mode</a:t>
            </a:r>
          </a:p>
          <a:p>
            <a:pPr lvl="0"/>
            <a:r>
              <a:rPr/>
              <a:t>In the YAML header, add </a:t>
            </a:r>
            <a:r>
              <a:rPr>
                <a:latin typeface="Courier"/>
              </a:rPr>
              <a:t>bibliography: references.bib</a:t>
            </a:r>
          </a:p>
          <a:p>
            <a:pPr lvl="0"/>
            <a:r>
              <a:rPr/>
              <a:t>Press the “Insert” button in the toolbar and select “Citation”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Adding Citations with Zotero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zotero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193800"/>
            <a:ext cx="1803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You can select citations straight from your library and folders in Zotero</a:t>
            </a:r>
          </a:p>
          <a:p>
            <a:pPr lvl="0"/>
            <a:r>
              <a:rPr/>
              <a:t>Each citation is assigned a short citation key based on the author and year (e.g., Zimmerman2002).</a:t>
            </a:r>
          </a:p>
          <a:p>
            <a:pPr lvl="0"/>
            <a:r>
              <a:rPr/>
              <a:t>You can quickly cite it in your document by typing @ followed by the citation key.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Adding Citations with Zotero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Follow this link to an article on diets and broiler chicks</a:t>
            </a:r>
          </a:p>
          <a:p>
            <a:pPr lvl="0" indent="0" marL="0">
              <a:buNone/>
            </a:pPr>
            <a:r>
              <a:rPr b="1"/>
              <a:t>Task 9</a:t>
            </a:r>
          </a:p>
          <a:p>
            <a:pPr lvl="0"/>
            <a:r>
              <a:rPr/>
              <a:t>☐ add the citation to your Zotero Library</a:t>
            </a:r>
          </a:p>
          <a:p>
            <a:pPr lvl="0" indent="0">
              <a:buNone/>
            </a:pP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Publishing</a:t>
            </a:r>
          </a:p>
          <a:p>
            <a:pPr lvl="0" indent="0" marL="0">
              <a:buNone/>
            </a:pPr>
            <a:r>
              <a:rPr/>
              <a:t>What is </a:t>
            </a:r>
            <a:r>
              <a:rPr b="1"/>
              <a:t>Publishing</a:t>
            </a:r>
            <a:r>
              <a:rPr/>
              <a:t> with Quarto? It’s the process of sharing the rendered documents or projects online so it can become accessible to others.</a:t>
            </a:r>
          </a:p>
          <a:p>
            <a:pPr lvl="0" indent="0" marL="0">
              <a:buNone/>
            </a:pPr>
            <a:r>
              <a:rPr/>
              <a:t>You can publish to:</a:t>
            </a:r>
          </a:p>
          <a:p>
            <a:pPr lvl="0"/>
            <a:r>
              <a:rPr/>
              <a:t>GitHub Pages</a:t>
            </a:r>
          </a:p>
          <a:p>
            <a:pPr lvl="0"/>
            <a:r>
              <a:rPr/>
              <a:t>Quarto Pub</a:t>
            </a:r>
          </a:p>
          <a:p>
            <a:pPr lvl="0"/>
            <a:r>
              <a:rPr/>
              <a:t>personal website</a:t>
            </a:r>
          </a:p>
          <a:p>
            <a:pPr lvl="0" indent="0" marL="1270000">
              <a:buNone/>
            </a:pPr>
            <a:r>
              <a:rPr sz="2000" b="1"/>
              <a:t>list of publishing services</a:t>
            </a:r>
          </a:p>
          <a:p>
            <a:pPr lvl="0" indent="0" marL="1270000">
              <a:buNone/>
            </a:pPr>
            <a:r>
              <a:rPr sz="2000"/>
              <a:t>Here is a link for a list of publishing services and more information!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Publishing to GitHub</a:t>
            </a:r>
          </a:p>
          <a:p>
            <a:pPr lvl="0" indent="0" marL="0">
              <a:buNone/>
            </a:pPr>
            <a:r>
              <a:rPr/>
              <a:t>A great option to share your document is publishing to GitHub.</a:t>
            </a:r>
          </a:p>
          <a:p>
            <a:pPr lvl="0"/>
            <a:r>
              <a:rPr b="1"/>
              <a:t>GitHub</a:t>
            </a:r>
            <a:r>
              <a:rPr/>
              <a:t> is a platform for hosting and sharing code and projects online</a:t>
            </a:r>
          </a:p>
          <a:p>
            <a:pPr lvl="0"/>
            <a:r>
              <a:rPr/>
              <a:t>An advantage of GitHub is it allows for </a:t>
            </a:r>
            <a:r>
              <a:rPr b="1"/>
              <a:t>version control</a:t>
            </a:r>
            <a:r>
              <a:rPr/>
              <a:t>- the ability to track and manage changes over time</a:t>
            </a:r>
          </a:p>
          <a:p>
            <a:pPr lvl="0"/>
            <a:r>
              <a:rPr/>
              <a:t>One of the ways Quarto can publish your document to GitHub is by using </a:t>
            </a:r>
            <a:r>
              <a:rPr b="1"/>
              <a:t>GitHub Pages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Publishing to GitHub</a:t>
            </a:r>
          </a:p>
          <a:p>
            <a:pPr lvl="0" indent="0" marL="0">
              <a:buNone/>
            </a:pPr>
            <a:r>
              <a:rPr b="1"/>
              <a:t>GitHub Pages</a:t>
            </a:r>
            <a:r>
              <a:rPr/>
              <a:t> enables you to publish content based on source code managed within a GitHub repository.</a:t>
            </a:r>
          </a:p>
          <a:p>
            <a:pPr lvl="0" indent="0" marL="0">
              <a:buNone/>
            </a:pPr>
            <a:r>
              <a:rPr/>
              <a:t>3 ways to publish a Quarto document to GitHub Pages:</a:t>
            </a:r>
          </a:p>
          <a:p>
            <a:pPr lvl="0"/>
            <a:r>
              <a:rPr/>
              <a:t>Render to the </a:t>
            </a:r>
            <a:r>
              <a:rPr>
                <a:latin typeface="Courier"/>
              </a:rPr>
              <a:t>docs</a:t>
            </a:r>
            <a:r>
              <a:rPr/>
              <a:t> directory and checking it into your repository</a:t>
            </a:r>
          </a:p>
          <a:p>
            <a:pPr lvl="0"/>
            <a:r>
              <a:rPr/>
              <a:t>Use the </a:t>
            </a:r>
            <a:r>
              <a:rPr>
                <a:latin typeface="Courier"/>
              </a:rPr>
              <a:t>quarto publish</a:t>
            </a:r>
            <a:r>
              <a:rPr/>
              <a:t> command</a:t>
            </a:r>
          </a:p>
          <a:p>
            <a:pPr lvl="0"/>
            <a:r>
              <a:rPr/>
              <a:t>Use GitHub Actions to auto-render and publish whenever you push changes</a:t>
            </a:r>
          </a:p>
          <a:p>
            <a:pPr lvl="0" indent="0" marL="0">
              <a:buNone/>
            </a:pPr>
            <a:r>
              <a:rPr/>
              <a:t>Let’s take a closer look at the first method: </a:t>
            </a:r>
            <a:r>
              <a:rPr b="1"/>
              <a:t>Render to </a:t>
            </a:r>
            <a:r>
              <a:rPr b="1">
                <a:latin typeface="Courier"/>
              </a:rPr>
              <a:t>docs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Publishing to GitHub</a:t>
            </a:r>
          </a:p>
          <a:p>
            <a:pPr lvl="0" indent="0" marL="0">
              <a:buNone/>
            </a:pPr>
            <a:r>
              <a:rPr b="1"/>
              <a:t>Render to </a:t>
            </a:r>
            <a:r>
              <a:rPr b="1">
                <a:latin typeface="Courier"/>
              </a:rPr>
              <a:t>docs</a:t>
            </a:r>
          </a:p>
          <a:p>
            <a:pPr lvl="0"/>
            <a:r>
              <a:rPr/>
              <a:t>Edit the YAML header and add </a:t>
            </a:r>
            <a:r>
              <a:rPr>
                <a:latin typeface="Courier"/>
              </a:rPr>
              <a:t>output-dir: docs</a:t>
            </a:r>
            <a:r>
              <a:rPr/>
              <a:t> at the end</a:t>
            </a:r>
          </a:p>
          <a:p>
            <a:pPr lvl="0"/>
            <a:r>
              <a:rPr/>
              <a:t>In the root of your GitHub repo, create an empty file named </a:t>
            </a:r>
            <a:r>
              <a:rPr>
                <a:latin typeface="Courier"/>
              </a:rPr>
              <a:t>.nojekyll</a:t>
            </a:r>
            <a:r>
              <a:rPr/>
              <a:t> by running the following in the terminal for Mac/Linux: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touch .nojekyll</a:t>
            </a:r>
          </a:p>
          <a:p>
            <a:pPr lvl="0" indent="0" marL="0">
              <a:buNone/>
            </a:pPr>
            <a:r>
              <a:rPr/>
              <a:t>OR the following for Windows command prompt: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copy NUL .nojekyll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Publishing to GitHub</a:t>
            </a:r>
          </a:p>
          <a:p>
            <a:pPr lvl="0" indent="0" marL="0">
              <a:buNone/>
            </a:pPr>
            <a:r>
              <a:rPr b="1"/>
              <a:t>Render to </a:t>
            </a:r>
            <a:r>
              <a:rPr b="1">
                <a:latin typeface="Courier"/>
              </a:rPr>
              <a:t>docs</a:t>
            </a:r>
          </a:p>
          <a:p>
            <a:pPr lvl="0"/>
            <a:r>
              <a:rPr/>
              <a:t>Enter the following in the Terminal to render and push your site to GitHub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quarto render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git add docs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git commit -m "Publish site to docs/"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git push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Publishing to GitHub</a:t>
            </a:r>
          </a:p>
          <a:p>
            <a:pPr lvl="0" indent="0" marL="0">
              <a:buNone/>
            </a:pPr>
            <a:r>
              <a:rPr b="1"/>
              <a:t>Task 10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the take-home message?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OS-M3-S6-Quarto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Literate Programming with Quarto</dc:title>
  <dc:creator>Elizabeth Waterfield</dc:creator>
  <cp:keywords/>
  <dcterms:created xsi:type="dcterms:W3CDTF">2025-08-14T16:02:51Z</dcterms:created>
  <dcterms:modified xsi:type="dcterms:W3CDTF">2025-08-14T16:02:51Z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14/08/2025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