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png" ContentType="image/png"/>
  <Override PartName="/docProps/app.xml" ContentType="application/vnd.openxmlformats-officedocument.extended-properties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ppt/notesMasters/notesMaster1.xml" ContentType="application/vnd.openxmlformats-officedocument.presentationml.notesMaster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notesMasterIdLst>
    <p:notesMasterId r:id="rId47"/>
  </p:notes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  <p:sldId id="285" r:id="rId31"/>
    <p:sldId id="286" r:id="rId32"/>
    <p:sldId id="287" r:id="rId33"/>
    <p:sldId id="288" r:id="rId34"/>
    <p:sldId id="289" r:id="rId35"/>
    <p:sldId id="290" r:id="rId36"/>
    <p:sldId id="291" r:id="rId37"/>
    <p:sldId id="292" r:id="rId38"/>
    <p:sldId id="293" r:id="rId39"/>
    <p:sldId id="294" r:id="rId40"/>
    <p:sldId id="295" r:id="rId41"/>
    <p:sldId id="296" r:id="rId42"/>
    <p:sldId id="297" r:id="rId43"/>
    <p:sldId id="298" r:id="rId44"/>
    <p:sldId id="299" r:id="rId45"/>
    <p:sldId id="300" r:id="rId46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43"/>
    <p:restoredTop autoAdjust="0" sz="94694"/>
  </p:normalViewPr>
  <p:slideViewPr>
    <p:cSldViewPr snapToGrid="0" snapToObjects="1">
      <p:cViewPr varScale="1">
        <p:scale>
          <a:sx d="100" n="161"/>
          <a:sy d="100" n="161"/>
        </p:scale>
        <p:origin x="560" y="200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4" Type="http://schemas.openxmlformats.org/officeDocument/2006/relationships/slide" Target="slides/slide3.xml" /><Relationship Id="rId5" Type="http://schemas.openxmlformats.org/officeDocument/2006/relationships/slide" Target="slides/slide4.xml" /><Relationship Id="rId6" Type="http://schemas.openxmlformats.org/officeDocument/2006/relationships/slide" Target="slides/slide5.xml" /><Relationship Id="rId7" Type="http://schemas.openxmlformats.org/officeDocument/2006/relationships/slide" Target="slides/slide6.xml" /><Relationship Id="rId8" Type="http://schemas.openxmlformats.org/officeDocument/2006/relationships/slide" Target="slides/slide7.xml" /><Relationship Id="rId9" Type="http://schemas.openxmlformats.org/officeDocument/2006/relationships/slide" Target="slides/slide8.xml" /><Relationship Id="rId10" Type="http://schemas.openxmlformats.org/officeDocument/2006/relationships/slide" Target="slides/slide9.xml" /><Relationship Id="rId11" Type="http://schemas.openxmlformats.org/officeDocument/2006/relationships/slide" Target="slides/slide10.xml" /><Relationship Id="rId12" Type="http://schemas.openxmlformats.org/officeDocument/2006/relationships/slide" Target="slides/slide11.xml" /><Relationship Id="rId13" Type="http://schemas.openxmlformats.org/officeDocument/2006/relationships/slide" Target="slides/slide12.xml" /><Relationship Id="rId14" Type="http://schemas.openxmlformats.org/officeDocument/2006/relationships/slide" Target="slides/slide13.xml" /><Relationship Id="rId15" Type="http://schemas.openxmlformats.org/officeDocument/2006/relationships/slide" Target="slides/slide14.xml" /><Relationship Id="rId16" Type="http://schemas.openxmlformats.org/officeDocument/2006/relationships/slide" Target="slides/slide15.xml" /><Relationship Id="rId17" Type="http://schemas.openxmlformats.org/officeDocument/2006/relationships/slide" Target="slides/slide16.xml" /><Relationship Id="rId18" Type="http://schemas.openxmlformats.org/officeDocument/2006/relationships/slide" Target="slides/slide17.xml" /><Relationship Id="rId19" Type="http://schemas.openxmlformats.org/officeDocument/2006/relationships/slide" Target="slides/slide18.xml" /><Relationship Id="rId20" Type="http://schemas.openxmlformats.org/officeDocument/2006/relationships/slide" Target="slides/slide19.xml" /><Relationship Id="rId21" Type="http://schemas.openxmlformats.org/officeDocument/2006/relationships/slide" Target="slides/slide20.xml" /><Relationship Id="rId22" Type="http://schemas.openxmlformats.org/officeDocument/2006/relationships/slide" Target="slides/slide21.xml" /><Relationship Id="rId23" Type="http://schemas.openxmlformats.org/officeDocument/2006/relationships/slide" Target="slides/slide22.xml" /><Relationship Id="rId24" Type="http://schemas.openxmlformats.org/officeDocument/2006/relationships/slide" Target="slides/slide23.xml" /><Relationship Id="rId25" Type="http://schemas.openxmlformats.org/officeDocument/2006/relationships/slide" Target="slides/slide24.xml" /><Relationship Id="rId26" Type="http://schemas.openxmlformats.org/officeDocument/2006/relationships/slide" Target="slides/slide25.xml" /><Relationship Id="rId27" Type="http://schemas.openxmlformats.org/officeDocument/2006/relationships/slide" Target="slides/slide26.xml" /><Relationship Id="rId28" Type="http://schemas.openxmlformats.org/officeDocument/2006/relationships/slide" Target="slides/slide27.xml" /><Relationship Id="rId29" Type="http://schemas.openxmlformats.org/officeDocument/2006/relationships/slide" Target="slides/slide28.xml" /><Relationship Id="rId30" Type="http://schemas.openxmlformats.org/officeDocument/2006/relationships/slide" Target="slides/slide29.xml" /><Relationship Id="rId31" Type="http://schemas.openxmlformats.org/officeDocument/2006/relationships/slide" Target="slides/slide30.xml" /><Relationship Id="rId32" Type="http://schemas.openxmlformats.org/officeDocument/2006/relationships/slide" Target="slides/slide31.xml" /><Relationship Id="rId33" Type="http://schemas.openxmlformats.org/officeDocument/2006/relationships/slide" Target="slides/slide32.xml" /><Relationship Id="rId34" Type="http://schemas.openxmlformats.org/officeDocument/2006/relationships/slide" Target="slides/slide33.xml" /><Relationship Id="rId35" Type="http://schemas.openxmlformats.org/officeDocument/2006/relationships/slide" Target="slides/slide34.xml" /><Relationship Id="rId36" Type="http://schemas.openxmlformats.org/officeDocument/2006/relationships/slide" Target="slides/slide35.xml" /><Relationship Id="rId37" Type="http://schemas.openxmlformats.org/officeDocument/2006/relationships/slide" Target="slides/slide36.xml" /><Relationship Id="rId38" Type="http://schemas.openxmlformats.org/officeDocument/2006/relationships/slide" Target="slides/slide37.xml" /><Relationship Id="rId39" Type="http://schemas.openxmlformats.org/officeDocument/2006/relationships/slide" Target="slides/slide38.xml" /><Relationship Id="rId40" Type="http://schemas.openxmlformats.org/officeDocument/2006/relationships/slide" Target="slides/slide39.xml" /><Relationship Id="rId41" Type="http://schemas.openxmlformats.org/officeDocument/2006/relationships/slide" Target="slides/slide40.xml" /><Relationship Id="rId42" Type="http://schemas.openxmlformats.org/officeDocument/2006/relationships/slide" Target="slides/slide41.xml" /><Relationship Id="rId43" Type="http://schemas.openxmlformats.org/officeDocument/2006/relationships/slide" Target="slides/slide42.xml" /><Relationship Id="rId44" Type="http://schemas.openxmlformats.org/officeDocument/2006/relationships/slide" Target="slides/slide43.xml" /><Relationship Id="rId45" Type="http://schemas.openxmlformats.org/officeDocument/2006/relationships/slide" Target="slides/slide44.xml" /><Relationship Id="rId46" Type="http://schemas.openxmlformats.org/officeDocument/2006/relationships/slide" Target="slides/slide45.xml" /><Relationship Id="rId47" Type="http://schemas.openxmlformats.org/officeDocument/2006/relationships/notesMaster" Target="notesMasters/notesMaster1.xml" /><Relationship Id="rId49" Type="http://schemas.openxmlformats.org/officeDocument/2006/relationships/viewProps" Target="viewProps.xml" /><Relationship Id="rId48" Type="http://schemas.openxmlformats.org/officeDocument/2006/relationships/presProps" Target="presProps.xml" /><Relationship Id="rId1" Type="http://schemas.openxmlformats.org/officeDocument/2006/relationships/slideMaster" Target="slideMasters/slideMaster1.xml" /><Relationship Id="rId51" Type="http://schemas.openxmlformats.org/officeDocument/2006/relationships/tableStyles" Target="tableStyles.xml" /><Relationship Id="rId50" Type="http://schemas.openxmlformats.org/officeDocument/2006/relationships/theme" Target="theme/theme1.xml" 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9C1CCF-B725-44A7-AA57-5E433BD85C9F}" type="datetimeFigureOut">
              <a:rPr lang="en-US" smtClean="0"/>
              <a:t>1/2/22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18BDFEC3-8487-43E8-A154-7C12CBC1FFF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782709779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?><Relationships xmlns="http://schemas.openxmlformats.org/package/2006/relationships"><Relationship Id="rId2" Type="http://schemas.openxmlformats.org/officeDocument/2006/relationships/slide" Target="../slides/slide7.xml" /><Relationship Id="rId1" Type="http://schemas.openxmlformats.org/officeDocument/2006/relationships/notesMaster" Target="../notesMasters/notesMaster1.xml" /></Relationships>
</file>

<file path=ppt/notesSlides/_rels/notesSlide2.xml.rels><?xml version="1.0" encoding="UTF-8"?><Relationships xmlns="http://schemas.openxmlformats.org/package/2006/relationships"><Relationship Id="rId2" Type="http://schemas.openxmlformats.org/officeDocument/2006/relationships/slide" Target="../slides/slide10.xml" /><Relationship Id="rId1" Type="http://schemas.openxmlformats.org/officeDocument/2006/relationships/notesMaster" Target="../notesMasters/notesMaster1.xml" /></Relationships>
</file>

<file path=ppt/notesSlides/_rels/notesSlide3.xml.rels><?xml version="1.0" encoding="UTF-8"?><Relationships xmlns="http://schemas.openxmlformats.org/package/2006/relationships"><Relationship Id="rId2" Type="http://schemas.openxmlformats.org/officeDocument/2006/relationships/slide" Target="../slides/slide11.xml" /><Relationship Id="rId1" Type="http://schemas.openxmlformats.org/officeDocument/2006/relationships/notesMaster" Target="../notesMasters/notesMaster1.xml" /></Relationships>
</file>

<file path=ppt/notesSlides/_rels/notesSlide4.xml.rels><?xml version="1.0" encoding="UTF-8"?><Relationships xmlns="http://schemas.openxmlformats.org/package/2006/relationships"><Relationship Id="rId2" Type="http://schemas.openxmlformats.org/officeDocument/2006/relationships/slide" Target="../slides/slide17.xml" /><Relationship Id="rId1" Type="http://schemas.openxmlformats.org/officeDocument/2006/relationships/notesMaster" Target="../notesMasters/notesMaster1.xml" 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Make it clear to the group that there will be a similar post-submodule survey to examine understanding and learning progress.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7</a:t>
            </a:fld>
            <a:endParaRPr lang="en-US"/>
          </a:p>
        </p:txBody>
      </p:sp>
    </p:spTree>
  </p:cSld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Base yourself on conceptual change theory and examine exisiting concepts in relation to some key terms. Re-examine formation of new concepts at the end of the lesson.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10</a:t>
            </a:fld>
            <a:endParaRPr lang="en-US"/>
          </a:p>
        </p:txBody>
      </p:sp>
    </p:spTree>
  </p:cSld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For a 90-minute lesson, the instructor should try to “lecture” for only 20 minutes, students should work in groups/pairs/on their own for at least 55 minutes of the lesson (+ a 15 minute break).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11</a:t>
            </a:fld>
            <a:endParaRPr lang="en-US"/>
          </a:p>
        </p:txBody>
      </p:sp>
    </p:spTree>
  </p:cSld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For students who advance faster: Prepare extra exercises.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17</a:t>
            </a:fld>
            <a:endParaRPr lang="en-US"/>
          </a:p>
        </p:txBody>
      </p:sp>
    </p:spTree>
  </p:cSld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2914650"/>
            <a:ext cx="6400800" cy="131445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 anchor="t"/>
          <a:lstStyle>
            <a:lvl1pPr algn="l">
              <a:defRPr sz="3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180035"/>
            <a:ext cx="7772400" cy="1125140"/>
          </a:xfrm>
        </p:spPr>
        <p:txBody>
          <a:bodyPr anchor="b"/>
          <a:lstStyle>
            <a:lvl1pPr marL="0" indent="0">
              <a:buNone/>
              <a:defRPr sz="15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200151"/>
            <a:ext cx="4038600" cy="3394472"/>
          </a:xfrm>
        </p:spPr>
        <p:txBody>
          <a:bodyPr/>
          <a:lstStyle>
            <a:lvl1pPr>
              <a:defRPr sz="2100"/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200151"/>
            <a:ext cx="4038600" cy="3394472"/>
          </a:xfrm>
        </p:spPr>
        <p:txBody>
          <a:bodyPr/>
          <a:lstStyle>
            <a:lvl1pPr>
              <a:defRPr sz="2100"/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51335"/>
            <a:ext cx="4040188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1631156"/>
            <a:ext cx="4040188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6" y="1151335"/>
            <a:ext cx="4041775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6" y="1631156"/>
            <a:ext cx="4041775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7212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9010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204787"/>
            <a:ext cx="3008313" cy="871538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04788"/>
            <a:ext cx="5111750" cy="4389835"/>
          </a:xfrm>
        </p:spPr>
        <p:txBody>
          <a:bodyPr/>
          <a:lstStyle>
            <a:lvl1pPr>
              <a:defRPr sz="2400"/>
            </a:lvl1pPr>
            <a:lvl2pPr>
              <a:defRPr sz="2100"/>
            </a:lvl2pPr>
            <a:lvl3pPr>
              <a:defRPr sz="1800"/>
            </a:lvl3pPr>
            <a:lvl4pPr>
              <a:defRPr sz="1500"/>
            </a:lvl4pPr>
            <a:lvl5pPr>
              <a:defRPr sz="15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1" y="1076326"/>
            <a:ext cx="3008313" cy="351829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theme/theme1.xml" Type="http://schemas.openxmlformats.org/officeDocument/2006/relationships/theme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05979"/>
            <a:ext cx="8229600" cy="857250"/>
          </a:xfrm>
          <a:prstGeom prst="rect">
            <a:avLst/>
          </a:prstGeom>
        </p:spPr>
        <p:txBody>
          <a:bodyPr anchor="ctr" bIns="45720" lIns="91440" rIns="91440" rtlCol="0" tIns="45720" vert="horz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457200" y="1200151"/>
            <a:ext cx="8229600" cy="3394472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2" sz="half" type="dt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idx="3" sz="quarter" type="ftr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ct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idx="4" sz="quarter" type="sldNum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76200875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342900" eaLnBrk="1" hangingPunct="1" latinLnBrk="0" rtl="0">
        <a:spcBef>
          <a:spcPct val="0"/>
        </a:spcBef>
        <a:buNone/>
        <a:defRPr kern="1200" sz="33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algn="l" defTabSz="342900" eaLnBrk="1" hangingPunct="1" indent="-342900" latinLnBrk="0" marL="342900" rtl="0">
        <a:spcBef>
          <a:spcPct val="20000"/>
        </a:spcBef>
        <a:buFont typeface="Arial"/>
        <a:buChar char="•"/>
        <a:defRPr kern="1200" sz="240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indent="-342900" latinLnBrk="0" marL="685800" rtl="0">
        <a:spcBef>
          <a:spcPct val="20000"/>
        </a:spcBef>
        <a:buFont typeface="Arial"/>
        <a:buChar char="–"/>
        <a:defRPr kern="1200" sz="210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indent="-342900" latinLnBrk="0" marL="1028700" rtl="0">
        <a:spcBef>
          <a:spcPct val="20000"/>
        </a:spcBef>
        <a:buFont typeface="Arial"/>
        <a:buChar char="•"/>
        <a:defRPr kern="1200" sz="180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indent="-342900" latinLnBrk="0" marL="1371600" rtl="0">
        <a:spcBef>
          <a:spcPct val="20000"/>
        </a:spcBef>
        <a:buFont typeface="Arial"/>
        <a:buChar char="–"/>
        <a:defRPr kern="1200" sz="150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indent="-342900" latinLnBrk="0" marL="1714500" rtl="0">
        <a:spcBef>
          <a:spcPct val="20000"/>
        </a:spcBef>
        <a:buFont typeface="Arial"/>
        <a:buChar char="»"/>
        <a:defRPr kern="1200" sz="150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indent="-342900" latinLnBrk="0" marL="20574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indent="-342900" latinLnBrk="0" marL="24003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indent="-342900" latinLnBrk="0" marL="27432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indent="-342900" latinLnBrk="0" marL="30861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342900" eaLnBrk="1" hangingPunct="1" latinLnBrk="0" marL="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latinLnBrk="0" marL="3429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latinLnBrk="0" marL="6858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latinLnBrk="0" marL="10287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latinLnBrk="0" marL="13716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latinLnBrk="0" marL="17145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latinLnBrk="0" marL="20574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latinLnBrk="0" marL="24003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latinLnBrk="0" marL="27432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.xml" /></Relationships>
</file>

<file path=ppt/slides/_rels/slide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2.xml" /></Relationships>
</file>

<file path=ppt/slides/_rels/slide1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3.xml" /></Relationships>
</file>

<file path=ppt/slides/_rels/slide1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4.xml" /></Relationships>
</file>

<file path=ppt/slides/_rels/slide1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hyperlink" Target="https://quarto.org/docs/" TargetMode="External" /><Relationship Id="rId3" Type="http://schemas.openxmlformats.org/officeDocument/2006/relationships/hyperlink" Target="https://revealjs.com/" TargetMode="External" /><Relationship Id="rId4" Type="http://schemas.openxmlformats.org/officeDocument/2006/relationships/hyperlink" Target="https://www.markdownguide.org/" TargetMode="External" /><Relationship Id="rId5" Type="http://schemas.openxmlformats.org/officeDocument/2006/relationships/hyperlink" Target="https://github.com/" TargetMode="External" /></Relationships>
</file>

<file path=ppt/slides/_rels/slide3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9.xml.rels><?xml version="1.0" encoding="UTF-8"?><Relationships xmlns="http://schemas.openxmlformats.org/package/2006/relationships"><Relationship Id="rId1" Type="http://schemas.openxmlformats.org/officeDocument/2006/relationships/slideLayout" Target="../slideLayouts/slideLayout8.xml" /></Relationships>
</file>

<file path=ppt/slides/_rels/slide40.xml.rels><?xml version="1.0" encoding="UTF-8"?><Relationships xmlns="http://schemas.openxmlformats.org/package/2006/relationships"><Relationship Id="rId1" Type="http://schemas.openxmlformats.org/officeDocument/2006/relationships/slideLayout" Target="../slideLayouts/slideLayout8.xml" /></Relationships>
</file>

<file path=ppt/slides/_rels/slide4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3.xml.rels><?xml version="1.0" encoding="UTF-8"?><Relationships xmlns="http://schemas.openxmlformats.org/package/2006/relationships"><Relationship Id="rId1" Type="http://schemas.openxmlformats.org/officeDocument/2006/relationships/slideLayout" Target="../slideLayouts/slideLayout8.xml" /><Relationship Id="rId2" Type="http://schemas.openxmlformats.org/officeDocument/2006/relationships/image" Target="../media/image1.png" /></Relationships>
</file>

<file path=ppt/slides/_rels/slide4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hyperlink" Target="https://creativecommons.org/licenses/by/4.0/" TargetMode="External" /></Relationships>
</file>

<file path=ppt/slides/_rels/slide4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hyperlink" Target="https://github.com/SvonGrebmer/Template-Slides-Students" TargetMode="External" /><Relationship Id="rId3" Type="http://schemas.openxmlformats.org/officeDocument/2006/relationships/hyperlink" Target="https://creativecommons.org/licenses/by/4.0/" TargetMode="Externa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/>
          <a:p>
            <a:pPr lvl="0" indent="0" marL="0">
              <a:buNone/>
            </a:pPr>
            <a:r>
              <a:rPr/>
              <a:t>Title of Submodule</a:t>
            </a:r>
          </a:p>
        </p:txBody>
      </p:sp>
      <p:sp>
        <p:nvSpPr>
          <p:cNvPr id="3" name="Subtitle 2"/>
          <p:cNvSpPr>
            <a:spLocks noGrp="1"/>
          </p:cNvSpPr>
          <p:nvPr>
            <p:ph idx="1" type="subTitle"/>
          </p:nvPr>
        </p:nvSpPr>
        <p:spPr>
          <a:xfrm>
            <a:off x="1371600" y="2914650"/>
            <a:ext cx="6400800" cy="1314450"/>
          </a:xfrm>
        </p:spPr>
        <p:txBody>
          <a:bodyPr/>
          <a:lstStyle/>
          <a:p>
            <a:pPr lvl="0" indent="0" marL="0">
              <a:buNone/>
            </a:pPr>
            <a:br/>
            <a:br/>
            <a:r>
              <a:rPr/>
              <a:t>Author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10" sz="half" type="dt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26/06/2025</a:t>
            </a:r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Questions from previous submodule</a:t>
            </a:r>
          </a:p>
          <a:p>
            <a:pPr lvl="0"/>
            <a:r>
              <a:rPr b="1"/>
              <a:t>Aim</a:t>
            </a:r>
            <a:r>
              <a:rPr/>
              <a:t>: This first slide is dedicated to clarifying questions from the previous submodule and/or to discuss assignments.</a:t>
            </a:r>
          </a:p>
          <a:p>
            <a:pPr lvl="0"/>
            <a:r>
              <a:rPr/>
              <a:t>Additional slides may need to be added depending on the nature of the homework assignments.</a:t>
            </a:r>
          </a:p>
          <a:p>
            <a:pPr lvl="0"/>
            <a:r>
              <a:rPr/>
              <a:t>Critical for the learning process to ensure that students are on the same page and have been able to achieve the learning goals of the previous workshop.</a:t>
            </a:r>
          </a:p>
          <a:p>
            <a:pPr lvl="0"/>
            <a:r>
              <a:rPr/>
              <a:t>Not applicable if this set of slides corresponds to the first submodule of a new module.</a:t>
            </a:r>
          </a:p>
        </p:txBody>
      </p:sp>
    </p:spTree>
  </p:cSld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Before we start: Survey time!</a:t>
            </a:r>
          </a:p>
          <a:p>
            <a:pPr lvl="0"/>
            <a:r>
              <a:rPr b="1"/>
              <a:t>Aim</a:t>
            </a:r>
            <a:r>
              <a:rPr/>
              <a:t>: The pre-submodule survey serves to examine students’ prior knowledge about the sumodule’s topic.</a:t>
            </a:r>
          </a:p>
          <a:p>
            <a:pPr lvl="0"/>
            <a:r>
              <a:rPr/>
              <a:t>Use free survey software such as or other survey software (particify, formR) to establish the following questions (shown on separate slides):</a:t>
            </a:r>
          </a:p>
        </p:txBody>
      </p:sp>
    </p:spTree>
  </p:cSld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What is your level of familiarity with [Topic] (e.g., basic concepts, terminology, or tools)?</a:t>
            </a:r>
          </a:p>
          <a:p>
            <a:pPr lvl="0" indent="-342900" marL="342900">
              <a:buAutoNum type="alphaLcPeriod"/>
            </a:pPr>
            <a:r>
              <a:rPr/>
              <a:t>I have never heard of it before.</a:t>
            </a:r>
          </a:p>
          <a:p>
            <a:pPr lvl="0" indent="-342900" marL="342900">
              <a:buAutoNum type="alphaLcPeriod"/>
            </a:pPr>
            <a:r>
              <a:rPr/>
              <a:t>I have heard of it but have never worked with it.</a:t>
            </a:r>
          </a:p>
          <a:p>
            <a:pPr lvl="0" indent="-342900" marL="342900">
              <a:buAutoNum type="alphaLcPeriod"/>
            </a:pPr>
            <a:r>
              <a:rPr/>
              <a:t>I have basic understanding and experience with it.</a:t>
            </a:r>
          </a:p>
          <a:p>
            <a:pPr lvl="0" indent="-342900" marL="342900">
              <a:buAutoNum type="alphaLcPeriod"/>
            </a:pPr>
            <a:r>
              <a:rPr/>
              <a:t>I am very familiar and have worked with it extensively.</a:t>
            </a:r>
          </a:p>
        </p:txBody>
      </p:sp>
    </p:spTree>
  </p:cSld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Which of the following concepts or skills do you feel most confident about in relation to [Topic]? (Select all that apply)</a:t>
            </a:r>
          </a:p>
          <a:p>
            <a:pPr lvl="0" indent="-342900" marL="342900">
              <a:buAutoNum type="alphaLcPeriod"/>
            </a:pPr>
            <a:r>
              <a:rPr/>
              <a:t>Concept 1</a:t>
            </a:r>
          </a:p>
          <a:p>
            <a:pPr lvl="0" indent="-342900" marL="342900">
              <a:buAutoNum type="alphaLcPeriod"/>
            </a:pPr>
            <a:r>
              <a:rPr/>
              <a:t>Concept 2</a:t>
            </a:r>
          </a:p>
          <a:p>
            <a:pPr lvl="0" indent="-342900" marL="342900">
              <a:buAutoNum type="alphaLcPeriod"/>
            </a:pPr>
            <a:r>
              <a:rPr/>
              <a:t>Concept 3</a:t>
            </a:r>
          </a:p>
          <a:p>
            <a:pPr lvl="0" indent="-342900" marL="342900">
              <a:buAutoNum type="alphaLcPeriod"/>
            </a:pPr>
            <a:r>
              <a:rPr/>
              <a:t>Concept 4</a:t>
            </a:r>
          </a:p>
          <a:p>
            <a:pPr lvl="0" indent="-342900" marL="342900">
              <a:buAutoNum type="alphaLcPeriod"/>
            </a:pPr>
            <a:r>
              <a:rPr/>
              <a:t>I am not sure about any of these concepts.</a:t>
            </a:r>
          </a:p>
        </p:txBody>
      </p:sp>
    </p:spTree>
  </p:cSld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On a scale of 1 to 5, how comfortable are you with using [specific tool/technology] related to [Topic]? (1 = Not comfortable at all, 5 = Very comfortable)</a:t>
            </a:r>
          </a:p>
          <a:p>
            <a:pPr lvl="0" indent="-342900" marL="342900">
              <a:buAutoNum type="alphaLcPeriod"/>
            </a:pPr>
            <a:r>
              <a:rPr/>
              <a:t>1</a:t>
            </a:r>
          </a:p>
          <a:p>
            <a:pPr lvl="0" indent="-342900" marL="342900">
              <a:buAutoNum type="alphaLcPeriod"/>
            </a:pPr>
            <a:r>
              <a:rPr/>
              <a:t>2</a:t>
            </a:r>
          </a:p>
          <a:p>
            <a:pPr lvl="0" indent="-342900" marL="342900">
              <a:buAutoNum type="alphaLcPeriod"/>
            </a:pPr>
            <a:r>
              <a:rPr/>
              <a:t>3</a:t>
            </a:r>
          </a:p>
          <a:p>
            <a:pPr lvl="0" indent="-342900" marL="342900">
              <a:buAutoNum type="alphaLcPeriod"/>
            </a:pPr>
            <a:r>
              <a:rPr/>
              <a:t>4</a:t>
            </a:r>
          </a:p>
          <a:p>
            <a:pPr lvl="0" indent="-342900" marL="342900">
              <a:buAutoNum type="alphaLcPeriod"/>
            </a:pPr>
            <a:r>
              <a:rPr/>
              <a:t>5</a:t>
            </a:r>
          </a:p>
        </p:txBody>
      </p:sp>
    </p:spTree>
  </p:cSld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Discussion of survey results</a:t>
            </a:r>
          </a:p>
          <a:p>
            <a:pPr lvl="0"/>
            <a:r>
              <a:rPr b="1"/>
              <a:t>Aim”</a:t>
            </a:r>
            <a:r>
              <a:rPr/>
              <a:t>: Briefly examine the answers given to each question interactively with the group.</a:t>
            </a:r>
          </a:p>
          <a:p>
            <a:pPr lvl="0"/>
            <a:r>
              <a:rPr/>
              <a:t>Use visuals from the survey to highlight specific answers.</a:t>
            </a:r>
          </a:p>
        </p:txBody>
      </p:sp>
    </p:spTree>
  </p:cSld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Where are we at?</a:t>
            </a:r>
          </a:p>
          <a:p>
            <a:pPr lvl="0"/>
            <a:r>
              <a:rPr b="1"/>
              <a:t>Aim</a:t>
            </a:r>
            <a:r>
              <a:rPr/>
              <a:t>: Place the topic of the current submodule within a broader context.</a:t>
            </a:r>
          </a:p>
          <a:p>
            <a:pPr lvl="0"/>
            <a:r>
              <a:rPr/>
              <a:t>Remind students what you are working towards and what the bigger picture is.</a:t>
            </a:r>
          </a:p>
        </p:txBody>
      </p:sp>
    </p:spTree>
  </p:cSld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Learning goals</a:t>
            </a:r>
          </a:p>
          <a:p>
            <a:pPr lvl="0"/>
            <a:r>
              <a:rPr b="1"/>
              <a:t>Aim</a:t>
            </a:r>
            <a:r>
              <a:rPr/>
              <a:t>: Formulate specific, action-oriented goals learning goals which are measurable and observable in line with Bloom’s taxonomy (Anderson et al., 2001; Bloom et al., 1956)</a:t>
            </a:r>
          </a:p>
          <a:p>
            <a:pPr lvl="0"/>
            <a:r>
              <a:rPr/>
              <a:t>Place an emphasis on the </a:t>
            </a:r>
            <a:r>
              <a:rPr b="1"/>
              <a:t>verbs</a:t>
            </a:r>
            <a:r>
              <a:rPr/>
              <a:t> of the learning goals and choose verbs that align with the skills you want to develop or assess.</a:t>
            </a:r>
          </a:p>
          <a:p>
            <a:pPr lvl="0"/>
            <a:r>
              <a:rPr/>
              <a:t>Examples:</a:t>
            </a:r>
          </a:p>
          <a:p>
            <a:pPr lvl="1"/>
            <a:r>
              <a:rPr/>
              <a:t>Students will </a:t>
            </a:r>
            <a:r>
              <a:rPr b="1"/>
              <a:t>describe</a:t>
            </a:r>
            <a:r>
              <a:rPr/>
              <a:t> the process of photosynthesis or</a:t>
            </a:r>
          </a:p>
          <a:p>
            <a:pPr lvl="1"/>
            <a:r>
              <a:rPr/>
              <a:t>Students will </a:t>
            </a:r>
            <a:r>
              <a:rPr b="1"/>
              <a:t>construct</a:t>
            </a:r>
            <a:r>
              <a:rPr/>
              <a:t> a diagram illustrating the process of photosynthesis</a:t>
            </a:r>
          </a:p>
        </p:txBody>
      </p:sp>
    </p:spTree>
  </p:cSld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Key terms and definitions</a:t>
            </a:r>
          </a:p>
          <a:p>
            <a:pPr lvl="0"/>
            <a:r>
              <a:rPr b="1"/>
              <a:t>Aim</a:t>
            </a:r>
            <a:r>
              <a:rPr/>
              <a:t>: Introduce key terms and definitions that students will come across throughout the session. </a:t>
            </a:r>
          </a:p>
          <a:p>
            <a:pPr lvl="0"/>
            <a:r>
              <a:rPr b="1"/>
              <a:t>Key Term 1</a:t>
            </a:r>
            <a:r>
              <a:rPr/>
              <a:t>: Definition</a:t>
            </a:r>
          </a:p>
          <a:p>
            <a:pPr lvl="0"/>
            <a:r>
              <a:rPr b="1"/>
              <a:t>Key Term 2</a:t>
            </a:r>
            <a:r>
              <a:rPr/>
              <a:t>: Definition</a:t>
            </a:r>
          </a:p>
          <a:p>
            <a:pPr lvl="0"/>
            <a:r>
              <a:rPr b="1"/>
              <a:t>Key Term 3</a:t>
            </a:r>
            <a:r>
              <a:rPr/>
              <a:t>: Definition</a:t>
            </a:r>
          </a:p>
        </p:txBody>
      </p:sp>
    </p:spTree>
  </p:cSld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Introduction of submodule topic</a:t>
            </a:r>
          </a:p>
          <a:p>
            <a:pPr lvl="0"/>
            <a:r>
              <a:rPr b="1"/>
              <a:t>Aim</a:t>
            </a:r>
            <a:r>
              <a:rPr/>
              <a:t>: Core theoretical introduction of submodule topic.</a:t>
            </a:r>
          </a:p>
          <a:p>
            <a:pPr lvl="0"/>
            <a:r>
              <a:rPr/>
              <a:t>Pair theoretical aspects with practical exercises and group discussions according to the Think-Pair-Share style and according to Cognitive Load Theory (Sweller, 1980).</a:t>
            </a:r>
          </a:p>
          <a:p>
            <a:pPr lvl="0"/>
            <a:r>
              <a:rPr/>
              <a:t>Use multiple slides for this part.</a:t>
            </a:r>
          </a:p>
        </p:txBody>
      </p:sp>
    </p:spTree>
  </p:cSld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Submodule content slide</a:t>
            </a:r>
          </a:p>
          <a:p>
            <a:pPr lvl="0"/>
            <a:r>
              <a:rPr b="1"/>
              <a:t>Aim</a:t>
            </a:r>
            <a:r>
              <a:rPr/>
              <a:t>: Present relevant content</a:t>
            </a:r>
          </a:p>
          <a:p>
            <a:pPr lvl="0"/>
            <a:r>
              <a:rPr/>
              <a:t>Highlight particularly important aspects with Quarto call-out boxes, for example:</a:t>
            </a:r>
          </a:p>
          <a:p>
            <a:pPr lvl="0" indent="0" marL="1270000">
              <a:buNone/>
            </a:pPr>
            <a:r>
              <a:rPr sz="2000" b="1"/>
              <a:t>Important with Title</a:t>
            </a:r>
          </a:p>
          <a:p>
            <a:pPr lvl="0" indent="0" marL="1270000">
              <a:buNone/>
            </a:pPr>
            <a:r>
              <a:rPr sz="2000"/>
              <a:t>This is an example of a callout box to highlight particularly important information.</a:t>
            </a:r>
          </a:p>
          <a:p>
            <a:pPr lvl="0" indent="0" marL="1270000">
              <a:buNone/>
            </a:pPr>
            <a:r>
              <a:rPr sz="2000" b="1"/>
              <a:t>Tip with Title</a:t>
            </a:r>
          </a:p>
          <a:p>
            <a:pPr lvl="0" indent="0" marL="1270000">
              <a:buNone/>
            </a:pPr>
            <a:r>
              <a:rPr sz="2000"/>
              <a:t>This is an example of a callout box to give important tips.</a:t>
            </a:r>
          </a:p>
        </p:txBody>
      </p:sp>
    </p:spTree>
  </p:cSld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Pre-break survey</a:t>
            </a:r>
          </a:p>
          <a:p>
            <a:pPr lvl="0"/>
            <a:r>
              <a:rPr b="1"/>
              <a:t>Aim</a:t>
            </a:r>
            <a:r>
              <a:rPr/>
              <a:t>: This pre-break survey serves to examine students’ current understanding of key concepts of the submodule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Use free survey software such as or other survey software (particify, formR) to establish the following questions (shown on separate slides):</a:t>
            </a:r>
          </a:p>
          <a:p>
            <a:pPr lvl="0" indent="0" marL="0">
              <a:buNone/>
            </a:pPr>
            <a:r>
              <a:rPr b="1"/>
              <a:t>Which species is the largest type of penguin</a:t>
            </a:r>
            <a:r>
              <a:rPr/>
              <a:t>?</a:t>
            </a:r>
          </a:p>
          <a:p>
            <a:pPr lvl="0" indent="-342900" marL="342900">
              <a:buAutoNum type="alphaLcPeriod"/>
            </a:pPr>
            <a:r>
              <a:rPr/>
              <a:t>Chinstrap Penguin</a:t>
            </a:r>
          </a:p>
          <a:p>
            <a:pPr lvl="0" indent="-342900" marL="342900">
              <a:buAutoNum type="alphaLcPeriod"/>
            </a:pPr>
            <a:r>
              <a:rPr/>
              <a:t>Emperor Penguin ✅</a:t>
            </a:r>
          </a:p>
          <a:p>
            <a:pPr lvl="0" indent="-342900" marL="342900">
              <a:buAutoNum type="alphaLcPeriod"/>
            </a:pPr>
            <a:r>
              <a:rPr/>
              <a:t>Adélie Penguin</a:t>
            </a:r>
          </a:p>
          <a:p>
            <a:pPr lvl="0" indent="-342900" marL="342900">
              <a:buAutoNum type="alphaLcPeriod"/>
            </a:pPr>
            <a:r>
              <a:rPr/>
              <a:t>King Penguin</a:t>
            </a:r>
          </a:p>
        </p:txBody>
      </p:sp>
    </p:spTree>
  </p:cSld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What is the key biological feature that helps penguins swim efficiently?</a:t>
            </a:r>
          </a:p>
          <a:p>
            <a:pPr lvl="0" indent="-342900" marL="342900">
              <a:buAutoNum type="alphaLcPeriod"/>
            </a:pPr>
            <a:r>
              <a:rPr/>
              <a:t>Hollow bones for buoyancy</a:t>
            </a:r>
          </a:p>
          <a:p>
            <a:pPr lvl="0" indent="-342900" marL="342900">
              <a:buAutoNum type="alphaLcPeriod"/>
            </a:pPr>
            <a:r>
              <a:rPr/>
              <a:t>Webbed feet for paddling</a:t>
            </a:r>
          </a:p>
          <a:p>
            <a:pPr lvl="0" indent="-342900" marL="342900">
              <a:buAutoNum type="alphaLcPeriod"/>
            </a:pPr>
            <a:r>
              <a:rPr/>
              <a:t>Waterproof feathers and flipper-like wings ✅</a:t>
            </a:r>
          </a:p>
          <a:p>
            <a:pPr lvl="0" indent="-342900" marL="342900">
              <a:buAutoNum type="alphaLcPeriod"/>
            </a:pPr>
            <a:r>
              <a:rPr/>
              <a:t>Gills to breathe underwater</a:t>
            </a:r>
          </a:p>
        </p:txBody>
      </p:sp>
    </p:spTree>
  </p:cSld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Break! 15 minutes</a:t>
            </a:r>
          </a:p>
        </p:txBody>
      </p:sp>
    </p:spTree>
  </p:cSld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Post-break survey discussion</a:t>
            </a:r>
          </a:p>
          <a:p>
            <a:pPr lvl="0"/>
            <a:r>
              <a:rPr b="1"/>
              <a:t>Aim</a:t>
            </a:r>
            <a:r>
              <a:rPr/>
              <a:t>: To clarify concepts and aspects that are not yet understood</a:t>
            </a:r>
          </a:p>
          <a:p>
            <a:pPr lvl="0"/>
            <a:r>
              <a:rPr/>
              <a:t>Highlight specific answers given during the survey</a:t>
            </a:r>
          </a:p>
        </p:txBody>
      </p:sp>
    </p:spTree>
  </p:cSld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Practical exercises on topic</a:t>
            </a:r>
          </a:p>
          <a:p>
            <a:pPr lvl="0"/>
            <a:r>
              <a:rPr b="1"/>
              <a:t>Aim</a:t>
            </a:r>
            <a:r>
              <a:rPr/>
              <a:t>: Design practical exercises for students to apply the new skills in practise.</a:t>
            </a:r>
          </a:p>
          <a:p>
            <a:pPr lvl="0"/>
            <a:r>
              <a:rPr/>
              <a:t>Depending on the topic, the exercises should be in accordance with the learning objective(s).</a:t>
            </a:r>
          </a:p>
        </p:txBody>
      </p:sp>
    </p:spTree>
  </p:cSld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Relevance and implications</a:t>
            </a:r>
          </a:p>
          <a:p>
            <a:pPr lvl="0"/>
            <a:r>
              <a:rPr b="1"/>
              <a:t>Aim</a:t>
            </a:r>
            <a:r>
              <a:rPr/>
              <a:t>: To work out the relevance of the topic to your students.</a:t>
            </a:r>
          </a:p>
          <a:p>
            <a:pPr lvl="0"/>
            <a:r>
              <a:rPr/>
              <a:t>In an interactive setting, discuss how the new skills could be applied in practise with specific examples.</a:t>
            </a:r>
          </a:p>
          <a:p>
            <a:pPr lvl="0"/>
            <a:r>
              <a:rPr/>
              <a:t>Examine downfalls and practical obstacles.</a:t>
            </a:r>
          </a:p>
        </p:txBody>
      </p:sp>
    </p:spTree>
  </p:cSld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Take-home message</a:t>
            </a:r>
          </a:p>
          <a:p>
            <a:pPr lvl="0" indent="0" marL="0">
              <a:buNone/>
            </a:pPr>
            <a:r>
              <a:rPr b="1"/>
              <a:t>Aim</a:t>
            </a:r>
            <a:r>
              <a:rPr/>
              <a:t>: End lesson on clear take-home message that are interactively compiled by students.</a:t>
            </a:r>
          </a:p>
          <a:p>
            <a:pPr lvl="0" indent="0" marL="1270000">
              <a:buNone/>
            </a:pPr>
            <a:r>
              <a:rPr sz="2000" b="1"/>
              <a:t>Tip with Title</a:t>
            </a:r>
          </a:p>
          <a:p>
            <a:pPr lvl="0" indent="0" marL="1270000">
              <a:buNone/>
            </a:pPr>
            <a:r>
              <a:rPr sz="2000"/>
              <a:t>Add one practical tips or take-home message.</a:t>
            </a:r>
          </a:p>
        </p:txBody>
      </p:sp>
    </p:spTree>
  </p:cSld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Assignment</a:t>
            </a:r>
          </a:p>
          <a:p>
            <a:pPr lvl="0"/>
            <a:r>
              <a:rPr b="1"/>
              <a:t>Aim</a:t>
            </a:r>
            <a:r>
              <a:rPr/>
              <a:t>: Explain the homework assignment and the rationale behind the homework.</a:t>
            </a:r>
          </a:p>
          <a:p>
            <a:pPr lvl="0"/>
            <a:r>
              <a:rPr/>
              <a:t>Examine whether/how it will be assessed</a:t>
            </a:r>
          </a:p>
          <a:p>
            <a:pPr lvl="0"/>
            <a:r>
              <a:rPr/>
              <a:t>Mention scoring rubrics, if applicable</a:t>
            </a:r>
          </a:p>
          <a:p>
            <a:pPr lvl="0"/>
            <a:r>
              <a:rPr/>
              <a:t>Design a peer-review system for assignments to place students in role of reviewer and author</a:t>
            </a:r>
          </a:p>
        </p:txBody>
      </p:sp>
    </p:spTree>
  </p:cSld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To conclude: Survey time!</a:t>
            </a:r>
          </a:p>
          <a:p>
            <a:pPr lvl="0"/>
            <a:r>
              <a:rPr b="1"/>
              <a:t>Aim</a:t>
            </a:r>
            <a:r>
              <a:rPr/>
              <a:t>: This post-submodule survey serves to examine students’ current knowledge about the sumodule’s topic.</a:t>
            </a:r>
          </a:p>
          <a:p>
            <a:pPr lvl="0"/>
            <a:r>
              <a:rPr/>
              <a:t>Use free survey software such as or other survey software (particify, formR) to establish the following questions (shown on separate slides):</a:t>
            </a:r>
          </a:p>
        </p:txBody>
      </p:sp>
    </p:spTree>
  </p:cSld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What is your level of familiarity with [Topic] (e.g., basic concepts, terminology, or tools)?</a:t>
            </a:r>
          </a:p>
          <a:p>
            <a:pPr lvl="0" indent="-342900" marL="342900">
              <a:buAutoNum type="alphaLcPeriod"/>
            </a:pPr>
            <a:r>
              <a:rPr/>
              <a:t>I have never heard of it before.</a:t>
            </a:r>
          </a:p>
          <a:p>
            <a:pPr lvl="0" indent="-342900" marL="342900">
              <a:buAutoNum type="alphaLcPeriod"/>
            </a:pPr>
            <a:r>
              <a:rPr/>
              <a:t>I have heard of it but have never worked with it.</a:t>
            </a:r>
          </a:p>
          <a:p>
            <a:pPr lvl="0" indent="-342900" marL="342900">
              <a:buAutoNum type="alphaLcPeriod"/>
            </a:pPr>
            <a:r>
              <a:rPr/>
              <a:t>I have basic understanding and experience with it.</a:t>
            </a:r>
          </a:p>
          <a:p>
            <a:pPr lvl="0" indent="-342900" marL="342900">
              <a:buAutoNum type="alphaLcPeriod"/>
            </a:pPr>
            <a:r>
              <a:rPr/>
              <a:t>I am very familiar and have worked with it extensively.</a:t>
            </a:r>
          </a:p>
        </p:txBody>
      </p:sp>
    </p:spTree>
  </p:cSld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Which of the following concepts or skills do you feel most confident about in relation to [Topic]? (Select all that apply)</a:t>
            </a:r>
          </a:p>
          <a:p>
            <a:pPr lvl="0" indent="-342900" marL="342900">
              <a:buAutoNum type="alphaLcPeriod"/>
            </a:pPr>
            <a:r>
              <a:rPr/>
              <a:t>Concept 1</a:t>
            </a:r>
          </a:p>
          <a:p>
            <a:pPr lvl="0" indent="-342900" marL="342900">
              <a:buAutoNum type="alphaLcPeriod"/>
            </a:pPr>
            <a:r>
              <a:rPr/>
              <a:t>Concept 2</a:t>
            </a:r>
          </a:p>
          <a:p>
            <a:pPr lvl="0" indent="-342900" marL="342900">
              <a:buAutoNum type="alphaLcPeriod"/>
            </a:pPr>
            <a:r>
              <a:rPr/>
              <a:t>Concept 3</a:t>
            </a:r>
          </a:p>
          <a:p>
            <a:pPr lvl="0" indent="-342900" marL="342900">
              <a:buAutoNum type="alphaLcPeriod"/>
            </a:pPr>
            <a:r>
              <a:rPr/>
              <a:t>Concept 4</a:t>
            </a:r>
          </a:p>
          <a:p>
            <a:pPr lvl="0" indent="-342900" marL="342900">
              <a:buAutoNum type="alphaLcPeriod"/>
            </a:pPr>
            <a:r>
              <a:rPr/>
              <a:t>I am not sure about any of these concepts.</a:t>
            </a:r>
          </a:p>
        </p:txBody>
      </p:sp>
    </p:spTree>
  </p:cSld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On a scale of 1 to 5, how comfortable are you with using [specific tool/technology] related to [Topic]? (1 = Not comfortable at all, 5 = Very comfortable)</a:t>
            </a:r>
          </a:p>
          <a:p>
            <a:pPr lvl="0" indent="-342900" marL="342900">
              <a:buAutoNum type="alphaLcPeriod"/>
            </a:pPr>
            <a:r>
              <a:rPr/>
              <a:t>1</a:t>
            </a:r>
          </a:p>
          <a:p>
            <a:pPr lvl="0" indent="-342900" marL="342900">
              <a:buAutoNum type="alphaLcPeriod"/>
            </a:pPr>
            <a:r>
              <a:rPr/>
              <a:t>2</a:t>
            </a:r>
          </a:p>
          <a:p>
            <a:pPr lvl="0" indent="-342900" marL="342900">
              <a:buAutoNum type="alphaLcPeriod"/>
            </a:pPr>
            <a:r>
              <a:rPr/>
              <a:t>3</a:t>
            </a:r>
          </a:p>
          <a:p>
            <a:pPr lvl="0" indent="-342900" marL="342900">
              <a:buAutoNum type="alphaLcPeriod"/>
            </a:pPr>
            <a:r>
              <a:rPr/>
              <a:t>4</a:t>
            </a:r>
          </a:p>
          <a:p>
            <a:pPr lvl="0" indent="-342900" marL="342900">
              <a:buAutoNum type="alphaLcPeriod"/>
            </a:pPr>
            <a:r>
              <a:rPr/>
              <a:t>5</a:t>
            </a:r>
          </a:p>
        </p:txBody>
      </p:sp>
    </p:spTree>
  </p:cSld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Discussion of survey results</a:t>
            </a:r>
          </a:p>
          <a:p>
            <a:pPr lvl="0"/>
            <a:r>
              <a:rPr b="1"/>
              <a:t>Aim</a:t>
            </a:r>
            <a:r>
              <a:rPr/>
              <a:t>: Briefly examine the answers given to each question interactively with the group.</a:t>
            </a:r>
          </a:p>
          <a:p>
            <a:pPr lvl="0"/>
            <a:r>
              <a:rPr/>
              <a:t>Compare and highlight specific differences in answers between pre- and post-survey answers</a:t>
            </a:r>
          </a:p>
        </p:txBody>
      </p:sp>
    </p:spTree>
  </p:cSld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References</a:t>
            </a:r>
          </a:p>
          <a:p>
            <a:pPr lvl="0"/>
            <a:r>
              <a:rPr/>
              <a:t>Provide literature you refer to throughout this lesson.</a:t>
            </a:r>
          </a:p>
        </p:txBody>
      </p:sp>
    </p:spTree>
  </p:cSld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Thanks! 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See you next class :)</a:t>
            </a:r>
          </a:p>
        </p:txBody>
      </p:sp>
    </p:spTree>
  </p:cSld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Pedagogical add-on tools for instructors</a:t>
            </a:r>
          </a:p>
          <a:p>
            <a:pPr lvl="0"/>
            <a:r>
              <a:rPr/>
              <a:t>This section is dedicated to ideas on how to incorporate pedagogical tools into teaching for this specific submodule topic. This could mean:</a:t>
            </a:r>
          </a:p>
          <a:p>
            <a:pPr lvl="1"/>
            <a:r>
              <a:rPr/>
              <a:t>Information about the scientific evidence on the theory of the pedagogical add-on tool and the evidence for its efficacy.</a:t>
            </a:r>
          </a:p>
          <a:p>
            <a:pPr lvl="1"/>
            <a:r>
              <a:rPr/>
              <a:t>Discussion/reflection on how tools can be incorporated into the teaching for this particular content.</a:t>
            </a:r>
          </a:p>
          <a:p>
            <a:pPr lvl="1"/>
            <a:r>
              <a:rPr/>
              <a:t>Extra exercises for faster students.</a:t>
            </a:r>
          </a:p>
        </p:txBody>
      </p:sp>
    </p:spTree>
  </p:cSld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Additional literature for instructors</a:t>
            </a:r>
          </a:p>
          <a:p>
            <a:pPr lvl="0"/>
            <a:r>
              <a:rPr/>
              <a:t>References for content</a:t>
            </a:r>
          </a:p>
          <a:p>
            <a:pPr lvl="0"/>
            <a:r>
              <a:rPr/>
              <a:t>References for pedagogical add-on tools</a:t>
            </a:r>
            <a:br/>
          </a:p>
          <a:p>
            <a:pPr lvl="0"/>
            <a:r>
              <a:rPr/>
              <a:t>Other resources (videos etc.)</a:t>
            </a:r>
          </a:p>
        </p:txBody>
      </p:sp>
    </p:spTree>
  </p:cSld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Formatting elements for instructors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b="1"/>
              <a:t>Aim</a:t>
            </a:r>
            <a:r>
              <a:rPr/>
              <a:t>: This section contains templates for different formatting elements, which can be modified and adapted for the instructor’s individual purposes.</a:t>
            </a:r>
          </a:p>
        </p:txBody>
      </p:sp>
    </p:spTree>
  </p:cSld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Text with example links</a:t>
            </a:r>
          </a:p>
          <a:p>
            <a:pPr lvl="0"/>
            <a:r>
              <a:rPr>
                <a:hlinkClick r:id="rId2"/>
              </a:rPr>
              <a:t>Quarto Documentation</a:t>
            </a:r>
          </a:p>
          <a:p>
            <a:pPr lvl="0"/>
            <a:r>
              <a:rPr>
                <a:hlinkClick r:id="rId3"/>
              </a:rPr>
              <a:t>Reveal.js Documentation</a:t>
            </a:r>
          </a:p>
          <a:p>
            <a:pPr lvl="0"/>
            <a:r>
              <a:rPr>
                <a:hlinkClick r:id="rId4"/>
              </a:rPr>
              <a:t>Markdown Guide</a:t>
            </a:r>
          </a:p>
          <a:p>
            <a:pPr lvl="0"/>
            <a:r>
              <a:rPr>
                <a:hlinkClick r:id="rId5"/>
              </a:rPr>
              <a:t>GitHub</a:t>
            </a:r>
          </a:p>
        </p:txBody>
      </p:sp>
    </p:spTree>
  </p:cSld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Basic text formatting</a:t>
            </a:r>
          </a:p>
          <a:p>
            <a:pPr lvl="0"/>
            <a:r>
              <a:rPr b="1"/>
              <a:t>Bold:</a:t>
            </a:r>
            <a:r>
              <a:rPr/>
              <a:t> </a:t>
            </a:r>
            <a:r>
              <a:rPr>
                <a:latin typeface="Courier"/>
              </a:rPr>
              <a:t>**bold**</a:t>
            </a:r>
            <a:r>
              <a:rPr/>
              <a:t> → </a:t>
            </a:r>
            <a:r>
              <a:rPr b="1"/>
              <a:t>bold</a:t>
            </a:r>
          </a:p>
          <a:p>
            <a:pPr lvl="0"/>
            <a:r>
              <a:rPr i="1"/>
              <a:t>Italic:</a:t>
            </a:r>
            <a:r>
              <a:rPr/>
              <a:t> </a:t>
            </a:r>
            <a:r>
              <a:rPr>
                <a:latin typeface="Courier"/>
              </a:rPr>
              <a:t>*italic*</a:t>
            </a:r>
            <a:r>
              <a:rPr/>
              <a:t> → </a:t>
            </a:r>
            <a:r>
              <a:rPr i="1"/>
              <a:t>italic</a:t>
            </a:r>
          </a:p>
          <a:p>
            <a:pPr lvl="0"/>
            <a:r>
              <a:rPr strike="sngStrike"/>
              <a:t>Strikethrough:</a:t>
            </a:r>
            <a:r>
              <a:rPr/>
              <a:t> </a:t>
            </a:r>
            <a:r>
              <a:rPr>
                <a:latin typeface="Courier"/>
              </a:rPr>
              <a:t>~~text~~</a:t>
            </a:r>
            <a:r>
              <a:rPr/>
              <a:t> → </a:t>
            </a:r>
            <a:r>
              <a:rPr strike="sngStrike"/>
              <a:t>text</a:t>
            </a:r>
          </a:p>
          <a:p>
            <a:pPr lvl="0"/>
            <a:r>
              <a:rPr>
                <a:latin typeface="Courier"/>
              </a:rPr>
              <a:t>Inline code:</a:t>
            </a:r>
            <a:r>
              <a:rPr/>
              <a:t> </a:t>
            </a:r>
            <a:r>
              <a:rPr>
                <a:latin typeface="Courier"/>
              </a:rPr>
              <a:t>`code`</a:t>
            </a:r>
            <a:r>
              <a:rPr/>
              <a:t> → </a:t>
            </a:r>
            <a:r>
              <a:rPr>
                <a:latin typeface="Courier"/>
              </a:rPr>
              <a:t>code</a:t>
            </a:r>
          </a:p>
          <a:p>
            <a:pPr lvl="0" indent="0" marL="1270000"/>
            <a:r>
              <a:rPr sz="2000"/>
              <a:t>Blockquote: </a:t>
            </a:r>
            <a:r>
              <a:rPr sz="2000">
                <a:latin typeface="Courier"/>
              </a:rPr>
              <a:t>&gt; Quote</a:t>
            </a:r>
            <a:r>
              <a:rPr sz="2000"/>
              <a:t> →</a:t>
            </a:r>
            <a:br/>
            <a:r>
              <a:rPr sz="2000"/>
              <a:t>“This is a quote”</a:t>
            </a:r>
          </a:p>
        </p:txBody>
      </p:sp>
    </p:spTree>
  </p:cSld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Figure with caption</a:t>
            </a:r>
          </a:p>
          <a:p>
            <a:pPr lvl="0"/>
            <a:r>
              <a:rPr/>
              <a:t>Centered image and caption below in italics</a:t>
            </a:r>
          </a:p>
          <a:p>
            <a:pPr lvl="0" indent="0" marL="0">
              <a:buNone/>
            </a:pPr>
          </a:p>
          <a:p>
            <a:pPr lvl="0" indent="0" marL="0">
              <a:buNone/>
            </a:pPr>
            <a:r>
              <a:rPr/>
              <a:t>This is a Penguin.</a:t>
            </a:r>
          </a:p>
        </p:txBody>
      </p:sp>
    </p:spTree>
  </p:cSld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Figure with bullet points</a:t>
            </a:r>
          </a:p>
          <a:p>
            <a:pPr lvl="0" indent="0" marL="0">
              <a:buNone/>
            </a:pPr>
          </a:p>
          <a:p>
            <a:pPr lvl="0"/>
            <a:r>
              <a:rPr/>
              <a:t>First bullet point</a:t>
            </a:r>
          </a:p>
          <a:p>
            <a:pPr lvl="0"/>
            <a:r>
              <a:rPr/>
              <a:t>Second bullet point</a:t>
            </a:r>
          </a:p>
          <a:p>
            <a:pPr lvl="0"/>
            <a:r>
              <a:rPr/>
              <a:t>Third bullet point</a:t>
            </a:r>
          </a:p>
        </p:txBody>
      </p:sp>
    </p:spTree>
  </p:cSld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Side-by-side figures</a:t>
            </a:r>
          </a:p>
        </p:txBody>
      </p:sp>
    </p:spTree>
  </p:cSld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Stacked figures with text</a:t>
            </a:r>
          </a:p>
          <a:p>
            <a:pPr lvl="0" indent="0" marL="0">
              <a:buNone/>
            </a:pPr>
          </a:p>
          <a:p>
            <a:pPr lvl="0"/>
            <a:r>
              <a:rPr/>
              <a:t>First bullet point</a:t>
            </a:r>
          </a:p>
          <a:p>
            <a:pPr lvl="0"/>
            <a:r>
              <a:rPr/>
              <a:t>Second bullet point</a:t>
            </a:r>
          </a:p>
          <a:p>
            <a:pPr lvl="0"/>
            <a:r>
              <a:rPr/>
              <a:t>Third bullet point</a:t>
            </a:r>
          </a:p>
        </p:txBody>
      </p:sp>
    </p:spTree>
  </p:cSld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Two-column text slide</a:t>
            </a:r>
          </a:p>
          <a:p>
            <a:pPr lvl="0" indent="0" marL="0">
              <a:buNone/>
            </a:pPr>
            <a:r>
              <a:rPr b="1"/>
              <a:t>Column 1</a:t>
            </a:r>
          </a:p>
          <a:p>
            <a:pPr lvl="0" indent="0" marL="0">
              <a:buNone/>
            </a:pPr>
            <a:r>
              <a:rPr/>
              <a:t>Lorem ipsum dolor sit amet, consectetur adipiscing elit.</a:t>
            </a:r>
            <a:br/>
            <a:r>
              <a:rPr/>
              <a:t>Vivamus lacinia odio vitae vestibulum vestibulum.</a:t>
            </a:r>
            <a:br/>
            <a:r>
              <a:rPr/>
              <a:t>Cras venenatis euismod malesuada.</a:t>
            </a:r>
          </a:p>
          <a:p>
            <a:pPr lvl="0" indent="0" marL="0">
              <a:buNone/>
            </a:pPr>
            <a:r>
              <a:rPr b="1"/>
              <a:t>Column 2</a:t>
            </a:r>
          </a:p>
          <a:p>
            <a:pPr lvl="0" indent="0" marL="0">
              <a:buNone/>
            </a:pPr>
            <a:r>
              <a:rPr/>
              <a:t>Sed do eiusmod tempor incididunt ut labore et dolore magna aliqua.</a:t>
            </a:r>
            <a:br/>
            <a:r>
              <a:rPr/>
              <a:t>Ut enim ad minim veniam, quis nostrud exercitation ullamco laboris.</a:t>
            </a:r>
          </a:p>
        </p:txBody>
      </p:sp>
    </p:spTree>
  </p:cSld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Three-column text slide</a:t>
            </a:r>
          </a:p>
          <a:p>
            <a:pPr lvl="0" indent="0" marL="0">
              <a:buNone/>
            </a:pPr>
            <a:r>
              <a:rPr b="1"/>
              <a:t>Column 1</a:t>
            </a:r>
          </a:p>
          <a:p>
            <a:pPr lvl="0" indent="0" marL="0">
              <a:buNone/>
            </a:pPr>
            <a:r>
              <a:rPr/>
              <a:t>Lorem ipsum dolor sit amet, consectetur adipiscing elit.</a:t>
            </a:r>
            <a:br/>
            <a:r>
              <a:rPr/>
              <a:t>Vivamus lacinia odio vitae vestibulum vestibulum.</a:t>
            </a:r>
          </a:p>
          <a:p>
            <a:pPr lvl="0" indent="0" marL="0">
              <a:buNone/>
            </a:pPr>
            <a:r>
              <a:rPr b="1"/>
              <a:t>Column 2</a:t>
            </a:r>
          </a:p>
          <a:p>
            <a:pPr lvl="0" indent="0" marL="0">
              <a:buNone/>
            </a:pPr>
            <a:r>
              <a:rPr/>
              <a:t>Sed do eiusmod tempor incididunt ut labore et dolore magna aliqua.</a:t>
            </a:r>
            <a:br/>
            <a:r>
              <a:rPr/>
              <a:t>Ut enim ad minim veniam, quis nostrud exercitation ullamco laboris.</a:t>
            </a:r>
          </a:p>
          <a:p>
            <a:pPr lvl="0" indent="0" marL="0">
              <a:buNone/>
            </a:pPr>
            <a:r>
              <a:rPr b="1"/>
              <a:t>Column 3</a:t>
            </a:r>
          </a:p>
          <a:p>
            <a:pPr lvl="0" indent="0" marL="0">
              <a:buNone/>
            </a:pPr>
            <a:r>
              <a:rPr/>
              <a:t>Duis aute irure dolor in reprehenderit in voluptate velit esse cillum dolore eu fugiat nulla pariatur.</a:t>
            </a:r>
          </a:p>
        </p:txBody>
      </p:sp>
    </p:spTree>
  </p:cSld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 Placeholder 3"/>
          <p:cNvSpPr>
            <a:spLocks noGrp="1"/>
          </p:cNvSpPr>
          <p:nvPr>
            <p:ph idx="2" sz="half" type="body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Simple table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3568700" y="203200"/>
          <a:ext cx="5105400" cy="43815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701800"/>
                <a:gridCol w="1701800"/>
                <a:gridCol w="1701800"/>
              </a:tblGrid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Column 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Column 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Column 3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Row 1 Cell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Row 1 Cell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Row 1 Cell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Row 2 Cell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Row 2 Cell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Row 2 Cell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Row 3 Cell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Row 3 Cell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Row 3 Cell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Row 4 Cell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Row 4 Cell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Row 4 Cell</a:t>
                      </a:r>
                    </a:p>
                  </a:txBody>
                </a:tc>
              </a:tr>
            </a:tbl>
          </a:graphicData>
        </a:graphic>
      </p:graphicFrame>
    </p:spTree>
  </p:cSld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 Placeholder 3"/>
          <p:cNvSpPr>
            <a:spLocks noGrp="1"/>
          </p:cNvSpPr>
          <p:nvPr>
            <p:ph idx="2" sz="half" type="body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Complex table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3568700" y="203200"/>
          <a:ext cx="5105400" cy="43815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701800"/>
                <a:gridCol w="1701800"/>
                <a:gridCol w="1701800"/>
              </a:tblGrid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Column 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Column 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Column 3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Row 1 Cell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Row 1 Cell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Row 1 Cell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Row 2 Cell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Row 2 Cell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Row 2 Cell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Row 3 Cell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Row 3 Cell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Row 3 Cell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Row 4 Cell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Row 4 Cell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Row 4 Cell</a:t>
                      </a:r>
                    </a:p>
                  </a:txBody>
                </a:tc>
              </a:tr>
            </a:tbl>
          </a:graphicData>
        </a:graphic>
      </p:graphicFrame>
    </p:spTree>
  </p:cSld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Task list</a:t>
            </a:r>
          </a:p>
          <a:p>
            <a:pPr lvl="0"/>
            <a:r>
              <a:rPr/>
              <a:t>☒ Done</a:t>
            </a:r>
          </a:p>
          <a:p>
            <a:pPr lvl="0"/>
            <a:r>
              <a:rPr/>
              <a:t>☐ To do</a:t>
            </a:r>
          </a:p>
        </p:txBody>
      </p:sp>
    </p:spTree>
  </p:cSld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Embedding videos</a:t>
            </a:r>
          </a:p>
          <a:p>
            <a:pPr lvl="0" indent="0" marL="0">
              <a:buNone/>
            </a:pPr>
            <a:r>
              <a:rPr/>
              <a:t> </a:t>
            </a:r>
          </a:p>
        </p:txBody>
      </p:sp>
    </p:spTree>
  </p:cSld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 Placeholder 3"/>
          <p:cNvSpPr>
            <a:spLocks noGrp="1"/>
          </p:cNvSpPr>
          <p:nvPr>
            <p:ph idx="2" sz="half" type="body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Code blocks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A basic R code chunk</a:t>
            </a:r>
            <a:br/>
            <a:r>
              <a:rPr>
                <a:solidFill>
                  <a:srgbClr val="003B4F"/>
                </a:solidFill>
                <a:latin typeface="Courier"/>
              </a:rPr>
              <a:t>x &lt;- </a:t>
            </a:r>
            <a:r>
              <a:rPr>
                <a:solidFill>
                  <a:srgbClr val="AD0000"/>
                </a:solidFill>
                <a:latin typeface="Courier"/>
              </a:rPr>
              <a:t>1</a:t>
            </a:r>
            <a:r>
              <a:rPr>
                <a:solidFill>
                  <a:srgbClr val="5E5E5E"/>
                </a:solidFill>
                <a:latin typeface="Courier"/>
              </a:rPr>
              <a:t>:</a:t>
            </a:r>
            <a:r>
              <a:rPr>
                <a:solidFill>
                  <a:srgbClr val="AD0000"/>
                </a:solidFill>
                <a:latin typeface="Courier"/>
              </a:rPr>
              <a:t>10</a:t>
            </a:r>
            <a:br/>
            <a:r>
              <a:rPr>
                <a:solidFill>
                  <a:srgbClr val="4758AB"/>
                </a:solidFill>
                <a:latin typeface="Courier"/>
              </a:rPr>
              <a:t>mean</a:t>
            </a:r>
            <a:r>
              <a:rPr>
                <a:solidFill>
                  <a:srgbClr val="003B4F"/>
                </a:solidFill>
                <a:latin typeface="Courier"/>
              </a:rPr>
              <a:t>(x)</a:t>
            </a:r>
          </a:p>
          <a:p>
            <a:pPr lvl="0" indent="0">
              <a:buNone/>
            </a:pPr>
            <a:r>
              <a:rPr>
                <a:latin typeface="Courier"/>
              </a:rPr>
              <a:t>[1] 5.5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A simple plot</a:t>
            </a:r>
            <a:br/>
            <a:r>
              <a:rPr>
                <a:solidFill>
                  <a:srgbClr val="4758AB"/>
                </a:solidFill>
                <a:latin typeface="Courier"/>
              </a:rPr>
              <a:t>hist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4758AB"/>
                </a:solidFill>
                <a:latin typeface="Courier"/>
              </a:rPr>
              <a:t>rnorm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AD0000"/>
                </a:solidFill>
                <a:latin typeface="Courier"/>
              </a:rPr>
              <a:t>100</a:t>
            </a:r>
            <a:r>
              <a:rPr>
                <a:solidFill>
                  <a:srgbClr val="003B4F"/>
                </a:solidFill>
                <a:latin typeface="Courier"/>
              </a:rPr>
              <a:t>), </a:t>
            </a:r>
            <a:r>
              <a:rPr>
                <a:solidFill>
                  <a:srgbClr val="657422"/>
                </a:solidFill>
                <a:latin typeface="Courier"/>
              </a:rPr>
              <a:t>main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"Histogram of Random Normals"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</a:p>
        </p:txBody>
      </p:sp>
      <p:pic>
        <p:nvPicPr>
          <p:cNvPr descr="M3-S4-R-Part-II-slides_files/figure-pptx/unnamed-chunk-1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3568700" y="1117600"/>
            <a:ext cx="5105400" cy="25527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Attribution and license details</a:t>
            </a:r>
          </a:p>
          <a:p>
            <a:pPr lvl="0"/>
            <a:r>
              <a:rPr/>
              <a:t>This slide should contain information about the license and attribution details of this current set of slides.</a:t>
            </a:r>
          </a:p>
          <a:p>
            <a:pPr lvl="0"/>
            <a:r>
              <a:rPr/>
              <a:t>The default for the created materials is </a:t>
            </a:r>
            <a:r>
              <a:rPr>
                <a:hlinkClick r:id="rId2"/>
              </a:rPr>
              <a:t>CC-BY-SA 4.0</a:t>
            </a:r>
          </a:p>
          <a:p>
            <a:pPr lvl="1"/>
            <a:r>
              <a:rPr/>
              <a:t>= Creative Commons license that allows others to </a:t>
            </a:r>
            <a:r>
              <a:rPr b="1"/>
              <a:t>share, adapt, and build upon</a:t>
            </a:r>
            <a:r>
              <a:rPr/>
              <a:t> the original work</a:t>
            </a:r>
          </a:p>
          <a:p>
            <a:pPr lvl="1"/>
            <a:r>
              <a:rPr b="1"/>
              <a:t>only</a:t>
            </a:r>
            <a:r>
              <a:rPr/>
              <a:t> if they attribute the creator and also share their new work under the </a:t>
            </a:r>
            <a:r>
              <a:rPr b="1"/>
              <a:t>same terms</a:t>
            </a:r>
          </a:p>
          <a:p>
            <a:pPr lvl="1"/>
            <a:r>
              <a:rPr/>
              <a:t>allows for both </a:t>
            </a:r>
            <a:r>
              <a:rPr b="1"/>
              <a:t>commercial and non-commercial</a:t>
            </a:r>
            <a:r>
              <a:rPr/>
              <a:t> use of the licensed material</a:t>
            </a:r>
          </a:p>
          <a:p>
            <a:pPr lvl="0"/>
            <a:r>
              <a:rPr/>
              <a:t>Components of attributions:</a:t>
            </a:r>
          </a:p>
          <a:p>
            <a:pPr lvl="1"/>
            <a:r>
              <a:rPr>
                <a:latin typeface="Courier"/>
              </a:rPr>
              <a:t>Title</a:t>
            </a:r>
          </a:p>
          <a:p>
            <a:pPr lvl="1"/>
            <a:r>
              <a:rPr>
                <a:latin typeface="Courier"/>
              </a:rPr>
              <a:t>Author</a:t>
            </a:r>
          </a:p>
          <a:p>
            <a:pPr lvl="1"/>
            <a:r>
              <a:rPr>
                <a:latin typeface="Courier"/>
              </a:rPr>
              <a:t>Source</a:t>
            </a:r>
          </a:p>
          <a:p>
            <a:pPr lvl="1"/>
            <a:r>
              <a:rPr>
                <a:latin typeface="Courier"/>
              </a:rPr>
              <a:t>License</a:t>
            </a:r>
          </a:p>
        </p:txBody>
      </p:sp>
    </p:spTree>
  </p:cSld>
</p:sld>
</file>

<file path=ppt/slides/slide4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Example attribution (for previous slide)</a:t>
            </a:r>
          </a:p>
          <a:p>
            <a:pPr lvl="0" indent="0" marL="0">
              <a:buNone/>
            </a:pPr>
            <a:r>
              <a:rPr/>
              <a:t>“</a:t>
            </a:r>
            <a:r>
              <a:rPr>
                <a:hlinkClick r:id="rId2"/>
              </a:rPr>
              <a:t>Tutorial template for student track</a:t>
            </a:r>
            <a:r>
              <a:rPr/>
              <a:t>” by Sarah von Grebmer is licensed under </a:t>
            </a:r>
            <a:r>
              <a:rPr>
                <a:hlinkClick r:id="rId3"/>
              </a:rPr>
              <a:t>CC-BY-SA 4.0</a:t>
            </a:r>
            <a:r>
              <a:rPr/>
              <a:t>.</a:t>
            </a:r>
          </a:p>
        </p:txBody>
      </p:sp>
    </p:spTree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2</TotalTime>
  <Words>49</Words>
  <Application>Microsoft Macintosh PowerPoint</Application>
  <PresentationFormat>On-screen Show (16:9)</PresentationFormat>
  <Paragraphs>15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7" baseType="lpstr">
      <vt:lpstr>Arial</vt:lpstr>
      <vt:lpstr>Calibri</vt:lpstr>
      <vt:lpstr>Office Theme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Title of Submodule</dc:title>
  <dc:creator>Author</dc:creator>
  <cp:keywords/>
  <dcterms:created xsi:type="dcterms:W3CDTF">2025-06-26T15:15:09Z</dcterms:created>
  <dcterms:modified xsi:type="dcterms:W3CDTF">2025-06-26T15:15:09Z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authors">
    <vt:lpwstr/>
  </property>
  <property fmtid="{D5CDD505-2E9C-101B-9397-08002B2CF9AE}" pid="3" name="biblio-config">
    <vt:lpwstr>True</vt:lpwstr>
  </property>
  <property fmtid="{D5CDD505-2E9C-101B-9397-08002B2CF9AE}" pid="4" name="by-author">
    <vt:lpwstr/>
  </property>
  <property fmtid="{D5CDD505-2E9C-101B-9397-08002B2CF9AE}" pid="5" name="date">
    <vt:lpwstr>26/06/2025</vt:lpwstr>
  </property>
  <property fmtid="{D5CDD505-2E9C-101B-9397-08002B2CF9AE}" pid="6" name="date-format">
    <vt:lpwstr>DD/MM/YYYY</vt:lpwstr>
  </property>
  <property fmtid="{D5CDD505-2E9C-101B-9397-08002B2CF9AE}" pid="7" name="execute">
    <vt:lpwstr/>
  </property>
  <property fmtid="{D5CDD505-2E9C-101B-9397-08002B2CF9AE}" pid="8" name="header-includes">
    <vt:lpwstr/>
  </property>
  <property fmtid="{D5CDD505-2E9C-101B-9397-08002B2CF9AE}" pid="9" name="include-after">
    <vt:lpwstr/>
  </property>
  <property fmtid="{D5CDD505-2E9C-101B-9397-08002B2CF9AE}" pid="10" name="include-before">
    <vt:lpwstr/>
  </property>
  <property fmtid="{D5CDD505-2E9C-101B-9397-08002B2CF9AE}" pid="11" name="labels">
    <vt:lpwstr/>
  </property>
  <property fmtid="{D5CDD505-2E9C-101B-9397-08002B2CF9AE}" pid="12" name="toc-title">
    <vt:lpwstr>Table of contents</vt:lpwstr>
  </property>
</Properties>
</file>