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5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2" Type="http://schemas.openxmlformats.org/officeDocument/2006/relationships/notesMaster" Target="notesMasters/notesMaster1.xml" /><Relationship Id="rId54" Type="http://schemas.openxmlformats.org/officeDocument/2006/relationships/viewProps" Target="viewProps.xml" /><Relationship Id="rId5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56" Type="http://schemas.openxmlformats.org/officeDocument/2006/relationships/tableStyles" Target="tableStyles.xml" /><Relationship Id="rId55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24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25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26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30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3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Speaker Notes</a:t>
            </a:r>
            <a:r>
              <a:rPr/>
              <a:t> These are the </a:t>
            </a:r>
            <a:r>
              <a:rPr b="1"/>
              <a:t>speaker notes</a:t>
            </a:r>
            <a:r>
              <a:rPr/>
              <a:t>. You will a script for the presenter for every slide. In presentation mode, your audience will not be able to see these speaker notes, they are only visible to the presenter.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i="1"/>
              <a:t>Instructor Notes</a:t>
            </a:r>
            <a:r>
              <a:rPr/>
              <a:t> There are also </a:t>
            </a:r>
            <a:r>
              <a:rPr b="1"/>
              <a:t>instructor notes</a:t>
            </a:r>
            <a:r>
              <a:rPr/>
              <a:t>. For some slides, there will be pedagogical tips, suggestons for acitivities and troubleshooting tips for issues your audience might run into. You can find these notes underneath the speaker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Speaker Notes</a:t>
            </a:r>
            <a:r>
              <a:rPr/>
              <a:t> Script for the presentation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Speaker Notes</a:t>
            </a:r>
            <a:r>
              <a:rPr/>
              <a:t> Script for the presentation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Speaker Notes</a:t>
            </a:r>
            <a:r>
              <a:rPr/>
              <a:t> Script for the presentation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Speaker Notes</a:t>
            </a:r>
            <a:r>
              <a:rPr/>
              <a:t> Make it clear to the group that there will be a similar post-submodule survey to examine understanding and learning progress.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Speaker Notes</a:t>
            </a:r>
            <a:r>
              <a:rPr/>
              <a:t> Script for the presentation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Speaker Notes</a:t>
            </a:r>
            <a:r>
              <a:rPr/>
              <a:t> Script for the presentation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Speaker Notes</a:t>
            </a:r>
            <a:r>
              <a:rPr/>
              <a:t> Script for the presentation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Speaker notes</a:t>
            </a:r>
            <a:r>
              <a:rPr/>
              <a:t> Base yourself on conceptual change theory and examine exisiting concepts in relation to some key terms. Re-examine formation of new concepts at the end of the 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Speaker notes</a:t>
            </a:r>
            <a:r>
              <a:rPr/>
              <a:t> For a 90-minute lesson, the instructor should try to “lecture” for only 20 minutes, students should work in groups/pairs/on their own for at least 55 minutes of the lesson (+ a 15 minute break).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Speaker Notes</a:t>
            </a:r>
            <a:r>
              <a:rPr/>
              <a:t> Script for the presentation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Speaker Notes</a:t>
            </a:r>
            <a:r>
              <a:rPr/>
              <a:t> Script for the presentation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16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Speaker Notes</a:t>
            </a:r>
            <a:r>
              <a:rPr/>
              <a:t> Script for the presentation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17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Speaker Notes</a:t>
            </a:r>
            <a:r>
              <a:rPr/>
              <a:t> Script for the presentation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21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Speaker notes</a:t>
            </a:r>
            <a:r>
              <a:rPr/>
              <a:t> For students who advance faster: Prepare extra exercises.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22</a:t>
            </a:fld>
            <a:endParaRPr lang="en-US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Speaker Notes</a:t>
            </a:r>
            <a:r>
              <a:rPr/>
              <a:t> Script for the presentation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23</a:t>
            </a:fld>
            <a:endParaRPr lang="en-US"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Speaker Notes</a:t>
            </a:r>
            <a:r>
              <a:rPr/>
              <a:t> Script for the presentation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24</a:t>
            </a:fld>
            <a:endParaRPr lang="en-US"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Speaker Notes</a:t>
            </a:r>
            <a:r>
              <a:rPr/>
              <a:t> Script for the presentation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25</a:t>
            </a:fld>
            <a:endParaRPr lang="en-US"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Speaker Notes</a:t>
            </a:r>
            <a:r>
              <a:rPr/>
              <a:t> Script for the presentation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26</a:t>
            </a:fld>
            <a:endParaRPr lang="en-US"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Speaker Notes</a:t>
            </a:r>
            <a:r>
              <a:rPr/>
              <a:t> Script for the presentation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30</a:t>
            </a:fld>
            <a:endParaRPr lang="en-US"/>
          </a:p>
        </p:txBody>
      </p:sp>
    </p:spTree>
  </p:cSld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Speaker Notes</a:t>
            </a:r>
            <a:r>
              <a:rPr/>
              <a:t> Script for the presentation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31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Relationship Id="rId3" Type="http://schemas.openxmlformats.org/officeDocument/2006/relationships/hyperlink" Target="https://creativecommons.org/licenses/by/4.0/deed.en" TargetMode="Externa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2.xml" /><Relationship Id="rId3" Type="http://schemas.openxmlformats.org/officeDocument/2006/relationships/hyperlink" Target="https://quarto.org" TargetMode="Externa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6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7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8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9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0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1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quarto.org/docs/" TargetMode="External" /><Relationship Id="rId3" Type="http://schemas.openxmlformats.org/officeDocument/2006/relationships/hyperlink" Target="https://revealjs.com/" TargetMode="External" /><Relationship Id="rId4" Type="http://schemas.openxmlformats.org/officeDocument/2006/relationships/hyperlink" Target="https://www.markdownguide.org/" TargetMode="External" /><Relationship Id="rId5" Type="http://schemas.openxmlformats.org/officeDocument/2006/relationships/hyperlink" Target="https://github.com/" TargetMode="Externa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creativecommons.org/licenses/by/4.0/" TargetMode="External" 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github.com/SvonGrebmer/Template-Slides-Students" TargetMode="External" /><Relationship Id="rId3" Type="http://schemas.openxmlformats.org/officeDocument/2006/relationships/hyperlink" Target="https://creativecommons.org/licenses/by/4.0/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Template Slides: Title of submodule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Author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09/01/2026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Credit statement and licence</a:t>
            </a:r>
          </a:p>
          <a:p>
            <a:pPr lvl="0" indent="0" marL="0">
              <a:buNone/>
            </a:pPr>
            <a:r>
              <a:rPr/>
              <a:t>Possible roles using the CRediT contribition system:</a:t>
            </a:r>
          </a:p>
          <a:p>
            <a:pPr lvl="0" indent="0" marL="0">
              <a:buNone/>
            </a:pPr>
            <a:r>
              <a:rPr b="1"/>
              <a:t>Name main content creator</a:t>
            </a:r>
            <a:r>
              <a:rPr/>
              <a:t>: Conceptualization, Software, Writing - Original Draft, Visualization. </a:t>
            </a:r>
            <a:r>
              <a:rPr b="1"/>
              <a:t>Sara Lil Middleton</a:t>
            </a:r>
            <a:r>
              <a:rPr/>
              <a:t>: Writing - Review &amp; Editing, Supervision. </a:t>
            </a:r>
            <a:r>
              <a:rPr b="1"/>
              <a:t>Sarah von Grebmer zu Wolfsthurn</a:t>
            </a:r>
            <a:r>
              <a:rPr/>
              <a:t>: Conceptualisation, Writing - Review &amp; Editing, Supervision, Project Administration, Validation.</a:t>
            </a:r>
          </a:p>
          <a:p>
            <a:pPr lvl="0" indent="0" marL="0">
              <a:buNone/>
            </a:pPr>
            <a:r>
              <a:rPr/>
              <a:t> </a:t>
            </a:r>
          </a:p>
          <a:p>
            <a:pPr lvl="0" indent="0" marL="0">
              <a:buNone/>
            </a:pPr>
            <a:r>
              <a:rPr/>
              <a:t>This work by YYY XXX, Sara Lil Middleton and Sarah von Grebmer zu Wolfsthurn is licensed under a CC-BY 4.0 </a:t>
            </a:r>
            <a:r>
              <a:rPr>
                <a:hlinkClick r:id="rId3"/>
              </a:rPr>
              <a:t>Creative Commons Attribution 4.0 International License</a:t>
            </a:r>
            <a:r>
              <a:rPr/>
              <a:t>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Prerequisites</a:t>
            </a:r>
          </a:p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/>
              <a:t>Before completing this submodule, please carefully read about the necessary prerequisites.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Prerequisite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Link/Where to find it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Topic Name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Basic intro to 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Module + Submodule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Software Name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Configuring the environment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hlinkClick r:id="rId3"/>
                        </a:rPr>
                        <a:t>Download Link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Questions from previous submodule</a:t>
            </a:r>
          </a:p>
          <a:p>
            <a:pPr lvl="0"/>
            <a:r>
              <a:rPr b="1"/>
              <a:t>Aim</a:t>
            </a:r>
            <a:r>
              <a:rPr/>
              <a:t>: This first slide is dedicated to clarifying questions from the previous submodule and/or to discuss assignments.</a:t>
            </a:r>
          </a:p>
          <a:p>
            <a:pPr lvl="0"/>
            <a:r>
              <a:rPr/>
              <a:t>Additional slides may need to be added depending on the nature of the homework assignments.</a:t>
            </a:r>
          </a:p>
          <a:p>
            <a:pPr lvl="0"/>
            <a:r>
              <a:rPr/>
              <a:t>Critical for the learning process to ensure that students are on the same page and have been able to achieve the learning goals of the previous workshop.</a:t>
            </a:r>
          </a:p>
          <a:p>
            <a:pPr lvl="0"/>
            <a:r>
              <a:rPr/>
              <a:t>Not applicable if this set of slides corresponds to the first submodule of a new module.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Before we start: Survey time!</a:t>
            </a:r>
          </a:p>
          <a:p>
            <a:pPr lvl="0"/>
            <a:r>
              <a:rPr b="1"/>
              <a:t>Aim</a:t>
            </a:r>
            <a:r>
              <a:rPr/>
              <a:t>: The pre-submodule survey serves to examine students’ prior knowledge about the sumodule’s topic.</a:t>
            </a:r>
          </a:p>
          <a:p>
            <a:pPr lvl="0"/>
            <a:r>
              <a:rPr/>
              <a:t>Use free survey software such as or other survey software (particify, formR) to establish the following questions (shown on separate slides).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is your level of familiarity with [Topic] (e.g., basic concepts, terminology, or tools)?</a:t>
            </a:r>
          </a:p>
          <a:p>
            <a:pPr lvl="0" indent="-342900" marL="342900">
              <a:buAutoNum type="alphaLcPeriod"/>
            </a:pPr>
            <a:r>
              <a:rPr/>
              <a:t>I have never heard of it before.</a:t>
            </a:r>
          </a:p>
          <a:p>
            <a:pPr lvl="0" indent="-342900" marL="342900">
              <a:buAutoNum type="alphaLcPeriod"/>
            </a:pPr>
            <a:r>
              <a:rPr/>
              <a:t>I have heard of it but have never worked with it.</a:t>
            </a:r>
          </a:p>
          <a:p>
            <a:pPr lvl="0" indent="-342900" marL="342900">
              <a:buAutoNum type="alphaLcPeriod"/>
            </a:pPr>
            <a:r>
              <a:rPr/>
              <a:t>I have basic understanding and experience with it.</a:t>
            </a:r>
          </a:p>
          <a:p>
            <a:pPr lvl="0" indent="-342900" marL="342900">
              <a:buAutoNum type="alphaLcPeriod"/>
            </a:pPr>
            <a:r>
              <a:rPr/>
              <a:t>I am very familiar and have worked with it extensively.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Which of the following concepts or skills do you feel most confident about in relation to [Topic]? (Select all that apply)</a:t>
            </a:r>
          </a:p>
          <a:p>
            <a:pPr lvl="0" indent="-342900" marL="342900">
              <a:buAutoNum type="alphaLcPeriod"/>
            </a:pPr>
            <a:r>
              <a:rPr/>
              <a:t>Concept 1</a:t>
            </a:r>
          </a:p>
          <a:p>
            <a:pPr lvl="0" indent="-342900" marL="342900">
              <a:buAutoNum type="alphaLcPeriod"/>
            </a:pPr>
            <a:r>
              <a:rPr/>
              <a:t>Concept 2</a:t>
            </a:r>
          </a:p>
          <a:p>
            <a:pPr lvl="0" indent="-342900" marL="342900">
              <a:buAutoNum type="alphaLcPeriod"/>
            </a:pPr>
            <a:r>
              <a:rPr/>
              <a:t>Concept 3</a:t>
            </a:r>
          </a:p>
          <a:p>
            <a:pPr lvl="0" indent="-342900" marL="342900">
              <a:buAutoNum type="alphaLcPeriod"/>
            </a:pPr>
            <a:r>
              <a:rPr/>
              <a:t>Concept 4</a:t>
            </a:r>
          </a:p>
          <a:p>
            <a:pPr lvl="0" indent="-342900" marL="342900">
              <a:buAutoNum type="alphaLcPeriod"/>
            </a:pPr>
            <a:r>
              <a:rPr/>
              <a:t>I am not sure about any of these concepts.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On a scale of 1 to 5, how comfortable are you with using [specific tool/technology] related to [Topic]? (1 = Not comfortable at all, 5 = Very comfortable)</a:t>
            </a:r>
          </a:p>
          <a:p>
            <a:pPr lvl="0" indent="-342900" marL="342900">
              <a:buAutoNum type="alphaLcPeriod"/>
            </a:pPr>
            <a:r>
              <a:rPr/>
              <a:t>1</a:t>
            </a:r>
          </a:p>
          <a:p>
            <a:pPr lvl="0" indent="-342900" marL="342900">
              <a:buAutoNum type="alphaLcPeriod"/>
            </a:pPr>
            <a:r>
              <a:rPr/>
              <a:t>2</a:t>
            </a:r>
          </a:p>
          <a:p>
            <a:pPr lvl="0" indent="-342900" marL="342900">
              <a:buAutoNum type="alphaLcPeriod"/>
            </a:pPr>
            <a:r>
              <a:rPr/>
              <a:t>3</a:t>
            </a:r>
          </a:p>
          <a:p>
            <a:pPr lvl="0" indent="-342900" marL="342900">
              <a:buAutoNum type="alphaLcPeriod"/>
            </a:pPr>
            <a:r>
              <a:rPr/>
              <a:t>4</a:t>
            </a:r>
          </a:p>
          <a:p>
            <a:pPr lvl="0" indent="-342900" marL="342900">
              <a:buAutoNum type="alphaLcPeriod"/>
            </a:pPr>
            <a:r>
              <a:rPr/>
              <a:t>5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Discussion of survey results</a:t>
            </a:r>
          </a:p>
          <a:p>
            <a:pPr lvl="0"/>
            <a:r>
              <a:rPr b="1"/>
              <a:t>Aim”</a:t>
            </a:r>
            <a:r>
              <a:rPr/>
              <a:t>: Briefly examine the answers given to each question interactively with the group.</a:t>
            </a:r>
          </a:p>
          <a:p>
            <a:pPr lvl="0"/>
            <a:r>
              <a:rPr/>
              <a:t>Use visuals from the survey to highlight specific answers.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Where are we at?</a:t>
            </a:r>
          </a:p>
          <a:p>
            <a:pPr lvl="0"/>
            <a:r>
              <a:rPr b="1"/>
              <a:t>Aim</a:t>
            </a:r>
            <a:r>
              <a:rPr/>
              <a:t>: Place the topic of the current submodule within a broader context.</a:t>
            </a:r>
          </a:p>
          <a:p>
            <a:pPr lvl="0"/>
            <a:r>
              <a:rPr/>
              <a:t>Remind students what you are working towards and what the bigger picture is.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Learning goals</a:t>
            </a:r>
          </a:p>
          <a:p>
            <a:pPr lvl="0"/>
            <a:r>
              <a:rPr b="1"/>
              <a:t>Aim</a:t>
            </a:r>
            <a:r>
              <a:rPr/>
              <a:t>: Formulate specific, action-oriented goals learning goals which are measurable and observable in line with Bloom’s taxonomy (Anderson et al., 2001; Bloom et al., 1956)</a:t>
            </a:r>
          </a:p>
          <a:p>
            <a:pPr lvl="0"/>
            <a:r>
              <a:rPr/>
              <a:t>Place an emphasis on the </a:t>
            </a:r>
            <a:r>
              <a:rPr b="1"/>
              <a:t>verbs</a:t>
            </a:r>
            <a:r>
              <a:rPr/>
              <a:t> of the learning goals and choose verbs that align with the skills you want to develop or assess.</a:t>
            </a:r>
          </a:p>
          <a:p>
            <a:pPr lvl="0"/>
            <a:r>
              <a:rPr/>
              <a:t>Examples:</a:t>
            </a:r>
          </a:p>
          <a:p>
            <a:pPr lvl="1"/>
            <a:r>
              <a:rPr/>
              <a:t>Students will </a:t>
            </a:r>
            <a:r>
              <a:rPr b="1"/>
              <a:t>describe</a:t>
            </a:r>
            <a:r>
              <a:rPr/>
              <a:t> the process of photosynthesis or</a:t>
            </a:r>
          </a:p>
          <a:p>
            <a:pPr lvl="1"/>
            <a:r>
              <a:rPr/>
              <a:t>Students will </a:t>
            </a:r>
            <a:r>
              <a:rPr b="1"/>
              <a:t>construct</a:t>
            </a:r>
            <a:r>
              <a:rPr/>
              <a:t> a diagram illustrating the process of photosynthesis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Covered in in this session</a:t>
            </a:r>
          </a:p>
          <a:p>
            <a:pPr lvl="0"/>
            <a:r>
              <a:rPr b="1"/>
              <a:t>Aim</a:t>
            </a:r>
            <a:r>
              <a:rPr/>
              <a:t>: This slides serves as an overview of the topics that are discussed, presented as bullet point:</a:t>
            </a:r>
          </a:p>
          <a:p>
            <a:pPr lvl="0"/>
            <a:r>
              <a:rPr/>
              <a:t>Topic 1</a:t>
            </a:r>
          </a:p>
          <a:p>
            <a:pPr lvl="0"/>
            <a:r>
              <a:rPr/>
              <a:t>Topic 2</a:t>
            </a:r>
          </a:p>
          <a:p>
            <a:pPr lvl="0"/>
            <a:r>
              <a:rPr/>
              <a:t>Topic 3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Key terms and definitions</a:t>
            </a:r>
          </a:p>
          <a:p>
            <a:pPr lvl="0"/>
            <a:r>
              <a:rPr b="1"/>
              <a:t>Aim</a:t>
            </a:r>
            <a:r>
              <a:rPr/>
              <a:t>: Introduce key terms and definitions that students will come across throughout the session. </a:t>
            </a:r>
          </a:p>
          <a:p>
            <a:pPr lvl="0"/>
            <a:r>
              <a:rPr b="1"/>
              <a:t>Key Term 1</a:t>
            </a:r>
            <a:r>
              <a:rPr/>
              <a:t>: Definition</a:t>
            </a:r>
          </a:p>
          <a:p>
            <a:pPr lvl="0"/>
            <a:r>
              <a:rPr b="1"/>
              <a:t>Key Term 2</a:t>
            </a:r>
            <a:r>
              <a:rPr/>
              <a:t>: Definition</a:t>
            </a:r>
          </a:p>
          <a:p>
            <a:pPr lvl="0"/>
            <a:r>
              <a:rPr b="1"/>
              <a:t>Key Term 3</a:t>
            </a:r>
            <a:r>
              <a:rPr/>
              <a:t>: Definition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Introduction of submodule topic</a:t>
            </a:r>
          </a:p>
          <a:p>
            <a:pPr lvl="0"/>
            <a:r>
              <a:rPr b="1"/>
              <a:t>Aim</a:t>
            </a:r>
            <a:r>
              <a:rPr/>
              <a:t>: Core theoretical introduction of submodule topic.</a:t>
            </a:r>
          </a:p>
          <a:p>
            <a:pPr lvl="0"/>
            <a:r>
              <a:rPr/>
              <a:t>Pair theoretical aspects with practical exercises and group discussions according to the Think-Pair-Share style and according to Cognitive Load Theory (Sweller, 1980).</a:t>
            </a:r>
          </a:p>
          <a:p>
            <a:pPr lvl="0"/>
            <a:r>
              <a:rPr/>
              <a:t>Use multiple slides for this part.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Submodule content slide</a:t>
            </a:r>
          </a:p>
          <a:p>
            <a:pPr lvl="0"/>
            <a:r>
              <a:rPr b="1"/>
              <a:t>Aim</a:t>
            </a:r>
            <a:r>
              <a:rPr/>
              <a:t>: Present relevant content</a:t>
            </a:r>
          </a:p>
          <a:p>
            <a:pPr lvl="0"/>
            <a:r>
              <a:rPr/>
              <a:t>Highlight particularly important aspects with Quarto call-out boxes, for example:</a:t>
            </a:r>
          </a:p>
          <a:p>
            <a:pPr lvl="0" indent="0" marL="1270000">
              <a:buNone/>
            </a:pPr>
            <a:r>
              <a:rPr sz="2000" b="1"/>
              <a:t>Important with Title</a:t>
            </a:r>
          </a:p>
          <a:p>
            <a:pPr lvl="0" indent="0" marL="1270000">
              <a:buNone/>
            </a:pPr>
            <a:r>
              <a:rPr sz="2000"/>
              <a:t>This is an example of a callout box to highlight particularly important information.</a:t>
            </a:r>
          </a:p>
          <a:p>
            <a:pPr lvl="0" indent="0" marL="1270000">
              <a:buNone/>
            </a:pPr>
            <a:r>
              <a:rPr sz="2000" b="1"/>
              <a:t>Tip with Title</a:t>
            </a:r>
          </a:p>
          <a:p>
            <a:pPr lvl="0" indent="0" marL="1270000">
              <a:buNone/>
            </a:pPr>
            <a:r>
              <a:rPr sz="2000"/>
              <a:t>This is an example of a callout box to give important tips.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Practical exercise 1</a:t>
            </a:r>
          </a:p>
          <a:p>
            <a:pPr lvl="0"/>
            <a:r>
              <a:rPr b="1"/>
              <a:t>Aim</a:t>
            </a:r>
            <a:r>
              <a:rPr/>
              <a:t>: Design more practical exercises for students to apply the new skills in practise.</a:t>
            </a:r>
          </a:p>
          <a:p>
            <a:pPr lvl="0"/>
            <a:r>
              <a:rPr/>
              <a:t>Depending on the topic, the exercises should be in accordance with the learning objective(s).</a:t>
            </a:r>
          </a:p>
          <a:p>
            <a:pPr lvl="0"/>
            <a:r>
              <a:rPr/>
              <a:t>Add a description of the task, as well as a checklist as an overview of that your students need to be doing.</a:t>
            </a:r>
          </a:p>
          <a:p>
            <a:pPr lvl="0"/>
            <a:r>
              <a:rPr/>
              <a:t>☒ Step 1</a:t>
            </a:r>
          </a:p>
          <a:p>
            <a:pPr lvl="0"/>
            <a:r>
              <a:rPr/>
              <a:t>☐ Step 2</a:t>
            </a:r>
          </a:p>
          <a:p>
            <a:pPr lvl="0"/>
            <a:r>
              <a:rPr/>
              <a:t>☐ Step 3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Pre-break survey</a:t>
            </a:r>
          </a:p>
          <a:p>
            <a:pPr lvl="0"/>
            <a:r>
              <a:rPr b="1"/>
              <a:t>Aim</a:t>
            </a:r>
            <a:r>
              <a:rPr/>
              <a:t>: This pre-break survey serves to examine students’ current understanding of key concepts of the submodule</a:t>
            </a:r>
          </a:p>
          <a:p>
            <a:pPr lvl="0"/>
            <a:r>
              <a:rPr/>
              <a:t>Use free survey software such as or other survey software (particify, formR) to establish the following questions (shown on separate slides):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Which species is the largest type of penguin</a:t>
            </a:r>
            <a:r>
              <a:rPr/>
              <a:t>?</a:t>
            </a:r>
          </a:p>
          <a:p>
            <a:pPr lvl="0" indent="-342900" marL="342900">
              <a:buAutoNum type="alphaLcPeriod"/>
            </a:pPr>
            <a:r>
              <a:rPr/>
              <a:t>Chinstrap Penguin</a:t>
            </a:r>
          </a:p>
          <a:p>
            <a:pPr lvl="0" indent="-342900" marL="342900">
              <a:buAutoNum type="alphaLcPeriod"/>
            </a:pPr>
            <a:r>
              <a:rPr/>
              <a:t>Emperor Penguin ✅</a:t>
            </a:r>
          </a:p>
          <a:p>
            <a:pPr lvl="0" indent="-342900" marL="342900">
              <a:buAutoNum type="alphaLcPeriod"/>
            </a:pPr>
            <a:r>
              <a:rPr/>
              <a:t>Adélie Penguin</a:t>
            </a:r>
          </a:p>
          <a:p>
            <a:pPr lvl="0" indent="-342900" marL="342900">
              <a:buAutoNum type="alphaLcPeriod"/>
            </a:pPr>
            <a:r>
              <a:rPr/>
              <a:t>King Penguin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is the key biological feature that helps penguins swim efficiently?</a:t>
            </a:r>
          </a:p>
          <a:p>
            <a:pPr lvl="0" indent="-342900" marL="342900">
              <a:buAutoNum type="alphaLcPeriod"/>
            </a:pPr>
            <a:r>
              <a:rPr/>
              <a:t>Hollow bones for buoyancy</a:t>
            </a:r>
          </a:p>
          <a:p>
            <a:pPr lvl="0" indent="-342900" marL="342900">
              <a:buAutoNum type="alphaLcPeriod"/>
            </a:pPr>
            <a:r>
              <a:rPr/>
              <a:t>Webbed feet for paddling</a:t>
            </a:r>
          </a:p>
          <a:p>
            <a:pPr lvl="0" indent="-342900" marL="342900">
              <a:buAutoNum type="alphaLcPeriod"/>
            </a:pPr>
            <a:r>
              <a:rPr/>
              <a:t>Waterproof feathers and flipper-like wings ✅</a:t>
            </a:r>
          </a:p>
          <a:p>
            <a:pPr lvl="0" indent="-342900" marL="342900">
              <a:buAutoNum type="alphaLcPeriod"/>
            </a:pPr>
            <a:r>
              <a:rPr/>
              <a:t>Gills to breathe underwater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Break! 15 minutes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Post-break survey discussion</a:t>
            </a:r>
          </a:p>
          <a:p>
            <a:pPr lvl="0"/>
            <a:r>
              <a:rPr b="1"/>
              <a:t>Aim</a:t>
            </a:r>
            <a:r>
              <a:rPr/>
              <a:t>: To clarify concepts and aspects that are not yet understood</a:t>
            </a:r>
          </a:p>
          <a:p>
            <a:pPr lvl="0"/>
            <a:r>
              <a:rPr/>
              <a:t>Highlight specific answers given during the survey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Practical exercise 2</a:t>
            </a:r>
          </a:p>
          <a:p>
            <a:pPr lvl="0"/>
            <a:r>
              <a:rPr b="1"/>
              <a:t>Aim</a:t>
            </a:r>
            <a:r>
              <a:rPr/>
              <a:t>: Design more practical exercises for students to apply the new skills in practise.</a:t>
            </a:r>
          </a:p>
          <a:p>
            <a:pPr lvl="0"/>
            <a:r>
              <a:rPr/>
              <a:t>Depending on the topic, the exercises should be in accordance with the learning objective(s).</a:t>
            </a:r>
          </a:p>
          <a:p>
            <a:pPr lvl="0"/>
            <a:r>
              <a:rPr/>
              <a:t>Add a description of the task, as well as a checklist as an overview of that your students need to be doing.</a:t>
            </a:r>
          </a:p>
          <a:p>
            <a:pPr lvl="0"/>
            <a:r>
              <a:rPr/>
              <a:t>☒ Step 1</a:t>
            </a:r>
          </a:p>
          <a:p>
            <a:pPr lvl="0"/>
            <a:r>
              <a:rPr/>
              <a:t>☐ Step 2</a:t>
            </a:r>
          </a:p>
          <a:p>
            <a:pPr lvl="0"/>
            <a:r>
              <a:rPr/>
              <a:t>☐ Step 3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Relevance and implications</a:t>
            </a:r>
          </a:p>
          <a:p>
            <a:pPr lvl="0"/>
            <a:r>
              <a:rPr b="1"/>
              <a:t>Aim</a:t>
            </a:r>
            <a:r>
              <a:rPr/>
              <a:t>: To work out the relevance of the topic to your students.</a:t>
            </a:r>
          </a:p>
          <a:p>
            <a:pPr lvl="0"/>
            <a:r>
              <a:rPr/>
              <a:t>In an interactive setting, discuss how the new skills could be applied in practise with specific examples.</a:t>
            </a:r>
          </a:p>
          <a:p>
            <a:pPr lvl="0"/>
            <a:r>
              <a:rPr/>
              <a:t>Examine downfalls and practical obstacles.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Take-home message</a:t>
            </a:r>
          </a:p>
          <a:p>
            <a:pPr lvl="0" indent="0" marL="0">
              <a:buNone/>
            </a:pPr>
            <a:r>
              <a:rPr b="1"/>
              <a:t>Aim</a:t>
            </a:r>
            <a:r>
              <a:rPr/>
              <a:t>: End lesson on clear take-home message that are interactively compiled by students.</a:t>
            </a:r>
          </a:p>
          <a:p>
            <a:pPr lvl="0" indent="0" marL="1270000">
              <a:buNone/>
            </a:pPr>
            <a:r>
              <a:rPr sz="2000" b="1"/>
              <a:t>Tip with Title</a:t>
            </a:r>
          </a:p>
          <a:p>
            <a:pPr lvl="0" indent="0" marL="1270000">
              <a:buNone/>
            </a:pPr>
            <a:r>
              <a:rPr sz="2000"/>
              <a:t>Add one practical tips or take-home message.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Assignment</a:t>
            </a:r>
          </a:p>
          <a:p>
            <a:pPr lvl="0"/>
            <a:r>
              <a:rPr b="1"/>
              <a:t>Aim</a:t>
            </a:r>
            <a:r>
              <a:rPr/>
              <a:t>: Explain the homework assignment and the rationale behind the homework.</a:t>
            </a:r>
          </a:p>
          <a:p>
            <a:pPr lvl="0"/>
            <a:r>
              <a:rPr/>
              <a:t>Examine whether/how it will be assessed</a:t>
            </a:r>
          </a:p>
          <a:p>
            <a:pPr lvl="0"/>
            <a:r>
              <a:rPr/>
              <a:t>Mention scoring rubrics, if applicable</a:t>
            </a:r>
          </a:p>
          <a:p>
            <a:pPr lvl="0"/>
            <a:r>
              <a:rPr/>
              <a:t>Design a peer-review system for assignments to place students in role of reviewer and author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To conclude: Survey time!</a:t>
            </a:r>
          </a:p>
          <a:p>
            <a:pPr lvl="0"/>
            <a:r>
              <a:rPr b="1"/>
              <a:t>Aim</a:t>
            </a:r>
            <a:r>
              <a:rPr/>
              <a:t>: This post-submodule survey serves to examine students’ current knowledge about the sumodule’s topic.</a:t>
            </a:r>
          </a:p>
          <a:p>
            <a:pPr lvl="0"/>
            <a:r>
              <a:rPr/>
              <a:t>Use free survey software such as or other survey software (particify, formR) to establish the following questions (shown on separate slides):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is your level of familiarity with [Topic] (e.g., basic concepts, terminology, or tools)?</a:t>
            </a:r>
          </a:p>
          <a:p>
            <a:pPr lvl="0" indent="-342900" marL="342900">
              <a:buAutoNum type="alphaLcPeriod"/>
            </a:pPr>
            <a:r>
              <a:rPr/>
              <a:t>I have never heard of it before.</a:t>
            </a:r>
          </a:p>
          <a:p>
            <a:pPr lvl="0" indent="-342900" marL="342900">
              <a:buAutoNum type="alphaLcPeriod"/>
            </a:pPr>
            <a:r>
              <a:rPr/>
              <a:t>I have heard of it but have never worked with it.</a:t>
            </a:r>
          </a:p>
          <a:p>
            <a:pPr lvl="0" indent="-342900" marL="342900">
              <a:buAutoNum type="alphaLcPeriod"/>
            </a:pPr>
            <a:r>
              <a:rPr/>
              <a:t>I have basic understanding and experience with it.</a:t>
            </a:r>
          </a:p>
          <a:p>
            <a:pPr lvl="0" indent="-342900" marL="342900">
              <a:buAutoNum type="alphaLcPeriod"/>
            </a:pPr>
            <a:r>
              <a:rPr/>
              <a:t>I am very familiar and have worked with it extensively.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Which of the following concepts or skills do you feel most confident about in relation to [Topic]? (Select all that apply)</a:t>
            </a:r>
          </a:p>
          <a:p>
            <a:pPr lvl="0" indent="-342900" marL="342900">
              <a:buAutoNum type="alphaLcPeriod"/>
            </a:pPr>
            <a:r>
              <a:rPr/>
              <a:t>Concept 1</a:t>
            </a:r>
          </a:p>
          <a:p>
            <a:pPr lvl="0" indent="-342900" marL="342900">
              <a:buAutoNum type="alphaLcPeriod"/>
            </a:pPr>
            <a:r>
              <a:rPr/>
              <a:t>Concept 2</a:t>
            </a:r>
          </a:p>
          <a:p>
            <a:pPr lvl="0" indent="-342900" marL="342900">
              <a:buAutoNum type="alphaLcPeriod"/>
            </a:pPr>
            <a:r>
              <a:rPr/>
              <a:t>Concept 3</a:t>
            </a:r>
          </a:p>
          <a:p>
            <a:pPr lvl="0" indent="-342900" marL="342900">
              <a:buAutoNum type="alphaLcPeriod"/>
            </a:pPr>
            <a:r>
              <a:rPr/>
              <a:t>Concept 4</a:t>
            </a:r>
          </a:p>
          <a:p>
            <a:pPr lvl="0" indent="-342900" marL="342900">
              <a:buAutoNum type="alphaLcPeriod"/>
            </a:pPr>
            <a:r>
              <a:rPr/>
              <a:t>I am not sure about any of these concepts.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On a scale of 1 to 5, how comfortable are you with using [specific tool/technology] related to [Topic]? (1 = Not comfortable at all, 5 = Very comfortable)</a:t>
            </a:r>
          </a:p>
          <a:p>
            <a:pPr lvl="0" indent="-342900" marL="342900">
              <a:buAutoNum type="alphaLcPeriod"/>
            </a:pPr>
            <a:r>
              <a:rPr/>
              <a:t>1</a:t>
            </a:r>
          </a:p>
          <a:p>
            <a:pPr lvl="0" indent="-342900" marL="342900">
              <a:buAutoNum type="alphaLcPeriod"/>
            </a:pPr>
            <a:r>
              <a:rPr/>
              <a:t>2</a:t>
            </a:r>
          </a:p>
          <a:p>
            <a:pPr lvl="0" indent="-342900" marL="342900">
              <a:buAutoNum type="alphaLcPeriod"/>
            </a:pPr>
            <a:r>
              <a:rPr/>
              <a:t>3</a:t>
            </a:r>
          </a:p>
          <a:p>
            <a:pPr lvl="0" indent="-342900" marL="342900">
              <a:buAutoNum type="alphaLcPeriod"/>
            </a:pPr>
            <a:r>
              <a:rPr/>
              <a:t>4</a:t>
            </a:r>
          </a:p>
          <a:p>
            <a:pPr lvl="0" indent="-342900" marL="342900">
              <a:buAutoNum type="alphaLcPeriod"/>
            </a:pPr>
            <a:r>
              <a:rPr/>
              <a:t>5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Discussion of survey results</a:t>
            </a:r>
          </a:p>
          <a:p>
            <a:pPr lvl="0"/>
            <a:r>
              <a:rPr b="1"/>
              <a:t>Aim</a:t>
            </a:r>
            <a:r>
              <a:rPr/>
              <a:t>: Briefly examine the answers given to each question interactively with the group.</a:t>
            </a:r>
          </a:p>
          <a:p>
            <a:pPr lvl="0"/>
            <a:r>
              <a:rPr/>
              <a:t>Compare and highlight specific differences in answers between pre- and post-survey answers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References</a:t>
            </a:r>
          </a:p>
          <a:p>
            <a:pPr lvl="0"/>
            <a:r>
              <a:rPr/>
              <a:t>Provide literature you refer to throughout this lesson.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Thanks!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See you next class :)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Pedagogical add-on tools for instructors</a:t>
            </a:r>
          </a:p>
          <a:p>
            <a:pPr lvl="0"/>
            <a:r>
              <a:rPr/>
              <a:t>This section is dedicated to ideas on how to incorporate pedagogical tools into teaching for this specific submodule topic. This could mean:</a:t>
            </a:r>
          </a:p>
          <a:p>
            <a:pPr lvl="1"/>
            <a:r>
              <a:rPr/>
              <a:t>Information about the scientific evidence on the theory of the pedagogical add-on tool and the evidence for its efficacy.</a:t>
            </a:r>
          </a:p>
          <a:p>
            <a:pPr lvl="1"/>
            <a:r>
              <a:rPr/>
              <a:t>Discussion/reflection on how tools can be incorporated into the teaching for this particular content.</a:t>
            </a:r>
          </a:p>
          <a:p>
            <a:pPr lvl="1"/>
            <a:r>
              <a:rPr/>
              <a:t>Extra exercises for faster students.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Additional literature for instructors</a:t>
            </a:r>
          </a:p>
          <a:p>
            <a:pPr lvl="0"/>
            <a:r>
              <a:rPr/>
              <a:t>References for content</a:t>
            </a:r>
          </a:p>
          <a:p>
            <a:pPr lvl="0"/>
            <a:r>
              <a:rPr/>
              <a:t>References for pedagogical add-on tools</a:t>
            </a:r>
            <a:br/>
          </a:p>
          <a:p>
            <a:pPr lvl="0"/>
            <a:r>
              <a:rPr/>
              <a:t>Other resources (videos etc.)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Formatting elements for instructors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Aim</a:t>
            </a:r>
            <a:r>
              <a:rPr/>
              <a:t>: This section contains templates for different formatting elements, which can be modified and adapted for the instructor’s individual purposes.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Text with example links</a:t>
            </a:r>
          </a:p>
          <a:p>
            <a:pPr lvl="0"/>
            <a:r>
              <a:rPr>
                <a:hlinkClick r:id="rId2"/>
              </a:rPr>
              <a:t>Quarto Documentation</a:t>
            </a:r>
          </a:p>
          <a:p>
            <a:pPr lvl="0"/>
            <a:r>
              <a:rPr>
                <a:hlinkClick r:id="rId3"/>
              </a:rPr>
              <a:t>Reveal.js Documentation</a:t>
            </a:r>
          </a:p>
          <a:p>
            <a:pPr lvl="0"/>
            <a:r>
              <a:rPr>
                <a:hlinkClick r:id="rId4"/>
              </a:rPr>
              <a:t>Markdown Guide</a:t>
            </a:r>
          </a:p>
          <a:p>
            <a:pPr lvl="0"/>
            <a:r>
              <a:rPr>
                <a:hlinkClick r:id="rId5"/>
              </a:rPr>
              <a:t>GitHub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Basic text formatting</a:t>
            </a:r>
          </a:p>
          <a:p>
            <a:pPr lvl="0"/>
            <a:r>
              <a:rPr b="1"/>
              <a:t>Bold:</a:t>
            </a:r>
            <a:r>
              <a:rPr/>
              <a:t> </a:t>
            </a:r>
            <a:r>
              <a:rPr>
                <a:latin typeface="Courier"/>
              </a:rPr>
              <a:t>**bold**</a:t>
            </a:r>
            <a:r>
              <a:rPr/>
              <a:t> → </a:t>
            </a:r>
            <a:r>
              <a:rPr b="1"/>
              <a:t>bold</a:t>
            </a:r>
          </a:p>
          <a:p>
            <a:pPr lvl="0"/>
            <a:r>
              <a:rPr i="1"/>
              <a:t>Italic:</a:t>
            </a:r>
            <a:r>
              <a:rPr/>
              <a:t> </a:t>
            </a:r>
            <a:r>
              <a:rPr>
                <a:latin typeface="Courier"/>
              </a:rPr>
              <a:t>*italic*</a:t>
            </a:r>
            <a:r>
              <a:rPr/>
              <a:t> → </a:t>
            </a:r>
            <a:r>
              <a:rPr i="1"/>
              <a:t>italic</a:t>
            </a:r>
          </a:p>
          <a:p>
            <a:pPr lvl="0"/>
            <a:r>
              <a:rPr strike="sngStrike"/>
              <a:t>Strikethrough:</a:t>
            </a:r>
            <a:r>
              <a:rPr/>
              <a:t> </a:t>
            </a:r>
            <a:r>
              <a:rPr>
                <a:latin typeface="Courier"/>
              </a:rPr>
              <a:t>~~text~~</a:t>
            </a:r>
            <a:r>
              <a:rPr/>
              <a:t> → </a:t>
            </a:r>
            <a:r>
              <a:rPr strike="sngStrike"/>
              <a:t>text</a:t>
            </a:r>
          </a:p>
          <a:p>
            <a:pPr lvl="0"/>
            <a:r>
              <a:rPr>
                <a:latin typeface="Courier"/>
              </a:rPr>
              <a:t>Inline code:</a:t>
            </a:r>
            <a:r>
              <a:rPr/>
              <a:t> </a:t>
            </a:r>
            <a:r>
              <a:rPr>
                <a:latin typeface="Courier"/>
              </a:rPr>
              <a:t>`code`</a:t>
            </a:r>
            <a:r>
              <a:rPr/>
              <a:t> → </a:t>
            </a:r>
            <a:r>
              <a:rPr>
                <a:latin typeface="Courier"/>
              </a:rPr>
              <a:t>code</a:t>
            </a:r>
          </a:p>
          <a:p>
            <a:pPr lvl="0" indent="0" marL="1270000"/>
            <a:r>
              <a:rPr sz="2000"/>
              <a:t>Blockquote: </a:t>
            </a:r>
            <a:r>
              <a:rPr sz="2000">
                <a:latin typeface="Courier"/>
              </a:rPr>
              <a:t>&gt; Quote</a:t>
            </a:r>
            <a:r>
              <a:rPr sz="2000"/>
              <a:t> →</a:t>
            </a:r>
            <a:br/>
            <a:r>
              <a:rPr sz="2000"/>
              <a:t>“This is a quote”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Figure with caption</a:t>
            </a:r>
          </a:p>
          <a:p>
            <a:pPr lvl="0"/>
            <a:r>
              <a:rPr/>
              <a:t>Centered image and caption below in italics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This is a Penguin.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Figure with bullet points</a:t>
            </a:r>
          </a:p>
          <a:p>
            <a:pPr lvl="0" indent="0" marL="0">
              <a:buNone/>
            </a:pPr>
          </a:p>
          <a:p>
            <a:pPr lvl="0"/>
            <a:r>
              <a:rPr/>
              <a:t>First bullet point</a:t>
            </a:r>
          </a:p>
          <a:p>
            <a:pPr lvl="0"/>
            <a:r>
              <a:rPr/>
              <a:t>Second bullet point</a:t>
            </a:r>
          </a:p>
          <a:p>
            <a:pPr lvl="0"/>
            <a:r>
              <a:rPr/>
              <a:t>Third bullet point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Side-by-side figures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Stacked figures with text</a:t>
            </a:r>
          </a:p>
          <a:p>
            <a:pPr lvl="0" indent="0" marL="0">
              <a:buNone/>
            </a:pPr>
          </a:p>
          <a:p>
            <a:pPr lvl="0"/>
            <a:r>
              <a:rPr/>
              <a:t>First bullet point</a:t>
            </a:r>
          </a:p>
          <a:p>
            <a:pPr lvl="0"/>
            <a:r>
              <a:rPr/>
              <a:t>Second bullet point</a:t>
            </a:r>
          </a:p>
          <a:p>
            <a:pPr lvl="0"/>
            <a:r>
              <a:rPr/>
              <a:t>Third bullet point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Two-column text slide</a:t>
            </a:r>
          </a:p>
          <a:p>
            <a:pPr lvl="0" indent="0" marL="0">
              <a:buNone/>
            </a:pPr>
            <a:r>
              <a:rPr b="1"/>
              <a:t>Column 1</a:t>
            </a:r>
          </a:p>
          <a:p>
            <a:pPr lvl="0" indent="0" marL="0">
              <a:buNone/>
            </a:pPr>
            <a:r>
              <a:rPr/>
              <a:t>Lorem ipsum dolor sit amet, consectetur adipiscing elit.</a:t>
            </a:r>
            <a:br/>
            <a:r>
              <a:rPr/>
              <a:t>Vivamus lacinia odio vitae vestibulum vestibulum.</a:t>
            </a:r>
            <a:br/>
            <a:r>
              <a:rPr/>
              <a:t>Cras venenatis euismod malesuada.</a:t>
            </a:r>
          </a:p>
          <a:p>
            <a:pPr lvl="0" indent="0" marL="0">
              <a:buNone/>
            </a:pPr>
            <a:r>
              <a:rPr b="1"/>
              <a:t>Column 2</a:t>
            </a:r>
          </a:p>
          <a:p>
            <a:pPr lvl="0" indent="0" marL="0">
              <a:buNone/>
            </a:pPr>
            <a:r>
              <a:rPr/>
              <a:t>Sed do eiusmod tempor incididunt ut labore et dolore magna aliqua.</a:t>
            </a:r>
            <a:br/>
            <a:r>
              <a:rPr/>
              <a:t>Ut enim ad minim veniam, quis nostrud exercitation ullamco laboris.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Three-column text slide</a:t>
            </a:r>
          </a:p>
          <a:p>
            <a:pPr lvl="0" indent="0" marL="0">
              <a:buNone/>
            </a:pPr>
            <a:r>
              <a:rPr b="1"/>
              <a:t>Column 1</a:t>
            </a:r>
          </a:p>
          <a:p>
            <a:pPr lvl="0" indent="0" marL="0">
              <a:buNone/>
            </a:pPr>
            <a:r>
              <a:rPr/>
              <a:t>Lorem ipsum dolor sit amet, consectetur adipiscing elit.</a:t>
            </a:r>
            <a:br/>
            <a:r>
              <a:rPr/>
              <a:t>Vivamus lacinia odio vitae vestibulum vestibulum.</a:t>
            </a:r>
          </a:p>
          <a:p>
            <a:pPr lvl="0" indent="0" marL="0">
              <a:buNone/>
            </a:pPr>
            <a:r>
              <a:rPr b="1"/>
              <a:t>Column 2</a:t>
            </a:r>
          </a:p>
          <a:p>
            <a:pPr lvl="0" indent="0" marL="0">
              <a:buNone/>
            </a:pPr>
            <a:r>
              <a:rPr/>
              <a:t>Sed do eiusmod tempor incididunt ut labore et dolore magna aliqua.</a:t>
            </a:r>
            <a:br/>
            <a:r>
              <a:rPr/>
              <a:t>Ut enim ad minim veniam, quis nostrud exercitation ullamco laboris.</a:t>
            </a:r>
          </a:p>
          <a:p>
            <a:pPr lvl="0" indent="0" marL="0">
              <a:buNone/>
            </a:pPr>
            <a:r>
              <a:rPr b="1"/>
              <a:t>Column 3</a:t>
            </a:r>
          </a:p>
          <a:p>
            <a:pPr lvl="0" indent="0" marL="0">
              <a:buNone/>
            </a:pPr>
            <a:r>
              <a:rPr/>
              <a:t>Duis aute irure dolor in reprehenderit in voluptate velit esse cillum dolore eu fugiat nulla pariatur.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Simple table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3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Complex table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3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Task list</a:t>
            </a:r>
          </a:p>
          <a:p>
            <a:pPr lvl="0"/>
            <a:r>
              <a:rPr/>
              <a:t>☒ Done</a:t>
            </a:r>
          </a:p>
          <a:p>
            <a:pPr lvl="0"/>
            <a:r>
              <a:rPr/>
              <a:t>☐ To do</a:t>
            </a:r>
          </a:p>
        </p:txBody>
      </p: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Embedding videos</a:t>
            </a:r>
          </a:p>
          <a:p>
            <a:pPr lvl="0" indent="0" marL="0">
              <a:buNone/>
            </a:pPr>
            <a:r>
              <a:rPr/>
              <a:t> </a:t>
            </a:r>
          </a:p>
        </p:txBody>
      </p:sp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Code blocks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A basic R code chunk</a:t>
            </a:r>
            <a:br/>
            <a:r>
              <a:rPr>
                <a:solidFill>
                  <a:srgbClr val="003B4F"/>
                </a:solidFill>
                <a:latin typeface="Courier"/>
              </a:rPr>
              <a:t>x &lt;-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br/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(x)</a:t>
            </a:r>
          </a:p>
          <a:p>
            <a:pPr lvl="0" indent="0">
              <a:buNone/>
            </a:pPr>
            <a:r>
              <a:rPr>
                <a:latin typeface="Courier"/>
              </a:rPr>
              <a:t>[1] 5.5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A simple plot</a:t>
            </a:r>
            <a:br/>
            <a:r>
              <a:rPr>
                <a:solidFill>
                  <a:srgbClr val="4758AB"/>
                </a:solidFill>
                <a:latin typeface="Courier"/>
              </a:rPr>
              <a:t>hist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rnorm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100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657422"/>
                </a:solidFill>
                <a:latin typeface="Courier"/>
              </a:rPr>
              <a:t>main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"Histogram of Random Normals"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  <p:pic>
        <p:nvPicPr>
          <p:cNvPr descr="OS-M2-S5-preregistration-slides_files/figure-pptx/unnamed-chunk-1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Attribution and license details</a:t>
            </a:r>
          </a:p>
          <a:p>
            <a:pPr lvl="0"/>
            <a:r>
              <a:rPr/>
              <a:t>This slide should contain information about the license and attribution details of this current set of slides.</a:t>
            </a:r>
          </a:p>
          <a:p>
            <a:pPr lvl="0"/>
            <a:r>
              <a:rPr/>
              <a:t>The default for the created materials is </a:t>
            </a:r>
            <a:r>
              <a:rPr>
                <a:hlinkClick r:id="rId2"/>
              </a:rPr>
              <a:t>CC-BY-SA 4.0</a:t>
            </a:r>
          </a:p>
          <a:p>
            <a:pPr lvl="1"/>
            <a:r>
              <a:rPr/>
              <a:t>= Creative Commons license that allows others to </a:t>
            </a:r>
            <a:r>
              <a:rPr b="1"/>
              <a:t>share, adapt, and build upon</a:t>
            </a:r>
            <a:r>
              <a:rPr/>
              <a:t> the original work</a:t>
            </a:r>
          </a:p>
          <a:p>
            <a:pPr lvl="1"/>
            <a:r>
              <a:rPr b="1"/>
              <a:t>only</a:t>
            </a:r>
            <a:r>
              <a:rPr/>
              <a:t> if they attribute the creator and also share their new work under the </a:t>
            </a:r>
            <a:r>
              <a:rPr b="1"/>
              <a:t>same terms</a:t>
            </a:r>
          </a:p>
          <a:p>
            <a:pPr lvl="1"/>
            <a:r>
              <a:rPr/>
              <a:t>allows for both </a:t>
            </a:r>
            <a:r>
              <a:rPr b="1"/>
              <a:t>commercial and non-commercial</a:t>
            </a:r>
            <a:r>
              <a:rPr/>
              <a:t> use of the licensed material</a:t>
            </a:r>
          </a:p>
          <a:p>
            <a:pPr lvl="0"/>
            <a:r>
              <a:rPr/>
              <a:t>Components of attributions:</a:t>
            </a:r>
          </a:p>
          <a:p>
            <a:pPr lvl="1"/>
            <a:r>
              <a:rPr>
                <a:latin typeface="Courier"/>
              </a:rPr>
              <a:t>Title</a:t>
            </a:r>
          </a:p>
          <a:p>
            <a:pPr lvl="1"/>
            <a:r>
              <a:rPr>
                <a:latin typeface="Courier"/>
              </a:rPr>
              <a:t>Author</a:t>
            </a:r>
          </a:p>
          <a:p>
            <a:pPr lvl="1"/>
            <a:r>
              <a:rPr>
                <a:latin typeface="Courier"/>
              </a:rPr>
              <a:t>Source</a:t>
            </a:r>
          </a:p>
          <a:p>
            <a:pPr lvl="1"/>
            <a:r>
              <a:rPr>
                <a:latin typeface="Courier"/>
              </a:rPr>
              <a:t>License</a:t>
            </a:r>
          </a:p>
        </p:txBody>
      </p:sp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Example attribution (for previous slide)</a:t>
            </a:r>
          </a:p>
          <a:p>
            <a:pPr lvl="0" indent="0" marL="0">
              <a:buNone/>
            </a:pPr>
            <a:r>
              <a:rPr/>
              <a:t>“</a:t>
            </a:r>
            <a:r>
              <a:rPr>
                <a:hlinkClick r:id="rId2"/>
              </a:rPr>
              <a:t>Tutorial template for student track</a:t>
            </a:r>
            <a:r>
              <a:rPr/>
              <a:t>” by Sarah von Grebmer is licensed under </a:t>
            </a:r>
            <a:r>
              <a:rPr>
                <a:hlinkClick r:id="rId3"/>
              </a:rPr>
              <a:t>CC-BY-SA 4.0</a:t>
            </a:r>
            <a:r>
              <a:rPr/>
              <a:t>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Slides: Title of submodule</dc:title>
  <dc:creator>Author</dc:creator>
  <cp:keywords/>
  <dcterms:created xsi:type="dcterms:W3CDTF">2026-01-09T16:09:38Z</dcterms:created>
  <dcterms:modified xsi:type="dcterms:W3CDTF">2026-01-09T16:09:38Z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date">
    <vt:lpwstr>09/01/2026</vt:lpwstr>
  </property>
  <property fmtid="{D5CDD505-2E9C-101B-9397-08002B2CF9AE}" pid="6" name="date-format">
    <vt:lpwstr>DD/MM/YYYY</vt:lpwstr>
  </property>
  <property fmtid="{D5CDD505-2E9C-101B-9397-08002B2CF9AE}" pid="7" name="execute">
    <vt:lpwstr/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labels">
    <vt:lpwstr/>
  </property>
  <property fmtid="{D5CDD505-2E9C-101B-9397-08002B2CF9AE}" pid="12" name="toc-title">
    <vt:lpwstr>Table of contents</vt:lpwstr>
  </property>
</Properties>
</file>