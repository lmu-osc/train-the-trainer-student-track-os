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notesMaster" Target="notesMasters/notesMaster1.xml" /><Relationship Id="rId99" Type="http://schemas.openxmlformats.org/officeDocument/2006/relationships/viewProps" Target="viewProps.xml" /><Relationship Id="rId98" Type="http://schemas.openxmlformats.org/officeDocument/2006/relationships/presProps" Target="presProps.xml" /><Relationship Id="rId1" Type="http://schemas.openxmlformats.org/officeDocument/2006/relationships/slideMaster" Target="slideMasters/slideMaster1.xml" /><Relationship Id="rId101" Type="http://schemas.openxmlformats.org/officeDocument/2006/relationships/tableStyles" Target="tableStyles.xml" /><Relationship Id="rId10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Speaker notes may act as a guiding script for delivering the presentation. These notes contain key information, such as phrases, explanations, or transitions, that can be said aloud to clarify concepts, emphasize important points, or maintain the flow of information.</a:t>
            </a:r>
          </a:p>
          <a:p>
            <a:pPr lvl="0" indent="0" marL="0">
              <a:buNone/>
            </a:pPr>
          </a:p>
          <a:p>
            <a:pPr lvl="0" indent="0" marL="0">
              <a:buNone/>
            </a:pPr>
            <a:r>
              <a:rPr i="1"/>
              <a:t>Instructor Notes</a:t>
            </a:r>
            <a:r>
              <a:rPr/>
              <a:t> Instructor notes provide teaching support but are not intended to be spoken directly. These notes contain additional context, such as learning objectives, common issues, and pedagogical tips, to help the instructor adapt their teaching to the learner’s needs as well as anticipate challenges.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clarify questions from the previous submodule and/or to discuss assignments. - Additional slides may need to be added depending on the nature of the homework assignments. - It is critical for the learning process to ensure that students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the pre-submodule survey serves to examine students’ prior knowledge about the submodule’s topic. - Use free survey software such as particify or formR) to establish this. You can use the example survey, edit it or create your own.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briefly examine the answers given to each question interactively with the group. - Use visuals from the survey to highlight specific answers. - 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Place the topic of the current submodule within a broader context. - Remind students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From SvG: add speaker notes to this slide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Core theoretical introduction of submodule topic. - Pair theoretical aspects with practical exercises and group discussions according to the Think-Pair-Share style and according to Cognitive Load Theory (Sweller, 1980).</a:t>
            </a:r>
          </a:p>
          <a:p>
            <a:pPr lvl="0" indent="0" marL="0">
              <a:buNone/>
            </a:pPr>
          </a:p>
          <a:p>
            <a:pPr lvl="0"/>
            <a:r>
              <a:rPr/>
              <a:t>For a 90-minute lesson, the instructor should try to “lecture” for only 20 minutes, students should work in groups/pairs/on their own for at least 55 minutes of the lesson (+ a 15 minute break).</a:t>
            </a:r>
          </a:p>
          <a:p>
            <a:pPr lvl="0" indent="0" marL="0">
              <a:buNone/>
            </a:pPr>
          </a:p>
          <a:p>
            <a:pPr lvl="0" indent="0" marL="0">
              <a:buNone/>
            </a:pPr>
            <a:r>
              <a:rPr/>
              <a:t>Practical exercises on topic - Aim: practical exercises for students to apply the new skills in practise. Each submodule topic will include corresponding Tasks- adopting a “learn by doing” approach. - Depending on the topic, the exercises should be in accordance with the learning objective(s). - It’s useful to have exercises directly after a topic is taught to reinforce what was learnt.</a:t>
            </a:r>
          </a:p>
          <a:p>
            <a:pPr lvl="0" indent="0" marL="0">
              <a:buNone/>
            </a:pPr>
          </a:p>
          <a:p>
            <a:pPr lvl="0" indent="0" marL="0">
              <a:buNone/>
            </a:pPr>
            <a:r>
              <a:rPr/>
              <a:t>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Formulate specific, action-oriented goals learning goals which are measurable and observable in line with Bloom’s taxonomy (Anderson et al., 2001; Bloom et al., 1956) - Emphasis is placed on the </a:t>
            </a:r>
            <a:r>
              <a:rPr b="1"/>
              <a:t>verbs</a:t>
            </a:r>
            <a:r>
              <a:rPr/>
              <a:t> of the learning goals- choose verbs that align with the skills you want to develop or assess. - Examples:</a:t>
            </a:r>
          </a:p>
          <a:p>
            <a:pPr lvl="0" indent="0" marL="0">
              <a:buNone/>
            </a:pPr>
          </a:p>
          <a:p>
            <a:pPr lvl="0" indent="0">
              <a:buNone/>
            </a:pPr>
            <a:r>
              <a:rPr>
                <a:latin typeface="Courier"/>
              </a:rPr>
              <a:t>-   Students will **describe** the process of photosynthesis or
-   Students will **construct**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Introduce key terms and definitions that students will come across throughout the session. - This first part of the lesson is useful to establish an understanding of important vocabulary- it can be helpful to remind students of the meaning of these terms as they appear in the upcoming sections.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Base yourself on conceptual change theory and examine existing concepts in relation to some key terms. - Re-examine formation of new concepts at the end of the lesson. - WYSIWYM is an acronym for “What You Say is What You Mean” which means that whatever you see in your document will be what you see even when you save or render the document as PDF or as HTML. - Quarto documents can be created and edited in either Source mode or Visual mode. Both modes work with the same file, but they provide slightly different experiences. In this lesson, most of our tasks will be done in Source mode, but you’ll also have a chance to try Visual mode so you can compare how the same content looks and feels in each.</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Add speaker notes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Ensure students know where their Quarto project folder is located on their device. This will make it easier for them to find files in later tasks. Encourage them to save the document right after creating it, so they can intentionally choose the folder location (e.g., Desktop, a dedicated course folder, etc.).</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Quarto documents can be rendered either manually or automatically when you save. - Manual rendering gives you control meaning you decide when to update the document, which is helpful if you’re making lots of edits and don’t want constant re-renders. - Render on Save automatically updates your document every time you hit Save, which is great for quick feedback and seeing your changes instantly. In this lesson, you can try both to see which workflow feels more comfortable for you.</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The YAML header is the section at the very top, wrapped in three dashes (—). It holds the document’s settings, like the title, author, date, and output format. - Below that, we use Markdown to write the actual content which are things like headings, bullet points, bold or italic text. </a:t>
            </a:r>
            <a:r>
              <a:rPr i="1"/>
              <a:t>Instructor Notes</a:t>
            </a:r>
            <a:r>
              <a:rPr/>
              <a:t> - Reminding students on the meanings of YAML Header and Markdown will be helpful especially to those with very little prior knowledge for working with Quarto.</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 Remember that the YAML Header goes at the top of the document in both Source and Visual Modes. - In the YAML header, the format field tells Quarto what kind of output to create. Here we’ve set it to html, which means the document will render as a web page. You could choose other formats like PDF or Word, but for this lesson we’ll stick with HTML so everyone has the same experience.</a:t>
            </a:r>
          </a:p>
          <a:p>
            <a:pPr lvl="0" indent="0" marL="0">
              <a:buNone/>
            </a:pPr>
          </a:p>
          <a:p>
            <a:pPr lvl="0" indent="0" marL="0">
              <a:buNone/>
            </a:pPr>
            <a:r>
              <a:rPr i="1"/>
              <a:t>Instructor Note</a:t>
            </a:r>
            <a:r>
              <a:rPr/>
              <a:t> - There is a small clipboard icon at the top-right of the text box. Let students know they can simply click the icon to copy all the text in that specific text box. This icon will appear for every text box moving forward so you can remind them of it the next few times a task requires them to copy the content of a text box.</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 In Markdown, we can format text with very simple symbols. It works the same way in both Source and Visual mode with the only difference being how you see it while typing. - In Source mode you see the symbols, while in Visual mode it looks like regular bold or italic text right away.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Callout boxes are a way to highlight important information in your document. They stand out visually, so readers immediately notice them. You can use them to emphasize tips, warnings, examples, or key takeaways. </a:t>
            </a:r>
            <a:r>
              <a:rPr i="1"/>
              <a:t>Instructor Notes</a:t>
            </a:r>
            <a:r>
              <a:rPr/>
              <a:t> - These are just examples of callout boxes. How to actually create one will be covered in the next slide/task.</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Code chunks are sections of a Quarto document where we can run code directly inside our file. They’re marked by three backticks followed by the language name, like {r} or {python}. - These let us write and execute code, and then display the results, such as tables, plots, or calculations, right in the document. Code chunks make it possible to combine text and analysis in one place, so the document stays reproducible and dynamic. </a:t>
            </a:r>
            <a:r>
              <a:rPr i="1"/>
              <a:t>Instructor Notes</a:t>
            </a:r>
            <a:r>
              <a:rPr/>
              <a:t> - using {r} to start the Code Chunk indicates that the coding language that we’re using is R. This is relevant for this lesson as students will be using R Studio and possession pof some background knowledge in R is assumed.</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Quarto gives us several options for controlling how code appears in our documents. For example, we can choose whether to show or hide the code itself, whether readers can fold code open and closed, or whether only the results are shown. - Currently in our YAML, we have it set to </a:t>
            </a:r>
            <a:r>
              <a:rPr>
                <a:latin typeface="Courier"/>
              </a:rPr>
              <a:t>code-fold: false</a:t>
            </a:r>
            <a:r>
              <a:rPr/>
              <a:t> which means the code is displayed as in the image. - These settings don’t change the analysis, but just change how it’s displayed. This flexibility is helpful because sometimes we want to highlight the process by showing the code, and other times we want readers to focus on the results. - In open research, showing the underlying code isn’t just a technical choice, it’s important for building trust and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t>
            </a:r>
            <a:r>
              <a:rPr>
                <a:latin typeface="Courier"/>
              </a:rPr>
              <a:t>echo: true</a:t>
            </a:r>
            <a:r>
              <a:rPr/>
              <a:t> and </a:t>
            </a:r>
            <a:r>
              <a:rPr>
                <a:latin typeface="Courier"/>
              </a:rPr>
              <a:t>code-fold: false</a:t>
            </a:r>
            <a:r>
              <a:rPr/>
              <a:t> both affect how code is shown, but in different ways. </a:t>
            </a:r>
            <a:r>
              <a:rPr>
                <a:latin typeface="Courier"/>
              </a:rPr>
              <a:t>echo</a:t>
            </a:r>
            <a:r>
              <a:rPr/>
              <a:t> decides if the code prints at all, while </a:t>
            </a:r>
            <a:r>
              <a:rPr>
                <a:latin typeface="Courier"/>
              </a:rPr>
              <a:t>code-fold</a:t>
            </a:r>
            <a:r>
              <a:rPr/>
              <a:t> lets readers toggle it open or closed, deciding whether the code can be hidden or expanded. </a:t>
            </a:r>
            <a:r>
              <a:rPr i="1"/>
              <a:t>Instructor Notes</a:t>
            </a:r>
            <a:r>
              <a:rPr/>
              <a:t> It’s easy to confuse </a:t>
            </a:r>
            <a:r>
              <a:rPr>
                <a:latin typeface="Courier"/>
              </a:rPr>
              <a:t>echo</a:t>
            </a:r>
            <a:r>
              <a:rPr/>
              <a:t> and </a:t>
            </a:r>
            <a:r>
              <a:rPr>
                <a:latin typeface="Courier"/>
              </a:rPr>
              <a:t>code-fold</a:t>
            </a:r>
            <a:r>
              <a:rPr/>
              <a:t> because they both deal with code visibility. Be clear on the difference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a:t>
            </a:r>
            <a:r>
              <a:rPr/>
              <a:t> Add speaker notes and instructor notes here.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Instructor Note</a:t>
            </a:r>
            <a:r>
              <a:rPr/>
              <a:t> - Aim: This pre-break survey serves to examine students’ current understanding of key concepts of the submodule - Use free survey software such as or other survey software (Menti, particify, formR) to establish the following questions.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Aim: To clarify concepts and aspects that are not yet understood -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Beyond writing plain text, Quarto also allows us to add features like hyperlinks, images or videos, and multi-column layouts. These improve how our document communicates. - Hyperlinks let us connect to sources or other sections, media like images and video help explain complex ideas more clearly, and multi-column layouts make the content easier to read and more visually appealing. - Using these features thoughtfully improves both the usability and the overall look of the document.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Insert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 benefit of using Quarto is the ability to easily add media, such as images, to your documents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Insert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Insert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Notes</a:t>
            </a:r>
            <a:r>
              <a:rPr/>
              <a:t> - Setting the path can be tricky depending on where the files are located - It’s a good practice to save these files in the same main folder as your Quarto document files (ideally in a dedicated subfolder named “images” to keep paths organized and easy to manage). If students saved and placed their main folder earlier, then locating it should be easy. - in the Task above, the text says “images/chickpic1.png” assuming the picture is saved in a folder called “Images” in the main folder containing all the Quarto document files.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Columns are useful when you want to organize content side by side instead of in a long vertical flow. For e.g., you might place an image in one column and an explanation in the other, or compare two code outputs directly next to each other like comparing two separate plots. - Columns help make information easier to scan and can improve the balance and readability of your slides or documents.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Zotero is a reference manager that helps you collect and organize research articles, books, and other sources. When you connect Zotero to Quarto, you can easily insert citations while writing and then automatically generate a reference list at the end. This saves time and reduces errors compared to typing citations manually.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There are several ways to add a citation to your Zotero library but an easy way is using the ‘magic wand’ (adding the item by its identifier). Here, you can just copy the DOI of the study, hit Enter, and it will be added to Zotero. The DOIs of the articles in these tasks will be clearly visible so this method is recommended.</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It is possible to add citations in Source mode, but it is easier and more efficient to do it in Visual mdoe. This is also a good opportunity for students to see all the work they’ve done so far in the Quarto document now in Visual mode.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Publishing in Quarto is all about making your work accessible to others. Once you’ve created and rendered your document, you can share it online so that collaborators, students, or the wider community can view it. Quarto supports multiple publishing options, including GitHub Pages, Quarto Pub, or even your own personal website.</a:t>
            </a:r>
          </a:p>
          <a:p>
            <a:pPr lvl="0" indent="0" marL="0">
              <a:buNone/>
            </a:pPr>
          </a:p>
          <a:p>
            <a:pPr lvl="0" indent="0" marL="0">
              <a:buNone/>
            </a:pPr>
            <a:r>
              <a:rPr i="1"/>
              <a:t>Instructor Notes</a:t>
            </a:r>
            <a:r>
              <a:rPr/>
              <a:t> - The key takeaway here is that publishing turns your local work into something that can be accessed from anywhere.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When you click the drop-down arrow by Terminal, the options may look different than what’s in the image in this slide but the “Terminal Options…” will be at the end (you may have to scroll a bit). - The last step (open a new Terminal) is important because the current Terminal does not automatically change to Git Bash.</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Reminder that copying &amp; pasting with keyboard shortcuts do not work the same in Git Bash. Right-clicking and selecting Paste is an easy option. - Sometimes in Git Bash/Terminal, just copying &amp; pasting will run the command, but sometimes you need to hit Enter. - Setting the directory can be tricky. - Backslashes (</a:t>
            </a:r>
            <a:r>
              <a:rPr>
                <a:latin typeface="Courier"/>
              </a:rPr>
              <a:t>\</a:t>
            </a:r>
            <a:r>
              <a:rPr/>
              <a:t>) need to be changes to forward slashes (</a:t>
            </a:r>
            <a:r>
              <a:rPr>
                <a:latin typeface="Courier"/>
              </a:rPr>
              <a:t>/</a:t>
            </a:r>
            <a:r>
              <a:rPr/>
              <a:t>). - If you’re pasting the exact path of the folder, wrap it in quotation marks (</a:t>
            </a:r>
            <a:r>
              <a:rPr>
                <a:latin typeface="Courier"/>
              </a:rPr>
              <a: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You will see a warning about </a:t>
            </a:r>
            <a:r>
              <a:rPr>
                <a:latin typeface="Courier"/>
              </a:rPr>
              <a:t>references.bib not found in resource path</a:t>
            </a:r>
            <a:r>
              <a:rPr/>
              <a:t> which usually happens because Quarto looks for the file in the project’s root or resource path, but Git Bash is case-sensitive and strict with paths. - So, you will see in your completed Git Pages web page that the citations look strange but we will leave it like that for now. - Extra steps are needed to correct this that will be covered in the Advanced Intro to Quarto Activity PDF.</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Notes</a:t>
            </a:r>
            <a:r>
              <a:rPr/>
              <a:t> - For this to work, the repo created must be set to Public</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Reminder that the citations will not be complete because configuring to include the bibliography was not done. That’s an additional step.</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Aim: To work out the relevance of the topic to your students. - In an interactive setting, discuss how the new skills could be applied in practise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a:t>
            </a:r>
            <a:r>
              <a:rPr/>
              <a:t> - Aim: End lesson on clear take-home message that are interactively compiled by students. - Encourage students to share one sentence take-home messages. You can collect them verbally or in a shared doc/board. - Reinforce that Quarto is not just a tool, but a mindset shift toward openness and collaboration.</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 Add speaker notes here. </a:t>
            </a:r>
            <a:r>
              <a:rPr i="1"/>
              <a:t>Instructor Notes</a:t>
            </a:r>
            <a:r>
              <a:rPr/>
              <a:t> - Aim: This post-submodule survey serves to examine students’ current knowledge about the sumodule’s topic. - Use free survey software such as or other survey software (particify, formR) to establish the following questions (these are examples that can be adapted to suit your needs):</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Add here. </a:t>
            </a:r>
            <a:r>
              <a:rPr i="1"/>
              <a:t>Instructor Note</a:t>
            </a:r>
            <a:r>
              <a:rPr/>
              <a:t> - Aim: Briefly examine the answers given to each question interactively with the group. -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hyperlink" Target="https://www.menti.com/al367833ss3g"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3" Type="http://schemas.openxmlformats.org/officeDocument/2006/relationships/image" Target="../media/image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quarto.org/" TargetMode="External" /><Relationship Id="rId4" Type="http://schemas.openxmlformats.org/officeDocument/2006/relationships/hyperlink" Target="https://revealjs.com/" TargetMode="External" /><Relationship Id="rId5" Type="http://schemas.openxmlformats.org/officeDocument/2006/relationships/hyperlink" Target="https://www.markdownguide.org/" TargetMode="External" /><Relationship Id="rId6" Type="http://schemas.openxmlformats.org/officeDocument/2006/relationships/hyperlink" Target="https://github.com/"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3.xml" /><Relationship Id="rId3" Type="http://schemas.openxmlformats.org/officeDocument/2006/relationships/image" Target="../media/image4.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4.xml" /><Relationship Id="rId3" Type="http://schemas.openxmlformats.org/officeDocument/2006/relationships/image" Target="../media/image4.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5.xml" /><Relationship Id="rId4" Type="http://schemas.openxmlformats.org/officeDocument/2006/relationships/hyperlink" Target="https://journals.plos.org/plosone/article?id=10.1371/journal.pone.0127819" TargetMode="External" /><Relationship Id="rId3" Type="http://schemas.openxmlformats.org/officeDocument/2006/relationships/image" Target="../media/image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xml" /><Relationship Id="rId3" Type="http://schemas.openxmlformats.org/officeDocument/2006/relationships/image" Target="../media/image6.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hyperlink" Target="https://journals.plos.org/plosone/article?id=10.1371/journal.pone.0127819"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4.xml" /><Relationship Id="rId3" Type="http://schemas.openxmlformats.org/officeDocument/2006/relationships/image" Target="../media/image7.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s://journals.plos.org/plosone/article?id=10.1371/journal.pone.0153859#:~:text=In%20conclusion%2C%20HDND%20improved%20the,diet%20adversely%20affected%20bone%20mineralization." TargetMode="External" /></Relationships>
</file>

<file path=ppt/slides/_rels/slide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1.png" /><Relationship Id="rId2" Type="http://schemas.openxmlformats.org/officeDocument/2006/relationships/image" Target="../media/image10.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hyperlink" Target="github.com" TargetMode="Externa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github.com" TargetMode="External" /></Relationships>
</file>

<file path=ppt/slides/_rels/slide7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3.png" /><Relationship Id="rId2" Type="http://schemas.openxmlformats.org/officeDocument/2006/relationships/image" Target="../media/image12.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literate programming with Quarto</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Elizabeth Waterfield</a:t>
            </a:r>
          </a:p>
        </p:txBody>
      </p:sp>
      <p:sp>
        <p:nvSpPr>
          <p:cNvPr id="4" name="Date Placeholder 3"/>
          <p:cNvSpPr>
            <a:spLocks noGrp="1"/>
          </p:cNvSpPr>
          <p:nvPr>
            <p:ph idx="10" sz="half" type="dt"/>
          </p:nvPr>
        </p:nvSpPr>
        <p:spPr/>
        <p:txBody>
          <a:bodyPr/>
          <a:lstStyle/>
          <a:p>
            <a:pPr lvl="0" indent="0" marL="0">
              <a:buNone/>
            </a:pPr>
            <a:r>
              <a:rPr/>
              <a:t>08/01/2026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b="1"/>
              <a:t>Elizabeth Waterfield</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a:p>
            <a:pPr lvl="0" indent="0" marL="0">
              <a:buNone/>
            </a:pPr>
            <a:r>
              <a:rPr/>
              <a:t> </a:t>
            </a:r>
          </a:p>
          <a:p>
            <a:pPr lvl="0" indent="0" marL="0">
              <a:buNone/>
            </a:pPr>
            <a:r>
              <a:rPr/>
              <a:t>This work by Elizabeth Waterfield, Sara Lil Middleton and Sarah von Grebmer zu Wolfsthurn is licensed under a CC-BY 4.0 </a:t>
            </a:r>
            <a:r>
              <a:rPr>
                <a:hlinkClick r:id="rId2"/>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necessary prerequisites.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buNone/>
            </a:pPr>
            <a:r>
              <a:rPr b="1"/>
              <a:t>Where are we at?</a:t>
            </a:r>
            <a:r>
              <a:rPr/>
              <a:t>   Click on the following link or scan the QR code to test your prior Quarto knowledge: </a:t>
            </a:r>
            <a:r>
              <a:rPr>
                <a:hlinkClick r:id="rId3"/>
              </a:rPr>
              <a:t>Quarto Survey</a:t>
            </a:r>
          </a:p>
          <a:p>
            <a:pPr lvl="0" indent="0" marL="0">
              <a:buNone/>
            </a:pPr>
            <a:r>
              <a:rPr/>
              <a:t>From SvG: Add link from particify https://ars.particify.de/login instead - menti has a limit on how many people can participate - we should make an account with our OSC email address and add QR code - in class people may not be able to click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r>
              <a:rPr b="1"/>
              <a:t>What can we take from this?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a:t>From SvG: Add this when slides are final</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Quarto?</a:t>
            </a:r>
          </a:p>
          <a:p>
            <a:pPr lvl="0" indent="0" marL="0">
              <a:buNone/>
            </a:pPr>
            <a:r>
              <a:rPr b="1"/>
              <a:t>Quarto</a:t>
            </a:r>
            <a:r>
              <a:rPr/>
              <a:t> makes it easy to analyze, share and reproduce.</a:t>
            </a:r>
          </a:p>
          <a:p>
            <a:pPr lvl="0" indent="0" marL="0">
              <a:buNone/>
            </a:pPr>
            <a:r>
              <a:rPr/>
              <a:t>From SvG: Maybe add here analyse and reproduce what..? And also - for this slide - do you think this overlaps with the key terms and definitions slide below?</a:t>
            </a:r>
          </a:p>
          <a:p>
            <a:pPr lvl="0" indent="0" marL="0">
              <a:buNone/>
            </a:pPr>
            <a:r>
              <a:rPr/>
              <a:t>It’s a powerful tool for producing transparent, reproducible, and accessible work that can be freely shared, viewed, and reused by others.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a:t>Setting up a Quarto Document</a:t>
            </a:r>
          </a:p>
          <a:p>
            <a:pPr lvl="0"/>
            <a:r>
              <a:rPr/>
              <a:t>Authoring</a:t>
            </a:r>
          </a:p>
          <a:p>
            <a:pPr lvl="0"/>
            <a:r>
              <a:rPr/>
              <a:t>Code Chunks</a:t>
            </a:r>
          </a:p>
          <a:p>
            <a:pPr lvl="0"/>
            <a:r>
              <a:rPr/>
              <a:t>Adding Citations</a:t>
            </a:r>
          </a:p>
          <a:p>
            <a:pPr lvl="0"/>
            <a:r>
              <a:rPr/>
              <a:t>Publishing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Quarto learning goals</a:t>
            </a:r>
          </a:p>
          <a:p>
            <a:pPr lvl="0"/>
            <a:r>
              <a:rPr/>
              <a:t>You will learn how to </a:t>
            </a:r>
            <a:r>
              <a:rPr b="1"/>
              <a:t>create</a:t>
            </a:r>
            <a:r>
              <a:rPr/>
              <a:t>, </a:t>
            </a:r>
            <a:r>
              <a:rPr b="1"/>
              <a:t>edit</a:t>
            </a:r>
            <a:r>
              <a:rPr/>
              <a:t>, and </a:t>
            </a:r>
            <a:r>
              <a:rPr b="1"/>
              <a:t>render</a:t>
            </a:r>
            <a:r>
              <a:rPr/>
              <a:t> Quarto documents</a:t>
            </a:r>
          </a:p>
          <a:p>
            <a:pPr lvl="0"/>
            <a:r>
              <a:rPr/>
              <a:t>You will understand how to </a:t>
            </a:r>
            <a:r>
              <a:rPr b="1"/>
              <a:t>use</a:t>
            </a:r>
            <a:r>
              <a:rPr/>
              <a:t> key Quarto features (code chunks, YAML headers, citations, and output formatting)</a:t>
            </a:r>
          </a:p>
          <a:p>
            <a:pPr lvl="0"/>
            <a:r>
              <a:rPr/>
              <a:t>You will gain confidence in </a:t>
            </a:r>
            <a:r>
              <a:rPr b="1"/>
              <a:t>preparing</a:t>
            </a:r>
            <a:r>
              <a:rPr/>
              <a:t> and </a:t>
            </a:r>
            <a:r>
              <a:rPr b="1"/>
              <a:t>teaching</a:t>
            </a:r>
            <a:r>
              <a:rPr/>
              <a:t> Quarto effectively to students</a:t>
            </a:r>
          </a:p>
          <a:p>
            <a:pPr lvl="0" indent="0" marL="0">
              <a:buNone/>
            </a:pPr>
            <a:r>
              <a:rPr/>
              <a:t>From SvG: Unsure about the last learning goal - remember that these are ready-to-use materials for the classroom, so the last learning goal is not really relevant for students? What else are you trying to get across in this slide set?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 (I)</a:t>
            </a:r>
          </a:p>
          <a:p>
            <a:pPr lvl="0" indent="0" marL="0">
              <a:buNone/>
            </a:pPr>
            <a:r>
              <a:rPr b="1"/>
              <a:t>What is Quarto?</a:t>
            </a:r>
            <a:r>
              <a:rPr/>
              <a:t> An open-source scientific and publishing system that combines text, code and media to create easily shareable documents such as websites, slides, reports, and much more.</a:t>
            </a:r>
          </a:p>
          <a:p>
            <a:pPr lvl="0" indent="0" marL="0">
              <a:buNone/>
            </a:pPr>
            <a:r>
              <a:rPr/>
              <a:t>From SvG: Did you want to add a hyperlink to their website here?</a:t>
            </a:r>
          </a:p>
          <a:p>
            <a:pPr lvl="0" indent="0" marL="0">
              <a:buNone/>
            </a:pPr>
            <a:r>
              <a:rPr b="1"/>
              <a:t>What is Rendering?</a:t>
            </a:r>
            <a:r>
              <a:rPr/>
              <a:t> The process where Quarto runs the code, combines it with the text, and creates a final output.</a:t>
            </a:r>
          </a:p>
          <a:p>
            <a:pPr lvl="0" indent="0" marL="0">
              <a:buNone/>
            </a:pPr>
            <a:r>
              <a:rPr/>
              <a:t>A Quarto Markdown document is saved as a </a:t>
            </a:r>
            <a:r>
              <a:rPr b="1"/>
              <a:t>.qmd file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 (II)</a:t>
            </a:r>
          </a:p>
          <a:p>
            <a:pPr lvl="0" indent="0" marL="0">
              <a:buNone/>
            </a:pPr>
            <a:r>
              <a:rPr b="1"/>
              <a:t>Components of a .qmd file</a:t>
            </a:r>
          </a:p>
          <a:p>
            <a:pPr lvl="0"/>
            <a:r>
              <a:rPr b="1"/>
              <a:t>YAML header</a:t>
            </a:r>
            <a:r>
              <a:rPr/>
              <a:t>- the section at the top of the Quarto document that controls settings like the title, output format, and author.</a:t>
            </a:r>
          </a:p>
          <a:p>
            <a:pPr lvl="0"/>
            <a:r>
              <a:rPr b="1"/>
              <a:t>code chunks</a:t>
            </a:r>
            <a:r>
              <a:rPr/>
              <a:t>- sections of the document that contains code (from R or Python, for example) that are used for showing results such as tables, plots, or calculations</a:t>
            </a:r>
          </a:p>
          <a:p>
            <a:pPr lvl="0"/>
            <a:r>
              <a:rPr b="1"/>
              <a:t>Quarto Markdown</a:t>
            </a:r>
            <a:r>
              <a:rPr/>
              <a:t>- combines text, codes, and formatting to create the actual content of the document</a:t>
            </a:r>
          </a:p>
          <a:p>
            <a:pPr lvl="0" indent="0" marL="0">
              <a:buNone/>
            </a:pPr>
            <a:r>
              <a:rPr/>
              <a:t>You can write Quarto documents in </a:t>
            </a:r>
            <a:r>
              <a:rPr b="1"/>
              <a:t>Source mode</a:t>
            </a:r>
            <a:r>
              <a:rPr/>
              <a:t> or </a:t>
            </a:r>
            <a:r>
              <a:rPr b="1"/>
              <a:t>Visual mode</a:t>
            </a:r>
            <a:r>
              <a:rPr/>
              <a:t> in RStudio.</a:t>
            </a:r>
          </a:p>
          <a:p>
            <a:pPr lvl="0"/>
            <a:r>
              <a:rPr b="1"/>
              <a:t>Source mode</a:t>
            </a:r>
            <a:r>
              <a:rPr/>
              <a:t> - you write directly in plain text/Markdown Syntax, allowing for more control and it’s closer to raw code</a:t>
            </a:r>
          </a:p>
          <a:p>
            <a:pPr lvl="0"/>
            <a:r>
              <a:rPr b="1"/>
              <a:t>Visual mode</a:t>
            </a:r>
            <a:r>
              <a:rPr/>
              <a:t> - gives a WYSIWYM-style interface which easier for beginners, but sometimes hides syntax.</a:t>
            </a:r>
          </a:p>
          <a:p>
            <a:pPr lvl="0"/>
            <a:r>
              <a:rPr/>
              <a:t>This is part of the </a:t>
            </a:r>
            <a:r>
              <a:rPr b="1"/>
              <a:t>authoring process</a:t>
            </a:r>
            <a:r>
              <a:rPr/>
              <a:t>, and it allows you to format the text, add code, and build your document.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Quarto Document using RStudio</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etup1.png" id="0" name="Picture 1"/>
          <p:cNvPicPr>
            <a:picLocks noGrp="1" noChangeAspect="1"/>
          </p:cNvPicPr>
          <p:nvPr/>
        </p:nvPicPr>
        <p:blipFill>
          <a:blip r:embed="rId3"/>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Select </a:t>
            </a:r>
            <a:r>
              <a:rPr b="1"/>
              <a:t>File</a:t>
            </a:r>
            <a:br/>
          </a:p>
          <a:p>
            <a:pPr lvl="0"/>
            <a:r>
              <a:rPr/>
              <a:t>→ Select </a:t>
            </a:r>
            <a:r>
              <a:rPr b="1"/>
              <a:t>New File</a:t>
            </a:r>
            <a:br/>
          </a:p>
          <a:p>
            <a:pPr lvl="0"/>
            <a:r>
              <a:rPr/>
              <a:t>→ Select </a:t>
            </a:r>
            <a:r>
              <a:rPr b="1"/>
              <a:t>Quarto Document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Quarto Document using RStudio</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etup2.png" id="0" name="Picture 1"/>
          <p:cNvPicPr>
            <a:picLocks noGrp="1" noChangeAspect="1"/>
          </p:cNvPicPr>
          <p:nvPr/>
        </p:nvPicPr>
        <p:blipFill>
          <a:blip r:embed="rId3"/>
          <a:stretch>
            <a:fillRect/>
          </a:stretch>
        </p:blipFill>
        <p:spPr bwMode="auto">
          <a:xfrm>
            <a:off x="571500" y="1193800"/>
            <a:ext cx="38227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The default format is html</a:t>
            </a:r>
          </a:p>
          <a:p>
            <a:pPr lvl="0"/>
            <a:r>
              <a:rPr/>
              <a:t>The output format can also be changed by editing the YAML header</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Repeat the steps to create a new Quarto Document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Rendering</a:t>
            </a:r>
          </a:p>
          <a:p>
            <a:pPr lvl="0" indent="0" marL="0">
              <a:buNone/>
            </a:pPr>
            <a:r>
              <a:rPr/>
              <a:t>There are two ways to render in Quarto:</a:t>
            </a:r>
          </a:p>
          <a:p>
            <a:pPr lvl="0"/>
            <a:r>
              <a:rPr b="1"/>
              <a:t>Manual rendering</a:t>
            </a:r>
            <a:r>
              <a:rPr/>
              <a:t>: having to click on the “Render” each time you want to see the output</a:t>
            </a:r>
          </a:p>
          <a:p>
            <a:pPr lvl="0"/>
            <a:r>
              <a:rPr b="1"/>
              <a:t>Render on Save</a:t>
            </a:r>
            <a:r>
              <a:rPr/>
              <a:t>: Quarto will automatically re-render the document each time you click “Save”</a:t>
            </a:r>
          </a:p>
        </p:txBody>
      </p:sp>
      <p:pic>
        <p:nvPicPr>
          <p:cNvPr descr="images/rendering.png" id="0" name="Picture 1"/>
          <p:cNvPicPr>
            <a:picLocks noGrp="1" noChangeAspect="1"/>
          </p:cNvPicPr>
          <p:nvPr/>
        </p:nvPicPr>
        <p:blipFill>
          <a:blip r:embed="rId3"/>
          <a:stretch>
            <a:fillRect/>
          </a:stretch>
        </p:blipFill>
        <p:spPr bwMode="auto">
          <a:xfrm>
            <a:off x="3568700" y="1968500"/>
            <a:ext cx="5105400" cy="34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You can find both Manual Render and Render on Save at the top of your workspace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a:t>
            </a:r>
          </a:p>
          <a:p>
            <a:pPr lvl="0" indent="0" marL="0">
              <a:buNone/>
            </a:pPr>
            <a:r>
              <a:rPr/>
              <a:t>This is the process of writing and structuring the Quarto document.</a:t>
            </a:r>
          </a:p>
          <a:p>
            <a:pPr lvl="0" indent="0" marL="0">
              <a:buNone/>
            </a:pPr>
            <a:r>
              <a:rPr b="1"/>
              <a:t>YAML Header + Markdown = Authoring</a:t>
            </a:r>
          </a:p>
          <a:p>
            <a:pPr lvl="0" indent="0" marL="0">
              <a:buNone/>
            </a:pPr>
            <a:r>
              <a:rPr/>
              <a:t>To practice authoring in Quarto, let’s start with setting the YAML header and adding text in </a:t>
            </a:r>
            <a:r>
              <a:rPr b="1"/>
              <a:t>Source</a:t>
            </a:r>
            <a:r>
              <a:rPr/>
              <a:t> mode.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exericise 2</a:t>
            </a:r>
          </a:p>
          <a:p>
            <a:pPr lvl="0"/>
            <a:r>
              <a:rPr/>
              <a:t>☐ Copy &amp; paste the following into the YAML Header of your document</a:t>
            </a: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false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1270000">
              <a:buNone/>
            </a:pPr>
            <a:r>
              <a:rPr sz="2000" b="1"/>
              <a:t>output format</a:t>
            </a:r>
          </a:p>
          <a:p>
            <a:pPr lvl="0" indent="0" marL="1270000">
              <a:buNone/>
            </a:pPr>
            <a:r>
              <a:rPr sz="2000"/>
              <a:t>You can replace “html” to render the document to a different format.</a:t>
            </a:r>
          </a:p>
          <a:p>
            <a:pPr lvl="0" indent="0" marL="1270000">
              <a:buNone/>
            </a:pPr>
            <a:r>
              <a:rPr sz="2000"/>
              <a:t>Here is a link to a list of the different output formats.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(II)</a:t>
            </a:r>
          </a:p>
          <a:p>
            <a:pPr lvl="0" indent="0" marL="0">
              <a:buNone/>
            </a:pPr>
            <a:r>
              <a:rPr b="1"/>
              <a:t>Basic Markdown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buNone/>
            </a:pPr>
            <a:r>
              <a:rPr sz="2000" b="1"/>
              <a:t>markdown shortcuts</a:t>
            </a:r>
          </a:p>
          <a:p>
            <a:pPr lvl="0" indent="0" marL="1270000">
              <a:buNone/>
            </a:pPr>
            <a:r>
              <a:rPr sz="2000"/>
              <a:t>Here is a link for the full list of markdown shortcuts for formatting!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(III)</a:t>
            </a:r>
          </a:p>
          <a:p>
            <a:pPr lvl="0" indent="0">
              <a:buNone/>
            </a:pPr>
            <a:r>
              <a:rPr>
                <a:solidFill>
                  <a:srgbClr val="003B4F"/>
                </a:solidFill>
                <a:latin typeface="Courier"/>
              </a:rPr>
              <a:t>Have you ever been curious about what affects a chick's weight? </a:t>
            </a:r>
            <a:br/>
            <a:r>
              <a:rPr>
                <a:solidFill>
                  <a:srgbClr val="003B4F"/>
                </a:solidFill>
                <a:latin typeface="Courier"/>
              </a:rPr>
              <a:t>This document explores the ChickWeight dataset using R.  </a:t>
            </a:r>
            <a:br/>
            <a:r>
              <a:rPr>
                <a:solidFill>
                  <a:srgbClr val="003B4F"/>
                </a:solidFill>
                <a:latin typeface="Courier"/>
              </a:rPr>
              <a:t>The goal is to compare chick weight across different diets and time points.  </a:t>
            </a:r>
            <a:br/>
            <a:r>
              <a:rPr>
                <a:solidFill>
                  <a:srgbClr val="003B4F"/>
                </a:solidFill>
                <a:latin typeface="Courier"/>
              </a:rPr>
              <a:t>Key steps include:</a:t>
            </a:r>
            <a:br/>
            <a:br/>
            <a:r>
              <a:rPr>
                <a:solidFill>
                  <a:srgbClr val="20794D"/>
                </a:solidFill>
                <a:latin typeface="Courier"/>
              </a:rPr>
              <a:t>- </a:t>
            </a:r>
            <a:r>
              <a:rPr>
                <a:solidFill>
                  <a:srgbClr val="003B4F"/>
                </a:solidFill>
                <a:latin typeface="Courier"/>
              </a:rPr>
              <a:t>Loading the dataset  </a:t>
            </a:r>
            <a:br/>
            <a:r>
              <a:rPr>
                <a:solidFill>
                  <a:srgbClr val="20794D"/>
                </a:solidFill>
                <a:latin typeface="Courier"/>
              </a:rPr>
              <a:t>- </a:t>
            </a:r>
            <a:r>
              <a:rPr>
                <a:solidFill>
                  <a:srgbClr val="003B4F"/>
                </a:solidFill>
                <a:latin typeface="Courier"/>
              </a:rPr>
              <a:t>Visualizing growth trends  </a:t>
            </a:r>
            <a:br/>
            <a:r>
              <a:rPr>
                <a:solidFill>
                  <a:srgbClr val="20794D"/>
                </a:solidFill>
                <a:latin typeface="Courier"/>
              </a:rPr>
              <a:t>- </a:t>
            </a:r>
            <a:r>
              <a:rPr>
                <a:solidFill>
                  <a:srgbClr val="003B4F"/>
                </a:solidFill>
                <a:latin typeface="Courier"/>
              </a:rPr>
              <a:t>Summarizing results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3</a:t>
            </a:r>
          </a:p>
          <a:p>
            <a:pPr lvl="0"/>
            <a:r>
              <a:rPr/>
              <a:t>☐ Copy the Markdown Text from the previous slide and paste it to your document</a:t>
            </a:r>
          </a:p>
          <a:p>
            <a:pPr lvl="0"/>
            <a:r>
              <a:rPr/>
              <a:t>☐ Bold the word </a:t>
            </a:r>
            <a:r>
              <a:rPr i="1"/>
              <a:t>“ChickWeight”</a:t>
            </a:r>
          </a:p>
          <a:p>
            <a:pPr lvl="0"/>
            <a:r>
              <a:rPr/>
              <a:t>☐ Italicize the phrase </a:t>
            </a:r>
            <a:r>
              <a:rPr i="1"/>
              <a:t>“growth trends”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(IV)</a:t>
            </a:r>
          </a:p>
          <a:p>
            <a:pPr lvl="0" indent="0" marL="0">
              <a:buNone/>
            </a:pPr>
            <a:r>
              <a:rPr/>
              <a:t>Highlighting particularly important aspects with </a:t>
            </a:r>
            <a:r>
              <a:rPr b="1"/>
              <a:t>Quarto callout boxes</a:t>
            </a:r>
          </a:p>
          <a:p>
            <a:pPr lvl="0" indent="0" marL="1270000">
              <a:buNone/>
            </a:pPr>
            <a:r>
              <a:rPr sz="2000" b="1"/>
              <a:t>Important with Title</a:t>
            </a:r>
          </a:p>
          <a:p>
            <a:pPr lvl="0" indent="0" marL="1270000">
              <a:buNone/>
            </a:pPr>
            <a:r>
              <a:rPr sz="2000"/>
              <a:t>This is an example of a callout box to highlight particularly important information using </a:t>
            </a:r>
            <a:r>
              <a:rPr sz="2000">
                <a:latin typeface="Courier"/>
              </a:rPr>
              <a:t>callout-important</a:t>
            </a:r>
          </a:p>
          <a:p>
            <a:pPr lvl="0" indent="0" marL="1270000">
              <a:buNone/>
            </a:pPr>
            <a:r>
              <a:rPr sz="2000" b="1"/>
              <a:t>Tip with Title</a:t>
            </a:r>
          </a:p>
          <a:p>
            <a:pPr lvl="0" indent="0" marL="1270000">
              <a:buNone/>
            </a:pPr>
            <a:r>
              <a:rPr sz="2000"/>
              <a:t>This is an example of a callout box to give important tips using </a:t>
            </a:r>
            <a:r>
              <a:rPr sz="2000">
                <a:latin typeface="Courier"/>
              </a:rPr>
              <a:t>callout-tip</a:t>
            </a:r>
          </a:p>
          <a:p>
            <a:pPr lvl="0" indent="0" marL="1270000">
              <a:buNone/>
            </a:pPr>
            <a:r>
              <a:rPr sz="2000" b="1"/>
              <a:t>Note with Title</a:t>
            </a:r>
          </a:p>
          <a:p>
            <a:pPr lvl="0" indent="0" marL="1270000">
              <a:buNone/>
            </a:pPr>
            <a:r>
              <a:rPr sz="2000"/>
              <a:t>This is an example of a callout box to include an additional note using </a:t>
            </a:r>
            <a:r>
              <a:rPr sz="2000">
                <a:latin typeface="Courier"/>
              </a:rPr>
              <a:t>callout-note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(V)</a:t>
            </a:r>
          </a:p>
          <a:p>
            <a:pPr lvl="0" indent="0" marL="0">
              <a:buNone/>
            </a:pPr>
            <a:r>
              <a:rPr b="1"/>
              <a:t>Adding a Callout Box</a:t>
            </a:r>
          </a:p>
          <a:p>
            <a:pPr lvl="0" indent="0" marL="0">
              <a:buNone/>
            </a:pPr>
            <a:r>
              <a:rPr/>
              <a:t>Here is the markdown text for inserting a </a:t>
            </a:r>
            <a:r>
              <a:rPr b="1"/>
              <a:t>callout note</a:t>
            </a:r>
            <a:r>
              <a:rPr/>
              <a:t> box:</a:t>
            </a:r>
          </a:p>
          <a:p>
            <a:pPr lvl="0" indent="0">
              <a:buNone/>
            </a:pPr>
            <a:r>
              <a:rPr>
                <a:solidFill>
                  <a:srgbClr val="003B4F"/>
                </a:solidFill>
                <a:latin typeface="Courier"/>
              </a:rPr>
              <a:t>::: callout-note</a:t>
            </a:r>
            <a:br/>
            <a:r>
              <a:rPr>
                <a:solidFill>
                  <a:srgbClr val="4758AB"/>
                </a:solidFill>
                <a:latin typeface="Courier"/>
              </a:rPr>
              <a:t>## Based on Real Data</a:t>
            </a:r>
            <a:br/>
            <a:br/>
            <a:r>
              <a:rPr>
                <a:solidFill>
                  <a:srgbClr val="003B4F"/>
                </a:solidFill>
                <a:latin typeface="Courier"/>
              </a:rPr>
              <a:t>The ChickWeight dataset in R is based on real experimental data.</a:t>
            </a:r>
            <a:br/>
            <a:r>
              <a:rPr>
                <a:solidFill>
                  <a:srgbClr val="003B4F"/>
                </a:solidFill>
                <a:latin typeface="Courie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4</a:t>
            </a:r>
          </a:p>
          <a:p>
            <a:pPr lvl="0"/>
            <a:r>
              <a:rPr/>
              <a:t>☐ Copy &amp; paste this markdown text into your Quarto document to add this callout note box.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 (I)</a:t>
            </a:r>
          </a:p>
          <a:p>
            <a:pPr lvl="0" indent="0" marL="0">
              <a:buNone/>
            </a:pPr>
            <a:r>
              <a:rPr b="1"/>
              <a:t>Inserting Code</a:t>
            </a:r>
          </a:p>
          <a:p>
            <a:pPr lvl="0" indent="0" marL="0">
              <a:buNone/>
            </a:pPr>
            <a:r>
              <a:rPr/>
              <a:t>Two ways to insert code chunks:</a:t>
            </a:r>
          </a:p>
          <a:p>
            <a:pPr lvl="0"/>
            <a:r>
              <a:rPr/>
              <a:t>Manually type 3 back ticks ``` then {r} to start a coding chunk, enter your code, then end it with 3 back ticks</a:t>
            </a:r>
          </a:p>
          <a:p>
            <a:pPr lvl="0" indent="0" marL="0">
              <a:buNone/>
            </a:pPr>
            <a:r>
              <a:rPr b="1"/>
              <a:t>OR</a:t>
            </a:r>
          </a:p>
          <a:p>
            <a:pPr lvl="0"/>
            <a:r>
              <a:rPr/>
              <a:t>Use the keyboard shortcut Ctrl + Alt + I (Windows/Linux) or Cmd + Option + I (Mac) to insert a code chunk</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 (II)</a:t>
            </a:r>
          </a:p>
          <a:p>
            <a:pPr lvl="0" indent="0" marL="0">
              <a:buNone/>
            </a:pPr>
            <a:r>
              <a:rPr b="1"/>
              <a:t>Inserting Code</a:t>
            </a:r>
          </a:p>
          <a:p>
            <a:pPr lvl="0" indent="0">
              <a:buNone/>
            </a:pPr>
            <a:r>
              <a:rPr>
                <a:solidFill>
                  <a:srgbClr val="003B4F"/>
                </a:solidFill>
                <a:latin typeface="Courier"/>
              </a:rPr>
              <a:t>summary(ChickWeight)</a:t>
            </a:r>
          </a:p>
          <a:p>
            <a:pPr lvl="0" indent="0" marL="0">
              <a:buNone/>
            </a:pPr>
          </a:p>
          <a:p>
            <a:pPr lvl="0" indent="0">
              <a:buNone/>
            </a:pPr>
            <a:r>
              <a:rPr>
                <a:solidFill>
                  <a:srgbClr val="003B4F"/>
                </a:solidFill>
                <a:latin typeface="Courier"/>
              </a:rPr>
              <a:t>library(ggplot2)</a:t>
            </a:r>
            <a:br/>
            <a:r>
              <a:rPr>
                <a:solidFill>
                  <a:srgbClr val="003B4F"/>
                </a:solidFill>
                <a:latin typeface="Courier"/>
              </a:rPr>
              <a:t>ggplot(ChickWeight, aes(x = Time, y = weight, color = Diet)) +</a:t>
            </a:r>
            <a:br/>
            <a:r>
              <a:rPr>
                <a:solidFill>
                  <a:srgbClr val="003B4F"/>
                </a:solidFill>
                <a:latin typeface="Courier"/>
              </a:rPr>
              <a:t>  geom_line(aes(group = Chick)) +</a:t>
            </a:r>
            <a:br/>
            <a:r>
              <a:rPr>
                <a:solidFill>
                  <a:srgbClr val="003B4F"/>
                </a:solidFill>
                <a:latin typeface="Courier"/>
              </a:rPr>
              <a:t>  labs(title = "Chick Growth Over Time")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5</a:t>
            </a:r>
          </a:p>
          <a:p>
            <a:pPr lvl="0"/>
            <a:r>
              <a:rPr/>
              <a:t>☐ Insert the code in </a:t>
            </a:r>
            <a:r>
              <a:rPr b="1"/>
              <a:t>two separate code chunks</a:t>
            </a:r>
          </a:p>
          <a:p>
            <a:pPr lvl="0"/>
            <a:r>
              <a:rPr/>
              <a:t>☐ Render the output and see what you get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 (II)</a:t>
            </a:r>
          </a:p>
          <a:p>
            <a:pPr lvl="0" indent="0" marL="0">
              <a:buNone/>
            </a:pPr>
            <a:r>
              <a:rPr/>
              <a:t>Adjust how the code is portrayed by editing the YAML header:</a:t>
            </a:r>
          </a:p>
          <a:p>
            <a:pPr lvl="0" indent="0" marL="0">
              <a:buNone/>
            </a:pPr>
          </a:p>
          <a:p>
            <a:pPr lvl="0"/>
            <a:r>
              <a:rPr>
                <a:latin typeface="Courier"/>
              </a:rPr>
              <a:t>code-fold: false</a:t>
            </a:r>
            <a:r>
              <a:rPr/>
              <a:t> - the code is visible and not collapsible (as seen here)</a:t>
            </a:r>
          </a:p>
          <a:p>
            <a:pPr lvl="0"/>
            <a:r>
              <a:rPr>
                <a:latin typeface="Courier"/>
              </a:rPr>
              <a:t>code-fold: true</a:t>
            </a:r>
            <a:r>
              <a:rPr/>
              <a:t> - collapses the code so the reader can expand it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 (III)</a:t>
            </a:r>
          </a:p>
          <a:p>
            <a:pPr lvl="0" indent="0" marL="0">
              <a:buNone/>
            </a:pPr>
            <a:r>
              <a:rPr/>
              <a:t>Adjust how the code is portrayed by editing the YAML header:</a:t>
            </a:r>
          </a:p>
          <a:p>
            <a:pPr lvl="0" indent="0" marL="0">
              <a:buNone/>
            </a:pPr>
          </a:p>
          <a:p>
            <a:pPr lvl="0"/>
            <a:r>
              <a:rPr>
                <a:latin typeface="Courier"/>
              </a:rPr>
              <a:t>code-tools: true</a:t>
            </a:r>
            <a:r>
              <a:rPr/>
              <a:t> - adds the functions “show code” at the top of the page and “copy” next to the chunks</a:t>
            </a:r>
          </a:p>
          <a:p>
            <a:pPr lvl="0"/>
            <a:r>
              <a:rPr>
                <a:latin typeface="Courier"/>
              </a:rPr>
              <a:t>echo: true</a:t>
            </a:r>
            <a:r>
              <a:rPr/>
              <a:t> - both the code and the output is visible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 (IV)</a:t>
            </a:r>
          </a:p>
          <a:p>
            <a:pPr lvl="0" indent="0" marL="0">
              <a:buNone/>
            </a:pPr>
            <a:r>
              <a:rPr/>
              <a:t>Let’s edit the YAML header to make the code chunks </a:t>
            </a:r>
            <a:r>
              <a:rPr b="1"/>
              <a:t>collapsible</a:t>
            </a:r>
            <a:r>
              <a:rPr/>
              <a:t> and add </a:t>
            </a:r>
            <a:r>
              <a:rPr b="1"/>
              <a:t>code tools</a:t>
            </a:r>
            <a:r>
              <a:rPr/>
              <a:t>.</a:t>
            </a:r>
          </a:p>
          <a:p>
            <a:pPr lvl="0" indent="0" marL="0">
              <a:buNone/>
            </a:pPr>
            <a:r>
              <a:rPr b="1"/>
              <a:t>Practical exercise 6</a:t>
            </a:r>
          </a:p>
          <a:p>
            <a:pPr lvl="0"/>
            <a:r>
              <a:rPr/>
              <a:t>☐ In the YAML, change </a:t>
            </a:r>
            <a:r>
              <a:rPr>
                <a:latin typeface="Courier"/>
              </a:rPr>
              <a:t>code-fold: false</a:t>
            </a:r>
            <a:r>
              <a:rPr/>
              <a:t> to </a:t>
            </a:r>
            <a:r>
              <a:rPr>
                <a:latin typeface="Courier"/>
              </a:rPr>
              <a:t>code-fold: true</a:t>
            </a:r>
          </a:p>
          <a:p>
            <a:pPr lvl="0"/>
            <a:r>
              <a:rPr/>
              <a:t>☐ Add </a:t>
            </a:r>
            <a:r>
              <a:rPr>
                <a:latin typeface="Courier"/>
              </a:rPr>
              <a:t>code-tools: true</a:t>
            </a:r>
          </a:p>
          <a:p>
            <a:pPr lvl="0"/>
            <a:r>
              <a:rPr/>
              <a:t>☐ Render the document to see the changes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buNone/>
            </a:pPr>
            <a:r>
              <a:rPr b="1"/>
              <a:t>What’s the name of Quarto Markdown document</a:t>
            </a:r>
            <a:r>
              <a:rPr/>
              <a:t>?</a:t>
            </a:r>
          </a:p>
          <a:p>
            <a:pPr lvl="0" indent="-342900" marL="342900">
              <a:buAutoNum type="alphaLcPeriod"/>
            </a:pPr>
            <a:r>
              <a:rPr/>
              <a:t>.png file</a:t>
            </a:r>
          </a:p>
          <a:p>
            <a:pPr lvl="0" indent="-342900" marL="342900">
              <a:buAutoNum type="alphaLcPeriod"/>
            </a:pPr>
            <a:r>
              <a:rPr/>
              <a:t>.qmd file ✅</a:t>
            </a:r>
          </a:p>
          <a:p>
            <a:pPr lvl="0" indent="-342900" marL="342900">
              <a:buAutoNum type="alphaLcPeriod"/>
            </a:pPr>
            <a:r>
              <a:rPr/>
              <a:t>.doc file</a:t>
            </a:r>
          </a:p>
          <a:p>
            <a:pPr lvl="0" indent="-342900" marL="342900">
              <a:buAutoNum type="alphaLcPeriod"/>
            </a:pPr>
            <a:r>
              <a:rPr/>
              <a:t>.mp3 file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YAML header?</a:t>
            </a:r>
          </a:p>
          <a:p>
            <a:pPr lvl="0" indent="-342900" marL="342900">
              <a:buAutoNum type="alphaLcPeriod"/>
            </a:pPr>
            <a:r>
              <a:rPr/>
              <a:t>summarizes the document into a single line</a:t>
            </a:r>
          </a:p>
          <a:p>
            <a:pPr lvl="0" indent="-342900" marL="342900">
              <a:buAutoNum type="alphaLcPeriod"/>
            </a:pPr>
            <a:r>
              <a:rPr/>
              <a:t>this is where you store notes and reminders</a:t>
            </a:r>
          </a:p>
          <a:p>
            <a:pPr lvl="0" indent="-342900" marL="342900">
              <a:buAutoNum type="alphaLcPeriod"/>
            </a:pPr>
            <a:r>
              <a:rPr/>
              <a:t>it’s like the “settings” of the document ✅</a:t>
            </a:r>
          </a:p>
          <a:p>
            <a:pPr lvl="0" indent="-342900" marL="342900">
              <a:buAutoNum type="alphaLcPeriod"/>
            </a:pPr>
            <a:r>
              <a:rPr/>
              <a:t>just the title of the document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is used to format content (like paragraphs and bullet points)?</a:t>
            </a:r>
          </a:p>
          <a:p>
            <a:pPr lvl="0" indent="-342900" marL="342900">
              <a:buAutoNum type="alphaLcPeriod"/>
            </a:pPr>
            <a:r>
              <a:rPr/>
              <a:t>Code chunks</a:t>
            </a:r>
          </a:p>
          <a:p>
            <a:pPr lvl="0" indent="-342900" marL="342900">
              <a:buAutoNum type="alphaLcPeriod"/>
            </a:pPr>
            <a:r>
              <a:rPr/>
              <a:t>YAML header</a:t>
            </a:r>
          </a:p>
          <a:p>
            <a:pPr lvl="0" indent="-342900" marL="342900">
              <a:buAutoNum type="alphaLcPeriod"/>
            </a:pPr>
            <a:r>
              <a:rPr/>
              <a:t>Markdown text ✅</a:t>
            </a:r>
          </a:p>
          <a:p>
            <a:pPr lvl="0" indent="-342900" marL="342900">
              <a:buAutoNum type="alphaLcPeriod"/>
            </a:pPr>
            <a:r>
              <a:rPr/>
              <a:t>All of the above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are the 2 components of the Authoring process?</a:t>
            </a:r>
          </a:p>
          <a:p>
            <a:pPr lvl="0" indent="0" marL="0">
              <a:buNone/>
            </a:pPr>
            <a:r>
              <a:rPr b="1"/>
              <a:t>How to create a code chunk in a Quarto Document?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10 minutes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authoring features</a:t>
            </a:r>
          </a:p>
          <a:p>
            <a:pPr lvl="0" indent="0" marL="0">
              <a:buNone/>
            </a:pPr>
            <a:r>
              <a:rPr/>
              <a:t>Quarto offers additional </a:t>
            </a:r>
            <a:r>
              <a:rPr b="1"/>
              <a:t>authoring features</a:t>
            </a:r>
            <a:r>
              <a:rPr/>
              <a:t> that make it more versatile and comprehensive. These include:</a:t>
            </a:r>
          </a:p>
          <a:p>
            <a:pPr lvl="0"/>
            <a:r>
              <a:rPr/>
              <a:t>adding links and hyperlinking text,</a:t>
            </a:r>
          </a:p>
          <a:p>
            <a:pPr lvl="0"/>
            <a:r>
              <a:rPr/>
              <a:t>embedding media,</a:t>
            </a:r>
          </a:p>
          <a:p>
            <a:pPr lvl="0"/>
            <a:r>
              <a:rPr/>
              <a:t>creating multi-column layouts, and more.</a:t>
            </a:r>
          </a:p>
          <a:p>
            <a:pPr lvl="0" indent="0" marL="1270000">
              <a:buNone/>
            </a:pPr>
            <a:r>
              <a:rPr sz="2000" b="1"/>
              <a:t>commonly used authoring features</a:t>
            </a:r>
          </a:p>
          <a:p>
            <a:pPr lvl="0" indent="0" marL="1270000">
              <a:buNone/>
            </a:pPr>
            <a:r>
              <a:rPr sz="2000"/>
              <a:t>Here is a link for commonly used markdown syntax for additional authoring features!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links</a:t>
            </a:r>
          </a:p>
          <a:p>
            <a:pPr lvl="0" indent="0" marL="0">
              <a:buNone/>
            </a:pPr>
            <a:r>
              <a:rPr/>
              <a:t>Link with title: [title] (link)</a:t>
            </a:r>
          </a:p>
          <a:p>
            <a:pPr lvl="0"/>
            <a:r>
              <a:rPr/>
              <a:t>[ Quarto Website ] ( https://quarto.org/ ) → </a:t>
            </a:r>
            <a:r>
              <a:rPr>
                <a:hlinkClick r:id="rId3"/>
              </a:rPr>
              <a:t>Quarto Website</a:t>
            </a:r>
          </a:p>
          <a:p>
            <a:pPr lvl="0"/>
            <a:r>
              <a:rPr/>
              <a:t>[Reveal.js Documentation] (https://revealjs.com/) → </a:t>
            </a:r>
            <a:r>
              <a:rPr>
                <a:hlinkClick r:id="rId4"/>
              </a:rPr>
              <a:t>Reveal.js Documentation</a:t>
            </a:r>
          </a:p>
          <a:p>
            <a:pPr lvl="0" indent="0" marL="0">
              <a:buNone/>
            </a:pPr>
            <a:r>
              <a:rPr/>
              <a:t>link without title: &lt; https:// link &gt;</a:t>
            </a:r>
          </a:p>
          <a:p>
            <a:pPr lvl="0"/>
            <a:r>
              <a:rPr/>
              <a:t>&lt; https://www.markdownguide.org/ &gt; → </a:t>
            </a:r>
            <a:r>
              <a:rPr>
                <a:hlinkClick r:id="rId5"/>
              </a:rPr>
              <a:t>https://www.markdownguide.org/</a:t>
            </a:r>
          </a:p>
          <a:p>
            <a:pPr lvl="0"/>
            <a:r>
              <a:rPr/>
              <a:t>&lt; https://github.com/ &gt; → </a:t>
            </a:r>
            <a:r>
              <a:rPr>
                <a:hlinkClick r:id="rId6"/>
              </a:rPr>
              <a:t>https://github.com/</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 (I)</a:t>
            </a:r>
          </a:p>
          <a:p>
            <a:pPr lvl="0"/>
            <a:r>
              <a:rPr/>
              <a:t>No caption: ! [ ] ( path/image.png )</a:t>
            </a:r>
          </a:p>
        </p:txBody>
      </p:sp>
      <p:pic>
        <p:nvPicPr>
          <p:cNvPr descr="images/chickpic1.png" id="0" name="Picture 1"/>
          <p:cNvPicPr>
            <a:picLocks noGrp="1" noChangeAspect="1"/>
          </p:cNvPicPr>
          <p:nvPr/>
        </p:nvPicPr>
        <p:blipFill>
          <a:blip r:embed="rId3"/>
          <a:stretch>
            <a:fillRect/>
          </a:stretch>
        </p:blipFill>
        <p:spPr bwMode="auto">
          <a:xfrm>
            <a:off x="3568700" y="698500"/>
            <a:ext cx="51054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 (II)</a:t>
            </a:r>
          </a:p>
          <a:p>
            <a:pPr lvl="0"/>
            <a:r>
              <a:rPr/>
              <a:t>With caption: ! [ caption ] ( path/image.png )</a:t>
            </a:r>
          </a:p>
        </p:txBody>
      </p:sp>
      <p:pic>
        <p:nvPicPr>
          <p:cNvPr descr="images/chickpic1.pn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This is a caption about three yellow chicks in the grass.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 (III)</a:t>
            </a:r>
          </a:p>
          <a:p>
            <a:pPr lvl="0"/>
            <a:r>
              <a:rPr/>
              <a:t>with link: [ ! [ caption ] ( path/image.png ) ] ( link )</a:t>
            </a:r>
          </a:p>
        </p:txBody>
      </p:sp>
      <p:pic>
        <p:nvPicPr>
          <p:cNvPr descr="images/chickpic1.png" id="0" name="Picture 1">
            <a:hlinkClick r:id="rId4"/>
          </p:cNvPr>
          <p:cNvPicPr>
            <a:picLocks noGrp="1" noChangeAspect="1"/>
          </p:cNvPicPr>
          <p:nvPr/>
        </p:nvPicPr>
        <p:blipFill>
          <a:blip r:embed="rId3"/>
          <a:stretch>
            <a:fillRect/>
          </a:stretch>
        </p:blipFill>
        <p:spPr bwMode="auto">
          <a:xfrm>
            <a:off x="3568700" y="698500"/>
            <a:ext cx="51054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images (IV)</a:t>
            </a:r>
          </a:p>
          <a:p>
            <a:pPr lvl="0" indent="0" marL="0">
              <a:buNone/>
            </a:pPr>
          </a:p>
          <a:p>
            <a:pPr lvl="0" indent="0">
              <a:buNone/>
            </a:pPr>
            <a:r>
              <a:rPr>
                <a:solidFill>
                  <a:srgbClr val="AD0000"/>
                </a:solidFill>
                <a:latin typeface="Courier"/>
              </a:rPr>
              <a:t>![No chicks were harmed in the making of this lesson.](images/chickpic1.png)</a:t>
            </a:r>
          </a:p>
          <a:p>
            <a:pPr lvl="0" indent="0" marL="0">
              <a:buNone/>
            </a:pPr>
          </a:p>
          <a:p>
            <a:pPr lvl="0" indent="0" marL="0">
              <a:buNone/>
            </a:pPr>
            <a:r>
              <a:rPr b="1"/>
              <a:t>Practical exercise 7</a:t>
            </a:r>
          </a:p>
          <a:p>
            <a:pPr lvl="0"/>
            <a:r>
              <a:rPr/>
              <a:t>☐ Click this link to download the image</a:t>
            </a:r>
          </a:p>
          <a:p>
            <a:pPr lvl="0"/>
            <a:r>
              <a:rPr/>
              <a:t>☐ Save the image to the main folder of the Quarto document files</a:t>
            </a:r>
          </a:p>
          <a:p>
            <a:pPr lvl="0"/>
            <a:r>
              <a:rPr/>
              <a:t>☐ Copy &amp; paste the markdown text to insert an image with a caption (edit path if needed)</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columns on the slide</a:t>
            </a:r>
          </a:p>
          <a:p>
            <a:pPr lvl="0" indent="0" marL="0">
              <a:buNone/>
            </a:pPr>
            <a:r>
              <a:rPr/>
              <a:t>You can change the layout of a section using </a:t>
            </a:r>
            <a:r>
              <a:rPr b="1"/>
              <a:t>columns</a:t>
            </a:r>
            <a:r>
              <a:rPr/>
              <a:t>:</a:t>
            </a:r>
          </a:p>
          <a:p>
            <a:pPr lvl="0"/>
            <a:r>
              <a:rPr/>
              <a:t>Start the column layout by writing “</a:t>
            </a:r>
            <a:r>
              <a:rPr>
                <a:latin typeface="Courier"/>
              </a:rPr>
              <a:t>:::::: columns</a:t>
            </a:r>
            <a:r>
              <a:rPr/>
              <a:t>”</a:t>
            </a:r>
          </a:p>
          <a:p>
            <a:pPr lvl="0"/>
            <a:r>
              <a:rPr/>
              <a:t>Begin the first column with “</a:t>
            </a:r>
            <a:r>
              <a:rPr>
                <a:latin typeface="Courier"/>
              </a:rPr>
              <a:t>::: column</a:t>
            </a:r>
            <a:r>
              <a:rPr/>
              <a:t>”</a:t>
            </a:r>
          </a:p>
          <a:p>
            <a:pPr lvl="0"/>
            <a:r>
              <a:rPr/>
              <a:t>Add content and end it with “</a:t>
            </a:r>
            <a:r>
              <a:rPr>
                <a:latin typeface="Courier"/>
              </a:rPr>
              <a:t>:::</a:t>
            </a:r>
            <a:r>
              <a:rPr/>
              <a:t>”</a:t>
            </a:r>
          </a:p>
          <a:p>
            <a:pPr lvl="0"/>
            <a:r>
              <a:rPr/>
              <a:t>Begin second coloumn with “</a:t>
            </a:r>
            <a:r>
              <a:rPr>
                <a:latin typeface="Courier"/>
              </a:rPr>
              <a:t>::: column</a:t>
            </a:r>
            <a:r>
              <a:rPr/>
              <a:t>”</a:t>
            </a:r>
          </a:p>
          <a:p>
            <a:pPr lvl="0"/>
            <a:r>
              <a:rPr/>
              <a:t>Add content and end it with “</a:t>
            </a:r>
            <a:r>
              <a:rPr>
                <a:latin typeface="Courier"/>
              </a:rPr>
              <a:t>:::</a:t>
            </a:r>
            <a:r>
              <a:rPr/>
              <a:t>”</a:t>
            </a:r>
          </a:p>
          <a:p>
            <a:pPr lvl="0"/>
            <a:r>
              <a:rPr/>
              <a:t>End section with a final “</a:t>
            </a:r>
            <a:r>
              <a:rPr>
                <a:latin typeface="Courier"/>
              </a:rPr>
              <a:t>::::::</a:t>
            </a:r>
            <a:r>
              <a:rPr/>
              <a:t>”</a:t>
            </a:r>
          </a:p>
          <a:p>
            <a:pPr lvl="0" indent="0" marL="1270000">
              <a:buNone/>
            </a:pPr>
            <a:r>
              <a:rPr sz="2000" b="1"/>
              <a:t>list of page layout options</a:t>
            </a:r>
          </a:p>
          <a:p>
            <a:pPr lvl="0" indent="0" marL="1270000">
              <a:buNone/>
            </a:pPr>
            <a:r>
              <a:rPr sz="2000"/>
              <a:t>Here is a link for page layout options to author how content looks on your document!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image and bullet points with columns</a:t>
            </a:r>
          </a:p>
          <a:p>
            <a:pPr lvl="0" indent="0" marL="0">
              <a:buNone/>
            </a:pPr>
            <a:r>
              <a:rPr/>
              <a:t>Let’s use columns to add bullet points next to an image.</a:t>
            </a:r>
          </a:p>
          <a:p>
            <a:pPr lvl="0" indent="0" marL="0">
              <a:buNone/>
            </a:pPr>
            <a:r>
              <a:rPr b="1"/>
              <a:t>Practical exercise 8</a:t>
            </a:r>
          </a:p>
          <a:p>
            <a:pPr lvl="0"/>
            <a:r>
              <a:rPr/>
              <a:t>☐ Click this link to download the image</a:t>
            </a:r>
          </a:p>
          <a:p>
            <a:pPr lvl="0"/>
            <a:r>
              <a:rPr/>
              <a:t>☐ Save the image to the main folder of the Quarto document files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8</a:t>
            </a:r>
          </a:p>
          <a:p>
            <a:pPr lvl="0" indent="0">
              <a:buNone/>
            </a:pPr>
            <a:r>
              <a:rPr>
                <a:solidFill>
                  <a:srgbClr val="003B4F"/>
                </a:solidFill>
                <a:latin typeface="Courier"/>
              </a:rPr>
              <a:t>:::::: columns</a:t>
            </a:r>
            <a:br/>
            <a:r>
              <a:rPr>
                <a:solidFill>
                  <a:srgbClr val="003B4F"/>
                </a:solidFill>
                <a:latin typeface="Courier"/>
              </a:rPr>
              <a:t>::: column</a:t>
            </a:r>
            <a:br/>
            <a:br/>
            <a:r>
              <a:rPr>
                <a:solidFill>
                  <a:srgbClr val="AD0000"/>
                </a:solidFill>
                <a:latin typeface="Courier"/>
              </a:rPr>
              <a:t>![](images/chickpic2.png)</a:t>
            </a:r>
            <a:br/>
            <a:br/>
            <a:r>
              <a:rPr>
                <a:solidFill>
                  <a:srgbClr val="003B4F"/>
                </a:solidFill>
                <a:latin typeface="Courier"/>
              </a:rPr>
              <a:t>:::</a:t>
            </a:r>
            <a:br/>
            <a:r>
              <a:rPr>
                <a:solidFill>
                  <a:srgbClr val="003B4F"/>
                </a:solidFill>
                <a:latin typeface="Courier"/>
              </a:rPr>
              <a:t>::: column</a:t>
            </a:r>
            <a:br/>
            <a:br/>
            <a:r>
              <a:rPr>
                <a:solidFill>
                  <a:srgbClr val="20794D"/>
                </a:solidFill>
                <a:latin typeface="Courier"/>
              </a:rPr>
              <a:t>-   </a:t>
            </a:r>
            <a:r>
              <a:rPr>
                <a:solidFill>
                  <a:srgbClr val="003B4F"/>
                </a:solidFill>
                <a:latin typeface="Courier"/>
              </a:rPr>
              <a:t>Monitor growth trends over time</a:t>
            </a:r>
            <a:br/>
            <a:r>
              <a:rPr>
                <a:solidFill>
                  <a:srgbClr val="20794D"/>
                </a:solidFill>
                <a:latin typeface="Courier"/>
              </a:rPr>
              <a:t>-   </a:t>
            </a:r>
            <a:r>
              <a:rPr>
                <a:solidFill>
                  <a:srgbClr val="003B4F"/>
                </a:solidFill>
                <a:latin typeface="Courier"/>
              </a:rPr>
              <a:t>Compare diets and weight gain</a:t>
            </a:r>
            <a:br/>
            <a:br/>
            <a:r>
              <a:rPr>
                <a:solidFill>
                  <a:srgbClr val="003B4F"/>
                </a:solidFill>
                <a:latin typeface="Courier"/>
              </a:rPr>
              <a:t>:::</a:t>
            </a:r>
            <a:br/>
            <a:r>
              <a:rPr>
                <a:solidFill>
                  <a:srgbClr val="003B4F"/>
                </a:solidFill>
                <a:latin typeface="Courier"/>
              </a:rPr>
              <a:t>::::::</a:t>
            </a:r>
          </a:p>
          <a:p>
            <a:pPr lvl="0"/>
            <a:r>
              <a:rPr/>
              <a:t>☐ Copy &amp; paste the markdown text to add an image with bullet points using columns (edit path if needed)</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a:p>
            <a:pPr lvl="0" indent="0" marL="0">
              <a:buNone/>
            </a:pPr>
            <a:r>
              <a:rPr b="1"/>
              <a:t>Zotero</a:t>
            </a:r>
            <a:r>
              <a:rPr/>
              <a:t> is a free reference management tool to collect, organize, cite, and share research sources.</a:t>
            </a:r>
          </a:p>
          <a:p>
            <a:pPr lvl="0" indent="0" marL="0">
              <a:buNone/>
            </a:pPr>
            <a:r>
              <a:rPr/>
              <a:t>You can use </a:t>
            </a:r>
            <a:r>
              <a:rPr b="1"/>
              <a:t>Zotero</a:t>
            </a:r>
            <a:r>
              <a:rPr/>
              <a:t> in RStudio to easily insert citations into your Quarto document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citations with Zotero</a:t>
            </a:r>
          </a:p>
        </p:txBody>
      </p:sp>
      <p:pic>
        <p:nvPicPr>
          <p:cNvPr descr="images/zotero1.png" id="0" name="Picture 1"/>
          <p:cNvPicPr>
            <a:picLocks noGrp="1" noChangeAspect="1"/>
          </p:cNvPicPr>
          <p:nvPr/>
        </p:nvPicPr>
        <p:blipFill>
          <a:blip r:embed="rId2"/>
          <a:stretch>
            <a:fillRect/>
          </a:stretch>
        </p:blipFill>
        <p:spPr bwMode="auto">
          <a:xfrm>
            <a:off x="3568700" y="2209800"/>
            <a:ext cx="5105400" cy="3810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To insert a citation:</a:t>
            </a:r>
          </a:p>
          <a:p>
            <a:pPr lvl="0"/>
            <a:r>
              <a:rPr/>
              <a:t>switch to the “Visual Editor” mode,</a:t>
            </a:r>
          </a:p>
          <a:p>
            <a:pPr lvl="0"/>
            <a:r>
              <a:rPr/>
              <a:t>add </a:t>
            </a:r>
            <a:r>
              <a:rPr>
                <a:latin typeface="Courier"/>
              </a:rPr>
              <a:t>bibliography: references.bib</a:t>
            </a:r>
            <a:r>
              <a:rPr/>
              <a:t> in the YAML header,</a:t>
            </a:r>
          </a:p>
          <a:p>
            <a:pPr lvl="0"/>
            <a:r>
              <a:rPr/>
              <a:t>press the “Insert” button in the toolbar and select “Citation”</a:t>
            </a:r>
          </a:p>
          <a:p>
            <a:pPr lvl="0" indent="0" marL="0">
              <a:buNone/>
            </a:pPr>
            <a:r>
              <a:rPr/>
              <a:t>A reference list or bibliography is automatically generated at the end of the document with all the citations used.</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zotero2.png" id="0" name="Picture 1"/>
          <p:cNvPicPr>
            <a:picLocks noGrp="1" noChangeAspect="1"/>
          </p:cNvPicPr>
          <p:nvPr/>
        </p:nvPicPr>
        <p:blipFill>
          <a:blip r:embed="rId3"/>
          <a:stretch>
            <a:fillRect/>
          </a:stretch>
        </p:blipFill>
        <p:spPr bwMode="auto">
          <a:xfrm>
            <a:off x="1574800" y="1193800"/>
            <a:ext cx="18034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You can select citations straight from your library and folders in Zotero</a:t>
            </a:r>
          </a:p>
          <a:p>
            <a:pPr lvl="0"/>
            <a:r>
              <a:rPr/>
              <a:t>Each citation is assigned a short citation key based on the author and year (e.g., pauwels2015).</a:t>
            </a:r>
          </a:p>
          <a:p>
            <a:pPr lvl="0"/>
            <a:r>
              <a:rPr/>
              <a:t>You can quickly cite it in your document by typing @ followed by the citation key.</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a:p>
            <a:pPr lvl="0" indent="0" marL="0">
              <a:buNone/>
            </a:pPr>
            <a:r>
              <a:rPr/>
              <a:t>Let’s practice adding a citation:</a:t>
            </a:r>
          </a:p>
          <a:p>
            <a:pPr lvl="0" indent="0" marL="0">
              <a:buNone/>
            </a:pPr>
            <a:r>
              <a:rPr b="1"/>
              <a:t>Practical exercise 9</a:t>
            </a:r>
          </a:p>
          <a:p>
            <a:pPr lvl="0"/>
            <a:r>
              <a:rPr/>
              <a:t>☐ Add </a:t>
            </a:r>
            <a:r>
              <a:rPr>
                <a:latin typeface="Courier"/>
              </a:rPr>
              <a:t>bibliography: references.bib</a:t>
            </a:r>
            <a:r>
              <a:rPr/>
              <a:t> to your YAML header</a:t>
            </a:r>
          </a:p>
          <a:p>
            <a:pPr lvl="0"/>
            <a:r>
              <a:rPr/>
              <a:t>☐ </a:t>
            </a:r>
            <a:r>
              <a:rPr>
                <a:hlinkClick r:id="rId3"/>
              </a:rPr>
              <a:t>Follow this link to an article on diets and broiler chicks</a:t>
            </a:r>
          </a:p>
          <a:p>
            <a:pPr lvl="0"/>
            <a:r>
              <a:rPr/>
              <a:t>☐ Add the citation to your Zotero Library</a:t>
            </a:r>
          </a:p>
          <a:p>
            <a:pPr lvl="0" indent="0">
              <a:buNone/>
            </a:pPr>
            <a:r>
              <a:rPr>
                <a:solidFill>
                  <a:srgbClr val="003B4F"/>
                </a:solidFill>
                <a:latin typeface="Courier"/>
              </a:rPr>
              <a:t>Diet affects chick body weight. In this study, low-energy feed made fast-growing chicks lighter, while slower-growing chicks compensated by eating more </a:t>
            </a:r>
          </a:p>
          <a:p>
            <a:pPr lvl="0"/>
            <a:r>
              <a:rPr/>
              <a:t>☐ Copy the text above and place the cursor at the end of the sentence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Citations with Zotero</a:t>
            </a:r>
          </a:p>
          <a:p>
            <a:pPr lvl="0" indent="0" marL="0">
              <a:buNone/>
            </a:pPr>
            <a:r>
              <a:rPr b="1"/>
              <a:t>Practical exercise 10</a:t>
            </a:r>
          </a:p>
          <a:p>
            <a:pPr lvl="0"/>
            <a:r>
              <a:rPr/>
              <a:t>☐ In </a:t>
            </a:r>
            <a:r>
              <a:rPr b="1"/>
              <a:t>Visual Mode</a:t>
            </a:r>
            <a:r>
              <a:rPr/>
              <a:t>, click “Insert” and find the article in the Zotero Library</a:t>
            </a:r>
          </a:p>
          <a:p>
            <a:pPr lvl="0"/>
            <a:r>
              <a:rPr/>
              <a:t>☐ Click “Insert” to add the citation</a:t>
            </a:r>
          </a:p>
        </p:txBody>
      </p:sp>
      <p:pic>
        <p:nvPicPr>
          <p:cNvPr descr="images/zotero3.png" id="0" name="Picture 1"/>
          <p:cNvPicPr>
            <a:picLocks noGrp="1" noChangeAspect="1"/>
          </p:cNvPicPr>
          <p:nvPr/>
        </p:nvPicPr>
        <p:blipFill>
          <a:blip r:embed="rId3"/>
          <a:stretch>
            <a:fillRect/>
          </a:stretch>
        </p:blipFill>
        <p:spPr bwMode="auto">
          <a:xfrm>
            <a:off x="3568700" y="1739900"/>
            <a:ext cx="5105400" cy="80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When you find the article in the Zotero Library folder here, select it and then click Insert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a:p>
            <a:pPr lvl="0" indent="0" marL="0">
              <a:buNone/>
            </a:pPr>
            <a:r>
              <a:rPr/>
              <a:t>Let’s add another citation to practice adding </a:t>
            </a:r>
            <a:r>
              <a:rPr b="1"/>
              <a:t>in-text</a:t>
            </a:r>
            <a:r>
              <a:rPr/>
              <a:t> citations:</a:t>
            </a:r>
          </a:p>
          <a:p>
            <a:pPr lvl="0" indent="0" marL="0">
              <a:buNone/>
            </a:pPr>
            <a:r>
              <a:rPr b="1"/>
              <a:t>Practical exercise 11</a:t>
            </a:r>
          </a:p>
          <a:p>
            <a:pPr lvl="0"/>
            <a:r>
              <a:rPr/>
              <a:t>☐ </a:t>
            </a:r>
            <a:r>
              <a:rPr>
                <a:hlinkClick r:id="rId3"/>
              </a:rPr>
              <a:t>Follow this link to another article on diets and broiler chicks</a:t>
            </a:r>
          </a:p>
          <a:p>
            <a:pPr lvl="0"/>
            <a:r>
              <a:rPr/>
              <a:t>☐ Add the citation to your Zotero Library</a:t>
            </a:r>
          </a:p>
          <a:p>
            <a:pPr lvl="0" indent="0">
              <a:buNone/>
            </a:pPr>
            <a:r>
              <a:rPr>
                <a:solidFill>
                  <a:srgbClr val="003B4F"/>
                </a:solidFill>
                <a:latin typeface="Courier"/>
              </a:rPr>
              <a:t> found that broiler chicks fed a higher nutrient-density diet gained more weight and did so more efficiently.</a:t>
            </a:r>
          </a:p>
          <a:p>
            <a:pPr lvl="0"/>
            <a:r>
              <a:rPr/>
              <a:t>☐ Copy the text above and place the cursor at the beginning of the sentence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citations with Zotero</a:t>
            </a:r>
          </a:p>
          <a:p>
            <a:pPr lvl="0" indent="0" marL="0">
              <a:buNone/>
            </a:pPr>
            <a:r>
              <a:rPr b="1"/>
              <a:t>Practical exercise 12</a:t>
            </a:r>
          </a:p>
          <a:p>
            <a:pPr lvl="0"/>
            <a:r>
              <a:rPr/>
              <a:t>☐ Click “Insert” and find the article in the Zotero Library</a:t>
            </a:r>
          </a:p>
          <a:p>
            <a:pPr lvl="0"/>
            <a:r>
              <a:rPr/>
              <a:t>☐ Check the box next to “In-text”</a:t>
            </a:r>
          </a:p>
        </p:txBody>
      </p:sp>
      <p:pic>
        <p:nvPicPr>
          <p:cNvPr descr="images/zotero4.png" id="0" name="Picture 1"/>
          <p:cNvPicPr>
            <a:picLocks noGrp="1" noChangeAspect="1"/>
          </p:cNvPicPr>
          <p:nvPr/>
        </p:nvPicPr>
        <p:blipFill>
          <a:blip r:embed="rId2"/>
          <a:stretch>
            <a:fillRect/>
          </a:stretch>
        </p:blipFill>
        <p:spPr bwMode="auto">
          <a:xfrm>
            <a:off x="3568700" y="1993900"/>
            <a:ext cx="5105400" cy="7874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Click “Insert” to add the citation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Now you should have</a:t>
            </a:r>
          </a:p>
          <a:p>
            <a:pPr lvl="0"/>
            <a:r>
              <a:rPr/>
              <a:t>a citation,</a:t>
            </a:r>
          </a:p>
          <a:p>
            <a:pPr lvl="0"/>
            <a:r>
              <a:rPr/>
              <a:t>an in-text citation, and</a:t>
            </a:r>
          </a:p>
          <a:p>
            <a:pPr lvl="0"/>
            <a:r>
              <a:rPr/>
              <a:t>a reference list (bibliography).</a:t>
            </a:r>
          </a:p>
        </p:txBody>
      </p:sp>
      <p:pic>
        <p:nvPicPr>
          <p:cNvPr descr="images/zotero5.png" id="0" name="Picture 1"/>
          <p:cNvPicPr>
            <a:picLocks noGrp="1" noChangeAspect="1"/>
          </p:cNvPicPr>
          <p:nvPr/>
        </p:nvPicPr>
        <p:blipFill>
          <a:blip r:embed="rId2"/>
          <a:stretch>
            <a:fillRect/>
          </a:stretch>
        </p:blipFill>
        <p:spPr bwMode="auto">
          <a:xfrm>
            <a:off x="4648200" y="1917700"/>
            <a:ext cx="4038600" cy="19304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b="1"/>
              <a:t>changing the citation style</a:t>
            </a:r>
            <a:r>
              <a:rPr sz="2000"/>
              <a:t> You can change the citation style by using csl files directly from the Zotero website. For e.g., putting “</a:t>
            </a:r>
            <a:r>
              <a:rPr sz="2000">
                <a:latin typeface="Courier"/>
              </a:rPr>
              <a:t>csl: https://www.zotero.org/styles/apa</a:t>
            </a:r>
            <a:r>
              <a:rPr sz="2000"/>
              <a:t>” in your YAML changes the citation style to APA.</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a:t>
            </a:r>
          </a:p>
          <a:p>
            <a:pPr lvl="0" indent="0" marL="0">
              <a:buNone/>
            </a:pPr>
            <a:r>
              <a:rPr b="1"/>
              <a:t>What is Publishing with Quarto?</a:t>
            </a:r>
            <a:r>
              <a:rPr/>
              <a:t> It’s the process of sharing the rendered documents or projects online so it can become accessible to others.</a:t>
            </a:r>
          </a:p>
          <a:p>
            <a:pPr lvl="0" indent="0" marL="0">
              <a:buNone/>
            </a:pPr>
            <a:r>
              <a:rPr/>
              <a:t>You can publish to:</a:t>
            </a:r>
          </a:p>
          <a:p>
            <a:pPr lvl="0"/>
            <a:r>
              <a:rPr/>
              <a:t>GitHub Pages</a:t>
            </a:r>
          </a:p>
          <a:p>
            <a:pPr lvl="0"/>
            <a:r>
              <a:rPr/>
              <a:t>Quarto Pub</a:t>
            </a:r>
          </a:p>
          <a:p>
            <a:pPr lvl="0"/>
            <a:r>
              <a:rPr/>
              <a:t>personal website</a:t>
            </a:r>
          </a:p>
          <a:p>
            <a:pPr lvl="0" indent="0" marL="1270000">
              <a:buNone/>
            </a:pPr>
            <a:r>
              <a:rPr sz="2000" b="1"/>
              <a:t>list of publishing services</a:t>
            </a:r>
          </a:p>
          <a:p>
            <a:pPr lvl="0" indent="0" marL="1270000">
              <a:buNone/>
            </a:pPr>
            <a:r>
              <a:rPr sz="2000"/>
              <a:t>Here is a link for a list of publishing services and more information!</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(I)</a:t>
            </a:r>
          </a:p>
          <a:p>
            <a:pPr lvl="0" indent="0" marL="0">
              <a:buNone/>
            </a:pPr>
            <a:r>
              <a:rPr/>
              <a:t>A great option to share your document is publishing to </a:t>
            </a:r>
            <a:r>
              <a:rPr b="1"/>
              <a:t>GitHub</a:t>
            </a:r>
            <a:r>
              <a:rPr/>
              <a:t>.</a:t>
            </a:r>
          </a:p>
          <a:p>
            <a:pPr lvl="0"/>
            <a:r>
              <a:rPr b="1"/>
              <a:t>GitHub</a:t>
            </a:r>
            <a:r>
              <a:rPr/>
              <a:t> is a platform for hosting and sharing code and projects online</a:t>
            </a:r>
          </a:p>
          <a:p>
            <a:pPr lvl="0"/>
            <a:r>
              <a:rPr/>
              <a:t>An advantage of GitHub is it allows for </a:t>
            </a:r>
            <a:r>
              <a:rPr b="1"/>
              <a:t>version control</a:t>
            </a:r>
            <a:r>
              <a:rPr/>
              <a:t>- the ability to track and manage changes over time</a:t>
            </a:r>
          </a:p>
          <a:p>
            <a:pPr lvl="0"/>
            <a:r>
              <a:rPr/>
              <a:t>A free and widely used way to publish your Quarto document to GitHub is by using </a:t>
            </a:r>
            <a:r>
              <a:rPr b="1"/>
              <a:t>GitHub Pages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(II)</a:t>
            </a:r>
          </a:p>
          <a:p>
            <a:pPr lvl="0" indent="0" marL="0">
              <a:buNone/>
            </a:pPr>
            <a:r>
              <a:rPr b="1"/>
              <a:t>GitHub Pages</a:t>
            </a:r>
            <a:r>
              <a:rPr/>
              <a:t> enables you to publish content based on source code managed within a GitHub repository.</a:t>
            </a:r>
          </a:p>
          <a:p>
            <a:pPr lvl="0" indent="0" marL="0">
              <a:buNone/>
            </a:pPr>
            <a:r>
              <a:rPr b="1"/>
              <a:t>3 methods</a:t>
            </a:r>
            <a:r>
              <a:rPr/>
              <a:t> to publish a Quarto document to GitHub Pages:</a:t>
            </a:r>
          </a:p>
          <a:p>
            <a:pPr lvl="0" indent="-342900" marL="342900">
              <a:buAutoNum type="arabicPeriod"/>
            </a:pPr>
            <a:r>
              <a:rPr/>
              <a:t>Render to the </a:t>
            </a:r>
            <a:r>
              <a:rPr>
                <a:latin typeface="Courier"/>
              </a:rPr>
              <a:t>docs</a:t>
            </a:r>
            <a:r>
              <a:rPr/>
              <a:t> directory and checking it into your repository</a:t>
            </a:r>
          </a:p>
          <a:p>
            <a:pPr lvl="0" indent="-342900" marL="342900">
              <a:buAutoNum type="arabicPeriod"/>
            </a:pPr>
            <a:r>
              <a:rPr/>
              <a:t>Use the </a:t>
            </a:r>
            <a:r>
              <a:rPr>
                <a:latin typeface="Courier"/>
              </a:rPr>
              <a:t>quarto publish</a:t>
            </a:r>
            <a:r>
              <a:rPr/>
              <a:t> command</a:t>
            </a:r>
          </a:p>
          <a:p>
            <a:pPr lvl="0" indent="-342900" marL="342900">
              <a:buAutoNum type="arabicPeriod"/>
            </a:pPr>
            <a:r>
              <a:rPr/>
              <a:t>Use GitHub Actions to auto-render and publish whenever you push changes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(III)</a:t>
            </a:r>
          </a:p>
          <a:p>
            <a:pPr lvl="0" indent="0" marL="0">
              <a:buNone/>
            </a:pPr>
            <a:r>
              <a:rPr/>
              <a:t>Let’s publish our document using the first method:</a:t>
            </a:r>
          </a:p>
          <a:p>
            <a:pPr lvl="0" indent="0" marL="0">
              <a:buNone/>
            </a:pPr>
            <a:r>
              <a:rPr b="1"/>
              <a:t>Render to </a:t>
            </a:r>
            <a:r>
              <a:rPr b="1">
                <a:latin typeface="Courier"/>
              </a:rPr>
              <a:t>docs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Work with </a:t>
            </a:r>
            <a:r>
              <a:rPr b="1"/>
              <a:t>Git Bash</a:t>
            </a:r>
            <a:r>
              <a:rPr/>
              <a:t> directly from the </a:t>
            </a:r>
            <a:r>
              <a:rPr b="1"/>
              <a:t>Terminal</a:t>
            </a:r>
            <a:r>
              <a:rPr/>
              <a:t> in RStudio.</a:t>
            </a:r>
          </a:p>
          <a:p>
            <a:pPr lvl="0"/>
            <a:r>
              <a:rPr/>
              <a:t>click Terminal → Terminal Options and set it to open with Git Bash</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gitpages1.png" id="0" name="Picture 1"/>
          <p:cNvPicPr>
            <a:picLocks noGrp="1" noChangeAspect="1"/>
          </p:cNvPicPr>
          <p:nvPr/>
        </p:nvPicPr>
        <p:blipFill>
          <a:blip r:embed="rId2"/>
          <a:stretch>
            <a:fillRect/>
          </a:stretch>
        </p:blipFill>
        <p:spPr bwMode="auto">
          <a:xfrm>
            <a:off x="457200" y="1968500"/>
            <a:ext cx="4038600" cy="1828800"/>
          </a:xfrm>
          <a:prstGeom prst="rect">
            <a:avLst/>
          </a:prstGeom>
          <a:noFill/>
          <a:ln w="9525">
            <a:noFill/>
            <a:headEnd/>
            <a:tailEnd/>
          </a:ln>
        </p:spPr>
      </p:pic>
      <p:pic>
        <p:nvPicPr>
          <p:cNvPr descr="images/gitpages2.png" id="0" name="Picture 1"/>
          <p:cNvPicPr>
            <a:picLocks noGrp="1" noChangeAspect="1"/>
          </p:cNvPicPr>
          <p:nvPr/>
        </p:nvPicPr>
        <p:blipFill>
          <a:blip r:embed="rId3"/>
          <a:stretch>
            <a:fillRect/>
          </a:stretch>
        </p:blipFill>
        <p:spPr bwMode="auto">
          <a:xfrm>
            <a:off x="4648200" y="1778000"/>
            <a:ext cx="4038600" cy="22225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then, click Terminal → New Terminal to begin working with Git Bash</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(IV)</a:t>
            </a:r>
          </a:p>
          <a:p>
            <a:pPr lvl="0" indent="0" marL="0">
              <a:buNone/>
            </a:pPr>
            <a:r>
              <a:rPr b="1"/>
              <a:t>Practical exercise 13</a:t>
            </a:r>
          </a:p>
          <a:p>
            <a:pPr lvl="0"/>
            <a:r>
              <a:rPr/>
              <a:t>☐ In your Quarto Document, edit YAML and add:</a:t>
            </a:r>
          </a:p>
          <a:p>
            <a:pPr lvl="0" indent="0">
              <a:buNone/>
            </a:pPr>
            <a:r>
              <a:rPr>
                <a:latin typeface="Courier"/>
              </a:rPr>
              <a:t>project:
  type: website
  output-dir: docs</a:t>
            </a:r>
          </a:p>
          <a:p>
            <a:pPr lvl="0"/>
            <a:r>
              <a:rPr/>
              <a:t>☐ Set Terminal to open with Git Bash and open new Terminal</a:t>
            </a:r>
          </a:p>
          <a:p>
            <a:pPr lvl="0"/>
            <a:r>
              <a:rPr/>
              <a:t>☐ Change directory to the path of the main folder with the Quarto files using </a:t>
            </a:r>
            <a:r>
              <a:rPr>
                <a:latin typeface="Courier"/>
              </a:rPr>
              <a:t>cd</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(V)</a:t>
            </a:r>
          </a:p>
          <a:p>
            <a:pPr lvl="0" indent="0" marL="0">
              <a:buNone/>
            </a:pPr>
            <a:r>
              <a:rPr b="1"/>
              <a:t>Practical exercise 14</a:t>
            </a:r>
          </a:p>
          <a:p>
            <a:pPr lvl="0" indent="0">
              <a:buNone/>
            </a:pPr>
            <a:r>
              <a:rPr>
                <a:solidFill>
                  <a:srgbClr val="003B4F"/>
                </a:solidFill>
                <a:latin typeface="Courier"/>
              </a:rPr>
              <a:t>echo "project:</a:t>
            </a:r>
            <a:br/>
            <a:r>
              <a:rPr>
                <a:solidFill>
                  <a:srgbClr val="003B4F"/>
                </a:solidFill>
                <a:latin typeface="Courier"/>
              </a:rPr>
              <a:t>  type: website</a:t>
            </a:r>
            <a:br/>
            <a:r>
              <a:rPr>
                <a:solidFill>
                  <a:srgbClr val="003B4F"/>
                </a:solidFill>
                <a:latin typeface="Courier"/>
              </a:rPr>
              <a:t>  output-dir: docs" &gt; _quarto.yml</a:t>
            </a:r>
          </a:p>
          <a:p>
            <a:pPr lvl="0"/>
            <a:r>
              <a:rPr/>
              <a:t>☐ Make a simple </a:t>
            </a:r>
            <a:r>
              <a:rPr>
                <a:latin typeface="Courier"/>
              </a:rPr>
              <a:t>_quarto.yml</a:t>
            </a:r>
            <a:r>
              <a:rPr/>
              <a:t> file by copying &amp; pasting the above in the Terminal</a:t>
            </a:r>
          </a:p>
          <a:p>
            <a:pPr lvl="0" indent="0">
              <a:buNone/>
            </a:pPr>
            <a:r>
              <a:rPr>
                <a:solidFill>
                  <a:srgbClr val="003B4F"/>
                </a:solidFill>
                <a:latin typeface="Courier"/>
              </a:rPr>
              <a:t>touch .nojekyll</a:t>
            </a:r>
          </a:p>
          <a:p>
            <a:pPr lvl="0"/>
            <a:r>
              <a:rPr/>
              <a:t>☐ Copy &amp; paste the above into the Terminal to add a </a:t>
            </a:r>
            <a:r>
              <a:rPr>
                <a:latin typeface="Courier"/>
              </a:rPr>
              <a:t>.nojekyll</a:t>
            </a:r>
            <a:r>
              <a:rPr/>
              <a:t> file</a:t>
            </a:r>
          </a:p>
          <a:p>
            <a:pPr lvl="0" indent="0" marL="1270000">
              <a:buNone/>
            </a:pPr>
            <a:r>
              <a:rPr sz="2000" b="1"/>
              <a:t>.nojekyll</a:t>
            </a:r>
          </a:p>
          <a:p>
            <a:pPr lvl="0" indent="0" marL="1270000">
              <a:buNone/>
            </a:pPr>
            <a:r>
              <a:rPr sz="2000"/>
              <a:t>Adding a </a:t>
            </a:r>
            <a:r>
              <a:rPr sz="2000">
                <a:latin typeface="Courier"/>
              </a:rPr>
              <a:t>.nojekyll</a:t>
            </a:r>
            <a:r>
              <a:rPr sz="2000"/>
              <a:t> file to the root of your repo tells GitHub Pages not to do additional processing of your published site using Jekyll</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b="1"/>
              <a:t>Practical exercise 14</a:t>
            </a:r>
          </a:p>
          <a:p>
            <a:pPr lvl="0" indent="0">
              <a:buNone/>
            </a:pPr>
            <a:r>
              <a:rPr>
                <a:solidFill>
                  <a:srgbClr val="003B4F"/>
                </a:solidFill>
                <a:latin typeface="Courier"/>
              </a:rPr>
              <a:t>quarto render</a:t>
            </a:r>
          </a:p>
          <a:p>
            <a:pPr lvl="0"/>
            <a:r>
              <a:rPr/>
              <a:t>☐ Copy &amp; paste the above into Terminal to generate HTML in the </a:t>
            </a:r>
            <a:r>
              <a:rPr>
                <a:latin typeface="Courier"/>
              </a:rPr>
              <a:t>docs/</a:t>
            </a:r>
            <a:r>
              <a:rPr/>
              <a:t> folder</a:t>
            </a:r>
          </a:p>
          <a:p>
            <a:pPr lvl="0" indent="0">
              <a:buNone/>
            </a:pPr>
            <a:r>
              <a:rPr>
                <a:solidFill>
                  <a:srgbClr val="003B4F"/>
                </a:solidFill>
                <a:latin typeface="Courier"/>
              </a:rPr>
              <a:t>git init</a:t>
            </a:r>
            <a:br/>
            <a:r>
              <a:rPr>
                <a:solidFill>
                  <a:srgbClr val="003B4F"/>
                </a:solidFill>
                <a:latin typeface="Courier"/>
              </a:rPr>
              <a:t>git branch -M main  </a:t>
            </a:r>
          </a:p>
          <a:p>
            <a:pPr lvl="0"/>
            <a:r>
              <a:rPr/>
              <a:t>☐ Copy &amp; paste the above into Terminal to initialize Git and rename “master” to “main”</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(VI)</a:t>
            </a:r>
          </a:p>
          <a:p>
            <a:pPr lvl="0" indent="0" marL="0">
              <a:buNone/>
            </a:pPr>
            <a:r>
              <a:rPr b="1"/>
              <a:t>Practical exercise 15</a:t>
            </a:r>
          </a:p>
          <a:p>
            <a:pPr lvl="0"/>
            <a:r>
              <a:rPr/>
              <a:t>☐ In </a:t>
            </a:r>
            <a:r>
              <a:rPr>
                <a:hlinkClick r:id="rId3"/>
              </a:rPr>
              <a:t>GitHub</a:t>
            </a:r>
            <a:r>
              <a:rPr/>
              <a:t>, create a new repo</a:t>
            </a:r>
          </a:p>
          <a:p>
            <a:pPr lvl="0"/>
            <a:r>
              <a:rPr/>
              <a:t>☐ In Terminal, add remote by using “</a:t>
            </a:r>
            <a:r>
              <a:rPr>
                <a:latin typeface="Courier"/>
              </a:rPr>
              <a:t>git remote add origin</a:t>
            </a:r>
            <a:r>
              <a:rPr/>
              <a:t>” + the repo’s HTTPS URL (e.g., “</a:t>
            </a:r>
            <a:r>
              <a:rPr>
                <a:latin typeface="Courier"/>
              </a:rPr>
              <a:t>git remote add origin https://github.com/yourname/chickweight-exercise.git</a:t>
            </a:r>
            <a:r>
              <a:rPr/>
              <a:t>”)</a:t>
            </a:r>
          </a:p>
          <a:p>
            <a:pPr lvl="0" indent="0">
              <a:buNone/>
            </a:pPr>
            <a:r>
              <a:rPr>
                <a:solidFill>
                  <a:srgbClr val="003B4F"/>
                </a:solidFill>
                <a:latin typeface="Courier"/>
              </a:rPr>
              <a:t>quarto render</a:t>
            </a:r>
            <a:br/>
            <a:r>
              <a:rPr>
                <a:solidFill>
                  <a:srgbClr val="003B4F"/>
                </a:solidFill>
                <a:latin typeface="Courier"/>
              </a:rPr>
              <a:t>git add docs</a:t>
            </a:r>
            <a:br/>
            <a:r>
              <a:rPr>
                <a:solidFill>
                  <a:srgbClr val="003B4F"/>
                </a:solidFill>
                <a:latin typeface="Courier"/>
              </a:rPr>
              <a:t>git commit -m "Publish site to docs/"</a:t>
            </a:r>
            <a:br/>
            <a:r>
              <a:rPr>
                <a:solidFill>
                  <a:srgbClr val="003B4F"/>
                </a:solidFill>
                <a:latin typeface="Courier"/>
              </a:rPr>
              <a:t>git push -u origin main</a:t>
            </a:r>
          </a:p>
          <a:p>
            <a:pPr lvl="0"/>
            <a:r>
              <a:rPr/>
              <a:t>☐ Copy &amp; paste the above into Terminal to render your site and push it to GitHub</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 (VII)</a:t>
            </a:r>
          </a:p>
          <a:p>
            <a:pPr lvl="0"/>
            <a:r>
              <a:rPr/>
              <a:t>☐ In your repo on </a:t>
            </a:r>
            <a:r>
              <a:rPr>
                <a:hlinkClick r:id="rId2"/>
              </a:rPr>
              <a:t>GitHub</a:t>
            </a:r>
            <a:r>
              <a:rPr/>
              <a:t>, go to Settings</a:t>
            </a:r>
          </a:p>
          <a:p>
            <a:pPr lvl="0"/>
            <a:r>
              <a:rPr/>
              <a:t>☐ Click “Pages” to configure GitHub Pages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gitpages3.png" id="0" name="Picture 1"/>
          <p:cNvPicPr>
            <a:picLocks noGrp="1" noChangeAspect="1"/>
          </p:cNvPicPr>
          <p:nvPr/>
        </p:nvPicPr>
        <p:blipFill>
          <a:blip r:embed="rId2"/>
          <a:stretch>
            <a:fillRect/>
          </a:stretch>
        </p:blipFill>
        <p:spPr bwMode="auto">
          <a:xfrm>
            <a:off x="457200" y="1803400"/>
            <a:ext cx="4038600" cy="2159000"/>
          </a:xfrm>
          <a:prstGeom prst="rect">
            <a:avLst/>
          </a:prstGeom>
          <a:noFill/>
          <a:ln w="9525">
            <a:noFill/>
            <a:headEnd/>
            <a:tailEnd/>
          </a:ln>
        </p:spPr>
      </p:pic>
      <p:pic>
        <p:nvPicPr>
          <p:cNvPr descr="images/gitpages4.png" id="0" name="Picture 1"/>
          <p:cNvPicPr>
            <a:picLocks noGrp="1" noChangeAspect="1"/>
          </p:cNvPicPr>
          <p:nvPr/>
        </p:nvPicPr>
        <p:blipFill>
          <a:blip r:embed="rId3"/>
          <a:stretch>
            <a:fillRect/>
          </a:stretch>
        </p:blipFill>
        <p:spPr bwMode="auto">
          <a:xfrm>
            <a:off x="4648200" y="1917700"/>
            <a:ext cx="4038600" cy="19431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After 1-2 minutes, you will see that your site is </a:t>
            </a:r>
            <a:r>
              <a:rPr b="1"/>
              <a:t>live</a:t>
            </a:r>
            <a:r>
              <a:rPr/>
              <a:t>!</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a:t>
            </a:r>
          </a:p>
          <a:p>
            <a:pPr lvl="0" indent="0" marL="0">
              <a:buNone/>
            </a:pPr>
            <a:r>
              <a:rPr/>
              <a:t>From SvG: Would this differ from the take home messages?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indent="0" marL="0">
              <a:buNone/>
            </a:pPr>
            <a:r>
              <a:rPr/>
              <a:t>Let’s discuss how useful </a:t>
            </a:r>
            <a:r>
              <a:rPr b="1"/>
              <a:t>Quarto</a:t>
            </a:r>
            <a:r>
              <a:rPr/>
              <a:t> can be for </a:t>
            </a:r>
            <a:r>
              <a:rPr b="1"/>
              <a:t>open research</a:t>
            </a:r>
            <a:r>
              <a:rPr/>
              <a:t>. Consider the following questions:</a:t>
            </a:r>
          </a:p>
          <a:p>
            <a:pPr lvl="0"/>
            <a:r>
              <a:rPr/>
              <a:t>How can using Quarto improve transparency and reproducibility in your work?</a:t>
            </a:r>
          </a:p>
          <a:p>
            <a:pPr lvl="0"/>
            <a:r>
              <a:rPr/>
              <a:t>In what ways does Quarto make sharing code and data with collaborators easier?</a:t>
            </a:r>
          </a:p>
          <a:p>
            <a:pPr lvl="0"/>
            <a:r>
              <a:rPr/>
              <a:t>Do you see advantages in using Quarto compared to traditional tools like Word or PowerPoint?</a:t>
            </a:r>
          </a:p>
          <a:p>
            <a:pPr lvl="0"/>
            <a:r>
              <a:rPr/>
              <a:t>What challenges might you face in adopting Quarto in your current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the take-home message?</a:t>
            </a:r>
          </a:p>
          <a:p>
            <a:pPr lvl="0" indent="0" marL="0">
              <a:buNone/>
            </a:pPr>
            <a:r>
              <a:rPr/>
              <a:t>Let’s wrap up by identifying the </a:t>
            </a:r>
            <a:r>
              <a:rPr b="1"/>
              <a:t>key takeaway</a:t>
            </a:r>
            <a:r>
              <a:rPr/>
              <a:t> from today’s session together.</a:t>
            </a:r>
          </a:p>
          <a:p>
            <a:pPr lvl="0" indent="0" marL="0">
              <a:buNone/>
            </a:pPr>
            <a:r>
              <a:rPr/>
              <a:t>Ask yourself: </a:t>
            </a:r>
            <a:r>
              <a:rPr b="1"/>
              <a:t>“If you had to explain to a colleague in one sentence why learning Quarto matters for research and teaching, what would you say?”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indent="0" marL="0">
              <a:buNone/>
            </a:pPr>
            <a:r>
              <a:rPr b="1"/>
              <a:t>What is your level of familiarity with Quarto before this lesson?</a:t>
            </a:r>
            <a:r>
              <a:rPr/>
              <a:t> a) I’ve never used it b) I’ve heard of it but never tried it c) I’ve experimented a little d) I use it occasionally e) I use it frequently</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best describes Quarto?</a:t>
            </a:r>
            <a:r>
              <a:rPr/>
              <a:t> a) A programming language b) A publishing system for reproducible documents ✅ c) A code editor d) A type of version control system</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components are combined in the authoring process of Quarto documents?</a:t>
            </a:r>
            <a:r>
              <a:rPr/>
              <a:t> a) Only YAML b) Only Markdown c) Neither d) YAML and Markdown together ✅</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modes can be used to create a Quarto document?</a:t>
            </a:r>
            <a:r>
              <a:rPr/>
              <a:t> a) Source mode b) Visual mode c) Both ✅ d) Neither</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switching between Source and Visual modes?</a:t>
            </a:r>
          </a:p>
          <a:p>
            <a:pPr lvl="0" indent="0" marL="0">
              <a:buNone/>
            </a:pPr>
            <a:r>
              <a:rPr b="1"/>
              <a:t>Which of these are examples of Markdown text formatting? (Select all that apply)</a:t>
            </a:r>
            <a:r>
              <a:rPr/>
              <a:t> a) Bold text ✅ b) Italic text ✅ c) Adding code chunks d) Adding hyperlinks ✅</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should you use text formatting in Quarto documents?</a:t>
            </a:r>
            <a:r>
              <a:rPr/>
              <a:t> a) For aesthetics only b) To improve clarity and emphasis ✅ c) To make the file larger d) To change the coding language</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When would you consider using multi-column layouts?</a:t>
            </a:r>
            <a:r>
              <a:rPr/>
              <a:t> a) To shorten the document b) To make information more visually organized ✅ c) To add footnotes only d) To increase file size</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purpose of code chunks in Quarto documents?</a:t>
            </a:r>
            <a:r>
              <a:rPr/>
              <a:t> a) To include executable code and results within the document ✅ b) To store references c) To format text d) To hide metadata</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YAML options relate to how code chunks are displayed?</a:t>
            </a:r>
            <a:r>
              <a:rPr/>
              <a:t> a) echo: true ✅ b) code-fold: false ✅ c) title: “My Document” d) format: html</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is including code in research documents important?</a:t>
            </a:r>
            <a:r>
              <a:rPr/>
              <a:t> a) To make the document more difficult to read b) To ensure only the author can reproduce results c) To replace data collection d) To make research reproducible and transparent ✅</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are common publishing options for Quarto projects? (Select all that apply)</a:t>
            </a:r>
            <a:r>
              <a:rPr/>
              <a:t> a) GitHub Pages ✅ b) Quarto Pub ✅ c) Social media platforms d) Personal websites ✅</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benefit of publishing your Quarto documents?</a:t>
            </a:r>
            <a:r>
              <a:rPr/>
              <a:t> a) They make your computer run faster b) They allow offline editing only c) They become accessible to others for sharing and collaboration ✅ d) They automatically write the code for you</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a:p>
            <a:pPr lvl="0" indent="0" marL="0">
              <a:buNone/>
            </a:pPr>
            <a:r>
              <a:rPr/>
              <a:t>From SvG: Add references here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a:p>
            <a:pPr lvl="0" indent="0" marL="0">
              <a:buNone/>
            </a:pPr>
            <a:r>
              <a:rPr/>
              <a:t>From SvG: Still to do right?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a:p>
            <a:pPr lvl="0" indent="0" marL="0">
              <a:buNone/>
            </a:pPr>
            <a:r>
              <a:rPr/>
              <a:t>From SvG: Still to do right?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literate programming with Quarto</dc:title>
  <dc:creator>Elizabeth Waterfield</dc:creator>
  <cp:keywords/>
  <dcterms:created xsi:type="dcterms:W3CDTF">2026-01-08T12:10:47Z</dcterms:created>
  <dcterms:modified xsi:type="dcterms:W3CDTF">2026-01-08T12:10:47Z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08/01/2026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