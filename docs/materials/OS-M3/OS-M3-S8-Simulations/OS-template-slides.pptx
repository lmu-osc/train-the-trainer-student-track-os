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first slide is dedicated to clarifying questions from the previous submodule and/or to discuss assignments. - Additional slides may need to be added depending on the nature of the homework assignments. - Critical for the learning process to ensure that students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The pre-submodule survey serves to examine students’ prior knowledge about the submodule’s topic.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Briefly examine the answers given to each question interactively with the group. -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Place the topic of the current submodule within a broader context. - Remind students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Formulate specific, action-oriented goals learning goals which are measurable and observable in line with Bloom’s taxonomy (Anderson et al., 2001; Bloom et al., 1956) - Place an emphasis on the </a:t>
            </a:r>
            <a:r>
              <a:rPr b="1"/>
              <a:t>verbs</a:t>
            </a:r>
            <a:r>
              <a:rPr/>
              <a:t> of the learning goals and choose verbs that align with the skills you want to develop or assess. - Examples: - Students will </a:t>
            </a:r>
            <a:r>
              <a:rPr b="1"/>
              <a:t>describe</a:t>
            </a:r>
            <a:r>
              <a:rPr/>
              <a:t> the process of photosynthesis or - Students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the slide here. </a:t>
            </a:r>
            <a:r>
              <a:rPr b="1"/>
              <a:t>Instructor Notes</a:t>
            </a:r>
            <a:r>
              <a:rPr/>
              <a:t>:  - </a:t>
            </a:r>
            <a:r>
              <a:rPr b="1"/>
              <a:t>Aim</a:t>
            </a:r>
            <a:r>
              <a:rPr/>
              <a:t>: Core theoretical introduction of submodule topic. - For a 90-minute lesson, the instructor should try to “lecture” for only 20 minutes, students should work in groups/pairs/on their own for at least 55 minutes of the lesson (+ a 15 minute break). - Pair theoretical aspects with practical exercises and group discussions according to the Think-Pair-Share style and according to Cognitive Load Theory (Sweller, 1980). - Use multiple slides for this part.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pre-break survey serves to examine students’ current understanding of key concepts of the submodule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clarify concepts and aspects that are not yet understood -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work out the relevance of the topic to your students. - In an interactive setting, discuss how the new skills could be applied in practise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presentation here. </a:t>
            </a:r>
            <a:r>
              <a:rPr b="1"/>
              <a:t>Instructor Notes</a:t>
            </a:r>
            <a:r>
              <a:rPr/>
              <a:t>:  - </a:t>
            </a:r>
            <a:r>
              <a:rPr b="1"/>
              <a:t>Aim</a:t>
            </a:r>
            <a:r>
              <a:rPr/>
              <a:t>: Explain the homework assignment and the rationale behind the homework. - Examine whether/how it will be assessed - Mention scoring rubrics, if applicable - 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End lesson on clear take-home message that are interactively compiled by students.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post-submodule survey serves to examine students’ current knowledge about the sumodule’s topic. - Use free survey software such as particify or formR to establish the following questions (shown on separate slides) - 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Instructer Notes</a:t>
            </a:r>
            <a:r>
              <a:rPr/>
              <a:t>:  - </a:t>
            </a:r>
            <a:r>
              <a:rPr b="1"/>
              <a:t>Aim</a:t>
            </a:r>
            <a:r>
              <a:rPr/>
              <a:t>: Briefly examine the answers given to each question interactively with the group. -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Highlight particularly relevant reading for your students in bold.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Master Template Slides: Title of submodule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LMU Open Science Center</a:t>
            </a:r>
          </a:p>
        </p:txBody>
      </p:sp>
      <p:sp>
        <p:nvSpPr>
          <p:cNvPr id="4" name="Date Placeholder 3"/>
          <p:cNvSpPr>
            <a:spLocks noGrp="1"/>
          </p:cNvSpPr>
          <p:nvPr>
            <p:ph idx="10" sz="half" type="dt"/>
          </p:nvPr>
        </p:nvSpPr>
        <p:spPr/>
        <p:txBody>
          <a:bodyPr/>
          <a:lstStyle/>
          <a:p>
            <a:pPr lvl="0" indent="0" marL="0">
              <a:buNone/>
            </a:pPr>
            <a:r>
              <a:rPr/>
              <a:t>06/01/2026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and licence</a:t>
            </a:r>
          </a:p>
          <a:p>
            <a:pPr lvl="0" indent="0" marL="0">
              <a:buNone/>
            </a:pPr>
          </a:p>
          <a:p>
            <a:pPr lvl="0" indent="0" marL="0">
              <a:buNone/>
            </a:pPr>
            <a:r>
              <a:rPr b="1"/>
              <a:t>Creator</a:t>
            </a:r>
            <a:r>
              <a:rPr/>
              <a:t>: Name, first name (ORCID Logo orcid)</a:t>
            </a:r>
          </a:p>
          <a:p>
            <a:pPr lvl="0" indent="0" marL="0">
              <a:buNone/>
            </a:pPr>
            <a:r>
              <a:rPr b="1"/>
              <a:t>Reviewer</a:t>
            </a:r>
            <a:r>
              <a:rPr/>
              <a:t>: Name, first name (ORCID Logo orcid)</a:t>
            </a:r>
          </a:p>
          <a:p>
            <a:pPr lvl="0" indent="0" marL="0">
              <a:buNone/>
            </a:pPr>
            <a:r>
              <a:rPr b="1"/>
              <a:t>Acknowledgments</a:t>
            </a:r>
            <a:r>
              <a:rPr/>
              <a:t>: Name, first name (ORCID Logo orcid)</a:t>
            </a:r>
          </a:p>
          <a:p>
            <a:pPr lvl="0" indent="0" marL="0">
              <a:buNone/>
            </a:pPr>
            <a:r>
              <a:rPr/>
              <a:t> </a:t>
            </a:r>
          </a:p>
          <a:p>
            <a:pPr lvl="0" indent="0" marL="0">
              <a:buNone/>
            </a:pPr>
            <a:r>
              <a:rPr/>
              <a:t>This work by XXXX XXXX, Sara Lil Middleton and Sarah von Grebmer zu Wolfsthurn is licensed under a CC-BY 4.0 </a:t>
            </a:r>
            <a:r>
              <a:rPr>
                <a:hlinkClick r:id="rId3"/>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submodule’s topic.</a:t>
            </a:r>
          </a:p>
          <a:p>
            <a:pPr lvl="0"/>
            <a:r>
              <a:rPr/>
              <a:t>Use free survey software such as particify or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Point 1</a:t>
            </a:r>
          </a:p>
          <a:p>
            <a:pPr lvl="0"/>
            <a:r>
              <a:rPr/>
              <a:t>Point 2</a:t>
            </a:r>
          </a:p>
          <a:p>
            <a:pPr lvl="0" indent="0" marL="0">
              <a:buNone/>
            </a:pPr>
            <a:r>
              <a:rPr b="1"/>
              <a:t>Next</a:t>
            </a:r>
            <a:r>
              <a:rPr/>
              <a:t>:</a:t>
            </a:r>
          </a:p>
          <a:p>
            <a:pPr lvl="0"/>
            <a:r>
              <a:rPr/>
              <a:t>Point 1</a:t>
            </a:r>
          </a:p>
          <a:p>
            <a:pPr lvl="0"/>
            <a:r>
              <a:rPr/>
              <a:t>Point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Aim</a:t>
            </a:r>
            <a:r>
              <a:rPr/>
              <a:t>: This slides serves as an overview of the topics that are discussed, presented as bullet point:</a:t>
            </a:r>
          </a:p>
          <a:p>
            <a:pPr lvl="0"/>
            <a:r>
              <a:rPr/>
              <a:t>Topic 1</a:t>
            </a:r>
          </a:p>
          <a:p>
            <a:pPr lvl="0"/>
            <a:r>
              <a:rPr/>
              <a:t>Topic 2</a:t>
            </a:r>
          </a:p>
          <a:p>
            <a:pPr lvl="0"/>
            <a:r>
              <a:rPr/>
              <a:t>Topic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a:r>
              <a:rPr/>
              <a:t>Use free survey software such as or other survey software (particify, formR) to establish the following questions (shown on separate slides)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particify or formR to establish the following questions (shown on separate slides)</a:t>
            </a:r>
          </a:p>
          <a:p>
            <a:pPr lvl="0"/>
            <a:r>
              <a:rPr/>
              <a:t>Use identical questions as in the pre-submodule survey to be able to directly compare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OS-template-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a:t>
            </a:r>
          </a:p>
          <a:p>
            <a:pPr lvl="0"/>
            <a:r>
              <a:rPr/>
              <a:t>This slide should contain information about the license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Contribution Statement</a:t>
            </a:r>
          </a:p>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Template Slides: Title of submodule</dc:title>
  <dc:creator>LMU Open Science Center</dc:creator>
  <cp:keywords/>
  <dcterms:created xsi:type="dcterms:W3CDTF">2026-01-06T16:12:09Z</dcterms:created>
  <dcterms:modified xsi:type="dcterms:W3CDTF">2026-01-06T16:12:09Z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06/01/2026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